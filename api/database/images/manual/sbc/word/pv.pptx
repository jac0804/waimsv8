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59" r:id="rId2"/>
    <p:sldId id="263" r:id="rId3"/>
    <p:sldId id="291" r:id="rId4"/>
    <p:sldId id="319" r:id="rId5"/>
    <p:sldId id="320" r:id="rId6"/>
    <p:sldId id="321" r:id="rId7"/>
    <p:sldId id="322" r:id="rId8"/>
    <p:sldId id="274" r:id="rId9"/>
    <p:sldId id="323" r:id="rId10"/>
    <p:sldId id="276" r:id="rId11"/>
    <p:sldId id="29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0B435-645F-40DB-9E4F-D4C9C4156571}" type="datetimeFigureOut">
              <a:rPr lang="en-PH" smtClean="0"/>
              <a:t>01/10/2023</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93F78D-8871-468A-9870-141AAF43F09A}" type="slidenum">
              <a:rPr lang="en-PH" smtClean="0"/>
              <a:t>‹#›</a:t>
            </a:fld>
            <a:endParaRPr lang="en-PH"/>
          </a:p>
        </p:txBody>
      </p:sp>
    </p:spTree>
    <p:extLst>
      <p:ext uri="{BB962C8B-B14F-4D97-AF65-F5344CB8AC3E}">
        <p14:creationId xmlns:p14="http://schemas.microsoft.com/office/powerpoint/2010/main" val="37383187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2F21F4-0DD8-4E57-96CC-71F82AA39AD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34016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EB4A-3408-1B97-1B34-05AE5640F8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4CE41D-ED3A-FB15-B2CB-48AE9AE25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72DF44-2CFE-99D1-62FB-C419C3595772}"/>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BC42A000-96DA-5E5F-9A77-6569656A3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FD326-4FC0-72EB-DF56-0FD78B9EE4C3}"/>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6524249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9D75-E04D-B634-D919-617757394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56432A-85F7-6833-67C8-01C4E7216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57A2C-3294-4947-A3DE-F536E8B16E5E}"/>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A2215DCA-9125-891E-96C8-87AF8FF5A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9F385-A188-DB80-34AE-99BFE377262E}"/>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0074626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34D8-AC3A-C1B6-226A-B0342CC95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0A1E8B-24DF-615A-8729-9497B6EA1E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F1F83F-6442-4F8D-A89C-5E43D4324093}"/>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1E5243A9-4120-4241-6DD2-BB67522C9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42F45-390E-7F61-65CB-09F84E0C7E2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228281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E399-2560-08C2-7560-8CDD4F0BE6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AC3219-FB0A-90C1-5347-5D8D63A15A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16AE50-4292-C9EB-8B25-09DE0EA028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B747A3-5AAE-74E5-58AC-112C24B4D162}"/>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6" name="Footer Placeholder 5">
            <a:extLst>
              <a:ext uri="{FF2B5EF4-FFF2-40B4-BE49-F238E27FC236}">
                <a16:creationId xmlns:a16="http://schemas.microsoft.com/office/drawing/2014/main" id="{17245C81-CA6F-521E-53EF-EEB98F96F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2839E4-86AD-5375-DD4F-F846EF92506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200875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6130-117C-998F-E56B-57FCF1096B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6E80B8-EA33-707F-EC6C-EBC7B1352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F28F7F-ECE8-BAAD-7338-2D78A59EE1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DAF716-F429-44D0-6E93-815FF3C4F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2A37D0-605C-BB9A-385B-6A85770C86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3F5C74-EA7F-FDB3-FB93-77C9E914F0FA}"/>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8" name="Footer Placeholder 7">
            <a:extLst>
              <a:ext uri="{FF2B5EF4-FFF2-40B4-BE49-F238E27FC236}">
                <a16:creationId xmlns:a16="http://schemas.microsoft.com/office/drawing/2014/main" id="{F4E1775E-89CF-943A-9CDA-597023CE8F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E9C5D8-2060-0E24-EC81-3C64B264C76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2948331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700E-1F64-71E3-B8E2-5003EE14F2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92E4C6-4425-4600-DADA-0FAA915F0C36}"/>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4" name="Footer Placeholder 3">
            <a:extLst>
              <a:ext uri="{FF2B5EF4-FFF2-40B4-BE49-F238E27FC236}">
                <a16:creationId xmlns:a16="http://schemas.microsoft.com/office/drawing/2014/main" id="{19525CC1-1CF0-5FE6-B23F-FC06408151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A12A78-3142-4A2A-6A14-2861FE0556F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866841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8CDC6-AE80-3C7C-7A54-83C4F8A35515}"/>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3" name="Footer Placeholder 2">
            <a:extLst>
              <a:ext uri="{FF2B5EF4-FFF2-40B4-BE49-F238E27FC236}">
                <a16:creationId xmlns:a16="http://schemas.microsoft.com/office/drawing/2014/main" id="{E3C87A10-784A-0882-62A6-ACF915286A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5B3EFA-8AAD-4032-2084-C183504C0548}"/>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8228000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6DDE-4887-BBF0-A054-1795A6026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AA9F60-2E86-61FF-D6C4-8EEFEF4FB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7C98BF-6198-66C9-1808-3E0DE1D9B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3C433-2EF0-6879-AA30-D7F23FA1DE7E}"/>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6" name="Footer Placeholder 5">
            <a:extLst>
              <a:ext uri="{FF2B5EF4-FFF2-40B4-BE49-F238E27FC236}">
                <a16:creationId xmlns:a16="http://schemas.microsoft.com/office/drawing/2014/main" id="{E5DB4456-36C8-9DCF-5C14-8BA06584B5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FA8EE-1367-107D-033E-8A0158C5E42D}"/>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705310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698BA-7366-CA58-0AE4-D2030C175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964958-D645-44EB-2EDC-93CCA39A19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2D1894-31E7-5B16-FAA4-8794FE1039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EEAB6-A5F9-0B9E-BFB9-37D999F612AF}"/>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6" name="Footer Placeholder 5">
            <a:extLst>
              <a:ext uri="{FF2B5EF4-FFF2-40B4-BE49-F238E27FC236}">
                <a16:creationId xmlns:a16="http://schemas.microsoft.com/office/drawing/2014/main" id="{07F57A55-6F18-17DA-8716-BC16F3F9CC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47226-21F6-2D27-6044-9FC188E6705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6510701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26E2-26EB-63EF-501D-68A4434E77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C8B2B9-8CC9-2B50-B062-946D7E785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2974C-952F-86C3-A75E-105A3A2EFC9B}"/>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787495DF-D0C7-812E-EDA8-AEA85D875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DC9A3-8AF0-8B35-01FB-6FDA728B4F0C}"/>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6177847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59C450-90ED-272A-E463-AAA21A2E5F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5DA328-475F-1FE7-6643-FADC6BE1FD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E27D1A-7BFF-DDEC-3AEE-1846C4553D33}"/>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AC9493FD-135D-1E5D-ED17-848900B65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E65E1-7A80-1403-F41E-7FDEAAED11C4}"/>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7729216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DF1DB1-AAB5-C0D6-F8F5-5C3D1F05C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E64012-DD5E-82B0-E0A6-F22247B5B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C52C1-D777-85DB-34DD-7DB776F29A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D2BBF4A8-E610-C555-2196-67DC47368D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477A19-A289-6A34-54CB-69755ED143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86AB-602C-49A8-AF1B-7C398AACFC06}" type="slidenum">
              <a:rPr lang="en-US" smtClean="0"/>
              <a:t>‹#›</a:t>
            </a:fld>
            <a:endParaRPr lang="en-US"/>
          </a:p>
        </p:txBody>
      </p:sp>
    </p:spTree>
    <p:extLst>
      <p:ext uri="{BB962C8B-B14F-4D97-AF65-F5344CB8AC3E}">
        <p14:creationId xmlns:p14="http://schemas.microsoft.com/office/powerpoint/2010/main" val="27702557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21.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7E240B-5C00-D259-7CC9-8482319B9C8B}"/>
              </a:ext>
            </a:extLst>
          </p:cNvPr>
          <p:cNvSpPr txBox="1"/>
          <p:nvPr/>
        </p:nvSpPr>
        <p:spPr>
          <a:xfrm>
            <a:off x="1017646" y="2105561"/>
            <a:ext cx="10289512" cy="1323439"/>
          </a:xfrm>
          <a:prstGeom prst="rect">
            <a:avLst/>
          </a:prstGeom>
          <a:no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0" b="1"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rPr>
              <a:t>Accounts Payable Voucher</a:t>
            </a:r>
            <a:endParaRPr kumimoji="0" lang="en-US" sz="8000" b="0"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endParaRPr>
          </a:p>
        </p:txBody>
      </p:sp>
      <p:sp>
        <p:nvSpPr>
          <p:cNvPr id="8" name="Text Box 6">
            <a:extLst>
              <a:ext uri="{FF2B5EF4-FFF2-40B4-BE49-F238E27FC236}">
                <a16:creationId xmlns:a16="http://schemas.microsoft.com/office/drawing/2014/main" id="{F98AB504-F121-820A-CAC3-1E72B851128C}"/>
              </a:ext>
            </a:extLst>
          </p:cNvPr>
          <p:cNvSpPr txBox="1"/>
          <p:nvPr/>
        </p:nvSpPr>
        <p:spPr>
          <a:xfrm>
            <a:off x="0" y="5769429"/>
            <a:ext cx="12191999" cy="1088572"/>
          </a:xfrm>
          <a:prstGeom prst="rect">
            <a:avLst/>
          </a:prstGeom>
          <a:solidFill>
            <a:srgbClr val="00863D"/>
          </a:solid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rPr>
              <a:t>It is a module where we prepare the request for payment for expenses and payables.</a:t>
            </a: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Tree>
    <p:extLst>
      <p:ext uri="{BB962C8B-B14F-4D97-AF65-F5344CB8AC3E}">
        <p14:creationId xmlns:p14="http://schemas.microsoft.com/office/powerpoint/2010/main" val="3357699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C7E240B-5C00-D259-7CC9-8482319B9C8B}"/>
              </a:ext>
            </a:extLst>
          </p:cNvPr>
          <p:cNvSpPr txBox="1"/>
          <p:nvPr/>
        </p:nvSpPr>
        <p:spPr>
          <a:xfrm>
            <a:off x="538778" y="103044"/>
            <a:ext cx="4912109"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Payables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Accounts Payable Voucher</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2375033"/>
            <a:ext cx="3887062"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Main Window</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0" name="Text Box 15">
            <a:extLst>
              <a:ext uri="{FF2B5EF4-FFF2-40B4-BE49-F238E27FC236}">
                <a16:creationId xmlns:a16="http://schemas.microsoft.com/office/drawing/2014/main" id="{E1DF78E5-41B8-4843-8426-68AD1D115D04}"/>
              </a:ext>
            </a:extLst>
          </p:cNvPr>
          <p:cNvSpPr txBox="1"/>
          <p:nvPr/>
        </p:nvSpPr>
        <p:spPr>
          <a:xfrm>
            <a:off x="832872" y="2847734"/>
            <a:ext cx="3887062" cy="127176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2" indent="0" algn="l" defTabSz="914400" rtl="0" eaLnBrk="1" fontAlgn="auto" latinLnBrk="0" hangingPunct="1">
              <a:lnSpc>
                <a:spcPct val="107000"/>
              </a:lnSpc>
              <a:spcBef>
                <a:spcPts val="190"/>
              </a:spcBef>
              <a:spcAft>
                <a:spcPts val="80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Accounts Payable Voucher module under Payables, Accounts Payable Voucher transactions list will display based on filtered date and status in the main window.</a:t>
            </a:r>
          </a:p>
          <a:p>
            <a:pPr marL="0" marR="0" lvl="2" indent="0" algn="l" defTabSz="914400" rtl="0" eaLnBrk="1" fontAlgn="auto" latinLnBrk="0" hangingPunct="1">
              <a:lnSpc>
                <a:spcPct val="107000"/>
              </a:lnSpc>
              <a:spcBef>
                <a:spcPts val="0"/>
              </a:spcBef>
              <a:spcAft>
                <a:spcPts val="0"/>
              </a:spcAft>
              <a:buClrTx/>
              <a:buSzTx/>
              <a:buFontTx/>
              <a:buNone/>
              <a:tabLst/>
              <a:defRPr/>
            </a:pPr>
            <a:r>
              <a:rPr kumimoji="0" lang="en-PH" sz="10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5" name="TextBox 54">
            <a:extLst>
              <a:ext uri="{FF2B5EF4-FFF2-40B4-BE49-F238E27FC236}">
                <a16:creationId xmlns:a16="http://schemas.microsoft.com/office/drawing/2014/main" id="{438989E4-F23C-F4AC-684B-2BE81114D33A}"/>
              </a:ext>
            </a:extLst>
          </p:cNvPr>
          <p:cNvSpPr txBox="1"/>
          <p:nvPr/>
        </p:nvSpPr>
        <p:spPr>
          <a:xfrm>
            <a:off x="7305287" y="4396081"/>
            <a:ext cx="3001688"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Accounts Payable Voucher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085BA87F-CBFA-CE33-42AB-748FAFC1E2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74888" y="2375033"/>
            <a:ext cx="5984240" cy="1986280"/>
          </a:xfrm>
          <a:prstGeom prst="rect">
            <a:avLst/>
          </a:prstGeom>
        </p:spPr>
      </p:pic>
      <p:grpSp>
        <p:nvGrpSpPr>
          <p:cNvPr id="15" name="Group 14">
            <a:extLst>
              <a:ext uri="{FF2B5EF4-FFF2-40B4-BE49-F238E27FC236}">
                <a16:creationId xmlns:a16="http://schemas.microsoft.com/office/drawing/2014/main" id="{CE038DD6-E152-4338-57D5-842C4053E529}"/>
              </a:ext>
            </a:extLst>
          </p:cNvPr>
          <p:cNvGrpSpPr/>
          <p:nvPr/>
        </p:nvGrpSpPr>
        <p:grpSpPr>
          <a:xfrm>
            <a:off x="5297068" y="2657847"/>
            <a:ext cx="5907580" cy="1720850"/>
            <a:chOff x="3132455" y="2346263"/>
            <a:chExt cx="5907580" cy="1720850"/>
          </a:xfrm>
        </p:grpSpPr>
        <p:sp>
          <p:nvSpPr>
            <p:cNvPr id="12" name="Rectangle 11">
              <a:extLst>
                <a:ext uri="{FF2B5EF4-FFF2-40B4-BE49-F238E27FC236}">
                  <a16:creationId xmlns:a16="http://schemas.microsoft.com/office/drawing/2014/main" id="{C66F5CC0-D02D-EB4F-90D6-849AAD2C3FC2}"/>
                </a:ext>
              </a:extLst>
            </p:cNvPr>
            <p:cNvSpPr/>
            <p:nvPr/>
          </p:nvSpPr>
          <p:spPr>
            <a:xfrm>
              <a:off x="3132455" y="3696970"/>
              <a:ext cx="847725" cy="1714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F4223140-6AAA-1A5F-CA64-59757C0F1441}"/>
                </a:ext>
              </a:extLst>
            </p:cNvPr>
            <p:cNvSpPr/>
            <p:nvPr/>
          </p:nvSpPr>
          <p:spPr>
            <a:xfrm>
              <a:off x="4134660" y="2346263"/>
              <a:ext cx="4905375" cy="17208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4" name="Straight Arrow Connector 13">
              <a:extLst>
                <a:ext uri="{FF2B5EF4-FFF2-40B4-BE49-F238E27FC236}">
                  <a16:creationId xmlns:a16="http://schemas.microsoft.com/office/drawing/2014/main" id="{F05DEF8F-66E1-71DC-AB6A-202A8768B3DA}"/>
                </a:ext>
              </a:extLst>
            </p:cNvPr>
            <p:cNvCxnSpPr/>
            <p:nvPr/>
          </p:nvCxnSpPr>
          <p:spPr>
            <a:xfrm flipV="1">
              <a:off x="3975735" y="3801745"/>
              <a:ext cx="177800" cy="469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2" name="Slide Number Placeholder 9">
            <a:extLst>
              <a:ext uri="{FF2B5EF4-FFF2-40B4-BE49-F238E27FC236}">
                <a16:creationId xmlns:a16="http://schemas.microsoft.com/office/drawing/2014/main" id="{5F96E4AE-0F17-4B13-DD8D-4AAF86D3706E}"/>
              </a:ext>
            </a:extLst>
          </p:cNvPr>
          <p:cNvSpPr>
            <a:spLocks noGrp="1"/>
          </p:cNvSpPr>
          <p:nvPr/>
        </p:nvSpPr>
        <p:spPr>
          <a:xfrm>
            <a:off x="93608" y="6342656"/>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71259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805110" y="96552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Create APV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491920"/>
            <a:ext cx="4179346" cy="219844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Accounts Payable – Main Window, you will notice a create button in the upper left of the window. Click the create button and you will be redirect in accounts payable voucher – main form.</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100" b="1"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click the create button a dialog box will pop out with list of supplier. Search and select a supplier.</a:t>
            </a: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79" name="Text Box 27">
            <a:extLst>
              <a:ext uri="{FF2B5EF4-FFF2-40B4-BE49-F238E27FC236}">
                <a16:creationId xmlns:a16="http://schemas.microsoft.com/office/drawing/2014/main" id="{C0041F90-1A0F-8769-2E1A-BA60672B2ED3}"/>
              </a:ext>
            </a:extLst>
          </p:cNvPr>
          <p:cNvSpPr txBox="1"/>
          <p:nvPr/>
        </p:nvSpPr>
        <p:spPr>
          <a:xfrm>
            <a:off x="678873" y="3612724"/>
            <a:ext cx="3902776" cy="1665622"/>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a supplier, you will be redirect in accounts payable voucher – main form where you will encode the other necessary information of the transaction and record the APV transaction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grpSp>
        <p:nvGrpSpPr>
          <p:cNvPr id="6" name="Group 5">
            <a:extLst>
              <a:ext uri="{FF2B5EF4-FFF2-40B4-BE49-F238E27FC236}">
                <a16:creationId xmlns:a16="http://schemas.microsoft.com/office/drawing/2014/main" id="{18221CEE-28D8-3EF3-2881-C401B0A1C594}"/>
              </a:ext>
            </a:extLst>
          </p:cNvPr>
          <p:cNvGrpSpPr/>
          <p:nvPr/>
        </p:nvGrpSpPr>
        <p:grpSpPr>
          <a:xfrm>
            <a:off x="5383327" y="1168109"/>
            <a:ext cx="1209675" cy="276225"/>
            <a:chOff x="0" y="0"/>
            <a:chExt cx="1209675" cy="276225"/>
          </a:xfrm>
        </p:grpSpPr>
        <p:sp>
          <p:nvSpPr>
            <p:cNvPr id="8" name="Rectangle 7">
              <a:extLst>
                <a:ext uri="{FF2B5EF4-FFF2-40B4-BE49-F238E27FC236}">
                  <a16:creationId xmlns:a16="http://schemas.microsoft.com/office/drawing/2014/main" id="{BC585A1C-BABD-3A85-A2DC-ACC438C97660}"/>
                </a:ext>
              </a:extLst>
            </p:cNvPr>
            <p:cNvSpPr/>
            <p:nvPr/>
          </p:nvSpPr>
          <p:spPr>
            <a:xfrm>
              <a:off x="0" y="0"/>
              <a:ext cx="800100" cy="22563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9" name="Straight Arrow Connector 8">
              <a:extLst>
                <a:ext uri="{FF2B5EF4-FFF2-40B4-BE49-F238E27FC236}">
                  <a16:creationId xmlns:a16="http://schemas.microsoft.com/office/drawing/2014/main" id="{480FBA0F-9787-8393-DB8B-4D282C034817}"/>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Text Box 22">
              <a:extLst>
                <a:ext uri="{FF2B5EF4-FFF2-40B4-BE49-F238E27FC236}">
                  <a16:creationId xmlns:a16="http://schemas.microsoft.com/office/drawing/2014/main" id="{85A980D4-96DC-C3B0-F741-38BD96E4300F}"/>
                </a:ext>
              </a:extLst>
            </p:cNvPr>
            <p:cNvSpPr txBox="1"/>
            <p:nvPr/>
          </p:nvSpPr>
          <p:spPr>
            <a:xfrm>
              <a:off x="1009650" y="28575"/>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a:t>
              </a:r>
            </a:p>
          </p:txBody>
        </p:sp>
      </p:grpSp>
      <p:pic>
        <p:nvPicPr>
          <p:cNvPr id="7" name="Picture 6">
            <a:extLst>
              <a:ext uri="{FF2B5EF4-FFF2-40B4-BE49-F238E27FC236}">
                <a16:creationId xmlns:a16="http://schemas.microsoft.com/office/drawing/2014/main" id="{8FBE7982-FD95-08F1-1CA6-BAB106C2D2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1572" y="929984"/>
            <a:ext cx="6189345" cy="1119505"/>
          </a:xfrm>
          <a:prstGeom prst="rect">
            <a:avLst/>
          </a:prstGeom>
        </p:spPr>
      </p:pic>
      <p:grpSp>
        <p:nvGrpSpPr>
          <p:cNvPr id="11" name="Group 10">
            <a:extLst>
              <a:ext uri="{FF2B5EF4-FFF2-40B4-BE49-F238E27FC236}">
                <a16:creationId xmlns:a16="http://schemas.microsoft.com/office/drawing/2014/main" id="{366A7DD5-DCFC-0562-0FF0-4049CA541947}"/>
              </a:ext>
            </a:extLst>
          </p:cNvPr>
          <p:cNvGrpSpPr/>
          <p:nvPr/>
        </p:nvGrpSpPr>
        <p:grpSpPr>
          <a:xfrm>
            <a:off x="5310344" y="1163346"/>
            <a:ext cx="1209675" cy="276225"/>
            <a:chOff x="0" y="0"/>
            <a:chExt cx="1209675" cy="276225"/>
          </a:xfrm>
        </p:grpSpPr>
        <p:sp>
          <p:nvSpPr>
            <p:cNvPr id="13" name="Rectangle 12">
              <a:extLst>
                <a:ext uri="{FF2B5EF4-FFF2-40B4-BE49-F238E27FC236}">
                  <a16:creationId xmlns:a16="http://schemas.microsoft.com/office/drawing/2014/main" id="{B039F332-3B14-2DBB-5EA4-DC284BE539ED}"/>
                </a:ext>
              </a:extLst>
            </p:cNvPr>
            <p:cNvSpPr/>
            <p:nvPr/>
          </p:nvSpPr>
          <p:spPr>
            <a:xfrm>
              <a:off x="0" y="0"/>
              <a:ext cx="800100" cy="22563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4" name="Straight Arrow Connector 13">
              <a:extLst>
                <a:ext uri="{FF2B5EF4-FFF2-40B4-BE49-F238E27FC236}">
                  <a16:creationId xmlns:a16="http://schemas.microsoft.com/office/drawing/2014/main" id="{E52F5DB5-7733-46AA-8B52-71C597C47EC3}"/>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 Box 22">
              <a:extLst>
                <a:ext uri="{FF2B5EF4-FFF2-40B4-BE49-F238E27FC236}">
                  <a16:creationId xmlns:a16="http://schemas.microsoft.com/office/drawing/2014/main" id="{7299B9D3-9223-03AB-E1E7-F9FE8E9CC943}"/>
                </a:ext>
              </a:extLst>
            </p:cNvPr>
            <p:cNvSpPr txBox="1"/>
            <p:nvPr/>
          </p:nvSpPr>
          <p:spPr>
            <a:xfrm>
              <a:off x="1009650" y="28575"/>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a:t>
              </a:r>
            </a:p>
          </p:txBody>
        </p:sp>
      </p:grpSp>
      <p:grpSp>
        <p:nvGrpSpPr>
          <p:cNvPr id="43" name="Group 42">
            <a:extLst>
              <a:ext uri="{FF2B5EF4-FFF2-40B4-BE49-F238E27FC236}">
                <a16:creationId xmlns:a16="http://schemas.microsoft.com/office/drawing/2014/main" id="{F1E1AE57-7C94-F771-478F-D29BBC4165ED}"/>
              </a:ext>
            </a:extLst>
          </p:cNvPr>
          <p:cNvGrpSpPr/>
          <p:nvPr/>
        </p:nvGrpSpPr>
        <p:grpSpPr>
          <a:xfrm>
            <a:off x="5374888" y="2813894"/>
            <a:ext cx="5982970" cy="2613025"/>
            <a:chOff x="3104515" y="2122488"/>
            <a:chExt cx="5982970" cy="2613025"/>
          </a:xfrm>
        </p:grpSpPr>
        <p:grpSp>
          <p:nvGrpSpPr>
            <p:cNvPr id="33" name="Group 32">
              <a:extLst>
                <a:ext uri="{FF2B5EF4-FFF2-40B4-BE49-F238E27FC236}">
                  <a16:creationId xmlns:a16="http://schemas.microsoft.com/office/drawing/2014/main" id="{7C9F0766-D299-98CB-9890-AE39E36E22E2}"/>
                </a:ext>
              </a:extLst>
            </p:cNvPr>
            <p:cNvGrpSpPr/>
            <p:nvPr/>
          </p:nvGrpSpPr>
          <p:grpSpPr>
            <a:xfrm>
              <a:off x="3104515" y="2122488"/>
              <a:ext cx="5982970" cy="2613025"/>
              <a:chOff x="88710" y="17624"/>
              <a:chExt cx="6189345" cy="3034485"/>
            </a:xfrm>
          </p:grpSpPr>
          <p:pic>
            <p:nvPicPr>
              <p:cNvPr id="38" name="Picture 37">
                <a:extLst>
                  <a:ext uri="{FF2B5EF4-FFF2-40B4-BE49-F238E27FC236}">
                    <a16:creationId xmlns:a16="http://schemas.microsoft.com/office/drawing/2014/main" id="{BC59B0D9-3137-4B9B-E391-A1AF5EE839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10" y="17624"/>
                <a:ext cx="6189345" cy="3034485"/>
              </a:xfrm>
              <a:prstGeom prst="rect">
                <a:avLst/>
              </a:prstGeom>
            </p:spPr>
          </p:pic>
          <p:grpSp>
            <p:nvGrpSpPr>
              <p:cNvPr id="39" name="Group 38">
                <a:extLst>
                  <a:ext uri="{FF2B5EF4-FFF2-40B4-BE49-F238E27FC236}">
                    <a16:creationId xmlns:a16="http://schemas.microsoft.com/office/drawing/2014/main" id="{578F98A8-9367-707A-01EE-ECF9A95935D5}"/>
                  </a:ext>
                </a:extLst>
              </p:cNvPr>
              <p:cNvGrpSpPr/>
              <p:nvPr/>
            </p:nvGrpSpPr>
            <p:grpSpPr>
              <a:xfrm>
                <a:off x="597173" y="678711"/>
                <a:ext cx="5604479" cy="566324"/>
                <a:chOff x="-4022452" y="183411"/>
                <a:chExt cx="5604479" cy="566324"/>
              </a:xfrm>
            </p:grpSpPr>
            <p:sp>
              <p:nvSpPr>
                <p:cNvPr id="40" name="Rectangle 39">
                  <a:extLst>
                    <a:ext uri="{FF2B5EF4-FFF2-40B4-BE49-F238E27FC236}">
                      <a16:creationId xmlns:a16="http://schemas.microsoft.com/office/drawing/2014/main" id="{5AE13696-47DE-CA5B-3F47-8954496970BA}"/>
                    </a:ext>
                  </a:extLst>
                </p:cNvPr>
                <p:cNvSpPr/>
                <p:nvPr/>
              </p:nvSpPr>
              <p:spPr>
                <a:xfrm>
                  <a:off x="-4022452" y="384092"/>
                  <a:ext cx="5145632" cy="36564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1" name="Straight Arrow Connector 40">
                  <a:extLst>
                    <a:ext uri="{FF2B5EF4-FFF2-40B4-BE49-F238E27FC236}">
                      <a16:creationId xmlns:a16="http://schemas.microsoft.com/office/drawing/2014/main" id="{795581AE-BD57-AE84-DE5D-3577BB965F31}"/>
                    </a:ext>
                  </a:extLst>
                </p:cNvPr>
                <p:cNvCxnSpPr/>
                <p:nvPr/>
              </p:nvCxnSpPr>
              <p:spPr>
                <a:xfrm>
                  <a:off x="1135465" y="323282"/>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Text Box 31">
                  <a:extLst>
                    <a:ext uri="{FF2B5EF4-FFF2-40B4-BE49-F238E27FC236}">
                      <a16:creationId xmlns:a16="http://schemas.microsoft.com/office/drawing/2014/main" id="{5F4F3E8C-757B-282B-DBE4-D5929C74D734}"/>
                    </a:ext>
                  </a:extLst>
                </p:cNvPr>
                <p:cNvSpPr txBox="1"/>
                <p:nvPr/>
              </p:nvSpPr>
              <p:spPr>
                <a:xfrm>
                  <a:off x="1343657" y="183411"/>
                  <a:ext cx="238370" cy="333987"/>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grpSp>
        <p:grpSp>
          <p:nvGrpSpPr>
            <p:cNvPr id="34" name="Group 33">
              <a:extLst>
                <a:ext uri="{FF2B5EF4-FFF2-40B4-BE49-F238E27FC236}">
                  <a16:creationId xmlns:a16="http://schemas.microsoft.com/office/drawing/2014/main" id="{1773C92E-907A-28AC-A17B-A16BD81ACAD2}"/>
                </a:ext>
              </a:extLst>
            </p:cNvPr>
            <p:cNvGrpSpPr/>
            <p:nvPr/>
          </p:nvGrpSpPr>
          <p:grpSpPr>
            <a:xfrm>
              <a:off x="4018915" y="2768918"/>
              <a:ext cx="746125" cy="276225"/>
              <a:chOff x="463138" y="0"/>
              <a:chExt cx="746537" cy="276225"/>
            </a:xfrm>
          </p:grpSpPr>
          <p:sp>
            <p:nvSpPr>
              <p:cNvPr id="35" name="Rectangle 34">
                <a:extLst>
                  <a:ext uri="{FF2B5EF4-FFF2-40B4-BE49-F238E27FC236}">
                    <a16:creationId xmlns:a16="http://schemas.microsoft.com/office/drawing/2014/main" id="{A22FF31C-3906-324D-EAD5-2BE33D5A16CE}"/>
                  </a:ext>
                </a:extLst>
              </p:cNvPr>
              <p:cNvSpPr/>
              <p:nvPr/>
            </p:nvSpPr>
            <p:spPr>
              <a:xfrm>
                <a:off x="463138" y="0"/>
                <a:ext cx="336962" cy="2612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6" name="Straight Arrow Connector 35">
                <a:extLst>
                  <a:ext uri="{FF2B5EF4-FFF2-40B4-BE49-F238E27FC236}">
                    <a16:creationId xmlns:a16="http://schemas.microsoft.com/office/drawing/2014/main" id="{3815D63C-67CF-4D88-FD6F-8F419E61CAE6}"/>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7" name="Text Box 298">
                <a:extLst>
                  <a:ext uri="{FF2B5EF4-FFF2-40B4-BE49-F238E27FC236}">
                    <a16:creationId xmlns:a16="http://schemas.microsoft.com/office/drawing/2014/main" id="{89778A4F-C62C-48DA-10E2-B1C50A691F59}"/>
                  </a:ext>
                </a:extLst>
              </p:cNvPr>
              <p:cNvSpPr txBox="1"/>
              <p:nvPr/>
            </p:nvSpPr>
            <p:spPr>
              <a:xfrm>
                <a:off x="1009650" y="28575"/>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3</a:t>
                </a:r>
              </a:p>
            </p:txBody>
          </p:sp>
        </p:grpSp>
      </p:grpSp>
      <p:sp>
        <p:nvSpPr>
          <p:cNvPr id="2" name="TextBox 1">
            <a:extLst>
              <a:ext uri="{FF2B5EF4-FFF2-40B4-BE49-F238E27FC236}">
                <a16:creationId xmlns:a16="http://schemas.microsoft.com/office/drawing/2014/main" id="{943E950B-2844-304D-03F5-FE9E66FED4CE}"/>
              </a:ext>
            </a:extLst>
          </p:cNvPr>
          <p:cNvSpPr txBox="1"/>
          <p:nvPr/>
        </p:nvSpPr>
        <p:spPr>
          <a:xfrm>
            <a:off x="538778" y="103044"/>
            <a:ext cx="4912109"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Payables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Accounts Payable Voucher</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4" name="Slide Number Placeholder 9">
            <a:extLst>
              <a:ext uri="{FF2B5EF4-FFF2-40B4-BE49-F238E27FC236}">
                <a16:creationId xmlns:a16="http://schemas.microsoft.com/office/drawing/2014/main" id="{6D29479D-2309-A583-06A5-CE5EBCC16A27}"/>
              </a:ext>
            </a:extLst>
          </p:cNvPr>
          <p:cNvSpPr>
            <a:spLocks noGrp="1"/>
          </p:cNvSpPr>
          <p:nvPr/>
        </p:nvSpPr>
        <p:spPr>
          <a:xfrm>
            <a:off x="93608" y="6342656"/>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784164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34916"/>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Create APV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491919"/>
            <a:ext cx="4179346" cy="4467894"/>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After you select the supplier, some details such as address, terms are automatically plotted in their respective field. If you wish to change the EWT rate if there’s any, click the lookup button and select its respective EWT rate.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4.2.  </a:t>
            </a:r>
            <a:r>
              <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header, current date is also plotted automatically but if you wish to change the date – click the date picker and select its respective ordered date.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Calibri" panose="020F0502020204030204" pitchFamily="34" charset="0"/>
                <a:cs typeface="Times New Roman" panose="02020603050405020304" pitchFamily="18" charset="0"/>
              </a:rPr>
              <a:t>4.3</a:t>
            </a:r>
            <a:r>
              <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rPr>
              <a:t>. In header, add the necessary information if necessary.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Calibri" panose="020F0502020204030204" pitchFamily="34" charset="0"/>
                <a:cs typeface="Times New Roman" panose="02020603050405020304" pitchFamily="18" charset="0"/>
              </a:rPr>
              <a:t>5.1. </a:t>
            </a:r>
            <a:r>
              <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rPr>
              <a:t>After saving the header, you may now select the payable or expense account that you will record. If the payment is from receiving report transaction, click unpaid button to view all the unpaid payables of the supplier and select it by ticking the check box.</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grpSp>
        <p:nvGrpSpPr>
          <p:cNvPr id="46" name="Group 45">
            <a:extLst>
              <a:ext uri="{FF2B5EF4-FFF2-40B4-BE49-F238E27FC236}">
                <a16:creationId xmlns:a16="http://schemas.microsoft.com/office/drawing/2014/main" id="{05892354-E64A-F955-ED31-0F2BA4E4BE2F}"/>
              </a:ext>
            </a:extLst>
          </p:cNvPr>
          <p:cNvGrpSpPr/>
          <p:nvPr/>
        </p:nvGrpSpPr>
        <p:grpSpPr>
          <a:xfrm>
            <a:off x="4875329" y="642052"/>
            <a:ext cx="6680935" cy="2962910"/>
            <a:chOff x="4816962" y="1610320"/>
            <a:chExt cx="6680935" cy="2962910"/>
          </a:xfrm>
        </p:grpSpPr>
        <p:pic>
          <p:nvPicPr>
            <p:cNvPr id="24" name="Picture 23">
              <a:extLst>
                <a:ext uri="{FF2B5EF4-FFF2-40B4-BE49-F238E27FC236}">
                  <a16:creationId xmlns:a16="http://schemas.microsoft.com/office/drawing/2014/main" id="{6402CB86-18F4-2AD9-DECA-4873973CF8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96842" y="1610320"/>
              <a:ext cx="5901055" cy="2962910"/>
            </a:xfrm>
            <a:prstGeom prst="rect">
              <a:avLst/>
            </a:prstGeom>
          </p:spPr>
        </p:pic>
        <p:sp>
          <p:nvSpPr>
            <p:cNvPr id="26" name="Text Box 465">
              <a:extLst>
                <a:ext uri="{FF2B5EF4-FFF2-40B4-BE49-F238E27FC236}">
                  <a16:creationId xmlns:a16="http://schemas.microsoft.com/office/drawing/2014/main" id="{E2FFB213-65E5-9FD1-EE57-26615531FDB9}"/>
                </a:ext>
              </a:extLst>
            </p:cNvPr>
            <p:cNvSpPr txBox="1"/>
            <p:nvPr/>
          </p:nvSpPr>
          <p:spPr>
            <a:xfrm>
              <a:off x="4842362" y="4069404"/>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Detail</a:t>
              </a:r>
            </a:p>
          </p:txBody>
        </p:sp>
        <p:sp>
          <p:nvSpPr>
            <p:cNvPr id="27" name="Text Box 487">
              <a:extLst>
                <a:ext uri="{FF2B5EF4-FFF2-40B4-BE49-F238E27FC236}">
                  <a16:creationId xmlns:a16="http://schemas.microsoft.com/office/drawing/2014/main" id="{DDAC94DB-EEF6-24CE-FDEB-E3E9B0257FFF}"/>
                </a:ext>
              </a:extLst>
            </p:cNvPr>
            <p:cNvSpPr txBox="1"/>
            <p:nvPr/>
          </p:nvSpPr>
          <p:spPr>
            <a:xfrm>
              <a:off x="4816962" y="2297754"/>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sp>
          <p:nvSpPr>
            <p:cNvPr id="28" name="Text Box 9">
              <a:extLst>
                <a:ext uri="{FF2B5EF4-FFF2-40B4-BE49-F238E27FC236}">
                  <a16:creationId xmlns:a16="http://schemas.microsoft.com/office/drawing/2014/main" id="{90882F92-6E94-499A-046A-FBA9368C5D34}"/>
                </a:ext>
              </a:extLst>
            </p:cNvPr>
            <p:cNvSpPr txBox="1"/>
            <p:nvPr/>
          </p:nvSpPr>
          <p:spPr>
            <a:xfrm>
              <a:off x="10239862" y="2627954"/>
              <a:ext cx="96139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4.1 to 4.3</a:t>
              </a:r>
            </a:p>
          </p:txBody>
        </p:sp>
        <p:sp>
          <p:nvSpPr>
            <p:cNvPr id="29" name="Rectangle 28">
              <a:extLst>
                <a:ext uri="{FF2B5EF4-FFF2-40B4-BE49-F238E27FC236}">
                  <a16:creationId xmlns:a16="http://schemas.microsoft.com/office/drawing/2014/main" id="{06F8B566-9966-1E6E-E2DB-6639C5CC79BB}"/>
                </a:ext>
              </a:extLst>
            </p:cNvPr>
            <p:cNvSpPr/>
            <p:nvPr/>
          </p:nvSpPr>
          <p:spPr>
            <a:xfrm>
              <a:off x="10074762" y="2037404"/>
              <a:ext cx="413385" cy="16637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0" name="Straight Arrow Connector 29">
              <a:extLst>
                <a:ext uri="{FF2B5EF4-FFF2-40B4-BE49-F238E27FC236}">
                  <a16:creationId xmlns:a16="http://schemas.microsoft.com/office/drawing/2014/main" id="{1BF2EBDF-5F34-C760-F387-D440A65C2688}"/>
                </a:ext>
              </a:extLst>
            </p:cNvPr>
            <p:cNvCxnSpPr/>
            <p:nvPr/>
          </p:nvCxnSpPr>
          <p:spPr>
            <a:xfrm>
              <a:off x="10462112" y="2043754"/>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1" name="Text Box 16">
              <a:extLst>
                <a:ext uri="{FF2B5EF4-FFF2-40B4-BE49-F238E27FC236}">
                  <a16:creationId xmlns:a16="http://schemas.microsoft.com/office/drawing/2014/main" id="{CE062D97-7AAE-F36E-7951-E18182A0217B}"/>
                </a:ext>
              </a:extLst>
            </p:cNvPr>
            <p:cNvSpPr txBox="1"/>
            <p:nvPr/>
          </p:nvSpPr>
          <p:spPr>
            <a:xfrm>
              <a:off x="10665312" y="1923104"/>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4.4</a:t>
              </a:r>
            </a:p>
          </p:txBody>
        </p:sp>
        <p:sp>
          <p:nvSpPr>
            <p:cNvPr id="32" name="Rectangle 31">
              <a:extLst>
                <a:ext uri="{FF2B5EF4-FFF2-40B4-BE49-F238E27FC236}">
                  <a16:creationId xmlns:a16="http://schemas.microsoft.com/office/drawing/2014/main" id="{80FD85A0-B945-9D6C-F76B-E78CFFEEEFBF}"/>
                </a:ext>
              </a:extLst>
            </p:cNvPr>
            <p:cNvSpPr/>
            <p:nvPr/>
          </p:nvSpPr>
          <p:spPr>
            <a:xfrm>
              <a:off x="8195162" y="3078804"/>
              <a:ext cx="425450" cy="17843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4" name="Straight Arrow Connector 43">
              <a:extLst>
                <a:ext uri="{FF2B5EF4-FFF2-40B4-BE49-F238E27FC236}">
                  <a16:creationId xmlns:a16="http://schemas.microsoft.com/office/drawing/2014/main" id="{EBFA1ED8-2312-8932-0C75-3EA7FD63C90C}"/>
                </a:ext>
              </a:extLst>
            </p:cNvPr>
            <p:cNvCxnSpPr/>
            <p:nvPr/>
          </p:nvCxnSpPr>
          <p:spPr>
            <a:xfrm>
              <a:off x="8220562" y="3250254"/>
              <a:ext cx="94615" cy="1187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5" name="Text Box 454">
              <a:extLst>
                <a:ext uri="{FF2B5EF4-FFF2-40B4-BE49-F238E27FC236}">
                  <a16:creationId xmlns:a16="http://schemas.microsoft.com/office/drawing/2014/main" id="{633879C8-6A18-5329-7744-9FDF0F3FA055}"/>
                </a:ext>
              </a:extLst>
            </p:cNvPr>
            <p:cNvSpPr txBox="1"/>
            <p:nvPr/>
          </p:nvSpPr>
          <p:spPr>
            <a:xfrm>
              <a:off x="8163412" y="3383604"/>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5.1</a:t>
              </a:r>
            </a:p>
          </p:txBody>
        </p:sp>
      </p:grpSp>
      <p:pic>
        <p:nvPicPr>
          <p:cNvPr id="47" name="Picture 46">
            <a:extLst>
              <a:ext uri="{FF2B5EF4-FFF2-40B4-BE49-F238E27FC236}">
                <a16:creationId xmlns:a16="http://schemas.microsoft.com/office/drawing/2014/main" id="{2A8E53A3-DFDE-BC41-5277-8DB4C10C926D}"/>
              </a:ext>
            </a:extLst>
          </p:cNvPr>
          <p:cNvPicPr>
            <a:picLocks noChangeAspect="1"/>
          </p:cNvPicPr>
          <p:nvPr/>
        </p:nvPicPr>
        <p:blipFill>
          <a:blip r:embed="rId3"/>
          <a:stretch>
            <a:fillRect/>
          </a:stretch>
        </p:blipFill>
        <p:spPr>
          <a:xfrm>
            <a:off x="5364596" y="3806711"/>
            <a:ext cx="6189345" cy="2783205"/>
          </a:xfrm>
          <a:prstGeom prst="rect">
            <a:avLst/>
          </a:prstGeom>
        </p:spPr>
      </p:pic>
      <p:grpSp>
        <p:nvGrpSpPr>
          <p:cNvPr id="54" name="Group 53">
            <a:extLst>
              <a:ext uri="{FF2B5EF4-FFF2-40B4-BE49-F238E27FC236}">
                <a16:creationId xmlns:a16="http://schemas.microsoft.com/office/drawing/2014/main" id="{1129DFC5-8527-0F71-FE24-58E314E4EA2E}"/>
              </a:ext>
            </a:extLst>
          </p:cNvPr>
          <p:cNvGrpSpPr/>
          <p:nvPr/>
        </p:nvGrpSpPr>
        <p:grpSpPr>
          <a:xfrm>
            <a:off x="5491946" y="4814537"/>
            <a:ext cx="6565265" cy="1840230"/>
            <a:chOff x="2813367" y="2508885"/>
            <a:chExt cx="6565265" cy="1840230"/>
          </a:xfrm>
        </p:grpSpPr>
        <p:sp>
          <p:nvSpPr>
            <p:cNvPr id="48" name="Rectangle 47">
              <a:extLst>
                <a:ext uri="{FF2B5EF4-FFF2-40B4-BE49-F238E27FC236}">
                  <a16:creationId xmlns:a16="http://schemas.microsoft.com/office/drawing/2014/main" id="{DC2D0EAA-FD95-641B-F4C5-46FFFC5DCDF4}"/>
                </a:ext>
              </a:extLst>
            </p:cNvPr>
            <p:cNvSpPr/>
            <p:nvPr/>
          </p:nvSpPr>
          <p:spPr>
            <a:xfrm>
              <a:off x="2813367" y="2508885"/>
              <a:ext cx="295910" cy="89027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9" name="Straight Arrow Connector 48">
              <a:extLst>
                <a:ext uri="{FF2B5EF4-FFF2-40B4-BE49-F238E27FC236}">
                  <a16:creationId xmlns:a16="http://schemas.microsoft.com/office/drawing/2014/main" id="{2DBD38F2-589D-BD4C-752C-DC5AAB648919}"/>
                </a:ext>
              </a:extLst>
            </p:cNvPr>
            <p:cNvCxnSpPr/>
            <p:nvPr/>
          </p:nvCxnSpPr>
          <p:spPr>
            <a:xfrm>
              <a:off x="3153092" y="2872105"/>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0" name="Text Box 307">
              <a:extLst>
                <a:ext uri="{FF2B5EF4-FFF2-40B4-BE49-F238E27FC236}">
                  <a16:creationId xmlns:a16="http://schemas.microsoft.com/office/drawing/2014/main" id="{E6BD2438-026E-C5DD-323F-EDC680069FF5}"/>
                </a:ext>
              </a:extLst>
            </p:cNvPr>
            <p:cNvSpPr txBox="1"/>
            <p:nvPr/>
          </p:nvSpPr>
          <p:spPr>
            <a:xfrm>
              <a:off x="3346767" y="2713355"/>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5.1.</a:t>
              </a:r>
            </a:p>
          </p:txBody>
        </p:sp>
        <p:sp>
          <p:nvSpPr>
            <p:cNvPr id="51" name="Rectangle 50">
              <a:extLst>
                <a:ext uri="{FF2B5EF4-FFF2-40B4-BE49-F238E27FC236}">
                  <a16:creationId xmlns:a16="http://schemas.microsoft.com/office/drawing/2014/main" id="{5BBD2C81-98FB-B99C-A780-FE607737F77B}"/>
                </a:ext>
              </a:extLst>
            </p:cNvPr>
            <p:cNvSpPr/>
            <p:nvPr/>
          </p:nvSpPr>
          <p:spPr>
            <a:xfrm>
              <a:off x="8192452" y="4017010"/>
              <a:ext cx="473710" cy="33210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52" name="Straight Arrow Connector 51">
              <a:extLst>
                <a:ext uri="{FF2B5EF4-FFF2-40B4-BE49-F238E27FC236}">
                  <a16:creationId xmlns:a16="http://schemas.microsoft.com/office/drawing/2014/main" id="{FA8554B5-B01A-B4AC-BA8D-C6AC27085C43}"/>
                </a:ext>
              </a:extLst>
            </p:cNvPr>
            <p:cNvCxnSpPr/>
            <p:nvPr/>
          </p:nvCxnSpPr>
          <p:spPr>
            <a:xfrm>
              <a:off x="8709977" y="4191635"/>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3" name="Text Box 310">
              <a:extLst>
                <a:ext uri="{FF2B5EF4-FFF2-40B4-BE49-F238E27FC236}">
                  <a16:creationId xmlns:a16="http://schemas.microsoft.com/office/drawing/2014/main" id="{7CE540B1-5660-C4C9-4968-82255925B639}"/>
                </a:ext>
              </a:extLst>
            </p:cNvPr>
            <p:cNvSpPr txBox="1"/>
            <p:nvPr/>
          </p:nvSpPr>
          <p:spPr>
            <a:xfrm>
              <a:off x="8903652" y="3975735"/>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5.2.</a:t>
              </a:r>
            </a:p>
          </p:txBody>
        </p:sp>
      </p:grpSp>
      <p:sp>
        <p:nvSpPr>
          <p:cNvPr id="2" name="TextBox 1">
            <a:extLst>
              <a:ext uri="{FF2B5EF4-FFF2-40B4-BE49-F238E27FC236}">
                <a16:creationId xmlns:a16="http://schemas.microsoft.com/office/drawing/2014/main" id="{22F66DF3-9C18-DC63-712C-7CA79FEBB94C}"/>
              </a:ext>
            </a:extLst>
          </p:cNvPr>
          <p:cNvSpPr txBox="1"/>
          <p:nvPr/>
        </p:nvSpPr>
        <p:spPr>
          <a:xfrm>
            <a:off x="538778" y="103044"/>
            <a:ext cx="4912109"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Payables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Accounts Payable Voucher</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4" name="Slide Number Placeholder 9">
            <a:extLst>
              <a:ext uri="{FF2B5EF4-FFF2-40B4-BE49-F238E27FC236}">
                <a16:creationId xmlns:a16="http://schemas.microsoft.com/office/drawing/2014/main" id="{CC892FE9-0A48-545F-B985-C98F5E3B472B}"/>
              </a:ext>
            </a:extLst>
          </p:cNvPr>
          <p:cNvSpPr>
            <a:spLocks noGrp="1"/>
          </p:cNvSpPr>
          <p:nvPr/>
        </p:nvSpPr>
        <p:spPr>
          <a:xfrm>
            <a:off x="93608" y="6342656"/>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5976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34916"/>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Create APV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2056123"/>
            <a:ext cx="4179346" cy="2565855"/>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After you select the unpaid account, you will be redirect in accounts payable voucher – main window and the selected unpaid accounts will be displayed in accounts payable voucher – detail.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7. </a:t>
            </a:r>
            <a:r>
              <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 want to add other payable and expense account that is not in the unpaid list, click add account and search the account you wish to add.</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Calibri" panose="020F0502020204030204" pitchFamily="34" charset="0"/>
                <a:cs typeface="Times New Roman" panose="02020603050405020304" pitchFamily="18" charset="0"/>
              </a:rPr>
              <a:t>8.  </a:t>
            </a:r>
            <a:r>
              <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rPr>
              <a:t>After you select an account, a dialog box will prompt. Enter the details of the account.</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63F6D38D-ED55-192D-9268-BB19231B03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75730" y="1491919"/>
            <a:ext cx="5752465" cy="2081530"/>
          </a:xfrm>
          <a:prstGeom prst="rect">
            <a:avLst/>
          </a:prstGeom>
        </p:spPr>
      </p:pic>
      <p:pic>
        <p:nvPicPr>
          <p:cNvPr id="6" name="Picture 5">
            <a:extLst>
              <a:ext uri="{FF2B5EF4-FFF2-40B4-BE49-F238E27FC236}">
                <a16:creationId xmlns:a16="http://schemas.microsoft.com/office/drawing/2014/main" id="{3F76722B-E9B6-22A4-46B3-E8B44D0D42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62420" y="2504109"/>
            <a:ext cx="3716655" cy="1977390"/>
          </a:xfrm>
          <a:prstGeom prst="rect">
            <a:avLst/>
          </a:prstGeom>
        </p:spPr>
      </p:pic>
      <p:grpSp>
        <p:nvGrpSpPr>
          <p:cNvPr id="7" name="Group 6">
            <a:extLst>
              <a:ext uri="{FF2B5EF4-FFF2-40B4-BE49-F238E27FC236}">
                <a16:creationId xmlns:a16="http://schemas.microsoft.com/office/drawing/2014/main" id="{9D2AF1F3-788C-9966-5E87-4396D73B0541}"/>
              </a:ext>
            </a:extLst>
          </p:cNvPr>
          <p:cNvGrpSpPr/>
          <p:nvPr/>
        </p:nvGrpSpPr>
        <p:grpSpPr>
          <a:xfrm>
            <a:off x="5552832" y="2186609"/>
            <a:ext cx="4354830" cy="2294890"/>
            <a:chOff x="0" y="0"/>
            <a:chExt cx="4354830" cy="2294890"/>
          </a:xfrm>
        </p:grpSpPr>
        <p:sp>
          <p:nvSpPr>
            <p:cNvPr id="8" name="Rectangle 7">
              <a:extLst>
                <a:ext uri="{FF2B5EF4-FFF2-40B4-BE49-F238E27FC236}">
                  <a16:creationId xmlns:a16="http://schemas.microsoft.com/office/drawing/2014/main" id="{4E4C9E8D-CF3D-CC72-8E16-C928AE10EFD7}"/>
                </a:ext>
              </a:extLst>
            </p:cNvPr>
            <p:cNvSpPr/>
            <p:nvPr/>
          </p:nvSpPr>
          <p:spPr>
            <a:xfrm>
              <a:off x="3136900" y="12700"/>
              <a:ext cx="589915" cy="22542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9" name="Straight Arrow Connector 8">
              <a:extLst>
                <a:ext uri="{FF2B5EF4-FFF2-40B4-BE49-F238E27FC236}">
                  <a16:creationId xmlns:a16="http://schemas.microsoft.com/office/drawing/2014/main" id="{9F9E9D1A-FCA6-1A7F-7725-66D9DBBA0FD8}"/>
                </a:ext>
              </a:extLst>
            </p:cNvPr>
            <p:cNvCxnSpPr/>
            <p:nvPr/>
          </p:nvCxnSpPr>
          <p:spPr>
            <a:xfrm flipV="1">
              <a:off x="3746500" y="82550"/>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Text Box 672">
              <a:extLst>
                <a:ext uri="{FF2B5EF4-FFF2-40B4-BE49-F238E27FC236}">
                  <a16:creationId xmlns:a16="http://schemas.microsoft.com/office/drawing/2014/main" id="{975B80DF-650C-1F25-FD54-76454F4C15E0}"/>
                </a:ext>
              </a:extLst>
            </p:cNvPr>
            <p:cNvSpPr txBox="1"/>
            <p:nvPr/>
          </p:nvSpPr>
          <p:spPr>
            <a:xfrm>
              <a:off x="3879850" y="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a:t>
              </a:r>
            </a:p>
          </p:txBody>
        </p:sp>
        <p:pic>
          <p:nvPicPr>
            <p:cNvPr id="11" name="Picture 10">
              <a:extLst>
                <a:ext uri="{FF2B5EF4-FFF2-40B4-BE49-F238E27FC236}">
                  <a16:creationId xmlns:a16="http://schemas.microsoft.com/office/drawing/2014/main" id="{2E0E3602-79B6-D472-673A-1997A232F7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6400" y="317500"/>
              <a:ext cx="3716655" cy="1977390"/>
            </a:xfrm>
            <a:prstGeom prst="rect">
              <a:avLst/>
            </a:prstGeom>
          </p:spPr>
        </p:pic>
        <p:sp>
          <p:nvSpPr>
            <p:cNvPr id="13" name="Curved Right Arrow 315">
              <a:extLst>
                <a:ext uri="{FF2B5EF4-FFF2-40B4-BE49-F238E27FC236}">
                  <a16:creationId xmlns:a16="http://schemas.microsoft.com/office/drawing/2014/main" id="{F8659F41-0F6B-BEC5-148A-FD1D38ED4798}"/>
                </a:ext>
              </a:extLst>
            </p:cNvPr>
            <p:cNvSpPr/>
            <p:nvPr/>
          </p:nvSpPr>
          <p:spPr>
            <a:xfrm>
              <a:off x="2565400" y="82550"/>
              <a:ext cx="546265" cy="546265"/>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ext Box 241">
              <a:extLst>
                <a:ext uri="{FF2B5EF4-FFF2-40B4-BE49-F238E27FC236}">
                  <a16:creationId xmlns:a16="http://schemas.microsoft.com/office/drawing/2014/main" id="{B0F764C7-3164-B175-98CA-060EAAFF89A7}"/>
                </a:ext>
              </a:extLst>
            </p:cNvPr>
            <p:cNvSpPr txBox="1">
              <a:spLocks noChangeArrowheads="1"/>
            </p:cNvSpPr>
            <p:nvPr/>
          </p:nvSpPr>
          <p:spPr bwMode="auto">
            <a:xfrm>
              <a:off x="0" y="895350"/>
              <a:ext cx="4019266" cy="97581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an account?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ct val="115000"/>
                </a:lnSpc>
                <a:spcBef>
                  <a:spcPts val="0"/>
                </a:spcBef>
                <a:spcAft>
                  <a:spcPts val="0"/>
                </a:spcAft>
                <a:buClrTx/>
                <a:buSzTx/>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account name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ts val="975"/>
                </a:lnSpc>
                <a:spcBef>
                  <a:spcPts val="5"/>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And it will automatically sort out.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29565" marR="0" lvl="0" indent="-228600" algn="l" defTabSz="914400" rtl="0" eaLnBrk="1" fontAlgn="auto" latinLnBrk="0" hangingPunct="1">
                <a:lnSpc>
                  <a:spcPts val="975"/>
                </a:lnSpc>
                <a:spcBef>
                  <a:spcPts val="0"/>
                </a:spcBef>
                <a:spcAft>
                  <a:spcPts val="0"/>
                </a:spcAft>
                <a:buClrTx/>
                <a:buSzTx/>
                <a:buFont typeface="+mj-lt"/>
                <a:buAutoNum type="arabicPeriod"/>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Then click the selected account.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00965" marR="0" lvl="0" indent="0" algn="l" defTabSz="914400" rtl="0" eaLnBrk="1" fontAlgn="auto" latinLnBrk="0" hangingPunct="1">
                <a:lnSpc>
                  <a:spcPts val="975"/>
                </a:lnSpc>
                <a:spcBef>
                  <a:spcPts val="0"/>
                </a:spcBef>
                <a:spcAft>
                  <a:spcPts val="0"/>
                </a:spcAft>
                <a:buClrTx/>
                <a:buSzTx/>
                <a:buFontTx/>
                <a:buNone/>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15" name="Rectangle 14">
              <a:extLst>
                <a:ext uri="{FF2B5EF4-FFF2-40B4-BE49-F238E27FC236}">
                  <a16:creationId xmlns:a16="http://schemas.microsoft.com/office/drawing/2014/main" id="{8871CC3A-45EF-2B64-5B4C-4E890B8D2091}"/>
                </a:ext>
              </a:extLst>
            </p:cNvPr>
            <p:cNvSpPr/>
            <p:nvPr/>
          </p:nvSpPr>
          <p:spPr>
            <a:xfrm>
              <a:off x="501650" y="520700"/>
              <a:ext cx="3550723" cy="35626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pic>
        <p:nvPicPr>
          <p:cNvPr id="16" name="Picture 15">
            <a:extLst>
              <a:ext uri="{FF2B5EF4-FFF2-40B4-BE49-F238E27FC236}">
                <a16:creationId xmlns:a16="http://schemas.microsoft.com/office/drawing/2014/main" id="{0D95514C-BD76-DEC1-1004-F6F7B19A8B02}"/>
              </a:ext>
            </a:extLst>
          </p:cNvPr>
          <p:cNvPicPr>
            <a:picLocks noChangeAspect="1"/>
          </p:cNvPicPr>
          <p:nvPr/>
        </p:nvPicPr>
        <p:blipFill>
          <a:blip r:embed="rId4"/>
          <a:stretch>
            <a:fillRect/>
          </a:stretch>
        </p:blipFill>
        <p:spPr>
          <a:xfrm>
            <a:off x="10780479" y="6391410"/>
            <a:ext cx="1047454" cy="267619"/>
          </a:xfrm>
          <a:prstGeom prst="rect">
            <a:avLst/>
          </a:prstGeom>
          <a:effectLst/>
        </p:spPr>
      </p:pic>
      <p:sp>
        <p:nvSpPr>
          <p:cNvPr id="2" name="TextBox 1">
            <a:extLst>
              <a:ext uri="{FF2B5EF4-FFF2-40B4-BE49-F238E27FC236}">
                <a16:creationId xmlns:a16="http://schemas.microsoft.com/office/drawing/2014/main" id="{675F148D-C481-E8F7-A8E9-2DB0B0E88033}"/>
              </a:ext>
            </a:extLst>
          </p:cNvPr>
          <p:cNvSpPr txBox="1"/>
          <p:nvPr/>
        </p:nvSpPr>
        <p:spPr>
          <a:xfrm>
            <a:off x="538778" y="103044"/>
            <a:ext cx="4912109"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Payables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Accounts Payable Voucher</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4" name="Slide Number Placeholder 9">
            <a:extLst>
              <a:ext uri="{FF2B5EF4-FFF2-40B4-BE49-F238E27FC236}">
                <a16:creationId xmlns:a16="http://schemas.microsoft.com/office/drawing/2014/main" id="{C4363602-6970-2BE3-1456-C17E21D4D09A}"/>
              </a:ext>
            </a:extLst>
          </p:cNvPr>
          <p:cNvSpPr>
            <a:spLocks noGrp="1"/>
          </p:cNvSpPr>
          <p:nvPr/>
        </p:nvSpPr>
        <p:spPr>
          <a:xfrm>
            <a:off x="93608" y="6342656"/>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025063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34916"/>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Create APV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607484" y="1668049"/>
            <a:ext cx="4179346" cy="3065433"/>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9.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Enter the details of the account. For the amount, enter the amount either in debit or credit field. But if you want to copy of amount in the balance, click the balance to autofill the credit field.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10.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You may also add notes if necessary.</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To save the account, if you want to add more other account, click add to cart button and select more accounts again. OR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OR If you want to plot the selected account already in accounts payable voucher – detail, you may click add/ save button.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grpSp>
        <p:nvGrpSpPr>
          <p:cNvPr id="34" name="Group 33">
            <a:extLst>
              <a:ext uri="{FF2B5EF4-FFF2-40B4-BE49-F238E27FC236}">
                <a16:creationId xmlns:a16="http://schemas.microsoft.com/office/drawing/2014/main" id="{A959FBA4-F90D-8A85-2100-788E899D8A2F}"/>
              </a:ext>
            </a:extLst>
          </p:cNvPr>
          <p:cNvGrpSpPr/>
          <p:nvPr/>
        </p:nvGrpSpPr>
        <p:grpSpPr>
          <a:xfrm>
            <a:off x="5450887" y="634916"/>
            <a:ext cx="6189345" cy="3507381"/>
            <a:chOff x="5462067" y="1222814"/>
            <a:chExt cx="6189345" cy="3507381"/>
          </a:xfrm>
        </p:grpSpPr>
        <p:pic>
          <p:nvPicPr>
            <p:cNvPr id="2" name="Picture 1">
              <a:extLst>
                <a:ext uri="{FF2B5EF4-FFF2-40B4-BE49-F238E27FC236}">
                  <a16:creationId xmlns:a16="http://schemas.microsoft.com/office/drawing/2014/main" id="{DE025452-3E00-2DBD-73AE-BDA4FF5A4296}"/>
                </a:ext>
              </a:extLst>
            </p:cNvPr>
            <p:cNvPicPr>
              <a:picLocks noChangeAspect="1"/>
            </p:cNvPicPr>
            <p:nvPr/>
          </p:nvPicPr>
          <p:blipFill>
            <a:blip r:embed="rId2"/>
            <a:stretch>
              <a:fillRect/>
            </a:stretch>
          </p:blipFill>
          <p:spPr>
            <a:xfrm>
              <a:off x="5462067" y="1222814"/>
              <a:ext cx="6189345" cy="3387725"/>
            </a:xfrm>
            <a:prstGeom prst="rect">
              <a:avLst/>
            </a:prstGeom>
          </p:spPr>
        </p:pic>
        <p:grpSp>
          <p:nvGrpSpPr>
            <p:cNvPr id="33" name="Group 32">
              <a:extLst>
                <a:ext uri="{FF2B5EF4-FFF2-40B4-BE49-F238E27FC236}">
                  <a16:creationId xmlns:a16="http://schemas.microsoft.com/office/drawing/2014/main" id="{DE3C1D31-64A3-2D96-6780-7729F98ACAFE}"/>
                </a:ext>
              </a:extLst>
            </p:cNvPr>
            <p:cNvGrpSpPr/>
            <p:nvPr/>
          </p:nvGrpSpPr>
          <p:grpSpPr>
            <a:xfrm>
              <a:off x="7267980" y="2960450"/>
              <a:ext cx="3181350" cy="1769745"/>
              <a:chOff x="4505325" y="2544128"/>
              <a:chExt cx="3181350" cy="1769745"/>
            </a:xfrm>
          </p:grpSpPr>
          <p:sp>
            <p:nvSpPr>
              <p:cNvPr id="18" name="Rectangle 17">
                <a:extLst>
                  <a:ext uri="{FF2B5EF4-FFF2-40B4-BE49-F238E27FC236}">
                    <a16:creationId xmlns:a16="http://schemas.microsoft.com/office/drawing/2014/main" id="{6C1DD260-3987-E218-7C1C-08973D3852DF}"/>
                  </a:ext>
                </a:extLst>
              </p:cNvPr>
              <p:cNvSpPr/>
              <p:nvPr/>
            </p:nvSpPr>
            <p:spPr>
              <a:xfrm>
                <a:off x="4517390" y="2544128"/>
                <a:ext cx="2468245" cy="61722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9" name="Straight Arrow Connector 18">
                <a:extLst>
                  <a:ext uri="{FF2B5EF4-FFF2-40B4-BE49-F238E27FC236}">
                    <a16:creationId xmlns:a16="http://schemas.microsoft.com/office/drawing/2014/main" id="{B269960E-A2C1-C4B3-02BC-D7447CF8B490}"/>
                  </a:ext>
                </a:extLst>
              </p:cNvPr>
              <p:cNvCxnSpPr/>
              <p:nvPr/>
            </p:nvCxnSpPr>
            <p:spPr>
              <a:xfrm>
                <a:off x="7026910" y="2881313"/>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Text Box 326">
                <a:extLst>
                  <a:ext uri="{FF2B5EF4-FFF2-40B4-BE49-F238E27FC236}">
                    <a16:creationId xmlns:a16="http://schemas.microsoft.com/office/drawing/2014/main" id="{314DF969-DCC9-013C-D74D-50253BFB9D19}"/>
                  </a:ext>
                </a:extLst>
              </p:cNvPr>
              <p:cNvSpPr txBox="1"/>
              <p:nvPr/>
            </p:nvSpPr>
            <p:spPr>
              <a:xfrm>
                <a:off x="7211695" y="2702878"/>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9</a:t>
                </a:r>
              </a:p>
            </p:txBody>
          </p:sp>
          <p:sp>
            <p:nvSpPr>
              <p:cNvPr id="21" name="Rectangle 20">
                <a:extLst>
                  <a:ext uri="{FF2B5EF4-FFF2-40B4-BE49-F238E27FC236}">
                    <a16:creationId xmlns:a16="http://schemas.microsoft.com/office/drawing/2014/main" id="{18F6110A-0D8D-5227-0286-0358FB64ABE1}"/>
                  </a:ext>
                </a:extLst>
              </p:cNvPr>
              <p:cNvSpPr/>
              <p:nvPr/>
            </p:nvSpPr>
            <p:spPr>
              <a:xfrm>
                <a:off x="4505325" y="3196908"/>
                <a:ext cx="2468245" cy="23749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ext Box 333">
                <a:extLst>
                  <a:ext uri="{FF2B5EF4-FFF2-40B4-BE49-F238E27FC236}">
                    <a16:creationId xmlns:a16="http://schemas.microsoft.com/office/drawing/2014/main" id="{D9F93194-0EE1-1ABA-FD8B-8745AC8F7680}"/>
                  </a:ext>
                </a:extLst>
              </p:cNvPr>
              <p:cNvSpPr txBox="1"/>
              <p:nvPr/>
            </p:nvSpPr>
            <p:spPr>
              <a:xfrm>
                <a:off x="7196455" y="3048318"/>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10</a:t>
                </a:r>
              </a:p>
            </p:txBody>
          </p:sp>
          <p:sp>
            <p:nvSpPr>
              <p:cNvPr id="24" name="Rectangle 23">
                <a:extLst>
                  <a:ext uri="{FF2B5EF4-FFF2-40B4-BE49-F238E27FC236}">
                    <a16:creationId xmlns:a16="http://schemas.microsoft.com/office/drawing/2014/main" id="{CA66F82C-245F-EAE2-2B37-248E799BCFD9}"/>
                  </a:ext>
                </a:extLst>
              </p:cNvPr>
              <p:cNvSpPr/>
              <p:nvPr/>
            </p:nvSpPr>
            <p:spPr>
              <a:xfrm>
                <a:off x="6263005" y="3624898"/>
                <a:ext cx="925830" cy="24892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5" name="Straight Arrow Connector 24">
                <a:extLst>
                  <a:ext uri="{FF2B5EF4-FFF2-40B4-BE49-F238E27FC236}">
                    <a16:creationId xmlns:a16="http://schemas.microsoft.com/office/drawing/2014/main" id="{1875DECD-0B23-E4BC-BEFB-705145A85BDC}"/>
                  </a:ext>
                </a:extLst>
              </p:cNvPr>
              <p:cNvCxnSpPr/>
              <p:nvPr/>
            </p:nvCxnSpPr>
            <p:spPr>
              <a:xfrm flipH="1">
                <a:off x="7070090" y="3826828"/>
                <a:ext cx="142240" cy="248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 name="Text Box 336">
                <a:extLst>
                  <a:ext uri="{FF2B5EF4-FFF2-40B4-BE49-F238E27FC236}">
                    <a16:creationId xmlns:a16="http://schemas.microsoft.com/office/drawing/2014/main" id="{6040AEF3-F7FF-C444-F35A-34B02D5BEC1B}"/>
                  </a:ext>
                </a:extLst>
              </p:cNvPr>
              <p:cNvSpPr txBox="1"/>
              <p:nvPr/>
            </p:nvSpPr>
            <p:spPr>
              <a:xfrm>
                <a:off x="6551930" y="4017328"/>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9</a:t>
                </a:r>
              </a:p>
            </p:txBody>
          </p:sp>
          <p:sp>
            <p:nvSpPr>
              <p:cNvPr id="27" name="Rectangle 26">
                <a:extLst>
                  <a:ext uri="{FF2B5EF4-FFF2-40B4-BE49-F238E27FC236}">
                    <a16:creationId xmlns:a16="http://schemas.microsoft.com/office/drawing/2014/main" id="{70BCF26C-FB92-38E4-554B-84DF91BA3C3C}"/>
                  </a:ext>
                </a:extLst>
              </p:cNvPr>
              <p:cNvSpPr/>
              <p:nvPr/>
            </p:nvSpPr>
            <p:spPr>
              <a:xfrm>
                <a:off x="5586095" y="3624898"/>
                <a:ext cx="604520" cy="2965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8" name="Straight Arrow Connector 27">
                <a:extLst>
                  <a:ext uri="{FF2B5EF4-FFF2-40B4-BE49-F238E27FC236}">
                    <a16:creationId xmlns:a16="http://schemas.microsoft.com/office/drawing/2014/main" id="{C1623484-D0CE-A54B-3CE7-10E1B384FE76}"/>
                  </a:ext>
                </a:extLst>
              </p:cNvPr>
              <p:cNvCxnSpPr/>
              <p:nvPr/>
            </p:nvCxnSpPr>
            <p:spPr>
              <a:xfrm flipH="1">
                <a:off x="6069330" y="3827463"/>
                <a:ext cx="142240" cy="248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 name="Text Box 339">
                <a:extLst>
                  <a:ext uri="{FF2B5EF4-FFF2-40B4-BE49-F238E27FC236}">
                    <a16:creationId xmlns:a16="http://schemas.microsoft.com/office/drawing/2014/main" id="{9860ACA9-F621-E538-A4DF-D8D6A3462B04}"/>
                  </a:ext>
                </a:extLst>
              </p:cNvPr>
              <p:cNvSpPr txBox="1"/>
              <p:nvPr/>
            </p:nvSpPr>
            <p:spPr>
              <a:xfrm>
                <a:off x="5551170" y="4017963"/>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11.2</a:t>
                </a:r>
              </a:p>
            </p:txBody>
          </p:sp>
          <p:sp>
            <p:nvSpPr>
              <p:cNvPr id="30" name="Rectangle 29">
                <a:extLst>
                  <a:ext uri="{FF2B5EF4-FFF2-40B4-BE49-F238E27FC236}">
                    <a16:creationId xmlns:a16="http://schemas.microsoft.com/office/drawing/2014/main" id="{5895E955-0D30-3697-8D5B-D8C8213F3761}"/>
                  </a:ext>
                </a:extLst>
              </p:cNvPr>
              <p:cNvSpPr/>
              <p:nvPr/>
            </p:nvSpPr>
            <p:spPr>
              <a:xfrm>
                <a:off x="4838065" y="3636328"/>
                <a:ext cx="687070" cy="2965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1" name="Straight Arrow Connector 30">
                <a:extLst>
                  <a:ext uri="{FF2B5EF4-FFF2-40B4-BE49-F238E27FC236}">
                    <a16:creationId xmlns:a16="http://schemas.microsoft.com/office/drawing/2014/main" id="{B23BC1C2-5304-9420-41A4-40DFD235993F}"/>
                  </a:ext>
                </a:extLst>
              </p:cNvPr>
              <p:cNvCxnSpPr/>
              <p:nvPr/>
            </p:nvCxnSpPr>
            <p:spPr>
              <a:xfrm flipH="1">
                <a:off x="5399405" y="3837623"/>
                <a:ext cx="142240" cy="248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Text Box 342">
                <a:extLst>
                  <a:ext uri="{FF2B5EF4-FFF2-40B4-BE49-F238E27FC236}">
                    <a16:creationId xmlns:a16="http://schemas.microsoft.com/office/drawing/2014/main" id="{7E17302B-F04C-B3D0-0C42-317DF6D3633D}"/>
                  </a:ext>
                </a:extLst>
              </p:cNvPr>
              <p:cNvSpPr txBox="1"/>
              <p:nvPr/>
            </p:nvSpPr>
            <p:spPr>
              <a:xfrm>
                <a:off x="4881245" y="4028123"/>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11.1</a:t>
                </a:r>
              </a:p>
            </p:txBody>
          </p:sp>
        </p:grpSp>
      </p:grpSp>
      <p:sp>
        <p:nvSpPr>
          <p:cNvPr id="5" name="TextBox 4">
            <a:extLst>
              <a:ext uri="{FF2B5EF4-FFF2-40B4-BE49-F238E27FC236}">
                <a16:creationId xmlns:a16="http://schemas.microsoft.com/office/drawing/2014/main" id="{72D3F7A5-F987-556B-B699-686F4F9201F2}"/>
              </a:ext>
            </a:extLst>
          </p:cNvPr>
          <p:cNvSpPr txBox="1"/>
          <p:nvPr/>
        </p:nvSpPr>
        <p:spPr>
          <a:xfrm>
            <a:off x="538778" y="103044"/>
            <a:ext cx="4912109"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Payables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Accounts Payable Voucher</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4" name="Slide Number Placeholder 9">
            <a:extLst>
              <a:ext uri="{FF2B5EF4-FFF2-40B4-BE49-F238E27FC236}">
                <a16:creationId xmlns:a16="http://schemas.microsoft.com/office/drawing/2014/main" id="{6DF02A45-9E07-1EB8-9AC5-19AA1B73C8D7}"/>
              </a:ext>
            </a:extLst>
          </p:cNvPr>
          <p:cNvSpPr>
            <a:spLocks noGrp="1"/>
          </p:cNvSpPr>
          <p:nvPr/>
        </p:nvSpPr>
        <p:spPr>
          <a:xfrm>
            <a:off x="93608" y="6342656"/>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6" name="Group 5">
            <a:extLst>
              <a:ext uri="{FF2B5EF4-FFF2-40B4-BE49-F238E27FC236}">
                <a16:creationId xmlns:a16="http://schemas.microsoft.com/office/drawing/2014/main" id="{98C51808-43A2-2721-B78A-977EB1EF8A5F}"/>
              </a:ext>
            </a:extLst>
          </p:cNvPr>
          <p:cNvGrpSpPr/>
          <p:nvPr/>
        </p:nvGrpSpPr>
        <p:grpSpPr>
          <a:xfrm>
            <a:off x="5450887" y="4628758"/>
            <a:ext cx="6189345" cy="1589185"/>
            <a:chOff x="5462067" y="4827993"/>
            <a:chExt cx="6189345" cy="1589185"/>
          </a:xfrm>
        </p:grpSpPr>
        <p:pic>
          <p:nvPicPr>
            <p:cNvPr id="7" name="Picture 6">
              <a:extLst>
                <a:ext uri="{FF2B5EF4-FFF2-40B4-BE49-F238E27FC236}">
                  <a16:creationId xmlns:a16="http://schemas.microsoft.com/office/drawing/2014/main" id="{00F0857D-2229-B91B-869F-802DC24C6C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62067" y="4827993"/>
              <a:ext cx="6189345" cy="1508125"/>
            </a:xfrm>
            <a:prstGeom prst="rect">
              <a:avLst/>
            </a:prstGeom>
          </p:spPr>
        </p:pic>
        <p:grpSp>
          <p:nvGrpSpPr>
            <p:cNvPr id="8" name="Group 7">
              <a:extLst>
                <a:ext uri="{FF2B5EF4-FFF2-40B4-BE49-F238E27FC236}">
                  <a16:creationId xmlns:a16="http://schemas.microsoft.com/office/drawing/2014/main" id="{B57C4375-0BFC-E55C-4D5D-61BC6CD8965A}"/>
                </a:ext>
              </a:extLst>
            </p:cNvPr>
            <p:cNvGrpSpPr/>
            <p:nvPr/>
          </p:nvGrpSpPr>
          <p:grpSpPr>
            <a:xfrm>
              <a:off x="5465947" y="4838568"/>
              <a:ext cx="5914390" cy="1578610"/>
              <a:chOff x="0" y="0"/>
              <a:chExt cx="5914390" cy="1578610"/>
            </a:xfrm>
          </p:grpSpPr>
          <p:sp>
            <p:nvSpPr>
              <p:cNvPr id="9" name="Text Box 241">
                <a:extLst>
                  <a:ext uri="{FF2B5EF4-FFF2-40B4-BE49-F238E27FC236}">
                    <a16:creationId xmlns:a16="http://schemas.microsoft.com/office/drawing/2014/main" id="{5378E85C-E504-7D8F-34B0-751AFF6BF0AB}"/>
                  </a:ext>
                </a:extLst>
              </p:cNvPr>
              <p:cNvSpPr txBox="1">
                <a:spLocks noChangeArrowheads="1"/>
              </p:cNvSpPr>
              <p:nvPr/>
            </p:nvSpPr>
            <p:spPr bwMode="auto">
              <a:xfrm>
                <a:off x="0" y="603250"/>
                <a:ext cx="4108450" cy="975360"/>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plot the selected accounts in the accounts payable voucher – detail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228600" algn="l" defTabSz="914400" rtl="0" eaLnBrk="1" fontAlgn="auto" latinLnBrk="0" hangingPunct="1">
                  <a:lnSpc>
                    <a:spcPct val="115000"/>
                  </a:lnSpc>
                  <a:spcBef>
                    <a:spcPts val="0"/>
                  </a:spcBef>
                  <a:spcAft>
                    <a:spcPts val="0"/>
                  </a:spcAft>
                  <a:buClrTx/>
                  <a:buSzTx/>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the cart icon.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228600" algn="l" defTabSz="914400" rtl="0" eaLnBrk="1" fontAlgn="auto" latinLnBrk="0" hangingPunct="1">
                  <a:lnSpc>
                    <a:spcPts val="975"/>
                  </a:lnSpc>
                  <a:spcBef>
                    <a:spcPts val="5"/>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And a dialog box with list of selected accounts will pop out.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228600" algn="l" defTabSz="914400" rtl="0" eaLnBrk="1" fontAlgn="auto" latinLnBrk="0" hangingPunct="1">
                  <a:lnSpc>
                    <a:spcPts val="975"/>
                  </a:lnSpc>
                  <a:spcBef>
                    <a:spcPts val="0"/>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Then click the accept button.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00965" marR="0" lvl="0" indent="0" algn="l" defTabSz="914400" rtl="0" eaLnBrk="1" fontAlgn="auto" latinLnBrk="0" hangingPunct="1">
                  <a:lnSpc>
                    <a:spcPts val="975"/>
                  </a:lnSpc>
                  <a:spcBef>
                    <a:spcPts val="0"/>
                  </a:spcBef>
                  <a:spcAft>
                    <a:spcPts val="0"/>
                  </a:spcAft>
                  <a:buClrTx/>
                  <a:buSzTx/>
                  <a:buFontTx/>
                  <a:buNone/>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CEEF811A-5D08-509F-9A81-06F87F8E37F1}"/>
                  </a:ext>
                </a:extLst>
              </p:cNvPr>
              <p:cNvSpPr/>
              <p:nvPr/>
            </p:nvSpPr>
            <p:spPr>
              <a:xfrm>
                <a:off x="5454650" y="0"/>
                <a:ext cx="449563" cy="2965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1" name="Straight Arrow Connector 10">
                <a:extLst>
                  <a:ext uri="{FF2B5EF4-FFF2-40B4-BE49-F238E27FC236}">
                    <a16:creationId xmlns:a16="http://schemas.microsoft.com/office/drawing/2014/main" id="{0DA26F00-4B73-3133-DDEC-D2FDBE908459}"/>
                  </a:ext>
                </a:extLst>
              </p:cNvPr>
              <p:cNvCxnSpPr/>
              <p:nvPr/>
            </p:nvCxnSpPr>
            <p:spPr>
              <a:xfrm flipH="1">
                <a:off x="5772150" y="196850"/>
                <a:ext cx="142240" cy="248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 Box 369">
                <a:extLst>
                  <a:ext uri="{FF2B5EF4-FFF2-40B4-BE49-F238E27FC236}">
                    <a16:creationId xmlns:a16="http://schemas.microsoft.com/office/drawing/2014/main" id="{51F0B7A2-D184-D204-A91F-F4E06B0DA28B}"/>
                  </a:ext>
                </a:extLst>
              </p:cNvPr>
              <p:cNvSpPr txBox="1"/>
              <p:nvPr/>
            </p:nvSpPr>
            <p:spPr>
              <a:xfrm>
                <a:off x="5257800" y="38735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11.1</a:t>
                </a:r>
              </a:p>
            </p:txBody>
          </p:sp>
        </p:grpSp>
      </p:grpSp>
    </p:spTree>
    <p:extLst>
      <p:ext uri="{BB962C8B-B14F-4D97-AF65-F5344CB8AC3E}">
        <p14:creationId xmlns:p14="http://schemas.microsoft.com/office/powerpoint/2010/main" val="23256351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34916"/>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Create APV Transaction?</a:t>
            </a:r>
            <a:endParaRPr lang="en-US" sz="2000" dirty="0">
              <a:solidFill>
                <a:srgbClr val="007434"/>
              </a:solidFill>
              <a:latin typeface="Calibri Light" panose="020F0302020204030204" pitchFamily="34" charset="0"/>
              <a:cs typeface="Calibri Light" panose="020F0302020204030204" pitchFamily="34"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35" name="Text Box 18">
            <a:extLst>
              <a:ext uri="{FF2B5EF4-FFF2-40B4-BE49-F238E27FC236}">
                <a16:creationId xmlns:a16="http://schemas.microsoft.com/office/drawing/2014/main" id="{9536E891-EDDB-61F9-96BA-440F1604A6D6}"/>
              </a:ext>
            </a:extLst>
          </p:cNvPr>
          <p:cNvSpPr txBox="1"/>
          <p:nvPr/>
        </p:nvSpPr>
        <p:spPr>
          <a:xfrm>
            <a:off x="540588" y="1997055"/>
            <a:ext cx="4179346" cy="409302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a:lnSpc>
                <a:spcPct val="115000"/>
              </a:lnSpc>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12.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In APV, you may also automatically generate entries for EWT. Just click the Generate EWT Button and it will automatically compute EWT and VAT entries base on the account tagging on the detail entry.</a:t>
            </a:r>
          </a:p>
          <a:p>
            <a:pPr marL="228600" marR="0">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L="228600">
              <a:lnSpc>
                <a:spcPct val="115000"/>
              </a:lnSpc>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13.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done click the arrow to enable the buttons in the header.</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14.</a:t>
            </a: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To finalize, click post button.</a:t>
            </a:r>
          </a:p>
        </p:txBody>
      </p:sp>
      <p:sp>
        <p:nvSpPr>
          <p:cNvPr id="2" name="TextBox 1">
            <a:extLst>
              <a:ext uri="{FF2B5EF4-FFF2-40B4-BE49-F238E27FC236}">
                <a16:creationId xmlns:a16="http://schemas.microsoft.com/office/drawing/2014/main" id="{FB0895AC-2DBA-3CB6-8F2A-9820A3CC4345}"/>
              </a:ext>
            </a:extLst>
          </p:cNvPr>
          <p:cNvSpPr txBox="1"/>
          <p:nvPr/>
        </p:nvSpPr>
        <p:spPr>
          <a:xfrm>
            <a:off x="538778" y="103044"/>
            <a:ext cx="4912109"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Payables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Accounts Payable Voucher</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4" name="Slide Number Placeholder 9">
            <a:extLst>
              <a:ext uri="{FF2B5EF4-FFF2-40B4-BE49-F238E27FC236}">
                <a16:creationId xmlns:a16="http://schemas.microsoft.com/office/drawing/2014/main" id="{A1123C8C-02AE-DA5E-CE7C-3596E56371C9}"/>
              </a:ext>
            </a:extLst>
          </p:cNvPr>
          <p:cNvSpPr>
            <a:spLocks noGrp="1"/>
          </p:cNvSpPr>
          <p:nvPr/>
        </p:nvSpPr>
        <p:spPr>
          <a:xfrm>
            <a:off x="93608" y="6342656"/>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grpSp>
        <p:nvGrpSpPr>
          <p:cNvPr id="16" name="Group 15">
            <a:extLst>
              <a:ext uri="{FF2B5EF4-FFF2-40B4-BE49-F238E27FC236}">
                <a16:creationId xmlns:a16="http://schemas.microsoft.com/office/drawing/2014/main" id="{2E03883F-DF33-DB57-87CB-E3F5DD46EFDE}"/>
              </a:ext>
            </a:extLst>
          </p:cNvPr>
          <p:cNvGrpSpPr/>
          <p:nvPr/>
        </p:nvGrpSpPr>
        <p:grpSpPr>
          <a:xfrm>
            <a:off x="5450887" y="3029167"/>
            <a:ext cx="6284983" cy="3313489"/>
            <a:chOff x="5462067" y="1414701"/>
            <a:chExt cx="6284983" cy="3313489"/>
          </a:xfrm>
        </p:grpSpPr>
        <p:pic>
          <p:nvPicPr>
            <p:cNvPr id="5" name="Picture 4">
              <a:extLst>
                <a:ext uri="{FF2B5EF4-FFF2-40B4-BE49-F238E27FC236}">
                  <a16:creationId xmlns:a16="http://schemas.microsoft.com/office/drawing/2014/main" id="{E5ED4A4F-3FED-924F-D621-7E85EEA05B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62067" y="1414701"/>
              <a:ext cx="6189345" cy="2425700"/>
            </a:xfrm>
            <a:prstGeom prst="rect">
              <a:avLst/>
            </a:prstGeom>
          </p:spPr>
        </p:pic>
        <p:grpSp>
          <p:nvGrpSpPr>
            <p:cNvPr id="6" name="Group 5">
              <a:extLst>
                <a:ext uri="{FF2B5EF4-FFF2-40B4-BE49-F238E27FC236}">
                  <a16:creationId xmlns:a16="http://schemas.microsoft.com/office/drawing/2014/main" id="{BB8C458E-745B-803F-FD3F-FEDCDEE04AFC}"/>
                </a:ext>
              </a:extLst>
            </p:cNvPr>
            <p:cNvGrpSpPr/>
            <p:nvPr/>
          </p:nvGrpSpPr>
          <p:grpSpPr>
            <a:xfrm>
              <a:off x="6077770" y="1792585"/>
              <a:ext cx="5669280" cy="2935605"/>
              <a:chOff x="0" y="0"/>
              <a:chExt cx="5669280" cy="2935605"/>
            </a:xfrm>
          </p:grpSpPr>
          <p:sp>
            <p:nvSpPr>
              <p:cNvPr id="7" name="Rectangle 6">
                <a:extLst>
                  <a:ext uri="{FF2B5EF4-FFF2-40B4-BE49-F238E27FC236}">
                    <a16:creationId xmlns:a16="http://schemas.microsoft.com/office/drawing/2014/main" id="{35459616-DBD7-18BB-BE8F-A0074EAA3AC5}"/>
                  </a:ext>
                </a:extLst>
              </p:cNvPr>
              <p:cNvSpPr/>
              <p:nvPr/>
            </p:nvSpPr>
            <p:spPr>
              <a:xfrm>
                <a:off x="4775200" y="57150"/>
                <a:ext cx="268663" cy="29688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8" name="Straight Arrow Connector 7">
                <a:extLst>
                  <a:ext uri="{FF2B5EF4-FFF2-40B4-BE49-F238E27FC236}">
                    <a16:creationId xmlns:a16="http://schemas.microsoft.com/office/drawing/2014/main" id="{C869211E-6D9B-BD59-75E1-BF6C474AFA25}"/>
                  </a:ext>
                </a:extLst>
              </p:cNvPr>
              <p:cNvCxnSpPr/>
              <p:nvPr/>
            </p:nvCxnSpPr>
            <p:spPr>
              <a:xfrm flipV="1">
                <a:off x="5073650" y="133350"/>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Text Box 689">
                <a:extLst>
                  <a:ext uri="{FF2B5EF4-FFF2-40B4-BE49-F238E27FC236}">
                    <a16:creationId xmlns:a16="http://schemas.microsoft.com/office/drawing/2014/main" id="{DFC26033-522A-3012-147A-103A63D60ADB}"/>
                  </a:ext>
                </a:extLst>
              </p:cNvPr>
              <p:cNvSpPr txBox="1"/>
              <p:nvPr/>
            </p:nvSpPr>
            <p:spPr>
              <a:xfrm>
                <a:off x="5194300" y="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13</a:t>
                </a:r>
              </a:p>
            </p:txBody>
          </p:sp>
          <p:pic>
            <p:nvPicPr>
              <p:cNvPr id="10" name="Picture 9">
                <a:extLst>
                  <a:ext uri="{FF2B5EF4-FFF2-40B4-BE49-F238E27FC236}">
                    <a16:creationId xmlns:a16="http://schemas.microsoft.com/office/drawing/2014/main" id="{20185BFC-045D-425E-6A31-A0CFAE5765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14350"/>
                <a:ext cx="4690745" cy="2421255"/>
              </a:xfrm>
              <a:prstGeom prst="rect">
                <a:avLst/>
              </a:prstGeom>
              <a:ln>
                <a:noFill/>
              </a:ln>
              <a:effectLst>
                <a:outerShdw blurRad="292100" dist="139700" dir="2700000" algn="tl" rotWithShape="0">
                  <a:srgbClr val="333333">
                    <a:alpha val="65000"/>
                  </a:srgbClr>
                </a:outerShdw>
              </a:effectLst>
            </p:spPr>
          </p:pic>
          <p:sp>
            <p:nvSpPr>
              <p:cNvPr id="11" name="Curved Right Arrow 691">
                <a:extLst>
                  <a:ext uri="{FF2B5EF4-FFF2-40B4-BE49-F238E27FC236}">
                    <a16:creationId xmlns:a16="http://schemas.microsoft.com/office/drawing/2014/main" id="{A36EC522-F8D5-F890-6D55-3C61DCC2C8C5}"/>
                  </a:ext>
                </a:extLst>
              </p:cNvPr>
              <p:cNvSpPr/>
              <p:nvPr/>
            </p:nvSpPr>
            <p:spPr>
              <a:xfrm>
                <a:off x="4095750" y="279400"/>
                <a:ext cx="439387" cy="451262"/>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 name="Rectangle 12">
                <a:extLst>
                  <a:ext uri="{FF2B5EF4-FFF2-40B4-BE49-F238E27FC236}">
                    <a16:creationId xmlns:a16="http://schemas.microsoft.com/office/drawing/2014/main" id="{1511B2E1-57F9-F46B-B57F-FC48C53109F5}"/>
                  </a:ext>
                </a:extLst>
              </p:cNvPr>
              <p:cNvSpPr/>
              <p:nvPr/>
            </p:nvSpPr>
            <p:spPr>
              <a:xfrm>
                <a:off x="2597150" y="844550"/>
                <a:ext cx="351790" cy="24892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4" name="Straight Arrow Connector 13">
                <a:extLst>
                  <a:ext uri="{FF2B5EF4-FFF2-40B4-BE49-F238E27FC236}">
                    <a16:creationId xmlns:a16="http://schemas.microsoft.com/office/drawing/2014/main" id="{4635D2C7-CCC8-77D1-2E6F-434FF5C6F7D0}"/>
                  </a:ext>
                </a:extLst>
              </p:cNvPr>
              <p:cNvCxnSpPr/>
              <p:nvPr/>
            </p:nvCxnSpPr>
            <p:spPr>
              <a:xfrm flipV="1">
                <a:off x="2990850" y="895350"/>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 Box 694">
                <a:extLst>
                  <a:ext uri="{FF2B5EF4-FFF2-40B4-BE49-F238E27FC236}">
                    <a16:creationId xmlns:a16="http://schemas.microsoft.com/office/drawing/2014/main" id="{0C43E107-5258-AADF-CACC-BB3FA84DB875}"/>
                  </a:ext>
                </a:extLst>
              </p:cNvPr>
              <p:cNvSpPr txBox="1"/>
              <p:nvPr/>
            </p:nvSpPr>
            <p:spPr>
              <a:xfrm>
                <a:off x="3117850" y="77470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14</a:t>
                </a:r>
              </a:p>
            </p:txBody>
          </p:sp>
        </p:grpSp>
      </p:grpSp>
      <p:pic>
        <p:nvPicPr>
          <p:cNvPr id="21" name="Picture 20">
            <a:extLst>
              <a:ext uri="{FF2B5EF4-FFF2-40B4-BE49-F238E27FC236}">
                <a16:creationId xmlns:a16="http://schemas.microsoft.com/office/drawing/2014/main" id="{A50A7CF2-161B-1CD8-C1AE-9567E5E2C77D}"/>
              </a:ext>
            </a:extLst>
          </p:cNvPr>
          <p:cNvPicPr>
            <a:picLocks noChangeAspect="1"/>
          </p:cNvPicPr>
          <p:nvPr/>
        </p:nvPicPr>
        <p:blipFill>
          <a:blip r:embed="rId4"/>
          <a:stretch>
            <a:fillRect/>
          </a:stretch>
        </p:blipFill>
        <p:spPr>
          <a:xfrm>
            <a:off x="5450887" y="1083481"/>
            <a:ext cx="6358627" cy="1521624"/>
          </a:xfrm>
          <a:prstGeom prst="rect">
            <a:avLst/>
          </a:prstGeom>
        </p:spPr>
      </p:pic>
      <p:sp>
        <p:nvSpPr>
          <p:cNvPr id="26" name="Rectangle 25">
            <a:extLst>
              <a:ext uri="{FF2B5EF4-FFF2-40B4-BE49-F238E27FC236}">
                <a16:creationId xmlns:a16="http://schemas.microsoft.com/office/drawing/2014/main" id="{37927967-C0B3-6566-AD4D-35D5D912A1AC}"/>
              </a:ext>
            </a:extLst>
          </p:cNvPr>
          <p:cNvSpPr/>
          <p:nvPr/>
        </p:nvSpPr>
        <p:spPr>
          <a:xfrm>
            <a:off x="6096000" y="2270934"/>
            <a:ext cx="1874982" cy="20441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7" name="Rectangle 26">
            <a:extLst>
              <a:ext uri="{FF2B5EF4-FFF2-40B4-BE49-F238E27FC236}">
                <a16:creationId xmlns:a16="http://schemas.microsoft.com/office/drawing/2014/main" id="{5396205B-E288-96FB-ABF4-743C14CA0BC9}"/>
              </a:ext>
            </a:extLst>
          </p:cNvPr>
          <p:cNvSpPr/>
          <p:nvPr/>
        </p:nvSpPr>
        <p:spPr>
          <a:xfrm>
            <a:off x="11120528" y="1336951"/>
            <a:ext cx="688986" cy="24892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8" name="Straight Arrow Connector 27">
            <a:extLst>
              <a:ext uri="{FF2B5EF4-FFF2-40B4-BE49-F238E27FC236}">
                <a16:creationId xmlns:a16="http://schemas.microsoft.com/office/drawing/2014/main" id="{06745EEB-C48D-146F-9857-0D5D12482B10}"/>
              </a:ext>
            </a:extLst>
          </p:cNvPr>
          <p:cNvCxnSpPr>
            <a:cxnSpLocks/>
          </p:cNvCxnSpPr>
          <p:nvPr/>
        </p:nvCxnSpPr>
        <p:spPr>
          <a:xfrm flipH="1">
            <a:off x="11110453" y="1585871"/>
            <a:ext cx="172027" cy="1511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 name="Text Box 694">
            <a:extLst>
              <a:ext uri="{FF2B5EF4-FFF2-40B4-BE49-F238E27FC236}">
                <a16:creationId xmlns:a16="http://schemas.microsoft.com/office/drawing/2014/main" id="{289324B0-388A-AE68-BB2B-0D7E1F777975}"/>
              </a:ext>
            </a:extLst>
          </p:cNvPr>
          <p:cNvSpPr txBox="1"/>
          <p:nvPr/>
        </p:nvSpPr>
        <p:spPr>
          <a:xfrm>
            <a:off x="10763312" y="1764594"/>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12</a:t>
            </a:r>
          </a:p>
        </p:txBody>
      </p:sp>
    </p:spTree>
    <p:extLst>
      <p:ext uri="{BB962C8B-B14F-4D97-AF65-F5344CB8AC3E}">
        <p14:creationId xmlns:p14="http://schemas.microsoft.com/office/powerpoint/2010/main" val="3362465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3"/>
          <a:stretch>
            <a:fillRect/>
          </a:stretch>
        </p:blipFill>
        <p:spPr>
          <a:xfrm>
            <a:off x="10780479" y="6391410"/>
            <a:ext cx="1047454" cy="267619"/>
          </a:xfrm>
          <a:prstGeom prst="rect">
            <a:avLst/>
          </a:prstGeom>
          <a:effectLst/>
        </p:spPr>
      </p:pic>
      <p:sp>
        <p:nvSpPr>
          <p:cNvPr id="5" name="TextBox 4">
            <a:extLst>
              <a:ext uri="{FF2B5EF4-FFF2-40B4-BE49-F238E27FC236}">
                <a16:creationId xmlns:a16="http://schemas.microsoft.com/office/drawing/2014/main" id="{CBE13CC3-0EBB-4997-FCE7-B09A824D1CEB}"/>
              </a:ext>
            </a:extLst>
          </p:cNvPr>
          <p:cNvSpPr txBox="1"/>
          <p:nvPr/>
        </p:nvSpPr>
        <p:spPr>
          <a:xfrm>
            <a:off x="805110" y="105354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Edit APV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6" name="Text Box 34">
            <a:extLst>
              <a:ext uri="{FF2B5EF4-FFF2-40B4-BE49-F238E27FC236}">
                <a16:creationId xmlns:a16="http://schemas.microsoft.com/office/drawing/2014/main" id="{3C955D35-908F-C41B-A58E-309112EE5A39}"/>
              </a:ext>
            </a:extLst>
          </p:cNvPr>
          <p:cNvSpPr txBox="1"/>
          <p:nvPr/>
        </p:nvSpPr>
        <p:spPr>
          <a:xfrm>
            <a:off x="805109" y="1802434"/>
            <a:ext cx="3852820" cy="208476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accounts payable voucher – main window, search the accounts payable voucher transaction you wish to edit its information in the search bar. Or,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571500" marR="0" lvl="0" indent="-45720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accounts payable voucher – main form, click the lookup button and select the transaction you wish to edit its information by typing the transaction number in the search bar.</a:t>
            </a: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45" name="TextBox 44">
            <a:extLst>
              <a:ext uri="{FF2B5EF4-FFF2-40B4-BE49-F238E27FC236}">
                <a16:creationId xmlns:a16="http://schemas.microsoft.com/office/drawing/2014/main" id="{4B14687C-52A3-56C7-BB62-1861435F0424}"/>
              </a:ext>
            </a:extLst>
          </p:cNvPr>
          <p:cNvSpPr txBox="1"/>
          <p:nvPr/>
        </p:nvSpPr>
        <p:spPr>
          <a:xfrm>
            <a:off x="7256348" y="5213726"/>
            <a:ext cx="2952971"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Accounts Payable Voucher – Main Form</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46" name="TextBox 45">
            <a:extLst>
              <a:ext uri="{FF2B5EF4-FFF2-40B4-BE49-F238E27FC236}">
                <a16:creationId xmlns:a16="http://schemas.microsoft.com/office/drawing/2014/main" id="{0258C296-63A5-1455-F8AB-54834279C957}"/>
              </a:ext>
            </a:extLst>
          </p:cNvPr>
          <p:cNvSpPr txBox="1"/>
          <p:nvPr/>
        </p:nvSpPr>
        <p:spPr>
          <a:xfrm>
            <a:off x="7256348" y="2857417"/>
            <a:ext cx="2952971"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Accounts Payable Voucher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47" name="Text Box 45">
            <a:extLst>
              <a:ext uri="{FF2B5EF4-FFF2-40B4-BE49-F238E27FC236}">
                <a16:creationId xmlns:a16="http://schemas.microsoft.com/office/drawing/2014/main" id="{45EBA796-8D0D-7A62-3DFD-D0EFF016851E}"/>
              </a:ext>
            </a:extLst>
          </p:cNvPr>
          <p:cNvSpPr txBox="1"/>
          <p:nvPr/>
        </p:nvSpPr>
        <p:spPr>
          <a:xfrm>
            <a:off x="805109" y="3945547"/>
            <a:ext cx="3852820" cy="1512659"/>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the APV transaction, if you wish to edit the header of the transaction click edit button. </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 are done editing the APV header, click save button in the upper side of the header.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B8D61353-AA8F-9AD6-66F8-63644734BD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08035" y="1042587"/>
            <a:ext cx="6078855" cy="1727200"/>
          </a:xfrm>
          <a:prstGeom prst="rect">
            <a:avLst/>
          </a:prstGeom>
        </p:spPr>
      </p:pic>
      <p:grpSp>
        <p:nvGrpSpPr>
          <p:cNvPr id="10" name="Group 9">
            <a:extLst>
              <a:ext uri="{FF2B5EF4-FFF2-40B4-BE49-F238E27FC236}">
                <a16:creationId xmlns:a16="http://schemas.microsoft.com/office/drawing/2014/main" id="{021818F1-F8F9-DE00-390E-C85B954B4712}"/>
              </a:ext>
            </a:extLst>
          </p:cNvPr>
          <p:cNvGrpSpPr/>
          <p:nvPr/>
        </p:nvGrpSpPr>
        <p:grpSpPr>
          <a:xfrm>
            <a:off x="5267944" y="1859529"/>
            <a:ext cx="1475739" cy="333375"/>
            <a:chOff x="0" y="0"/>
            <a:chExt cx="1476374" cy="333375"/>
          </a:xfrm>
        </p:grpSpPr>
        <p:sp>
          <p:nvSpPr>
            <p:cNvPr id="11" name="Rectangle 10">
              <a:extLst>
                <a:ext uri="{FF2B5EF4-FFF2-40B4-BE49-F238E27FC236}">
                  <a16:creationId xmlns:a16="http://schemas.microsoft.com/office/drawing/2014/main" id="{CC3FA56D-1309-824E-BB21-29A21073EC99}"/>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2" name="Straight Arrow Connector 11">
              <a:extLst>
                <a:ext uri="{FF2B5EF4-FFF2-40B4-BE49-F238E27FC236}">
                  <a16:creationId xmlns:a16="http://schemas.microsoft.com/office/drawing/2014/main" id="{A9901B4A-30F7-D43B-532C-D4FA6882AAB9}"/>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 Box 39">
              <a:extLst>
                <a:ext uri="{FF2B5EF4-FFF2-40B4-BE49-F238E27FC236}">
                  <a16:creationId xmlns:a16="http://schemas.microsoft.com/office/drawing/2014/main" id="{3A779B4F-74EB-C100-DD08-F0CDA13CC4E3}"/>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pic>
        <p:nvPicPr>
          <p:cNvPr id="14" name="Picture 13">
            <a:extLst>
              <a:ext uri="{FF2B5EF4-FFF2-40B4-BE49-F238E27FC236}">
                <a16:creationId xmlns:a16="http://schemas.microsoft.com/office/drawing/2014/main" id="{C1D9739B-8E53-7253-A66B-C4CCBCF4C5C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97545" y="3510979"/>
            <a:ext cx="6189345" cy="1575435"/>
          </a:xfrm>
          <a:prstGeom prst="rect">
            <a:avLst/>
          </a:prstGeom>
        </p:spPr>
      </p:pic>
      <p:grpSp>
        <p:nvGrpSpPr>
          <p:cNvPr id="29" name="Group 28">
            <a:extLst>
              <a:ext uri="{FF2B5EF4-FFF2-40B4-BE49-F238E27FC236}">
                <a16:creationId xmlns:a16="http://schemas.microsoft.com/office/drawing/2014/main" id="{41FC2721-80AD-DD7C-07DC-EFE2B026CE9B}"/>
              </a:ext>
            </a:extLst>
          </p:cNvPr>
          <p:cNvGrpSpPr/>
          <p:nvPr/>
        </p:nvGrpSpPr>
        <p:grpSpPr>
          <a:xfrm>
            <a:off x="4657929" y="3710680"/>
            <a:ext cx="6318251" cy="1503045"/>
            <a:chOff x="2936875" y="2677478"/>
            <a:chExt cx="6318251" cy="1503045"/>
          </a:xfrm>
        </p:grpSpPr>
        <p:grpSp>
          <p:nvGrpSpPr>
            <p:cNvPr id="15" name="Group 14">
              <a:extLst>
                <a:ext uri="{FF2B5EF4-FFF2-40B4-BE49-F238E27FC236}">
                  <a16:creationId xmlns:a16="http://schemas.microsoft.com/office/drawing/2014/main" id="{98654546-EB0C-ECA0-7A8B-6643FB3E5400}"/>
                </a:ext>
              </a:extLst>
            </p:cNvPr>
            <p:cNvGrpSpPr/>
            <p:nvPr/>
          </p:nvGrpSpPr>
          <p:grpSpPr>
            <a:xfrm>
              <a:off x="4763135" y="3131503"/>
              <a:ext cx="952500" cy="304800"/>
              <a:chOff x="523874" y="28575"/>
              <a:chExt cx="952500" cy="304800"/>
            </a:xfrm>
          </p:grpSpPr>
          <p:sp>
            <p:nvSpPr>
              <p:cNvPr id="25" name="Rectangle 24">
                <a:extLst>
                  <a:ext uri="{FF2B5EF4-FFF2-40B4-BE49-F238E27FC236}">
                    <a16:creationId xmlns:a16="http://schemas.microsoft.com/office/drawing/2014/main" id="{73CA2DDA-7613-1176-7A37-5BF3B0EEAFE9}"/>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6" name="Straight Arrow Connector 25">
                <a:extLst>
                  <a:ext uri="{FF2B5EF4-FFF2-40B4-BE49-F238E27FC236}">
                    <a16:creationId xmlns:a16="http://schemas.microsoft.com/office/drawing/2014/main" id="{15FE345C-32EB-64F6-458A-0FD8E0CACBCF}"/>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 name="Text Box 44">
                <a:extLst>
                  <a:ext uri="{FF2B5EF4-FFF2-40B4-BE49-F238E27FC236}">
                    <a16:creationId xmlns:a16="http://schemas.microsoft.com/office/drawing/2014/main" id="{4411AA34-373E-431E-3516-0F75FEAA985C}"/>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16" name="Group 15">
              <a:extLst>
                <a:ext uri="{FF2B5EF4-FFF2-40B4-BE49-F238E27FC236}">
                  <a16:creationId xmlns:a16="http://schemas.microsoft.com/office/drawing/2014/main" id="{2DE87959-3071-DC3F-EB2C-4F1F73ADF385}"/>
                </a:ext>
              </a:extLst>
            </p:cNvPr>
            <p:cNvGrpSpPr/>
            <p:nvPr/>
          </p:nvGrpSpPr>
          <p:grpSpPr>
            <a:xfrm>
              <a:off x="8274050" y="2859723"/>
              <a:ext cx="981076" cy="304800"/>
              <a:chOff x="333374" y="28575"/>
              <a:chExt cx="981076" cy="304800"/>
            </a:xfrm>
          </p:grpSpPr>
          <p:sp>
            <p:nvSpPr>
              <p:cNvPr id="22" name="Rectangle 21">
                <a:extLst>
                  <a:ext uri="{FF2B5EF4-FFF2-40B4-BE49-F238E27FC236}">
                    <a16:creationId xmlns:a16="http://schemas.microsoft.com/office/drawing/2014/main" id="{A038FA7D-D461-EE3D-D4B7-E8EB6D8634D8}"/>
                  </a:ext>
                </a:extLst>
              </p:cNvPr>
              <p:cNvSpPr/>
              <p:nvPr/>
            </p:nvSpPr>
            <p:spPr>
              <a:xfrm>
                <a:off x="333374"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3" name="Straight Arrow Connector 22">
                <a:extLst>
                  <a:ext uri="{FF2B5EF4-FFF2-40B4-BE49-F238E27FC236}">
                    <a16:creationId xmlns:a16="http://schemas.microsoft.com/office/drawing/2014/main" id="{008C6C83-46AE-1E65-B321-42D99AF31D53}"/>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Text Box 49">
                <a:extLst>
                  <a:ext uri="{FF2B5EF4-FFF2-40B4-BE49-F238E27FC236}">
                    <a16:creationId xmlns:a16="http://schemas.microsoft.com/office/drawing/2014/main" id="{2F6C6DC3-A2CB-37F9-A2F8-7716BF1EE775}"/>
                  </a:ext>
                </a:extLst>
              </p:cNvPr>
              <p:cNvSpPr txBox="1"/>
              <p:nvPr/>
            </p:nvSpPr>
            <p:spPr>
              <a:xfrm>
                <a:off x="1009650"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grpSp>
          <p:nvGrpSpPr>
            <p:cNvPr id="17" name="Group 16">
              <a:extLst>
                <a:ext uri="{FF2B5EF4-FFF2-40B4-BE49-F238E27FC236}">
                  <a16:creationId xmlns:a16="http://schemas.microsoft.com/office/drawing/2014/main" id="{9983A3D8-2642-3124-9611-37CB85E0BEB5}"/>
                </a:ext>
              </a:extLst>
            </p:cNvPr>
            <p:cNvGrpSpPr>
              <a:grpSpLocks/>
            </p:cNvGrpSpPr>
            <p:nvPr/>
          </p:nvGrpSpPr>
          <p:grpSpPr bwMode="auto">
            <a:xfrm>
              <a:off x="5786120" y="3301048"/>
              <a:ext cx="2552700" cy="879475"/>
              <a:chOff x="6116" y="177"/>
              <a:chExt cx="4020" cy="1385"/>
            </a:xfrm>
          </p:grpSpPr>
          <p:pic>
            <p:nvPicPr>
              <p:cNvPr id="19" name="Picture 18">
                <a:extLst>
                  <a:ext uri="{FF2B5EF4-FFF2-40B4-BE49-F238E27FC236}">
                    <a16:creationId xmlns:a16="http://schemas.microsoft.com/office/drawing/2014/main" id="{B6240E99-1F4B-A464-A6AD-C6D1038DA9C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6" y="177"/>
                <a:ext cx="3625" cy="1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Text Box 241">
                <a:extLst>
                  <a:ext uri="{FF2B5EF4-FFF2-40B4-BE49-F238E27FC236}">
                    <a16:creationId xmlns:a16="http://schemas.microsoft.com/office/drawing/2014/main" id="{C3EF828E-1E4B-A19A-3D83-BE32099E81F2}"/>
                  </a:ext>
                </a:extLst>
              </p:cNvPr>
              <p:cNvSpPr txBox="1">
                <a:spLocks noChangeArrowheads="1"/>
              </p:cNvSpPr>
              <p:nvPr/>
            </p:nvSpPr>
            <p:spPr bwMode="auto">
              <a:xfrm>
                <a:off x="6116" y="177"/>
                <a:ext cx="4020" cy="138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APV transaction?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ct val="115000"/>
                  </a:lnSpc>
                  <a:spcBef>
                    <a:spcPts val="0"/>
                  </a:spcBef>
                  <a:spcAft>
                    <a:spcPts val="0"/>
                  </a:spcAft>
                  <a:buClrTx/>
                  <a:buSzTx/>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ts val="975"/>
                  </a:lnSpc>
                  <a:spcBef>
                    <a:spcPts val="5"/>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a:t>
                </a:r>
                <a:r>
                  <a:rPr kumimoji="0" lang="en-US" sz="800" b="0" i="0" u="none" strike="noStrike" kern="1200" cap="none" spc="-4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search.</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29565" marR="0" lvl="0" indent="-228600" algn="l" defTabSz="914400" rtl="0" eaLnBrk="1" fontAlgn="auto" latinLnBrk="0" hangingPunct="1">
                  <a:lnSpc>
                    <a:spcPts val="975"/>
                  </a:lnSpc>
                  <a:spcBef>
                    <a:spcPts val="0"/>
                  </a:spcBef>
                  <a:spcAft>
                    <a:spcPts val="0"/>
                  </a:spcAft>
                  <a:buClrTx/>
                  <a:buSzTx/>
                  <a:buFont typeface="+mj-lt"/>
                  <a:buAutoNum type="arabicPeriod"/>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sp>
          <p:nvSpPr>
            <p:cNvPr id="18" name="Text Box 8">
              <a:extLst>
                <a:ext uri="{FF2B5EF4-FFF2-40B4-BE49-F238E27FC236}">
                  <a16:creationId xmlns:a16="http://schemas.microsoft.com/office/drawing/2014/main" id="{FA868F16-D017-F955-AC2C-24C379272204}"/>
                </a:ext>
              </a:extLst>
            </p:cNvPr>
            <p:cNvSpPr txBox="1"/>
            <p:nvPr/>
          </p:nvSpPr>
          <p:spPr>
            <a:xfrm>
              <a:off x="2936875" y="2677478"/>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grpSp>
      <p:sp>
        <p:nvSpPr>
          <p:cNvPr id="4" name="TextBox 3">
            <a:extLst>
              <a:ext uri="{FF2B5EF4-FFF2-40B4-BE49-F238E27FC236}">
                <a16:creationId xmlns:a16="http://schemas.microsoft.com/office/drawing/2014/main" id="{6F666574-14D2-E317-1AB9-64ABC6C04C95}"/>
              </a:ext>
            </a:extLst>
          </p:cNvPr>
          <p:cNvSpPr txBox="1"/>
          <p:nvPr/>
        </p:nvSpPr>
        <p:spPr>
          <a:xfrm>
            <a:off x="285436" y="119413"/>
            <a:ext cx="4912109"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Payables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Accounts Payable Voucher</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2" name="Slide Number Placeholder 9">
            <a:extLst>
              <a:ext uri="{FF2B5EF4-FFF2-40B4-BE49-F238E27FC236}">
                <a16:creationId xmlns:a16="http://schemas.microsoft.com/office/drawing/2014/main" id="{B8209E5C-F8CB-0695-69B1-6D6C32922451}"/>
              </a:ext>
            </a:extLst>
          </p:cNvPr>
          <p:cNvSpPr>
            <a:spLocks noGrp="1"/>
          </p:cNvSpPr>
          <p:nvPr/>
        </p:nvSpPr>
        <p:spPr>
          <a:xfrm>
            <a:off x="93608" y="6342656"/>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57019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5" name="TextBox 4">
            <a:extLst>
              <a:ext uri="{FF2B5EF4-FFF2-40B4-BE49-F238E27FC236}">
                <a16:creationId xmlns:a16="http://schemas.microsoft.com/office/drawing/2014/main" id="{CBE13CC3-0EBB-4997-FCE7-B09A824D1CEB}"/>
              </a:ext>
            </a:extLst>
          </p:cNvPr>
          <p:cNvSpPr txBox="1"/>
          <p:nvPr/>
        </p:nvSpPr>
        <p:spPr>
          <a:xfrm>
            <a:off x="1254088" y="642902"/>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Edit APV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47" name="Text Box 45">
            <a:extLst>
              <a:ext uri="{FF2B5EF4-FFF2-40B4-BE49-F238E27FC236}">
                <a16:creationId xmlns:a16="http://schemas.microsoft.com/office/drawing/2014/main" id="{45EBA796-8D0D-7A62-3DFD-D0EFF016851E}"/>
              </a:ext>
            </a:extLst>
          </p:cNvPr>
          <p:cNvSpPr txBox="1"/>
          <p:nvPr/>
        </p:nvSpPr>
        <p:spPr>
          <a:xfrm>
            <a:off x="805109" y="2170285"/>
            <a:ext cx="3852820" cy="3051883"/>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 are done editing the APV header, click save button in the upper side of the header.</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 want to edit the entry in the detail, edit right away the details you want to change and you will notice that after you change the details, the account you edited will be highlighted into blue. </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you’re done editing, click save account button to save the changes you made in the entry.</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delete all accounts in the entry, click delete account button.</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7.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delete a specific line on the table, click the delete icon next to the account to delete it.</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B6603352-9472-5172-8A3E-17125BFC066C}"/>
              </a:ext>
            </a:extLst>
          </p:cNvPr>
          <p:cNvSpPr txBox="1"/>
          <p:nvPr/>
        </p:nvSpPr>
        <p:spPr>
          <a:xfrm>
            <a:off x="314551" y="103712"/>
            <a:ext cx="4912109"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Payables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Accounts Payable Voucher</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2" name="Slide Number Placeholder 9">
            <a:extLst>
              <a:ext uri="{FF2B5EF4-FFF2-40B4-BE49-F238E27FC236}">
                <a16:creationId xmlns:a16="http://schemas.microsoft.com/office/drawing/2014/main" id="{27CB7881-7EED-4772-1868-ECD5FE1ECE71}"/>
              </a:ext>
            </a:extLst>
          </p:cNvPr>
          <p:cNvSpPr>
            <a:spLocks noGrp="1"/>
          </p:cNvSpPr>
          <p:nvPr/>
        </p:nvSpPr>
        <p:spPr>
          <a:xfrm>
            <a:off x="93608" y="6342656"/>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2" name="Group 11">
            <a:extLst>
              <a:ext uri="{FF2B5EF4-FFF2-40B4-BE49-F238E27FC236}">
                <a16:creationId xmlns:a16="http://schemas.microsoft.com/office/drawing/2014/main" id="{597C4C4D-B551-1CDE-992E-F7D73ED03014}"/>
              </a:ext>
            </a:extLst>
          </p:cNvPr>
          <p:cNvGrpSpPr/>
          <p:nvPr/>
        </p:nvGrpSpPr>
        <p:grpSpPr>
          <a:xfrm>
            <a:off x="5126663" y="2158545"/>
            <a:ext cx="6260227" cy="2277457"/>
            <a:chOff x="5126663" y="2158545"/>
            <a:chExt cx="6260227" cy="2277457"/>
          </a:xfrm>
        </p:grpSpPr>
        <p:grpSp>
          <p:nvGrpSpPr>
            <p:cNvPr id="52" name="Group 51">
              <a:extLst>
                <a:ext uri="{FF2B5EF4-FFF2-40B4-BE49-F238E27FC236}">
                  <a16:creationId xmlns:a16="http://schemas.microsoft.com/office/drawing/2014/main" id="{0BF50443-B736-6728-4C41-1F3756E0226C}"/>
                </a:ext>
              </a:extLst>
            </p:cNvPr>
            <p:cNvGrpSpPr/>
            <p:nvPr/>
          </p:nvGrpSpPr>
          <p:grpSpPr>
            <a:xfrm>
              <a:off x="5126663" y="2158545"/>
              <a:ext cx="6260227" cy="2277457"/>
              <a:chOff x="5126663" y="887465"/>
              <a:chExt cx="6260227" cy="2277457"/>
            </a:xfrm>
          </p:grpSpPr>
          <p:grpSp>
            <p:nvGrpSpPr>
              <p:cNvPr id="34" name="Group 33">
                <a:extLst>
                  <a:ext uri="{FF2B5EF4-FFF2-40B4-BE49-F238E27FC236}">
                    <a16:creationId xmlns:a16="http://schemas.microsoft.com/office/drawing/2014/main" id="{C4657B5B-5598-9C18-3570-D2C67184DF89}"/>
                  </a:ext>
                </a:extLst>
              </p:cNvPr>
              <p:cNvGrpSpPr/>
              <p:nvPr/>
            </p:nvGrpSpPr>
            <p:grpSpPr>
              <a:xfrm>
                <a:off x="5197545" y="1053550"/>
                <a:ext cx="6189345" cy="2111372"/>
                <a:chOff x="0" y="3"/>
                <a:chExt cx="6189345" cy="2111372"/>
              </a:xfrm>
            </p:grpSpPr>
            <p:grpSp>
              <p:nvGrpSpPr>
                <p:cNvPr id="35" name="Group 34">
                  <a:extLst>
                    <a:ext uri="{FF2B5EF4-FFF2-40B4-BE49-F238E27FC236}">
                      <a16:creationId xmlns:a16="http://schemas.microsoft.com/office/drawing/2014/main" id="{ED19E1AB-8479-954A-2CF3-83093AECCF6D}"/>
                    </a:ext>
                  </a:extLst>
                </p:cNvPr>
                <p:cNvGrpSpPr/>
                <p:nvPr/>
              </p:nvGrpSpPr>
              <p:grpSpPr>
                <a:xfrm>
                  <a:off x="444500" y="3"/>
                  <a:ext cx="5457854" cy="1534468"/>
                  <a:chOff x="365745" y="340675"/>
                  <a:chExt cx="5457854" cy="1534615"/>
                </a:xfrm>
              </p:grpSpPr>
              <p:pic>
                <p:nvPicPr>
                  <p:cNvPr id="37" name="Picture 36">
                    <a:extLst>
                      <a:ext uri="{FF2B5EF4-FFF2-40B4-BE49-F238E27FC236}">
                        <a16:creationId xmlns:a16="http://schemas.microsoft.com/office/drawing/2014/main" id="{539C3501-94CD-00A6-C965-D5B1C560B6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745" y="345037"/>
                    <a:ext cx="5457854" cy="1530253"/>
                  </a:xfrm>
                  <a:prstGeom prst="rect">
                    <a:avLst/>
                  </a:prstGeom>
                </p:spPr>
              </p:pic>
              <p:sp>
                <p:nvSpPr>
                  <p:cNvPr id="38" name="Rectangle 37">
                    <a:extLst>
                      <a:ext uri="{FF2B5EF4-FFF2-40B4-BE49-F238E27FC236}">
                        <a16:creationId xmlns:a16="http://schemas.microsoft.com/office/drawing/2014/main" id="{56ABEA4B-C505-FBA8-E11B-F8C4DCEA1DD6}"/>
                      </a:ext>
                    </a:extLst>
                  </p:cNvPr>
                  <p:cNvSpPr/>
                  <p:nvPr/>
                </p:nvSpPr>
                <p:spPr>
                  <a:xfrm>
                    <a:off x="424790" y="975708"/>
                    <a:ext cx="2836555" cy="73669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9" name="Group 38">
                    <a:extLst>
                      <a:ext uri="{FF2B5EF4-FFF2-40B4-BE49-F238E27FC236}">
                        <a16:creationId xmlns:a16="http://schemas.microsoft.com/office/drawing/2014/main" id="{698E67ED-9A56-5F5A-4646-BF6DA1C28622}"/>
                      </a:ext>
                    </a:extLst>
                  </p:cNvPr>
                  <p:cNvGrpSpPr/>
                  <p:nvPr/>
                </p:nvGrpSpPr>
                <p:grpSpPr>
                  <a:xfrm>
                    <a:off x="3765617" y="340675"/>
                    <a:ext cx="647700" cy="709532"/>
                    <a:chOff x="-854008" y="-154625"/>
                    <a:chExt cx="647700" cy="709532"/>
                  </a:xfrm>
                </p:grpSpPr>
                <p:sp>
                  <p:nvSpPr>
                    <p:cNvPr id="40" name="Rectangle 39">
                      <a:extLst>
                        <a:ext uri="{FF2B5EF4-FFF2-40B4-BE49-F238E27FC236}">
                          <a16:creationId xmlns:a16="http://schemas.microsoft.com/office/drawing/2014/main" id="{ACB59B42-D884-414F-099F-EE525BE0251F}"/>
                        </a:ext>
                      </a:extLst>
                    </p:cNvPr>
                    <p:cNvSpPr/>
                    <p:nvPr/>
                  </p:nvSpPr>
                  <p:spPr>
                    <a:xfrm>
                      <a:off x="-854008" y="-154625"/>
                      <a:ext cx="647700" cy="24764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1" name="Straight Arrow Connector 40">
                      <a:extLst>
                        <a:ext uri="{FF2B5EF4-FFF2-40B4-BE49-F238E27FC236}">
                          <a16:creationId xmlns:a16="http://schemas.microsoft.com/office/drawing/2014/main" id="{31D75C8B-2DE4-2FB3-3642-0458EB637530}"/>
                        </a:ext>
                      </a:extLst>
                    </p:cNvPr>
                    <p:cNvCxnSpPr>
                      <a:cxnSpLocks/>
                    </p:cNvCxnSpPr>
                    <p:nvPr/>
                  </p:nvCxnSpPr>
                  <p:spPr>
                    <a:xfrm>
                      <a:off x="-558370" y="86730"/>
                      <a:ext cx="0" cy="2205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Text Box 62">
                      <a:extLst>
                        <a:ext uri="{FF2B5EF4-FFF2-40B4-BE49-F238E27FC236}">
                          <a16:creationId xmlns:a16="http://schemas.microsoft.com/office/drawing/2014/main" id="{C71EEFFC-1D3E-B6CE-DB5C-74A283075451}"/>
                        </a:ext>
                      </a:extLst>
                    </p:cNvPr>
                    <p:cNvSpPr txBox="1"/>
                    <p:nvPr/>
                  </p:nvSpPr>
                  <p:spPr>
                    <a:xfrm>
                      <a:off x="-658383" y="307257"/>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a:t>
                      </a:r>
                    </a:p>
                  </p:txBody>
                </p:sp>
              </p:grpSp>
            </p:grpSp>
            <p:pic>
              <p:nvPicPr>
                <p:cNvPr id="36" name="Picture 35">
                  <a:extLst>
                    <a:ext uri="{FF2B5EF4-FFF2-40B4-BE49-F238E27FC236}">
                      <a16:creationId xmlns:a16="http://schemas.microsoft.com/office/drawing/2014/main" id="{3C1FC640-D25C-C4D6-3A28-A2ABC21ED0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593850"/>
                  <a:ext cx="6189345" cy="517525"/>
                </a:xfrm>
                <a:prstGeom prst="rect">
                  <a:avLst/>
                </a:prstGeom>
                <a:ln>
                  <a:noFill/>
                </a:ln>
                <a:effectLst>
                  <a:outerShdw blurRad="292100" dist="139700" dir="2700000" algn="tl" rotWithShape="0">
                    <a:srgbClr val="333333">
                      <a:alpha val="65000"/>
                    </a:srgbClr>
                  </a:outerShdw>
                </a:effectLst>
              </p:spPr>
            </p:pic>
          </p:grpSp>
          <p:grpSp>
            <p:nvGrpSpPr>
              <p:cNvPr id="48" name="Group 47">
                <a:extLst>
                  <a:ext uri="{FF2B5EF4-FFF2-40B4-BE49-F238E27FC236}">
                    <a16:creationId xmlns:a16="http://schemas.microsoft.com/office/drawing/2014/main" id="{138E89D3-3309-0629-D0D5-08491A374DF7}"/>
                  </a:ext>
                </a:extLst>
              </p:cNvPr>
              <p:cNvGrpSpPr/>
              <p:nvPr/>
            </p:nvGrpSpPr>
            <p:grpSpPr>
              <a:xfrm>
                <a:off x="5126663" y="887465"/>
                <a:ext cx="3176904" cy="2008507"/>
                <a:chOff x="0" y="0"/>
                <a:chExt cx="3177391" cy="2008909"/>
              </a:xfrm>
            </p:grpSpPr>
            <p:sp>
              <p:nvSpPr>
                <p:cNvPr id="49" name="Text Box 81">
                  <a:extLst>
                    <a:ext uri="{FF2B5EF4-FFF2-40B4-BE49-F238E27FC236}">
                      <a16:creationId xmlns:a16="http://schemas.microsoft.com/office/drawing/2014/main" id="{E3E49074-E79E-41F2-765F-2EE8D2A16123}"/>
                    </a:ext>
                  </a:extLst>
                </p:cNvPr>
                <p:cNvSpPr txBox="1"/>
                <p:nvPr/>
              </p:nvSpPr>
              <p:spPr>
                <a:xfrm>
                  <a:off x="76200" y="0"/>
                  <a:ext cx="914400" cy="285008"/>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DETAIL</a:t>
                  </a:r>
                </a:p>
              </p:txBody>
            </p:sp>
            <p:sp>
              <p:nvSpPr>
                <p:cNvPr id="50" name="Curved Left Arrow 95">
                  <a:extLst>
                    <a:ext uri="{FF2B5EF4-FFF2-40B4-BE49-F238E27FC236}">
                      <a16:creationId xmlns:a16="http://schemas.microsoft.com/office/drawing/2014/main" id="{01AB2436-5116-A861-0524-09FD515E1A32}"/>
                    </a:ext>
                  </a:extLst>
                </p:cNvPr>
                <p:cNvSpPr/>
                <p:nvPr/>
              </p:nvSpPr>
              <p:spPr>
                <a:xfrm>
                  <a:off x="2833007" y="1415143"/>
                  <a:ext cx="344384" cy="593766"/>
                </a:xfrm>
                <a:prstGeom prst="curvedLef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1" name="Text Box 98">
                  <a:extLst>
                    <a:ext uri="{FF2B5EF4-FFF2-40B4-BE49-F238E27FC236}">
                      <a16:creationId xmlns:a16="http://schemas.microsoft.com/office/drawing/2014/main" id="{5067B744-DA31-59E4-5216-2C61302ED7CA}"/>
                    </a:ext>
                  </a:extLst>
                </p:cNvPr>
                <p:cNvSpPr txBox="1"/>
                <p:nvPr/>
              </p:nvSpPr>
              <p:spPr>
                <a:xfrm>
                  <a:off x="0" y="1589315"/>
                  <a:ext cx="200025" cy="247564"/>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a:t>
                  </a:r>
                </a:p>
              </p:txBody>
            </p:sp>
          </p:grpSp>
        </p:grpSp>
        <p:sp>
          <p:nvSpPr>
            <p:cNvPr id="6" name="Rectangle 5">
              <a:extLst>
                <a:ext uri="{FF2B5EF4-FFF2-40B4-BE49-F238E27FC236}">
                  <a16:creationId xmlns:a16="http://schemas.microsoft.com/office/drawing/2014/main" id="{4FB59ABA-A469-6A94-801B-CF36E0D1AD49}"/>
                </a:ext>
              </a:extLst>
            </p:cNvPr>
            <p:cNvSpPr/>
            <p:nvPr/>
          </p:nvSpPr>
          <p:spPr>
            <a:xfrm>
              <a:off x="9707809" y="2324630"/>
              <a:ext cx="647700" cy="24762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7" name="Straight Arrow Connector 6">
              <a:extLst>
                <a:ext uri="{FF2B5EF4-FFF2-40B4-BE49-F238E27FC236}">
                  <a16:creationId xmlns:a16="http://schemas.microsoft.com/office/drawing/2014/main" id="{D5F3FC04-2344-FD2B-66BD-0EBDFE915E2F}"/>
                </a:ext>
              </a:extLst>
            </p:cNvPr>
            <p:cNvCxnSpPr>
              <a:cxnSpLocks/>
            </p:cNvCxnSpPr>
            <p:nvPr/>
          </p:nvCxnSpPr>
          <p:spPr>
            <a:xfrm>
              <a:off x="10003447" y="2565962"/>
              <a:ext cx="0" cy="2205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Text Box 62">
              <a:extLst>
                <a:ext uri="{FF2B5EF4-FFF2-40B4-BE49-F238E27FC236}">
                  <a16:creationId xmlns:a16="http://schemas.microsoft.com/office/drawing/2014/main" id="{64E55467-A9C4-5A93-A777-3D3BB23512EE}"/>
                </a:ext>
              </a:extLst>
            </p:cNvPr>
            <p:cNvSpPr txBox="1"/>
            <p:nvPr/>
          </p:nvSpPr>
          <p:spPr>
            <a:xfrm>
              <a:off x="9903434" y="2786468"/>
              <a:ext cx="200025" cy="24762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6</a:t>
              </a:r>
            </a:p>
          </p:txBody>
        </p:sp>
        <p:sp>
          <p:nvSpPr>
            <p:cNvPr id="9" name="Rectangle 8">
              <a:extLst>
                <a:ext uri="{FF2B5EF4-FFF2-40B4-BE49-F238E27FC236}">
                  <a16:creationId xmlns:a16="http://schemas.microsoft.com/office/drawing/2014/main" id="{C9B79CFB-1951-4E96-F8F7-ECE1CF085746}"/>
                </a:ext>
              </a:extLst>
            </p:cNvPr>
            <p:cNvSpPr/>
            <p:nvPr/>
          </p:nvSpPr>
          <p:spPr>
            <a:xfrm>
              <a:off x="5986923" y="3175308"/>
              <a:ext cx="130187" cy="24762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0" name="Straight Arrow Connector 9">
              <a:extLst>
                <a:ext uri="{FF2B5EF4-FFF2-40B4-BE49-F238E27FC236}">
                  <a16:creationId xmlns:a16="http://schemas.microsoft.com/office/drawing/2014/main" id="{40CEE4C6-5446-FAE5-F5B5-413946B0E532}"/>
                </a:ext>
              </a:extLst>
            </p:cNvPr>
            <p:cNvCxnSpPr>
              <a:cxnSpLocks/>
            </p:cNvCxnSpPr>
            <p:nvPr/>
          </p:nvCxnSpPr>
          <p:spPr>
            <a:xfrm>
              <a:off x="6046239" y="3416640"/>
              <a:ext cx="0" cy="2205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 name="Text Box 62">
              <a:extLst>
                <a:ext uri="{FF2B5EF4-FFF2-40B4-BE49-F238E27FC236}">
                  <a16:creationId xmlns:a16="http://schemas.microsoft.com/office/drawing/2014/main" id="{2EF16C1B-89BB-7422-1B68-9D0F41EBD502}"/>
                </a:ext>
              </a:extLst>
            </p:cNvPr>
            <p:cNvSpPr txBox="1"/>
            <p:nvPr/>
          </p:nvSpPr>
          <p:spPr>
            <a:xfrm>
              <a:off x="5955102" y="3650203"/>
              <a:ext cx="200025" cy="24762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a:t>
              </a:r>
            </a:p>
          </p:txBody>
        </p:sp>
      </p:grpSp>
    </p:spTree>
    <p:extLst>
      <p:ext uri="{BB962C8B-B14F-4D97-AF65-F5344CB8AC3E}">
        <p14:creationId xmlns:p14="http://schemas.microsoft.com/office/powerpoint/2010/main" val="10124557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45" name="TextBox 44">
            <a:extLst>
              <a:ext uri="{FF2B5EF4-FFF2-40B4-BE49-F238E27FC236}">
                <a16:creationId xmlns:a16="http://schemas.microsoft.com/office/drawing/2014/main" id="{4B14687C-52A3-56C7-BB62-1861435F0424}"/>
              </a:ext>
            </a:extLst>
          </p:cNvPr>
          <p:cNvSpPr txBox="1"/>
          <p:nvPr/>
        </p:nvSpPr>
        <p:spPr>
          <a:xfrm>
            <a:off x="7256349" y="5815358"/>
            <a:ext cx="2552700" cy="478849"/>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Accounts Payable Voucher – Main form</a:t>
            </a: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68" name="Text Box 854">
            <a:extLst>
              <a:ext uri="{FF2B5EF4-FFF2-40B4-BE49-F238E27FC236}">
                <a16:creationId xmlns:a16="http://schemas.microsoft.com/office/drawing/2014/main" id="{9845929A-47AB-7953-E946-C7A4D2E1538F}"/>
              </a:ext>
            </a:extLst>
          </p:cNvPr>
          <p:cNvSpPr txBox="1"/>
          <p:nvPr/>
        </p:nvSpPr>
        <p:spPr>
          <a:xfrm>
            <a:off x="708595" y="3526770"/>
            <a:ext cx="3852819" cy="40763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click delete button.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22" name="TextBox 21">
            <a:extLst>
              <a:ext uri="{FF2B5EF4-FFF2-40B4-BE49-F238E27FC236}">
                <a16:creationId xmlns:a16="http://schemas.microsoft.com/office/drawing/2014/main" id="{C8893AC7-359D-C22C-2311-9CD3A72D6B8F}"/>
              </a:ext>
            </a:extLst>
          </p:cNvPr>
          <p:cNvSpPr txBox="1"/>
          <p:nvPr/>
        </p:nvSpPr>
        <p:spPr>
          <a:xfrm>
            <a:off x="7273648" y="2990923"/>
            <a:ext cx="2552700" cy="478849"/>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Accounts Payable Voucher – Main Window</a:t>
            </a: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3" name="TextBox 22">
            <a:extLst>
              <a:ext uri="{FF2B5EF4-FFF2-40B4-BE49-F238E27FC236}">
                <a16:creationId xmlns:a16="http://schemas.microsoft.com/office/drawing/2014/main" id="{C278DA03-424D-142E-BB8A-D8491412C4DA}"/>
              </a:ext>
            </a:extLst>
          </p:cNvPr>
          <p:cNvSpPr txBox="1"/>
          <p:nvPr/>
        </p:nvSpPr>
        <p:spPr>
          <a:xfrm>
            <a:off x="805110" y="1122322"/>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Delete APV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24" name="Text Box 65">
            <a:extLst>
              <a:ext uri="{FF2B5EF4-FFF2-40B4-BE49-F238E27FC236}">
                <a16:creationId xmlns:a16="http://schemas.microsoft.com/office/drawing/2014/main" id="{1E9EB7A6-9663-FDE2-5365-91A0C0AA96C8}"/>
              </a:ext>
            </a:extLst>
          </p:cNvPr>
          <p:cNvSpPr txBox="1"/>
          <p:nvPr/>
        </p:nvSpPr>
        <p:spPr>
          <a:xfrm>
            <a:off x="761672" y="1524783"/>
            <a:ext cx="3746666" cy="181991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accounts payable voucher – main window, search the accounts payable voucher transaction you wish to edit its information in the search bar. Or,</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accounts payable voucher – main form, click the lookup button and select the transaction you wish to edit its information by typing its transaction number in the search bar.</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DC058540-7D32-FB19-60A9-92F6C08D99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88330" y="1116905"/>
            <a:ext cx="6078855" cy="1727200"/>
          </a:xfrm>
          <a:prstGeom prst="rect">
            <a:avLst/>
          </a:prstGeom>
        </p:spPr>
      </p:pic>
      <p:grpSp>
        <p:nvGrpSpPr>
          <p:cNvPr id="7" name="Group 6">
            <a:extLst>
              <a:ext uri="{FF2B5EF4-FFF2-40B4-BE49-F238E27FC236}">
                <a16:creationId xmlns:a16="http://schemas.microsoft.com/office/drawing/2014/main" id="{51FCE5E0-9CD4-4878-3CD2-2102D327A5FF}"/>
              </a:ext>
            </a:extLst>
          </p:cNvPr>
          <p:cNvGrpSpPr/>
          <p:nvPr/>
        </p:nvGrpSpPr>
        <p:grpSpPr>
          <a:xfrm>
            <a:off x="5358130" y="1974020"/>
            <a:ext cx="1475739" cy="333375"/>
            <a:chOff x="0" y="0"/>
            <a:chExt cx="1476374" cy="333375"/>
          </a:xfrm>
        </p:grpSpPr>
        <p:sp>
          <p:nvSpPr>
            <p:cNvPr id="8" name="Rectangle 7">
              <a:extLst>
                <a:ext uri="{FF2B5EF4-FFF2-40B4-BE49-F238E27FC236}">
                  <a16:creationId xmlns:a16="http://schemas.microsoft.com/office/drawing/2014/main" id="{D0619C3F-A686-FEDE-C6D6-44BE9DD600F0}"/>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9" name="Straight Arrow Connector 8">
              <a:extLst>
                <a:ext uri="{FF2B5EF4-FFF2-40B4-BE49-F238E27FC236}">
                  <a16:creationId xmlns:a16="http://schemas.microsoft.com/office/drawing/2014/main" id="{2C7BD255-FAC9-76DE-BAAB-BD27E6AF7D83}"/>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Text Box 374">
              <a:extLst>
                <a:ext uri="{FF2B5EF4-FFF2-40B4-BE49-F238E27FC236}">
                  <a16:creationId xmlns:a16="http://schemas.microsoft.com/office/drawing/2014/main" id="{D2E1A84D-AC65-49C8-9E6F-10C7B6B376D1}"/>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grpSp>
        <p:nvGrpSpPr>
          <p:cNvPr id="50" name="Group 49">
            <a:extLst>
              <a:ext uri="{FF2B5EF4-FFF2-40B4-BE49-F238E27FC236}">
                <a16:creationId xmlns:a16="http://schemas.microsoft.com/office/drawing/2014/main" id="{4322AEB2-D998-50CF-0342-F199A6ECF037}"/>
              </a:ext>
            </a:extLst>
          </p:cNvPr>
          <p:cNvGrpSpPr/>
          <p:nvPr/>
        </p:nvGrpSpPr>
        <p:grpSpPr>
          <a:xfrm>
            <a:off x="4575302" y="4023001"/>
            <a:ext cx="6728904" cy="1712677"/>
            <a:chOff x="4638281" y="4222115"/>
            <a:chExt cx="6728904" cy="1712677"/>
          </a:xfrm>
        </p:grpSpPr>
        <p:pic>
          <p:nvPicPr>
            <p:cNvPr id="11" name="Picture 10">
              <a:extLst>
                <a:ext uri="{FF2B5EF4-FFF2-40B4-BE49-F238E27FC236}">
                  <a16:creationId xmlns:a16="http://schemas.microsoft.com/office/drawing/2014/main" id="{60DD3D65-5C8B-BBCF-8A9C-8A991308C39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77840" y="4222115"/>
              <a:ext cx="6189345" cy="1575435"/>
            </a:xfrm>
            <a:prstGeom prst="rect">
              <a:avLst/>
            </a:prstGeom>
          </p:spPr>
        </p:pic>
        <p:grpSp>
          <p:nvGrpSpPr>
            <p:cNvPr id="12" name="Group 11">
              <a:extLst>
                <a:ext uri="{FF2B5EF4-FFF2-40B4-BE49-F238E27FC236}">
                  <a16:creationId xmlns:a16="http://schemas.microsoft.com/office/drawing/2014/main" id="{881C35E1-523D-6120-6D8D-C71DB88BFB6E}"/>
                </a:ext>
              </a:extLst>
            </p:cNvPr>
            <p:cNvGrpSpPr/>
            <p:nvPr/>
          </p:nvGrpSpPr>
          <p:grpSpPr>
            <a:xfrm>
              <a:off x="4638281" y="4429843"/>
              <a:ext cx="5403811" cy="1504949"/>
              <a:chOff x="0" y="0"/>
              <a:chExt cx="5404122" cy="1505403"/>
            </a:xfrm>
          </p:grpSpPr>
          <p:grpSp>
            <p:nvGrpSpPr>
              <p:cNvPr id="13" name="Group 12">
                <a:extLst>
                  <a:ext uri="{FF2B5EF4-FFF2-40B4-BE49-F238E27FC236}">
                    <a16:creationId xmlns:a16="http://schemas.microsoft.com/office/drawing/2014/main" id="{97C314BA-9B27-FADB-59A6-7635538437CA}"/>
                  </a:ext>
                </a:extLst>
              </p:cNvPr>
              <p:cNvGrpSpPr/>
              <p:nvPr/>
            </p:nvGrpSpPr>
            <p:grpSpPr>
              <a:xfrm>
                <a:off x="1828800" y="457200"/>
                <a:ext cx="952500" cy="304800"/>
                <a:chOff x="523874" y="28575"/>
                <a:chExt cx="952500" cy="304800"/>
              </a:xfrm>
            </p:grpSpPr>
            <p:sp>
              <p:nvSpPr>
                <p:cNvPr id="47" name="Rectangle 46">
                  <a:extLst>
                    <a:ext uri="{FF2B5EF4-FFF2-40B4-BE49-F238E27FC236}">
                      <a16:creationId xmlns:a16="http://schemas.microsoft.com/office/drawing/2014/main" id="{F6024CF2-9F25-013F-FA95-190DF16B5BF8}"/>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8" name="Straight Arrow Connector 47">
                  <a:extLst>
                    <a:ext uri="{FF2B5EF4-FFF2-40B4-BE49-F238E27FC236}">
                      <a16:creationId xmlns:a16="http://schemas.microsoft.com/office/drawing/2014/main" id="{B5D0ED4B-1CE2-03BE-AECB-5D12C6D86B93}"/>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9" name="Text Box 381">
                  <a:extLst>
                    <a:ext uri="{FF2B5EF4-FFF2-40B4-BE49-F238E27FC236}">
                      <a16:creationId xmlns:a16="http://schemas.microsoft.com/office/drawing/2014/main" id="{E6DB0422-7050-08E8-8729-602492AFEEC0}"/>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14" name="Group 13">
                <a:extLst>
                  <a:ext uri="{FF2B5EF4-FFF2-40B4-BE49-F238E27FC236}">
                    <a16:creationId xmlns:a16="http://schemas.microsoft.com/office/drawing/2014/main" id="{7914EE41-30A1-7FB1-9E47-5B8363C6FBBA}"/>
                  </a:ext>
                </a:extLst>
              </p:cNvPr>
              <p:cNvGrpSpPr/>
              <p:nvPr/>
            </p:nvGrpSpPr>
            <p:grpSpPr>
              <a:xfrm>
                <a:off x="3087698" y="234745"/>
                <a:ext cx="981078" cy="304800"/>
                <a:chOff x="-1918371" y="78263"/>
                <a:chExt cx="981078" cy="304800"/>
              </a:xfrm>
            </p:grpSpPr>
            <p:sp>
              <p:nvSpPr>
                <p:cNvPr id="30" name="Rectangle 29">
                  <a:extLst>
                    <a:ext uri="{FF2B5EF4-FFF2-40B4-BE49-F238E27FC236}">
                      <a16:creationId xmlns:a16="http://schemas.microsoft.com/office/drawing/2014/main" id="{FC2CA959-DF4C-59EC-2279-90052A220CD9}"/>
                    </a:ext>
                  </a:extLst>
                </p:cNvPr>
                <p:cNvSpPr/>
                <p:nvPr/>
              </p:nvSpPr>
              <p:spPr>
                <a:xfrm>
                  <a:off x="-1918371" y="78263"/>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1" name="Straight Arrow Connector 30">
                  <a:extLst>
                    <a:ext uri="{FF2B5EF4-FFF2-40B4-BE49-F238E27FC236}">
                      <a16:creationId xmlns:a16="http://schemas.microsoft.com/office/drawing/2014/main" id="{3199565E-ADB6-497D-799B-4F9A40E767CF}"/>
                    </a:ext>
                  </a:extLst>
                </p:cNvPr>
                <p:cNvCxnSpPr/>
                <p:nvPr/>
              </p:nvCxnSpPr>
              <p:spPr>
                <a:xfrm>
                  <a:off x="-1451643" y="183038"/>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Text Box 385">
                  <a:extLst>
                    <a:ext uri="{FF2B5EF4-FFF2-40B4-BE49-F238E27FC236}">
                      <a16:creationId xmlns:a16="http://schemas.microsoft.com/office/drawing/2014/main" id="{DC92FD3F-BF2E-9508-7C1C-48C6366A116D}"/>
                    </a:ext>
                  </a:extLst>
                </p:cNvPr>
                <p:cNvSpPr txBox="1"/>
                <p:nvPr/>
              </p:nvSpPr>
              <p:spPr>
                <a:xfrm>
                  <a:off x="-1242093" y="78263"/>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grpSp>
            <p:nvGrpSpPr>
              <p:cNvPr id="15" name="Group 14">
                <a:extLst>
                  <a:ext uri="{FF2B5EF4-FFF2-40B4-BE49-F238E27FC236}">
                    <a16:creationId xmlns:a16="http://schemas.microsoft.com/office/drawing/2014/main" id="{A1472803-3411-2D9C-B665-59DC8B58FF42}"/>
                  </a:ext>
                </a:extLst>
              </p:cNvPr>
              <p:cNvGrpSpPr>
                <a:grpSpLocks/>
              </p:cNvGrpSpPr>
              <p:nvPr/>
            </p:nvGrpSpPr>
            <p:grpSpPr bwMode="auto">
              <a:xfrm>
                <a:off x="2851422" y="625928"/>
                <a:ext cx="2552700" cy="879475"/>
                <a:chOff x="6116" y="177"/>
                <a:chExt cx="4020" cy="1385"/>
              </a:xfrm>
            </p:grpSpPr>
            <p:pic>
              <p:nvPicPr>
                <p:cNvPr id="25" name="Picture 24">
                  <a:extLst>
                    <a:ext uri="{FF2B5EF4-FFF2-40B4-BE49-F238E27FC236}">
                      <a16:creationId xmlns:a16="http://schemas.microsoft.com/office/drawing/2014/main" id="{DF49F6EC-86C8-148D-A09D-660C8D72FC9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6" y="177"/>
                  <a:ext cx="3625" cy="1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Text Box 241">
                  <a:extLst>
                    <a:ext uri="{FF2B5EF4-FFF2-40B4-BE49-F238E27FC236}">
                      <a16:creationId xmlns:a16="http://schemas.microsoft.com/office/drawing/2014/main" id="{0137D161-23C3-3B8C-D85B-04851DDA7434}"/>
                    </a:ext>
                  </a:extLst>
                </p:cNvPr>
                <p:cNvSpPr txBox="1">
                  <a:spLocks noChangeArrowheads="1"/>
                </p:cNvSpPr>
                <p:nvPr/>
              </p:nvSpPr>
              <p:spPr bwMode="auto">
                <a:xfrm>
                  <a:off x="6116" y="177"/>
                  <a:ext cx="4020" cy="138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APV transaction?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ct val="115000"/>
                    </a:lnSpc>
                    <a:spcBef>
                      <a:spcPts val="0"/>
                    </a:spcBef>
                    <a:spcAft>
                      <a:spcPts val="0"/>
                    </a:spcAft>
                    <a:buClrTx/>
                    <a:buSzTx/>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ts val="975"/>
                    </a:lnSpc>
                    <a:spcBef>
                      <a:spcPts val="5"/>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a:t>
                  </a:r>
                  <a:r>
                    <a:rPr kumimoji="0" lang="en-US" sz="800" b="0" i="0" u="none" strike="noStrike" kern="1200" cap="none" spc="-4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search.</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29565" marR="0" lvl="0" indent="-228600" algn="l" defTabSz="914400" rtl="0" eaLnBrk="1" fontAlgn="auto" latinLnBrk="0" hangingPunct="1">
                    <a:lnSpc>
                      <a:spcPts val="975"/>
                    </a:lnSpc>
                    <a:spcBef>
                      <a:spcPts val="0"/>
                    </a:spcBef>
                    <a:spcAft>
                      <a:spcPts val="0"/>
                    </a:spcAft>
                    <a:buClrTx/>
                    <a:buSzTx/>
                    <a:buFont typeface="+mj-lt"/>
                    <a:buAutoNum type="arabicPeriod"/>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sp>
            <p:nvSpPr>
              <p:cNvPr id="16" name="Text Box 386">
                <a:extLst>
                  <a:ext uri="{FF2B5EF4-FFF2-40B4-BE49-F238E27FC236}">
                    <a16:creationId xmlns:a16="http://schemas.microsoft.com/office/drawing/2014/main" id="{E2272E62-8D46-7BEB-10CD-282B6106A120}"/>
                  </a:ext>
                </a:extLst>
              </p:cNvPr>
              <p:cNvSpPr txBox="1"/>
              <p:nvPr/>
            </p:nvSpPr>
            <p:spPr>
              <a:xfrm>
                <a:off x="0" y="0"/>
                <a:ext cx="1306286" cy="273132"/>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grpSp>
      </p:grpSp>
      <p:sp>
        <p:nvSpPr>
          <p:cNvPr id="3" name="TextBox 2">
            <a:extLst>
              <a:ext uri="{FF2B5EF4-FFF2-40B4-BE49-F238E27FC236}">
                <a16:creationId xmlns:a16="http://schemas.microsoft.com/office/drawing/2014/main" id="{CBA553DF-920A-AEBB-6B04-8181D512C92E}"/>
              </a:ext>
            </a:extLst>
          </p:cNvPr>
          <p:cNvSpPr txBox="1"/>
          <p:nvPr/>
        </p:nvSpPr>
        <p:spPr>
          <a:xfrm>
            <a:off x="278563" y="116243"/>
            <a:ext cx="4912109"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Payables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Accounts Payable Voucher</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2" name="Slide Number Placeholder 9">
            <a:extLst>
              <a:ext uri="{FF2B5EF4-FFF2-40B4-BE49-F238E27FC236}">
                <a16:creationId xmlns:a16="http://schemas.microsoft.com/office/drawing/2014/main" id="{43E30395-C4AB-A8DD-613A-7FB99F9EDD75}"/>
              </a:ext>
            </a:extLst>
          </p:cNvPr>
          <p:cNvSpPr>
            <a:spLocks noGrp="1"/>
          </p:cNvSpPr>
          <p:nvPr/>
        </p:nvSpPr>
        <p:spPr>
          <a:xfrm>
            <a:off x="93608" y="6342656"/>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222169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5" name="TextBox 4">
            <a:extLst>
              <a:ext uri="{FF2B5EF4-FFF2-40B4-BE49-F238E27FC236}">
                <a16:creationId xmlns:a16="http://schemas.microsoft.com/office/drawing/2014/main" id="{CBE13CC3-0EBB-4997-FCE7-B09A824D1CEB}"/>
              </a:ext>
            </a:extLst>
          </p:cNvPr>
          <p:cNvSpPr txBox="1"/>
          <p:nvPr/>
        </p:nvSpPr>
        <p:spPr>
          <a:xfrm>
            <a:off x="805110" y="105354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Other Information</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65" name="TextBox 64">
            <a:extLst>
              <a:ext uri="{FF2B5EF4-FFF2-40B4-BE49-F238E27FC236}">
                <a16:creationId xmlns:a16="http://schemas.microsoft.com/office/drawing/2014/main" id="{E7777D04-D73F-74AB-C30B-7D3C9397264F}"/>
              </a:ext>
            </a:extLst>
          </p:cNvPr>
          <p:cNvSpPr txBox="1"/>
          <p:nvPr/>
        </p:nvSpPr>
        <p:spPr>
          <a:xfrm>
            <a:off x="805109" y="4516141"/>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Other Buttons</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8" name="Text Box 102">
            <a:extLst>
              <a:ext uri="{FF2B5EF4-FFF2-40B4-BE49-F238E27FC236}">
                <a16:creationId xmlns:a16="http://schemas.microsoft.com/office/drawing/2014/main" id="{9C27B11D-33B2-DB7D-A894-E01425B3F550}"/>
              </a:ext>
            </a:extLst>
          </p:cNvPr>
          <p:cNvSpPr txBox="1"/>
          <p:nvPr/>
        </p:nvSpPr>
        <p:spPr>
          <a:xfrm>
            <a:off x="805109" y="1589414"/>
            <a:ext cx="3852820" cy="2121974"/>
          </a:xfrm>
          <a:prstGeom prst="rect">
            <a:avLst/>
          </a:prstGeom>
          <a:noFill/>
          <a:ln w="6350">
            <a:solidFill>
              <a:srgbClr val="E7E6E6">
                <a:lumMod val="90000"/>
              </a:srgbClr>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arrow up icon parallel in the main form on the upper right, and the accounts payable voucher – main form will be minimize and the other information will be displayed as shown in the photo below.</a:t>
            </a:r>
          </a:p>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the arrow parallel to what information you want to open and provide the necessary filter to generate the data you want to display.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227330" lvl="0" indent="0" algn="l" defTabSz="914400" rtl="0" eaLnBrk="1" fontAlgn="auto" latinLnBrk="0" hangingPunct="1">
              <a:lnSpc>
                <a:spcPct val="107000"/>
              </a:lnSpc>
              <a:spcBef>
                <a:spcPts val="190"/>
              </a:spcBef>
              <a:spcAft>
                <a:spcPts val="80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41D91A73-B11F-A02B-9232-899DF5375C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62556" y="1053547"/>
            <a:ext cx="6186805" cy="633095"/>
          </a:xfrm>
          <a:prstGeom prst="rect">
            <a:avLst/>
          </a:prstGeom>
        </p:spPr>
      </p:pic>
      <p:pic>
        <p:nvPicPr>
          <p:cNvPr id="9" name="Picture 8">
            <a:extLst>
              <a:ext uri="{FF2B5EF4-FFF2-40B4-BE49-F238E27FC236}">
                <a16:creationId xmlns:a16="http://schemas.microsoft.com/office/drawing/2014/main" id="{49F9D88F-C2FC-12E1-1467-4393FD42B8F5}"/>
              </a:ext>
            </a:extLst>
          </p:cNvPr>
          <p:cNvPicPr>
            <a:picLocks noChangeAspect="1"/>
          </p:cNvPicPr>
          <p:nvPr/>
        </p:nvPicPr>
        <p:blipFill>
          <a:blip r:embed="rId4"/>
          <a:stretch>
            <a:fillRect/>
          </a:stretch>
        </p:blipFill>
        <p:spPr>
          <a:xfrm>
            <a:off x="5361179" y="2414785"/>
            <a:ext cx="6249809" cy="2850509"/>
          </a:xfrm>
          <a:prstGeom prst="rect">
            <a:avLst/>
          </a:prstGeom>
        </p:spPr>
      </p:pic>
      <p:pic>
        <p:nvPicPr>
          <p:cNvPr id="12" name="Picture 11">
            <a:extLst>
              <a:ext uri="{FF2B5EF4-FFF2-40B4-BE49-F238E27FC236}">
                <a16:creationId xmlns:a16="http://schemas.microsoft.com/office/drawing/2014/main" id="{96E78E19-4025-2CF4-0152-5EE4A8E0C0E1}"/>
              </a:ext>
            </a:extLst>
          </p:cNvPr>
          <p:cNvPicPr>
            <a:picLocks noChangeAspect="1"/>
          </p:cNvPicPr>
          <p:nvPr/>
        </p:nvPicPr>
        <p:blipFill>
          <a:blip r:embed="rId5"/>
          <a:stretch>
            <a:fillRect/>
          </a:stretch>
        </p:blipFill>
        <p:spPr>
          <a:xfrm>
            <a:off x="5294021" y="1770273"/>
            <a:ext cx="6108721" cy="280440"/>
          </a:xfrm>
          <a:prstGeom prst="rect">
            <a:avLst/>
          </a:prstGeom>
        </p:spPr>
      </p:pic>
      <p:sp>
        <p:nvSpPr>
          <p:cNvPr id="4" name="TextBox 3">
            <a:extLst>
              <a:ext uri="{FF2B5EF4-FFF2-40B4-BE49-F238E27FC236}">
                <a16:creationId xmlns:a16="http://schemas.microsoft.com/office/drawing/2014/main" id="{7D88C4B5-67A1-AD81-C175-531AAAE0FB0D}"/>
              </a:ext>
            </a:extLst>
          </p:cNvPr>
          <p:cNvSpPr txBox="1"/>
          <p:nvPr/>
        </p:nvSpPr>
        <p:spPr>
          <a:xfrm>
            <a:off x="239951" y="116202"/>
            <a:ext cx="4912109"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Payables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Accounts Payable Voucher</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2" name="Slide Number Placeholder 9">
            <a:extLst>
              <a:ext uri="{FF2B5EF4-FFF2-40B4-BE49-F238E27FC236}">
                <a16:creationId xmlns:a16="http://schemas.microsoft.com/office/drawing/2014/main" id="{AD9A1242-B5FF-194A-55C9-64C0A75E1EC7}"/>
              </a:ext>
            </a:extLst>
          </p:cNvPr>
          <p:cNvSpPr>
            <a:spLocks noGrp="1"/>
          </p:cNvSpPr>
          <p:nvPr/>
        </p:nvSpPr>
        <p:spPr>
          <a:xfrm>
            <a:off x="93608" y="6342656"/>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02226284"/>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1278</Words>
  <Application>Microsoft Office PowerPoint</Application>
  <PresentationFormat>Widescreen</PresentationFormat>
  <Paragraphs>169</Paragraphs>
  <Slides>11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Animosa Extra Bold</vt:lpstr>
      <vt:lpstr>Arial</vt:lpstr>
      <vt:lpstr>Bodoni MT Condensed</vt:lpstr>
      <vt:lpstr>Calibri</vt:lpstr>
      <vt:lpstr>Calibri Light</vt:lpstr>
      <vt:lpstr>Century Gothic</vt:lpstr>
      <vt:lpstr>Chivo Light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Janine Calawod</dc:creator>
  <cp:lastModifiedBy>Janine Calawod</cp:lastModifiedBy>
  <cp:revision>2</cp:revision>
  <dcterms:created xsi:type="dcterms:W3CDTF">2023-01-03T08:51:13Z</dcterms:created>
  <dcterms:modified xsi:type="dcterms:W3CDTF">2023-01-10T07:19:18Z</dcterms:modified>
</cp:coreProperties>
</file>