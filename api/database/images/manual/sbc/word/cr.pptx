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63" r:id="rId3"/>
    <p:sldId id="291" r:id="rId4"/>
    <p:sldId id="349" r:id="rId5"/>
    <p:sldId id="388" r:id="rId6"/>
    <p:sldId id="389" r:id="rId7"/>
    <p:sldId id="390" r:id="rId8"/>
    <p:sldId id="355" r:id="rId9"/>
    <p:sldId id="356" r:id="rId10"/>
    <p:sldId id="357" r:id="rId11"/>
    <p:sldId id="29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BAE65072-2423-4F37-9305-5568682DA246}" type="datetime1">
              <a:rPr lang="en-US" smtClean="0"/>
              <a:t>1/3/2023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a:xfrm>
            <a:off x="92089" y="6356349"/>
            <a:ext cx="577822"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40811678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5C8F10A4-CF56-4563-84B9-7D6269529A5F}" type="datetime1">
              <a:rPr lang="en-US" smtClean="0"/>
              <a:t>1/3/2023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870918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9FB73E55-CA7D-4D03-B7E9-182C57BF2BA1}" type="datetime1">
              <a:rPr lang="en-US" smtClean="0"/>
              <a:t>1/3/2023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2302822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E712254A-B61C-4FE4-A72A-F20850D1A056}" type="datetime1">
              <a:rPr lang="en-US" smtClean="0"/>
              <a:t>1/3/2023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006048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AA0472D6-81BF-4BAB-B5E4-20EF3DAD4195}" type="datetime1">
              <a:rPr lang="en-US" smtClean="0"/>
              <a:t>1/3/2023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557526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87336B67-D903-4417-8BF6-103D735F2EE6}" type="datetime1">
              <a:rPr lang="en-US" smtClean="0"/>
              <a:t>1/3/2023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a:xfrm>
            <a:off x="126089" y="6356349"/>
            <a:ext cx="48351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1421748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18BFC4CB-0AC9-4DE0-A618-2F695859DBB3}" type="datetime1">
              <a:rPr lang="en-US" smtClean="0"/>
              <a:t>1/3/2023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686365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9CB506ED-9272-4DB1-9EF2-C91A21762970}" type="datetime1">
              <a:rPr lang="en-US" smtClean="0"/>
              <a:t>1/3/2023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752484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1A3D287F-39CA-4CE1-99E9-F2163C5C1CD5}" type="datetime1">
              <a:rPr lang="en-US" smtClean="0"/>
              <a:t>1/3/2023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990133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2F8F96B2-BD52-4222-A8E3-0BED46FA879B}" type="datetime1">
              <a:rPr lang="en-US" smtClean="0"/>
              <a:t>1/3/2023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2345249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53BE8E24-3E3C-46E4-AB7A-40D2AD32DE0C}" type="datetime1">
              <a:rPr lang="en-US" smtClean="0"/>
              <a:t>1/3/2023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878421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901BA-EBA4-4D33-BC40-6478C76075DD}" type="datetime1">
              <a:rPr lang="en-US" smtClean="0"/>
              <a:t>1/3/2023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5963547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1017646" y="2105561"/>
            <a:ext cx="10289512" cy="1323439"/>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rPr>
              <a:t>Received Payment</a:t>
            </a:r>
            <a:endParaRPr kumimoji="0" lang="en-US" sz="8000" b="0"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Received Payment it is module where we record collection we received.</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F858BB69-ABF5-BFA8-6E3E-125E74217E7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7699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Receivables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Received Payment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375033"/>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Main Window</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4"/>
            <a:ext cx="3887062" cy="1271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indent="0" algn="l" defTabSz="914400" rtl="0" eaLnBrk="1" fontAlgn="auto" latinLnBrk="0" hangingPunct="1">
              <a:lnSpc>
                <a:spcPct val="107000"/>
              </a:lnSpc>
              <a:spcBef>
                <a:spcPts val="190"/>
              </a:spcBef>
              <a:spcAft>
                <a:spcPts val="80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Received Payment module under Receivables, Received Payment transactions list will display based on filtered date and status in the received payment - main window.</a:t>
            </a:r>
            <a:r>
              <a:rPr kumimoji="0" lang="en-PH" sz="10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284343" y="4005530"/>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Received Payment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14" name="Group 13">
            <a:extLst>
              <a:ext uri="{FF2B5EF4-FFF2-40B4-BE49-F238E27FC236}">
                <a16:creationId xmlns:a16="http://schemas.microsoft.com/office/drawing/2014/main" id="{F377C8CA-30DD-947F-9E97-4BFE3FBF165A}"/>
              </a:ext>
            </a:extLst>
          </p:cNvPr>
          <p:cNvGrpSpPr/>
          <p:nvPr/>
        </p:nvGrpSpPr>
        <p:grpSpPr>
          <a:xfrm>
            <a:off x="5402650" y="2375033"/>
            <a:ext cx="5984240" cy="1563278"/>
            <a:chOff x="5402650" y="2375033"/>
            <a:chExt cx="5984240" cy="1563278"/>
          </a:xfrm>
        </p:grpSpPr>
        <p:pic>
          <p:nvPicPr>
            <p:cNvPr id="9" name="Picture 8">
              <a:extLst>
                <a:ext uri="{FF2B5EF4-FFF2-40B4-BE49-F238E27FC236}">
                  <a16:creationId xmlns:a16="http://schemas.microsoft.com/office/drawing/2014/main" id="{686CE363-7797-4EBD-5D0E-3B372D0DF5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2650" y="2375033"/>
              <a:ext cx="5984240" cy="1496060"/>
            </a:xfrm>
            <a:prstGeom prst="rect">
              <a:avLst/>
            </a:prstGeom>
          </p:spPr>
        </p:pic>
        <p:grpSp>
          <p:nvGrpSpPr>
            <p:cNvPr id="13" name="Group 12">
              <a:extLst>
                <a:ext uri="{FF2B5EF4-FFF2-40B4-BE49-F238E27FC236}">
                  <a16:creationId xmlns:a16="http://schemas.microsoft.com/office/drawing/2014/main" id="{722CAACF-BA2D-0FF1-72AC-0E5073257EAA}"/>
                </a:ext>
              </a:extLst>
            </p:cNvPr>
            <p:cNvGrpSpPr/>
            <p:nvPr/>
          </p:nvGrpSpPr>
          <p:grpSpPr>
            <a:xfrm>
              <a:off x="5402650" y="2817536"/>
              <a:ext cx="5836285" cy="1120775"/>
              <a:chOff x="3177857" y="2868613"/>
              <a:chExt cx="5836285" cy="1120775"/>
            </a:xfrm>
          </p:grpSpPr>
          <p:sp>
            <p:nvSpPr>
              <p:cNvPr id="10" name="Rectangle 9">
                <a:extLst>
                  <a:ext uri="{FF2B5EF4-FFF2-40B4-BE49-F238E27FC236}">
                    <a16:creationId xmlns:a16="http://schemas.microsoft.com/office/drawing/2014/main" id="{03313181-97D0-B3DF-40A8-C1B5B86C27D8}"/>
                  </a:ext>
                </a:extLst>
              </p:cNvPr>
              <p:cNvSpPr/>
              <p:nvPr/>
            </p:nvSpPr>
            <p:spPr>
              <a:xfrm>
                <a:off x="3177857" y="3514408"/>
                <a:ext cx="847725" cy="1714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DB5D07B3-05E2-92E2-28D6-B0B3BA499B44}"/>
                  </a:ext>
                </a:extLst>
              </p:cNvPr>
              <p:cNvSpPr/>
              <p:nvPr/>
            </p:nvSpPr>
            <p:spPr>
              <a:xfrm>
                <a:off x="4219892" y="2868613"/>
                <a:ext cx="4794250" cy="112077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8493C50E-8AD8-4E42-A967-2C076B4CCEF7}"/>
                  </a:ext>
                </a:extLst>
              </p:cNvPr>
              <p:cNvCxnSpPr/>
              <p:nvPr/>
            </p:nvCxnSpPr>
            <p:spPr>
              <a:xfrm flipV="1">
                <a:off x="4021137" y="3615373"/>
                <a:ext cx="177800" cy="469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sp>
        <p:nvSpPr>
          <p:cNvPr id="3" name="Slide Number Placeholder 2">
            <a:extLst>
              <a:ext uri="{FF2B5EF4-FFF2-40B4-BE49-F238E27FC236}">
                <a16:creationId xmlns:a16="http://schemas.microsoft.com/office/drawing/2014/main" id="{256199F3-B6CD-FC91-6846-297FB886C17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7125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678874" y="965527"/>
            <a:ext cx="3979056"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Received Payment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189124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Received Payment – Main Window, you will notice a create button in the upper left of the window. Click the create button and you will be redirect in received payment – main form.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list of customer. Search and select a customer.</a:t>
            </a: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79" name="Text Box 27">
            <a:extLst>
              <a:ext uri="{FF2B5EF4-FFF2-40B4-BE49-F238E27FC236}">
                <a16:creationId xmlns:a16="http://schemas.microsoft.com/office/drawing/2014/main" id="{C0041F90-1A0F-8769-2E1A-BA60672B2ED3}"/>
              </a:ext>
            </a:extLst>
          </p:cNvPr>
          <p:cNvSpPr txBox="1"/>
          <p:nvPr/>
        </p:nvSpPr>
        <p:spPr>
          <a:xfrm>
            <a:off x="678873" y="3612724"/>
            <a:ext cx="3902776" cy="166562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a customer, you will be redirect in received payment – main form where you will encode the other necessary information of the transaction and record the received payment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grpSp>
        <p:nvGrpSpPr>
          <p:cNvPr id="30" name="Group 29">
            <a:extLst>
              <a:ext uri="{FF2B5EF4-FFF2-40B4-BE49-F238E27FC236}">
                <a16:creationId xmlns:a16="http://schemas.microsoft.com/office/drawing/2014/main" id="{24A765DD-0164-9AE0-A3CB-0C812FE53C46}"/>
              </a:ext>
            </a:extLst>
          </p:cNvPr>
          <p:cNvGrpSpPr/>
          <p:nvPr/>
        </p:nvGrpSpPr>
        <p:grpSpPr>
          <a:xfrm>
            <a:off x="5524729" y="949844"/>
            <a:ext cx="5850255" cy="1653540"/>
            <a:chOff x="5524729" y="949844"/>
            <a:chExt cx="5850255" cy="1653540"/>
          </a:xfrm>
        </p:grpSpPr>
        <p:pic>
          <p:nvPicPr>
            <p:cNvPr id="14" name="Picture 13">
              <a:extLst>
                <a:ext uri="{FF2B5EF4-FFF2-40B4-BE49-F238E27FC236}">
                  <a16:creationId xmlns:a16="http://schemas.microsoft.com/office/drawing/2014/main" id="{B415FA06-37D1-7036-E22B-7D559DF06B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6164" y="949844"/>
              <a:ext cx="5798820" cy="1653540"/>
            </a:xfrm>
            <a:prstGeom prst="rect">
              <a:avLst/>
            </a:prstGeom>
          </p:spPr>
        </p:pic>
        <p:grpSp>
          <p:nvGrpSpPr>
            <p:cNvPr id="13" name="Group 12">
              <a:extLst>
                <a:ext uri="{FF2B5EF4-FFF2-40B4-BE49-F238E27FC236}">
                  <a16:creationId xmlns:a16="http://schemas.microsoft.com/office/drawing/2014/main" id="{A4B16DE4-EB33-C53F-E46B-9BE05E75FA3E}"/>
                </a:ext>
              </a:extLst>
            </p:cNvPr>
            <p:cNvGrpSpPr/>
            <p:nvPr/>
          </p:nvGrpSpPr>
          <p:grpSpPr>
            <a:xfrm>
              <a:off x="5524729" y="1799474"/>
              <a:ext cx="1209675" cy="276225"/>
              <a:chOff x="0" y="0"/>
              <a:chExt cx="1209675" cy="276225"/>
            </a:xfrm>
          </p:grpSpPr>
          <p:sp>
            <p:nvSpPr>
              <p:cNvPr id="15" name="Rectangle 14">
                <a:extLst>
                  <a:ext uri="{FF2B5EF4-FFF2-40B4-BE49-F238E27FC236}">
                    <a16:creationId xmlns:a16="http://schemas.microsoft.com/office/drawing/2014/main" id="{573F2CF5-BA4D-01C7-6335-9B16D03193E9}"/>
                  </a:ext>
                </a:extLst>
              </p:cNvPr>
              <p:cNvSpPr/>
              <p:nvPr/>
            </p:nvSpPr>
            <p:spPr>
              <a:xfrm>
                <a:off x="0" y="0"/>
                <a:ext cx="800100" cy="2256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0" name="Straight Arrow Connector 19">
                <a:extLst>
                  <a:ext uri="{FF2B5EF4-FFF2-40B4-BE49-F238E27FC236}">
                    <a16:creationId xmlns:a16="http://schemas.microsoft.com/office/drawing/2014/main" id="{FC3C5BD9-C43C-EC0C-11C6-2726AA0642BA}"/>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Text Box 22">
                <a:extLst>
                  <a:ext uri="{FF2B5EF4-FFF2-40B4-BE49-F238E27FC236}">
                    <a16:creationId xmlns:a16="http://schemas.microsoft.com/office/drawing/2014/main" id="{93F1D960-8456-6D64-06AC-A26E3BCC7759}"/>
                  </a:ext>
                </a:extLst>
              </p:cNvPr>
              <p:cNvSpPr txBox="1"/>
              <p:nvPr/>
            </p:nvSpPr>
            <p:spPr>
              <a:xfrm>
                <a:off x="1009650" y="2857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a:t>
                </a:r>
              </a:p>
            </p:txBody>
          </p:sp>
        </p:grpSp>
      </p:grpSp>
      <p:grpSp>
        <p:nvGrpSpPr>
          <p:cNvPr id="31" name="Group 30">
            <a:extLst>
              <a:ext uri="{FF2B5EF4-FFF2-40B4-BE49-F238E27FC236}">
                <a16:creationId xmlns:a16="http://schemas.microsoft.com/office/drawing/2014/main" id="{A39013D6-6FF7-589B-594A-8FAC0E4197D8}"/>
              </a:ext>
            </a:extLst>
          </p:cNvPr>
          <p:cNvGrpSpPr/>
          <p:nvPr/>
        </p:nvGrpSpPr>
        <p:grpSpPr>
          <a:xfrm>
            <a:off x="5392014" y="2953904"/>
            <a:ext cx="5982970" cy="2613025"/>
            <a:chOff x="183178" y="17624"/>
            <a:chExt cx="6018474" cy="3034485"/>
          </a:xfrm>
        </p:grpSpPr>
        <p:pic>
          <p:nvPicPr>
            <p:cNvPr id="32" name="Picture 31">
              <a:extLst>
                <a:ext uri="{FF2B5EF4-FFF2-40B4-BE49-F238E27FC236}">
                  <a16:creationId xmlns:a16="http://schemas.microsoft.com/office/drawing/2014/main" id="{E5B1B3E7-1CA3-D670-51E0-57E3B10CA5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178" y="17624"/>
              <a:ext cx="6000407" cy="3034485"/>
            </a:xfrm>
            <a:prstGeom prst="rect">
              <a:avLst/>
            </a:prstGeom>
          </p:spPr>
        </p:pic>
        <p:grpSp>
          <p:nvGrpSpPr>
            <p:cNvPr id="33" name="Group 32">
              <a:extLst>
                <a:ext uri="{FF2B5EF4-FFF2-40B4-BE49-F238E27FC236}">
                  <a16:creationId xmlns:a16="http://schemas.microsoft.com/office/drawing/2014/main" id="{226601BB-2072-6FBD-0CF7-0E3C8960BB4B}"/>
                </a:ext>
              </a:extLst>
            </p:cNvPr>
            <p:cNvGrpSpPr/>
            <p:nvPr/>
          </p:nvGrpSpPr>
          <p:grpSpPr>
            <a:xfrm>
              <a:off x="597173" y="678711"/>
              <a:ext cx="5604479" cy="566324"/>
              <a:chOff x="-4022452" y="183411"/>
              <a:chExt cx="5604479" cy="566324"/>
            </a:xfrm>
          </p:grpSpPr>
          <p:sp>
            <p:nvSpPr>
              <p:cNvPr id="34" name="Rectangle 33">
                <a:extLst>
                  <a:ext uri="{FF2B5EF4-FFF2-40B4-BE49-F238E27FC236}">
                    <a16:creationId xmlns:a16="http://schemas.microsoft.com/office/drawing/2014/main" id="{BB231DF4-7693-68C4-011E-695E9110D25A}"/>
                  </a:ext>
                </a:extLst>
              </p:cNvPr>
              <p:cNvSpPr/>
              <p:nvPr/>
            </p:nvSpPr>
            <p:spPr>
              <a:xfrm>
                <a:off x="-4022452" y="384092"/>
                <a:ext cx="5145632" cy="36564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5" name="Straight Arrow Connector 34">
                <a:extLst>
                  <a:ext uri="{FF2B5EF4-FFF2-40B4-BE49-F238E27FC236}">
                    <a16:creationId xmlns:a16="http://schemas.microsoft.com/office/drawing/2014/main" id="{956F4845-9F11-030D-979B-AA00D52C5A76}"/>
                  </a:ext>
                </a:extLst>
              </p:cNvPr>
              <p:cNvCxnSpPr/>
              <p:nvPr/>
            </p:nvCxnSpPr>
            <p:spPr>
              <a:xfrm>
                <a:off x="1135465" y="323282"/>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Text Box 31">
                <a:extLst>
                  <a:ext uri="{FF2B5EF4-FFF2-40B4-BE49-F238E27FC236}">
                    <a16:creationId xmlns:a16="http://schemas.microsoft.com/office/drawing/2014/main" id="{5702F9C0-C950-9AD6-E2B9-19FB7A5CBB69}"/>
                  </a:ext>
                </a:extLst>
              </p:cNvPr>
              <p:cNvSpPr txBox="1"/>
              <p:nvPr/>
            </p:nvSpPr>
            <p:spPr>
              <a:xfrm>
                <a:off x="1343657" y="183411"/>
                <a:ext cx="238370" cy="33398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grpSp>
      <p:pic>
        <p:nvPicPr>
          <p:cNvPr id="37" name="Picture 36">
            <a:extLst>
              <a:ext uri="{FF2B5EF4-FFF2-40B4-BE49-F238E27FC236}">
                <a16:creationId xmlns:a16="http://schemas.microsoft.com/office/drawing/2014/main" id="{6741E019-9F9B-2ACF-7F83-816276885DD5}"/>
              </a:ext>
            </a:extLst>
          </p:cNvPr>
          <p:cNvPicPr>
            <a:picLocks noChangeAspect="1"/>
          </p:cNvPicPr>
          <p:nvPr/>
        </p:nvPicPr>
        <p:blipFill>
          <a:blip r:embed="rId4"/>
          <a:stretch>
            <a:fillRect/>
          </a:stretch>
        </p:blipFill>
        <p:spPr>
          <a:xfrm>
            <a:off x="10780479" y="6391410"/>
            <a:ext cx="1047454" cy="267619"/>
          </a:xfrm>
          <a:prstGeom prst="rect">
            <a:avLst/>
          </a:prstGeom>
          <a:effectLst/>
        </p:spPr>
      </p:pic>
      <p:sp>
        <p:nvSpPr>
          <p:cNvPr id="39" name="Text Box 241">
            <a:extLst>
              <a:ext uri="{FF2B5EF4-FFF2-40B4-BE49-F238E27FC236}">
                <a16:creationId xmlns:a16="http://schemas.microsoft.com/office/drawing/2014/main" id="{0079CD33-E314-118B-D61B-613DCE756C71}"/>
              </a:ext>
            </a:extLst>
          </p:cNvPr>
          <p:cNvSpPr txBox="1">
            <a:spLocks noChangeArrowheads="1"/>
          </p:cNvSpPr>
          <p:nvPr/>
        </p:nvSpPr>
        <p:spPr bwMode="auto">
          <a:xfrm>
            <a:off x="6652898" y="4121390"/>
            <a:ext cx="4018915" cy="975360"/>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558800" marR="0" lvl="1"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customer?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ct val="115000"/>
              </a:lnSpc>
              <a:spcBef>
                <a:spcPts val="0"/>
              </a:spcBef>
              <a:spcAft>
                <a:spcPts val="0"/>
              </a:spcAft>
              <a:buClrTx/>
              <a:buSzPts val="800"/>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customer name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ts val="975"/>
              </a:lnSpc>
              <a:spcBef>
                <a:spcPts val="5"/>
              </a:spcBef>
              <a:spcAft>
                <a:spcPts val="0"/>
              </a:spcAft>
              <a:buClrTx/>
              <a:buSzPts val="800"/>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And it will automatically sort out.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ts val="975"/>
              </a:lnSpc>
              <a:spcBef>
                <a:spcPts val="0"/>
              </a:spcBef>
              <a:spcAft>
                <a:spcPts val="0"/>
              </a:spcAft>
              <a:buClrTx/>
              <a:buSzPts val="800"/>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the selected customer.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8FF0091-0ECC-DEED-2F5E-D234520ED58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F8B2D91C-9725-B9EC-F3A6-99608A055979}"/>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Receivables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Received Payment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2878416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805111" y="1379386"/>
            <a:ext cx="3792290" cy="510871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select the customer, some details such as address, date are automatically plotted in their respective field.</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header, current date is also plotted automatically but if you wish to change the date – click the date picker and select its respective received date.</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header, add the necessary information if necessary. </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in header, click save button.</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5.1.  </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After saving the header, you may now select the receivable account that you will record. If the A/R is from sales journal transaction, click unpaid button to view all the A/R account to the customer and select it by ticking the check box.</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825AD577-1C7A-230D-46BF-27D24184DA97}"/>
              </a:ext>
            </a:extLst>
          </p:cNvPr>
          <p:cNvSpPr txBox="1"/>
          <p:nvPr/>
        </p:nvSpPr>
        <p:spPr>
          <a:xfrm>
            <a:off x="988875" y="628135"/>
            <a:ext cx="4386014"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Received Payment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42" name="Group 41">
            <a:extLst>
              <a:ext uri="{FF2B5EF4-FFF2-40B4-BE49-F238E27FC236}">
                <a16:creationId xmlns:a16="http://schemas.microsoft.com/office/drawing/2014/main" id="{0BD4DB1C-4A32-8F46-1844-EBC7A14CAE06}"/>
              </a:ext>
            </a:extLst>
          </p:cNvPr>
          <p:cNvGrpSpPr/>
          <p:nvPr/>
        </p:nvGrpSpPr>
        <p:grpSpPr>
          <a:xfrm>
            <a:off x="5115697" y="417324"/>
            <a:ext cx="6699250" cy="3011676"/>
            <a:chOff x="5040824" y="985629"/>
            <a:chExt cx="6699250" cy="3011676"/>
          </a:xfrm>
        </p:grpSpPr>
        <p:pic>
          <p:nvPicPr>
            <p:cNvPr id="17" name="Picture 16">
              <a:extLst>
                <a:ext uri="{FF2B5EF4-FFF2-40B4-BE49-F238E27FC236}">
                  <a16:creationId xmlns:a16="http://schemas.microsoft.com/office/drawing/2014/main" id="{8EA70EE1-85F4-E749-86B5-1A955D41E8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9019" y="985629"/>
              <a:ext cx="5901055" cy="2906395"/>
            </a:xfrm>
            <a:prstGeom prst="rect">
              <a:avLst/>
            </a:prstGeom>
          </p:spPr>
        </p:pic>
        <p:grpSp>
          <p:nvGrpSpPr>
            <p:cNvPr id="18" name="Group 17">
              <a:extLst>
                <a:ext uri="{FF2B5EF4-FFF2-40B4-BE49-F238E27FC236}">
                  <a16:creationId xmlns:a16="http://schemas.microsoft.com/office/drawing/2014/main" id="{9AB36343-B865-2107-0EBA-419A621237A4}"/>
                </a:ext>
              </a:extLst>
            </p:cNvPr>
            <p:cNvGrpSpPr/>
            <p:nvPr/>
          </p:nvGrpSpPr>
          <p:grpSpPr>
            <a:xfrm>
              <a:off x="5040824" y="1336021"/>
              <a:ext cx="6699250" cy="2661284"/>
              <a:chOff x="0" y="0"/>
              <a:chExt cx="6699250" cy="2661557"/>
            </a:xfrm>
          </p:grpSpPr>
          <p:sp>
            <p:nvSpPr>
              <p:cNvPr id="19" name="Rectangle 18">
                <a:extLst>
                  <a:ext uri="{FF2B5EF4-FFF2-40B4-BE49-F238E27FC236}">
                    <a16:creationId xmlns:a16="http://schemas.microsoft.com/office/drawing/2014/main" id="{0976C478-05E9-8284-5202-E422A545CFAF}"/>
                  </a:ext>
                </a:extLst>
              </p:cNvPr>
              <p:cNvSpPr/>
              <p:nvPr/>
            </p:nvSpPr>
            <p:spPr>
              <a:xfrm>
                <a:off x="810986" y="370114"/>
                <a:ext cx="5822950" cy="76002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34A19286-F370-CEC0-40FC-C18D782AB377}"/>
                  </a:ext>
                </a:extLst>
              </p:cNvPr>
              <p:cNvSpPr/>
              <p:nvPr/>
            </p:nvSpPr>
            <p:spPr>
              <a:xfrm>
                <a:off x="876300" y="1670957"/>
                <a:ext cx="5822950" cy="99060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 Box 465">
                <a:extLst>
                  <a:ext uri="{FF2B5EF4-FFF2-40B4-BE49-F238E27FC236}">
                    <a16:creationId xmlns:a16="http://schemas.microsoft.com/office/drawing/2014/main" id="{03BEE362-58DE-F0D0-E383-E8C0D8A34B0E}"/>
                  </a:ext>
                </a:extLst>
              </p:cNvPr>
              <p:cNvSpPr txBox="1"/>
              <p:nvPr/>
            </p:nvSpPr>
            <p:spPr>
              <a:xfrm>
                <a:off x="27214" y="2144486"/>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Detail</a:t>
                </a:r>
              </a:p>
            </p:txBody>
          </p:sp>
          <p:sp>
            <p:nvSpPr>
              <p:cNvPr id="24" name="Text Box 487">
                <a:extLst>
                  <a:ext uri="{FF2B5EF4-FFF2-40B4-BE49-F238E27FC236}">
                    <a16:creationId xmlns:a16="http://schemas.microsoft.com/office/drawing/2014/main" id="{E2501470-A448-C077-A96B-7026AA2BBC3A}"/>
                  </a:ext>
                </a:extLst>
              </p:cNvPr>
              <p:cNvSpPr txBox="1"/>
              <p:nvPr/>
            </p:nvSpPr>
            <p:spPr>
              <a:xfrm>
                <a:off x="0" y="375557"/>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sp>
            <p:nvSpPr>
              <p:cNvPr id="25" name="Text Box 9">
                <a:extLst>
                  <a:ext uri="{FF2B5EF4-FFF2-40B4-BE49-F238E27FC236}">
                    <a16:creationId xmlns:a16="http://schemas.microsoft.com/office/drawing/2014/main" id="{B8144157-21D4-C27A-5493-5744CDA4F7A6}"/>
                  </a:ext>
                </a:extLst>
              </p:cNvPr>
              <p:cNvSpPr txBox="1"/>
              <p:nvPr/>
            </p:nvSpPr>
            <p:spPr>
              <a:xfrm>
                <a:off x="5421086" y="702129"/>
                <a:ext cx="96139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4.1 to 4.3</a:t>
                </a:r>
              </a:p>
            </p:txBody>
          </p:sp>
          <p:sp>
            <p:nvSpPr>
              <p:cNvPr id="26" name="Rectangle 25">
                <a:extLst>
                  <a:ext uri="{FF2B5EF4-FFF2-40B4-BE49-F238E27FC236}">
                    <a16:creationId xmlns:a16="http://schemas.microsoft.com/office/drawing/2014/main" id="{9E98985F-653C-1C1E-A418-73B7F704774F}"/>
                  </a:ext>
                </a:extLst>
              </p:cNvPr>
              <p:cNvSpPr/>
              <p:nvPr/>
            </p:nvSpPr>
            <p:spPr>
              <a:xfrm>
                <a:off x="5252357" y="114300"/>
                <a:ext cx="413748" cy="16699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7" name="Straight Arrow Connector 26">
                <a:extLst>
                  <a:ext uri="{FF2B5EF4-FFF2-40B4-BE49-F238E27FC236}">
                    <a16:creationId xmlns:a16="http://schemas.microsoft.com/office/drawing/2014/main" id="{57AFFF02-16DA-A463-5A63-5261743994E0}"/>
                  </a:ext>
                </a:extLst>
              </p:cNvPr>
              <p:cNvCxnSpPr/>
              <p:nvPr/>
            </p:nvCxnSpPr>
            <p:spPr>
              <a:xfrm>
                <a:off x="5644243" y="117022"/>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Text Box 16">
                <a:extLst>
                  <a:ext uri="{FF2B5EF4-FFF2-40B4-BE49-F238E27FC236}">
                    <a16:creationId xmlns:a16="http://schemas.microsoft.com/office/drawing/2014/main" id="{FE3F75F7-DDF2-D2EC-1D71-510033A3CDD5}"/>
                  </a:ext>
                </a:extLst>
              </p:cNvPr>
              <p:cNvSpPr txBox="1"/>
              <p:nvPr/>
            </p:nvSpPr>
            <p:spPr>
              <a:xfrm>
                <a:off x="5845629"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4.4</a:t>
                </a:r>
              </a:p>
            </p:txBody>
          </p:sp>
          <p:sp>
            <p:nvSpPr>
              <p:cNvPr id="39" name="Rectangle 38">
                <a:extLst>
                  <a:ext uri="{FF2B5EF4-FFF2-40B4-BE49-F238E27FC236}">
                    <a16:creationId xmlns:a16="http://schemas.microsoft.com/office/drawing/2014/main" id="{4D31B41A-198F-30C1-1310-B1FA4390E40F}"/>
                  </a:ext>
                </a:extLst>
              </p:cNvPr>
              <p:cNvSpPr/>
              <p:nvPr/>
            </p:nvSpPr>
            <p:spPr>
              <a:xfrm>
                <a:off x="6199414" y="1181100"/>
                <a:ext cx="425450" cy="17843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EA95473C-C90A-849B-92D2-FAB3D595CE1A}"/>
                  </a:ext>
                </a:extLst>
              </p:cNvPr>
              <p:cNvCxnSpPr/>
              <p:nvPr/>
            </p:nvCxnSpPr>
            <p:spPr>
              <a:xfrm>
                <a:off x="6226629" y="1355272"/>
                <a:ext cx="94615" cy="1187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454">
                <a:extLst>
                  <a:ext uri="{FF2B5EF4-FFF2-40B4-BE49-F238E27FC236}">
                    <a16:creationId xmlns:a16="http://schemas.microsoft.com/office/drawing/2014/main" id="{E59835D1-2124-01EA-6805-810A625BBC1E}"/>
                  </a:ext>
                </a:extLst>
              </p:cNvPr>
              <p:cNvSpPr txBox="1"/>
              <p:nvPr/>
            </p:nvSpPr>
            <p:spPr>
              <a:xfrm>
                <a:off x="6172200" y="149134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5.1</a:t>
                </a:r>
              </a:p>
            </p:txBody>
          </p:sp>
        </p:grpSp>
      </p:grpSp>
      <p:pic>
        <p:nvPicPr>
          <p:cNvPr id="43" name="Picture 42">
            <a:extLst>
              <a:ext uri="{FF2B5EF4-FFF2-40B4-BE49-F238E27FC236}">
                <a16:creationId xmlns:a16="http://schemas.microsoft.com/office/drawing/2014/main" id="{A3E72721-A361-8587-A338-7D93CA9DF6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4786" y="3758724"/>
            <a:ext cx="5820162" cy="2639123"/>
          </a:xfrm>
          <a:prstGeom prst="rect">
            <a:avLst/>
          </a:prstGeom>
        </p:spPr>
      </p:pic>
      <p:grpSp>
        <p:nvGrpSpPr>
          <p:cNvPr id="56" name="Group 55">
            <a:extLst>
              <a:ext uri="{FF2B5EF4-FFF2-40B4-BE49-F238E27FC236}">
                <a16:creationId xmlns:a16="http://schemas.microsoft.com/office/drawing/2014/main" id="{70B155BF-56A0-5E1F-D02D-DFC50A940F6C}"/>
              </a:ext>
            </a:extLst>
          </p:cNvPr>
          <p:cNvGrpSpPr/>
          <p:nvPr/>
        </p:nvGrpSpPr>
        <p:grpSpPr>
          <a:xfrm>
            <a:off x="6096000" y="4658386"/>
            <a:ext cx="5583263" cy="1764003"/>
            <a:chOff x="2814955" y="2483803"/>
            <a:chExt cx="5583263" cy="1764003"/>
          </a:xfrm>
        </p:grpSpPr>
        <p:sp>
          <p:nvSpPr>
            <p:cNvPr id="50" name="Rectangle 49">
              <a:extLst>
                <a:ext uri="{FF2B5EF4-FFF2-40B4-BE49-F238E27FC236}">
                  <a16:creationId xmlns:a16="http://schemas.microsoft.com/office/drawing/2014/main" id="{57BC62D9-E088-428D-3594-484D9810C35E}"/>
                </a:ext>
              </a:extLst>
            </p:cNvPr>
            <p:cNvSpPr/>
            <p:nvPr/>
          </p:nvSpPr>
          <p:spPr>
            <a:xfrm>
              <a:off x="2814955" y="2535873"/>
              <a:ext cx="295910" cy="40513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51" name="Straight Arrow Connector 50">
              <a:extLst>
                <a:ext uri="{FF2B5EF4-FFF2-40B4-BE49-F238E27FC236}">
                  <a16:creationId xmlns:a16="http://schemas.microsoft.com/office/drawing/2014/main" id="{F2273B2F-149E-C121-14DB-77AF56197283}"/>
                </a:ext>
              </a:extLst>
            </p:cNvPr>
            <p:cNvCxnSpPr/>
            <p:nvPr/>
          </p:nvCxnSpPr>
          <p:spPr>
            <a:xfrm>
              <a:off x="3134995" y="2642553"/>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2" name="Text Box 307">
              <a:extLst>
                <a:ext uri="{FF2B5EF4-FFF2-40B4-BE49-F238E27FC236}">
                  <a16:creationId xmlns:a16="http://schemas.microsoft.com/office/drawing/2014/main" id="{9088D09B-E5F0-4198-1A99-7EA73056D60E}"/>
                </a:ext>
              </a:extLst>
            </p:cNvPr>
            <p:cNvSpPr txBox="1"/>
            <p:nvPr/>
          </p:nvSpPr>
          <p:spPr>
            <a:xfrm>
              <a:off x="3328670" y="248380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05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5.1.</a:t>
              </a:r>
            </a:p>
          </p:txBody>
        </p:sp>
        <p:sp>
          <p:nvSpPr>
            <p:cNvPr id="53" name="Rectangle 52">
              <a:extLst>
                <a:ext uri="{FF2B5EF4-FFF2-40B4-BE49-F238E27FC236}">
                  <a16:creationId xmlns:a16="http://schemas.microsoft.com/office/drawing/2014/main" id="{71D54171-785A-2DEF-1974-5E0B85336BD1}"/>
                </a:ext>
              </a:extLst>
            </p:cNvPr>
            <p:cNvSpPr/>
            <p:nvPr/>
          </p:nvSpPr>
          <p:spPr>
            <a:xfrm>
              <a:off x="7924508" y="3915701"/>
              <a:ext cx="473710" cy="33210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 name="Text Box 310">
              <a:extLst>
                <a:ext uri="{FF2B5EF4-FFF2-40B4-BE49-F238E27FC236}">
                  <a16:creationId xmlns:a16="http://schemas.microsoft.com/office/drawing/2014/main" id="{192FF5A6-15F1-698D-F6BB-409CEA9318D5}"/>
                </a:ext>
              </a:extLst>
            </p:cNvPr>
            <p:cNvSpPr txBox="1"/>
            <p:nvPr/>
          </p:nvSpPr>
          <p:spPr>
            <a:xfrm>
              <a:off x="7900061" y="3585977"/>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5.2.</a:t>
              </a:r>
            </a:p>
          </p:txBody>
        </p:sp>
      </p:grpSp>
      <p:cxnSp>
        <p:nvCxnSpPr>
          <p:cNvPr id="64" name="Straight Arrow Connector 63">
            <a:extLst>
              <a:ext uri="{FF2B5EF4-FFF2-40B4-BE49-F238E27FC236}">
                <a16:creationId xmlns:a16="http://schemas.microsoft.com/office/drawing/2014/main" id="{AA16FBEA-BAE3-D5F8-6B47-C0B54AF6059D}"/>
              </a:ext>
            </a:extLst>
          </p:cNvPr>
          <p:cNvCxnSpPr/>
          <p:nvPr/>
        </p:nvCxnSpPr>
        <p:spPr>
          <a:xfrm>
            <a:off x="11262406" y="6008931"/>
            <a:ext cx="124484" cy="1537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 name="Slide Number Placeholder 5">
            <a:extLst>
              <a:ext uri="{FF2B5EF4-FFF2-40B4-BE49-F238E27FC236}">
                <a16:creationId xmlns:a16="http://schemas.microsoft.com/office/drawing/2014/main" id="{FBF84D48-46D2-15F5-0164-02D5BB5B1EB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96984E4D-FD05-EFA6-C116-AA54DA95F809}"/>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Receivables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Received Payment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1125384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625862" y="2122335"/>
            <a:ext cx="4217531" cy="510871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unpaid account, you will be redirect in received payment – main window and the selected unpaid accounts will be displayed in received payment – detail. </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 want to add other receivable account that is not in the unpaid list, click add account and search the account you wish to add.</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8. </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After you select an account, a dialog box will prompt. Enter the details of the account.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825AD577-1C7A-230D-46BF-27D24184DA97}"/>
              </a:ext>
            </a:extLst>
          </p:cNvPr>
          <p:cNvSpPr txBox="1"/>
          <p:nvPr/>
        </p:nvSpPr>
        <p:spPr>
          <a:xfrm>
            <a:off x="1290537" y="628135"/>
            <a:ext cx="408435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Received Payment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15" name="Group 14">
            <a:extLst>
              <a:ext uri="{FF2B5EF4-FFF2-40B4-BE49-F238E27FC236}">
                <a16:creationId xmlns:a16="http://schemas.microsoft.com/office/drawing/2014/main" id="{EC6B643B-CF2E-9D75-2E40-765582751FD2}"/>
              </a:ext>
            </a:extLst>
          </p:cNvPr>
          <p:cNvGrpSpPr/>
          <p:nvPr/>
        </p:nvGrpSpPr>
        <p:grpSpPr>
          <a:xfrm>
            <a:off x="5374888" y="1936115"/>
            <a:ext cx="6191250" cy="2985770"/>
            <a:chOff x="3000375" y="2986087"/>
            <a:chExt cx="6191250" cy="2985770"/>
          </a:xfrm>
        </p:grpSpPr>
        <p:pic>
          <p:nvPicPr>
            <p:cNvPr id="2" name="Picture 1">
              <a:extLst>
                <a:ext uri="{FF2B5EF4-FFF2-40B4-BE49-F238E27FC236}">
                  <a16:creationId xmlns:a16="http://schemas.microsoft.com/office/drawing/2014/main" id="{AF2EF5D3-E10B-40CB-FFF6-7FD1799554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2280" y="2986087"/>
              <a:ext cx="6189345" cy="2066290"/>
            </a:xfrm>
            <a:prstGeom prst="rect">
              <a:avLst/>
            </a:prstGeom>
          </p:spPr>
        </p:pic>
        <p:sp>
          <p:nvSpPr>
            <p:cNvPr id="6" name="Rectangle 5">
              <a:extLst>
                <a:ext uri="{FF2B5EF4-FFF2-40B4-BE49-F238E27FC236}">
                  <a16:creationId xmlns:a16="http://schemas.microsoft.com/office/drawing/2014/main" id="{870162D5-F012-B336-D07E-C6DCFA2DA5E2}"/>
                </a:ext>
              </a:extLst>
            </p:cNvPr>
            <p:cNvSpPr/>
            <p:nvPr/>
          </p:nvSpPr>
          <p:spPr>
            <a:xfrm>
              <a:off x="6407785" y="3730307"/>
              <a:ext cx="589915" cy="2254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 name="Straight Arrow Connector 6">
              <a:extLst>
                <a:ext uri="{FF2B5EF4-FFF2-40B4-BE49-F238E27FC236}">
                  <a16:creationId xmlns:a16="http://schemas.microsoft.com/office/drawing/2014/main" id="{43A89244-1E15-B1AE-9AFE-9EC61BDC963E}"/>
                </a:ext>
              </a:extLst>
            </p:cNvPr>
            <p:cNvCxnSpPr/>
            <p:nvPr/>
          </p:nvCxnSpPr>
          <p:spPr>
            <a:xfrm flipV="1">
              <a:off x="7014845" y="3803967"/>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 Box 672">
              <a:extLst>
                <a:ext uri="{FF2B5EF4-FFF2-40B4-BE49-F238E27FC236}">
                  <a16:creationId xmlns:a16="http://schemas.microsoft.com/office/drawing/2014/main" id="{FB626C55-B528-F6FB-7CD3-7DB07D0A6DA4}"/>
                </a:ext>
              </a:extLst>
            </p:cNvPr>
            <p:cNvSpPr txBox="1"/>
            <p:nvPr/>
          </p:nvSpPr>
          <p:spPr>
            <a:xfrm>
              <a:off x="7178040" y="3637924"/>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pic>
          <p:nvPicPr>
            <p:cNvPr id="9" name="Picture 8">
              <a:extLst>
                <a:ext uri="{FF2B5EF4-FFF2-40B4-BE49-F238E27FC236}">
                  <a16:creationId xmlns:a16="http://schemas.microsoft.com/office/drawing/2014/main" id="{F582F27C-263E-E243-E3AB-DE53A852D2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06775" y="3994467"/>
              <a:ext cx="3716655" cy="1977390"/>
            </a:xfrm>
            <a:prstGeom prst="rect">
              <a:avLst/>
            </a:prstGeom>
          </p:spPr>
        </p:pic>
        <p:sp>
          <p:nvSpPr>
            <p:cNvPr id="10" name="Curved Right Arrow 315">
              <a:extLst>
                <a:ext uri="{FF2B5EF4-FFF2-40B4-BE49-F238E27FC236}">
                  <a16:creationId xmlns:a16="http://schemas.microsoft.com/office/drawing/2014/main" id="{5AF3ABA6-7235-6C72-44B5-CE220B14C8DE}"/>
                </a:ext>
              </a:extLst>
            </p:cNvPr>
            <p:cNvSpPr/>
            <p:nvPr/>
          </p:nvSpPr>
          <p:spPr>
            <a:xfrm>
              <a:off x="5568315" y="3760787"/>
              <a:ext cx="546100" cy="546100"/>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 Box 241">
              <a:extLst>
                <a:ext uri="{FF2B5EF4-FFF2-40B4-BE49-F238E27FC236}">
                  <a16:creationId xmlns:a16="http://schemas.microsoft.com/office/drawing/2014/main" id="{46921344-F94B-81C9-6222-26564DEA9452}"/>
                </a:ext>
              </a:extLst>
            </p:cNvPr>
            <p:cNvSpPr txBox="1">
              <a:spLocks noChangeArrowheads="1"/>
            </p:cNvSpPr>
            <p:nvPr/>
          </p:nvSpPr>
          <p:spPr bwMode="auto">
            <a:xfrm>
              <a:off x="3000375" y="4572317"/>
              <a:ext cx="4018915" cy="975360"/>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an account?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account name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And it will automatically sort out.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the selected account.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00965" marR="0" lvl="0" indent="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DC364780-7CAD-E598-4311-AFF3D0C583C2}"/>
                </a:ext>
              </a:extLst>
            </p:cNvPr>
            <p:cNvSpPr/>
            <p:nvPr/>
          </p:nvSpPr>
          <p:spPr>
            <a:xfrm>
              <a:off x="3502025" y="4196397"/>
              <a:ext cx="3550285" cy="35623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16" name="Picture 15">
            <a:extLst>
              <a:ext uri="{FF2B5EF4-FFF2-40B4-BE49-F238E27FC236}">
                <a16:creationId xmlns:a16="http://schemas.microsoft.com/office/drawing/2014/main" id="{D81F22C3-281E-7DD2-89BB-08E1E4CD21C7}"/>
              </a:ext>
            </a:extLst>
          </p:cNvPr>
          <p:cNvPicPr>
            <a:picLocks noChangeAspect="1"/>
          </p:cNvPicPr>
          <p:nvPr/>
        </p:nvPicPr>
        <p:blipFill>
          <a:blip r:embed="rId4"/>
          <a:stretch>
            <a:fillRect/>
          </a:stretch>
        </p:blipFill>
        <p:spPr>
          <a:xfrm>
            <a:off x="10780479" y="6391410"/>
            <a:ext cx="1047454" cy="267619"/>
          </a:xfrm>
          <a:prstGeom prst="rect">
            <a:avLst/>
          </a:prstGeom>
          <a:effectLst/>
        </p:spPr>
      </p:pic>
      <p:sp>
        <p:nvSpPr>
          <p:cNvPr id="17" name="Slide Number Placeholder 16">
            <a:extLst>
              <a:ext uri="{FF2B5EF4-FFF2-40B4-BE49-F238E27FC236}">
                <a16:creationId xmlns:a16="http://schemas.microsoft.com/office/drawing/2014/main" id="{18452A31-46E1-8380-A895-6E8A8460B4C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052EF9DF-582D-AFCD-A5BD-74C13791134C}"/>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Receivables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Received Payment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3998665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625862" y="1158875"/>
            <a:ext cx="4217531" cy="403716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9.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Enter the details of the account. For the amount, enter the amount either in debit or credit field. But if you want to copy of amount in the balance, click the balance to autofill the credit field. </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10.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You may also add notes if necessary.</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the account is in Check, enter the check date and check number.</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save the account, if you want to add more other account, click add to cart button and select more accounts again. OR</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11.2. </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OR If you want to plot the selected account already in received payment– detail, you may click add/ save button. </a:t>
            </a: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825AD577-1C7A-230D-46BF-27D24184DA97}"/>
              </a:ext>
            </a:extLst>
          </p:cNvPr>
          <p:cNvSpPr txBox="1"/>
          <p:nvPr/>
        </p:nvSpPr>
        <p:spPr>
          <a:xfrm>
            <a:off x="988873" y="628135"/>
            <a:ext cx="4386015"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Received Payment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16" name="Picture 15">
            <a:extLst>
              <a:ext uri="{FF2B5EF4-FFF2-40B4-BE49-F238E27FC236}">
                <a16:creationId xmlns:a16="http://schemas.microsoft.com/office/drawing/2014/main" id="{D81F22C3-281E-7DD2-89BB-08E1E4CD21C7}"/>
              </a:ext>
            </a:extLst>
          </p:cNvPr>
          <p:cNvPicPr>
            <a:picLocks noChangeAspect="1"/>
          </p:cNvPicPr>
          <p:nvPr/>
        </p:nvPicPr>
        <p:blipFill>
          <a:blip r:embed="rId2"/>
          <a:stretch>
            <a:fillRect/>
          </a:stretch>
        </p:blipFill>
        <p:spPr>
          <a:xfrm>
            <a:off x="10780479" y="6391410"/>
            <a:ext cx="1047454" cy="267619"/>
          </a:xfrm>
          <a:prstGeom prst="rect">
            <a:avLst/>
          </a:prstGeom>
          <a:effectLst/>
        </p:spPr>
      </p:pic>
      <p:grpSp>
        <p:nvGrpSpPr>
          <p:cNvPr id="39" name="Group 38">
            <a:extLst>
              <a:ext uri="{FF2B5EF4-FFF2-40B4-BE49-F238E27FC236}">
                <a16:creationId xmlns:a16="http://schemas.microsoft.com/office/drawing/2014/main" id="{B7F444EE-FE75-19A7-E875-751FF92F7DC7}"/>
              </a:ext>
            </a:extLst>
          </p:cNvPr>
          <p:cNvGrpSpPr/>
          <p:nvPr/>
        </p:nvGrpSpPr>
        <p:grpSpPr>
          <a:xfrm>
            <a:off x="5648503" y="388937"/>
            <a:ext cx="6184900" cy="3632518"/>
            <a:chOff x="5381238" y="1119187"/>
            <a:chExt cx="6184900" cy="3632518"/>
          </a:xfrm>
        </p:grpSpPr>
        <p:pic>
          <p:nvPicPr>
            <p:cNvPr id="14" name="Picture 13">
              <a:extLst>
                <a:ext uri="{FF2B5EF4-FFF2-40B4-BE49-F238E27FC236}">
                  <a16:creationId xmlns:a16="http://schemas.microsoft.com/office/drawing/2014/main" id="{1C88640B-7BF9-2F17-DD5F-3DF968FA2D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1238" y="1119187"/>
              <a:ext cx="6184900" cy="3387725"/>
            </a:xfrm>
            <a:prstGeom prst="rect">
              <a:avLst/>
            </a:prstGeom>
          </p:spPr>
        </p:pic>
        <p:grpSp>
          <p:nvGrpSpPr>
            <p:cNvPr id="38" name="Group 37">
              <a:extLst>
                <a:ext uri="{FF2B5EF4-FFF2-40B4-BE49-F238E27FC236}">
                  <a16:creationId xmlns:a16="http://schemas.microsoft.com/office/drawing/2014/main" id="{4D4860A1-F6E2-EFB4-8534-4393E0AD5F09}"/>
                </a:ext>
              </a:extLst>
            </p:cNvPr>
            <p:cNvGrpSpPr/>
            <p:nvPr/>
          </p:nvGrpSpPr>
          <p:grpSpPr>
            <a:xfrm>
              <a:off x="7222807" y="1788795"/>
              <a:ext cx="3169285" cy="2962910"/>
              <a:chOff x="4511357" y="1947545"/>
              <a:chExt cx="3169285" cy="2962910"/>
            </a:xfrm>
          </p:grpSpPr>
          <p:sp>
            <p:nvSpPr>
              <p:cNvPr id="17" name="Rectangle 16">
                <a:extLst>
                  <a:ext uri="{FF2B5EF4-FFF2-40B4-BE49-F238E27FC236}">
                    <a16:creationId xmlns:a16="http://schemas.microsoft.com/office/drawing/2014/main" id="{FC17B853-3FF4-12AF-5A93-F2D012971CC4}"/>
                  </a:ext>
                </a:extLst>
              </p:cNvPr>
              <p:cNvSpPr/>
              <p:nvPr/>
            </p:nvSpPr>
            <p:spPr>
              <a:xfrm>
                <a:off x="4511357" y="2887345"/>
                <a:ext cx="2468245" cy="53213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a16="http://schemas.microsoft.com/office/drawing/2014/main" id="{A4874A77-AC55-C06A-0185-FFAA9FBD460D}"/>
                  </a:ext>
                </a:extLst>
              </p:cNvPr>
              <p:cNvCxnSpPr/>
              <p:nvPr/>
            </p:nvCxnSpPr>
            <p:spPr>
              <a:xfrm>
                <a:off x="7018337" y="3225800"/>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 Box 326">
                <a:extLst>
                  <a:ext uri="{FF2B5EF4-FFF2-40B4-BE49-F238E27FC236}">
                    <a16:creationId xmlns:a16="http://schemas.microsoft.com/office/drawing/2014/main" id="{8E660CF4-3E7F-9A60-641F-F7A19903E894}"/>
                  </a:ext>
                </a:extLst>
              </p:cNvPr>
              <p:cNvSpPr txBox="1"/>
              <p:nvPr/>
            </p:nvSpPr>
            <p:spPr>
              <a:xfrm>
                <a:off x="7203122" y="304736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9</a:t>
                </a:r>
              </a:p>
            </p:txBody>
          </p:sp>
          <p:sp>
            <p:nvSpPr>
              <p:cNvPr id="20" name="Rectangle 19">
                <a:extLst>
                  <a:ext uri="{FF2B5EF4-FFF2-40B4-BE49-F238E27FC236}">
                    <a16:creationId xmlns:a16="http://schemas.microsoft.com/office/drawing/2014/main" id="{249410FC-245B-FA55-25A6-8E44AA4EF903}"/>
                  </a:ext>
                </a:extLst>
              </p:cNvPr>
              <p:cNvSpPr/>
              <p:nvPr/>
            </p:nvSpPr>
            <p:spPr>
              <a:xfrm>
                <a:off x="4514532" y="3461385"/>
                <a:ext cx="2468245" cy="2374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1" name="Straight Arrow Connector 20">
                <a:extLst>
                  <a:ext uri="{FF2B5EF4-FFF2-40B4-BE49-F238E27FC236}">
                    <a16:creationId xmlns:a16="http://schemas.microsoft.com/office/drawing/2014/main" id="{29AD1651-B333-F40A-BEFE-34A7BABA8231}"/>
                  </a:ext>
                </a:extLst>
              </p:cNvPr>
              <p:cNvCxnSpPr/>
              <p:nvPr/>
            </p:nvCxnSpPr>
            <p:spPr>
              <a:xfrm>
                <a:off x="7020877" y="3596640"/>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 Box 333">
                <a:extLst>
                  <a:ext uri="{FF2B5EF4-FFF2-40B4-BE49-F238E27FC236}">
                    <a16:creationId xmlns:a16="http://schemas.microsoft.com/office/drawing/2014/main" id="{BB8D1BD1-E197-D7EF-5393-FED460AD5883}"/>
                  </a:ext>
                </a:extLst>
              </p:cNvPr>
              <p:cNvSpPr txBox="1"/>
              <p:nvPr/>
            </p:nvSpPr>
            <p:spPr>
              <a:xfrm>
                <a:off x="7205662" y="336105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10</a:t>
                </a:r>
              </a:p>
            </p:txBody>
          </p:sp>
          <p:sp>
            <p:nvSpPr>
              <p:cNvPr id="23" name="Rectangle 22">
                <a:extLst>
                  <a:ext uri="{FF2B5EF4-FFF2-40B4-BE49-F238E27FC236}">
                    <a16:creationId xmlns:a16="http://schemas.microsoft.com/office/drawing/2014/main" id="{3D81CE16-3F46-8A59-575A-DFC344DFA0CF}"/>
                  </a:ext>
                </a:extLst>
              </p:cNvPr>
              <p:cNvSpPr/>
              <p:nvPr/>
            </p:nvSpPr>
            <p:spPr>
              <a:xfrm>
                <a:off x="6200457" y="4231640"/>
                <a:ext cx="925830"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4" name="Straight Arrow Connector 23">
                <a:extLst>
                  <a:ext uri="{FF2B5EF4-FFF2-40B4-BE49-F238E27FC236}">
                    <a16:creationId xmlns:a16="http://schemas.microsoft.com/office/drawing/2014/main" id="{EDBAEB17-574B-E3F8-C0C5-BF579E734A4D}"/>
                  </a:ext>
                </a:extLst>
              </p:cNvPr>
              <p:cNvCxnSpPr/>
              <p:nvPr/>
            </p:nvCxnSpPr>
            <p:spPr>
              <a:xfrm flipH="1">
                <a:off x="7007542" y="4433570"/>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Text Box 336">
                <a:extLst>
                  <a:ext uri="{FF2B5EF4-FFF2-40B4-BE49-F238E27FC236}">
                    <a16:creationId xmlns:a16="http://schemas.microsoft.com/office/drawing/2014/main" id="{774056EA-1E22-8855-501B-E8CB48D7E6D7}"/>
                  </a:ext>
                </a:extLst>
              </p:cNvPr>
              <p:cNvSpPr txBox="1"/>
              <p:nvPr/>
            </p:nvSpPr>
            <p:spPr>
              <a:xfrm>
                <a:off x="6489382" y="462407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9</a:t>
                </a:r>
              </a:p>
            </p:txBody>
          </p:sp>
          <p:sp>
            <p:nvSpPr>
              <p:cNvPr id="26" name="Rectangle 25">
                <a:extLst>
                  <a:ext uri="{FF2B5EF4-FFF2-40B4-BE49-F238E27FC236}">
                    <a16:creationId xmlns:a16="http://schemas.microsoft.com/office/drawing/2014/main" id="{7EC5506F-6C28-C15D-1276-8095502C02C9}"/>
                  </a:ext>
                </a:extLst>
              </p:cNvPr>
              <p:cNvSpPr/>
              <p:nvPr/>
            </p:nvSpPr>
            <p:spPr>
              <a:xfrm>
                <a:off x="5514657" y="4231640"/>
                <a:ext cx="604520"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7" name="Straight Arrow Connector 26">
                <a:extLst>
                  <a:ext uri="{FF2B5EF4-FFF2-40B4-BE49-F238E27FC236}">
                    <a16:creationId xmlns:a16="http://schemas.microsoft.com/office/drawing/2014/main" id="{FF432AA4-D5CE-24C2-12B4-BAB971A1040B}"/>
                  </a:ext>
                </a:extLst>
              </p:cNvPr>
              <p:cNvCxnSpPr/>
              <p:nvPr/>
            </p:nvCxnSpPr>
            <p:spPr>
              <a:xfrm flipH="1">
                <a:off x="5997892" y="4434205"/>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Text Box 339">
                <a:extLst>
                  <a:ext uri="{FF2B5EF4-FFF2-40B4-BE49-F238E27FC236}">
                    <a16:creationId xmlns:a16="http://schemas.microsoft.com/office/drawing/2014/main" id="{19AD30D3-C8B3-B9B2-9C53-8778C638FF1F}"/>
                  </a:ext>
                </a:extLst>
              </p:cNvPr>
              <p:cNvSpPr txBox="1"/>
              <p:nvPr/>
            </p:nvSpPr>
            <p:spPr>
              <a:xfrm>
                <a:off x="5479732" y="462470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11.2</a:t>
                </a:r>
              </a:p>
            </p:txBody>
          </p:sp>
          <p:sp>
            <p:nvSpPr>
              <p:cNvPr id="29" name="Rectangle 28">
                <a:extLst>
                  <a:ext uri="{FF2B5EF4-FFF2-40B4-BE49-F238E27FC236}">
                    <a16:creationId xmlns:a16="http://schemas.microsoft.com/office/drawing/2014/main" id="{5C8E30ED-0A2B-DD03-A46A-15FD1FBF789A}"/>
                  </a:ext>
                </a:extLst>
              </p:cNvPr>
              <p:cNvSpPr/>
              <p:nvPr/>
            </p:nvSpPr>
            <p:spPr>
              <a:xfrm>
                <a:off x="4774882" y="4227195"/>
                <a:ext cx="687070"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0" name="Straight Arrow Connector 29">
                <a:extLst>
                  <a:ext uri="{FF2B5EF4-FFF2-40B4-BE49-F238E27FC236}">
                    <a16:creationId xmlns:a16="http://schemas.microsoft.com/office/drawing/2014/main" id="{0CFDE476-7AFA-7092-25DF-7424C5F3A399}"/>
                  </a:ext>
                </a:extLst>
              </p:cNvPr>
              <p:cNvCxnSpPr/>
              <p:nvPr/>
            </p:nvCxnSpPr>
            <p:spPr>
              <a:xfrm flipH="1">
                <a:off x="5336222" y="4428490"/>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Text Box 342">
                <a:extLst>
                  <a:ext uri="{FF2B5EF4-FFF2-40B4-BE49-F238E27FC236}">
                    <a16:creationId xmlns:a16="http://schemas.microsoft.com/office/drawing/2014/main" id="{A374DD00-DA14-A348-9C61-57BDBD29B79C}"/>
                  </a:ext>
                </a:extLst>
              </p:cNvPr>
              <p:cNvSpPr txBox="1"/>
              <p:nvPr/>
            </p:nvSpPr>
            <p:spPr>
              <a:xfrm>
                <a:off x="4818062" y="461899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11.1</a:t>
                </a:r>
              </a:p>
            </p:txBody>
          </p:sp>
          <p:sp>
            <p:nvSpPr>
              <p:cNvPr id="32" name="Rectangle 31">
                <a:extLst>
                  <a:ext uri="{FF2B5EF4-FFF2-40B4-BE49-F238E27FC236}">
                    <a16:creationId xmlns:a16="http://schemas.microsoft.com/office/drawing/2014/main" id="{DABB9338-E519-5FD8-60CE-5C054624FE94}"/>
                  </a:ext>
                </a:extLst>
              </p:cNvPr>
              <p:cNvSpPr/>
              <p:nvPr/>
            </p:nvSpPr>
            <p:spPr>
              <a:xfrm>
                <a:off x="4513262" y="3765550"/>
                <a:ext cx="2468245" cy="2374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3" name="Straight Arrow Connector 32">
                <a:extLst>
                  <a:ext uri="{FF2B5EF4-FFF2-40B4-BE49-F238E27FC236}">
                    <a16:creationId xmlns:a16="http://schemas.microsoft.com/office/drawing/2014/main" id="{6D7645AD-4602-66A1-9A60-A52B15EF1A65}"/>
                  </a:ext>
                </a:extLst>
              </p:cNvPr>
              <p:cNvCxnSpPr/>
              <p:nvPr/>
            </p:nvCxnSpPr>
            <p:spPr>
              <a:xfrm>
                <a:off x="7019607" y="3957955"/>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 Box 1124">
                <a:extLst>
                  <a:ext uri="{FF2B5EF4-FFF2-40B4-BE49-F238E27FC236}">
                    <a16:creationId xmlns:a16="http://schemas.microsoft.com/office/drawing/2014/main" id="{36C41928-EDDF-D2F7-29E9-3684E0377A7B}"/>
                  </a:ext>
                </a:extLst>
              </p:cNvPr>
              <p:cNvSpPr txBox="1"/>
              <p:nvPr/>
            </p:nvSpPr>
            <p:spPr>
              <a:xfrm>
                <a:off x="7204392" y="366522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sp>
            <p:nvSpPr>
              <p:cNvPr id="35" name="Rectangle 34">
                <a:extLst>
                  <a:ext uri="{FF2B5EF4-FFF2-40B4-BE49-F238E27FC236}">
                    <a16:creationId xmlns:a16="http://schemas.microsoft.com/office/drawing/2014/main" id="{7FF0FA6C-534B-CD93-6BFC-07210328FEE6}"/>
                  </a:ext>
                </a:extLst>
              </p:cNvPr>
              <p:cNvSpPr/>
              <p:nvPr/>
            </p:nvSpPr>
            <p:spPr>
              <a:xfrm>
                <a:off x="4513262" y="2047875"/>
                <a:ext cx="2468245" cy="2374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6" name="Straight Arrow Connector 35">
                <a:extLst>
                  <a:ext uri="{FF2B5EF4-FFF2-40B4-BE49-F238E27FC236}">
                    <a16:creationId xmlns:a16="http://schemas.microsoft.com/office/drawing/2014/main" id="{8A557066-2973-4812-6833-6999C1D192FE}"/>
                  </a:ext>
                </a:extLst>
              </p:cNvPr>
              <p:cNvCxnSpPr/>
              <p:nvPr/>
            </p:nvCxnSpPr>
            <p:spPr>
              <a:xfrm>
                <a:off x="7019607" y="2240280"/>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Text Box 1127">
                <a:extLst>
                  <a:ext uri="{FF2B5EF4-FFF2-40B4-BE49-F238E27FC236}">
                    <a16:creationId xmlns:a16="http://schemas.microsoft.com/office/drawing/2014/main" id="{338D5425-E836-47E6-C4B7-71AA9BF052F7}"/>
                  </a:ext>
                </a:extLst>
              </p:cNvPr>
              <p:cNvSpPr txBox="1"/>
              <p:nvPr/>
            </p:nvSpPr>
            <p:spPr>
              <a:xfrm>
                <a:off x="7204392" y="194754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grpSp>
        <p:nvGrpSpPr>
          <p:cNvPr id="45" name="Group 44">
            <a:extLst>
              <a:ext uri="{FF2B5EF4-FFF2-40B4-BE49-F238E27FC236}">
                <a16:creationId xmlns:a16="http://schemas.microsoft.com/office/drawing/2014/main" id="{2FC69B38-2EF6-6907-0F1D-07B17812959A}"/>
              </a:ext>
            </a:extLst>
          </p:cNvPr>
          <p:cNvGrpSpPr/>
          <p:nvPr/>
        </p:nvGrpSpPr>
        <p:grpSpPr>
          <a:xfrm>
            <a:off x="5601264" y="4256405"/>
            <a:ext cx="6189345" cy="1628775"/>
            <a:chOff x="3001327" y="2614613"/>
            <a:chExt cx="6189345" cy="1628775"/>
          </a:xfrm>
        </p:grpSpPr>
        <p:pic>
          <p:nvPicPr>
            <p:cNvPr id="40" name="Picture 39">
              <a:extLst>
                <a:ext uri="{FF2B5EF4-FFF2-40B4-BE49-F238E27FC236}">
                  <a16:creationId xmlns:a16="http://schemas.microsoft.com/office/drawing/2014/main" id="{8DACFBB4-6E73-57A0-2E99-C853B44305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01327" y="2614613"/>
              <a:ext cx="6189345" cy="1508125"/>
            </a:xfrm>
            <a:prstGeom prst="rect">
              <a:avLst/>
            </a:prstGeom>
          </p:spPr>
        </p:pic>
        <p:sp>
          <p:nvSpPr>
            <p:cNvPr id="41" name="Text Box 241">
              <a:extLst>
                <a:ext uri="{FF2B5EF4-FFF2-40B4-BE49-F238E27FC236}">
                  <a16:creationId xmlns:a16="http://schemas.microsoft.com/office/drawing/2014/main" id="{15F23B15-DAEE-AEC3-A0D5-E4FD44C907FF}"/>
                </a:ext>
              </a:extLst>
            </p:cNvPr>
            <p:cNvSpPr txBox="1">
              <a:spLocks noChangeArrowheads="1"/>
            </p:cNvSpPr>
            <p:nvPr/>
          </p:nvSpPr>
          <p:spPr bwMode="auto">
            <a:xfrm>
              <a:off x="3002597" y="3268028"/>
              <a:ext cx="4108450" cy="975360"/>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plot the selected accounts in the received payment – detail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Tx/>
                <a:buNone/>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cart icon.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ts val="975"/>
                </a:lnSpc>
                <a:spcBef>
                  <a:spcPts val="5"/>
                </a:spcBef>
                <a:spcAft>
                  <a:spcPts val="0"/>
                </a:spcAft>
                <a:buClrTx/>
                <a:buSzTx/>
                <a:buFontTx/>
                <a:buNone/>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And a dialog box with list of selected accounts will pop out.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ts val="975"/>
                </a:lnSpc>
                <a:spcBef>
                  <a:spcPts val="0"/>
                </a:spcBef>
                <a:spcAft>
                  <a:spcPts val="0"/>
                </a:spcAft>
                <a:buClrTx/>
                <a:buSzTx/>
                <a:buFontTx/>
                <a:buNone/>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the accept button.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00965" marR="0" lvl="0" indent="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42" name="Rectangle 41">
              <a:extLst>
                <a:ext uri="{FF2B5EF4-FFF2-40B4-BE49-F238E27FC236}">
                  <a16:creationId xmlns:a16="http://schemas.microsoft.com/office/drawing/2014/main" id="{7662034A-28B0-8EA7-0169-5B4BDCD02BA9}"/>
                </a:ext>
              </a:extLst>
            </p:cNvPr>
            <p:cNvSpPr/>
            <p:nvPr/>
          </p:nvSpPr>
          <p:spPr>
            <a:xfrm>
              <a:off x="8456612" y="2662873"/>
              <a:ext cx="448945"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3" name="Straight Arrow Connector 42">
              <a:extLst>
                <a:ext uri="{FF2B5EF4-FFF2-40B4-BE49-F238E27FC236}">
                  <a16:creationId xmlns:a16="http://schemas.microsoft.com/office/drawing/2014/main" id="{5B3878F8-2DCC-65A2-5E25-8CA5DB1D9FC4}"/>
                </a:ext>
              </a:extLst>
            </p:cNvPr>
            <p:cNvCxnSpPr/>
            <p:nvPr/>
          </p:nvCxnSpPr>
          <p:spPr>
            <a:xfrm flipH="1">
              <a:off x="8777287" y="2860993"/>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4" name="Text Box 369">
              <a:extLst>
                <a:ext uri="{FF2B5EF4-FFF2-40B4-BE49-F238E27FC236}">
                  <a16:creationId xmlns:a16="http://schemas.microsoft.com/office/drawing/2014/main" id="{2B81ADDD-E05B-FA94-63D1-D07715689560}"/>
                </a:ext>
              </a:extLst>
            </p:cNvPr>
            <p:cNvSpPr txBox="1"/>
            <p:nvPr/>
          </p:nvSpPr>
          <p:spPr>
            <a:xfrm>
              <a:off x="8259127" y="305149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11.1</a:t>
              </a:r>
            </a:p>
          </p:txBody>
        </p:sp>
      </p:grpSp>
      <p:sp>
        <p:nvSpPr>
          <p:cNvPr id="6" name="Slide Number Placeholder 5">
            <a:extLst>
              <a:ext uri="{FF2B5EF4-FFF2-40B4-BE49-F238E27FC236}">
                <a16:creationId xmlns:a16="http://schemas.microsoft.com/office/drawing/2014/main" id="{2BFDB479-A4E2-849D-A12B-2AD1055AE8D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D1722CA7-834D-FA6D-3DD7-67D9655838F5}"/>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Receivables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Received Payment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1957688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672536" y="2724150"/>
            <a:ext cx="4217531" cy="246003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done click the arrow to enable the buttons in the header.</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finalize, click post button.</a:t>
            </a: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825AD577-1C7A-230D-46BF-27D24184DA97}"/>
              </a:ext>
            </a:extLst>
          </p:cNvPr>
          <p:cNvSpPr txBox="1"/>
          <p:nvPr/>
        </p:nvSpPr>
        <p:spPr>
          <a:xfrm>
            <a:off x="988875" y="628135"/>
            <a:ext cx="4386014"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Received Payment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16" name="Picture 15">
            <a:extLst>
              <a:ext uri="{FF2B5EF4-FFF2-40B4-BE49-F238E27FC236}">
                <a16:creationId xmlns:a16="http://schemas.microsoft.com/office/drawing/2014/main" id="{D81F22C3-281E-7DD2-89BB-08E1E4CD21C7}"/>
              </a:ext>
            </a:extLst>
          </p:cNvPr>
          <p:cNvPicPr>
            <a:picLocks noChangeAspect="1"/>
          </p:cNvPicPr>
          <p:nvPr/>
        </p:nvPicPr>
        <p:blipFill>
          <a:blip r:embed="rId2"/>
          <a:stretch>
            <a:fillRect/>
          </a:stretch>
        </p:blipFill>
        <p:spPr>
          <a:xfrm>
            <a:off x="10780479" y="6391410"/>
            <a:ext cx="1047454" cy="267619"/>
          </a:xfrm>
          <a:prstGeom prst="rect">
            <a:avLst/>
          </a:prstGeom>
          <a:effectLst/>
        </p:spPr>
      </p:pic>
      <p:grpSp>
        <p:nvGrpSpPr>
          <p:cNvPr id="55" name="Group 54">
            <a:extLst>
              <a:ext uri="{FF2B5EF4-FFF2-40B4-BE49-F238E27FC236}">
                <a16:creationId xmlns:a16="http://schemas.microsoft.com/office/drawing/2014/main" id="{9CA4EA08-9034-9083-391A-1B98B792C5FF}"/>
              </a:ext>
            </a:extLst>
          </p:cNvPr>
          <p:cNvGrpSpPr/>
          <p:nvPr/>
        </p:nvGrpSpPr>
        <p:grpSpPr>
          <a:xfrm>
            <a:off x="5448864" y="1804352"/>
            <a:ext cx="6283819" cy="3249295"/>
            <a:chOff x="5512364" y="1055370"/>
            <a:chExt cx="6283819" cy="3249295"/>
          </a:xfrm>
        </p:grpSpPr>
        <p:pic>
          <p:nvPicPr>
            <p:cNvPr id="2" name="Picture 1">
              <a:extLst>
                <a:ext uri="{FF2B5EF4-FFF2-40B4-BE49-F238E27FC236}">
                  <a16:creationId xmlns:a16="http://schemas.microsoft.com/office/drawing/2014/main" id="{C97E1FBA-5C38-2824-B10D-45D5A92C77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2364" y="1055370"/>
              <a:ext cx="6189345" cy="2279650"/>
            </a:xfrm>
            <a:prstGeom prst="rect">
              <a:avLst/>
            </a:prstGeom>
          </p:spPr>
        </p:pic>
        <p:pic>
          <p:nvPicPr>
            <p:cNvPr id="6" name="Picture 5">
              <a:extLst>
                <a:ext uri="{FF2B5EF4-FFF2-40B4-BE49-F238E27FC236}">
                  <a16:creationId xmlns:a16="http://schemas.microsoft.com/office/drawing/2014/main" id="{106C2FF6-2F1D-FAC4-7FEA-F9F94811D66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05809" y="1786890"/>
              <a:ext cx="4690745" cy="2517775"/>
            </a:xfrm>
            <a:prstGeom prst="rect">
              <a:avLst/>
            </a:prstGeom>
            <a:ln>
              <a:noFill/>
            </a:ln>
            <a:effectLst>
              <a:outerShdw blurRad="292100" dist="139700" dir="2700000" algn="tl" rotWithShape="0">
                <a:srgbClr val="333333">
                  <a:alpha val="65000"/>
                </a:srgbClr>
              </a:outerShdw>
            </a:effectLst>
          </p:spPr>
        </p:pic>
        <p:grpSp>
          <p:nvGrpSpPr>
            <p:cNvPr id="47" name="Group 46">
              <a:extLst>
                <a:ext uri="{FF2B5EF4-FFF2-40B4-BE49-F238E27FC236}">
                  <a16:creationId xmlns:a16="http://schemas.microsoft.com/office/drawing/2014/main" id="{55ACFABF-2B39-5516-FB3B-EAC9BBE25377}"/>
                </a:ext>
              </a:extLst>
            </p:cNvPr>
            <p:cNvGrpSpPr/>
            <p:nvPr/>
          </p:nvGrpSpPr>
          <p:grpSpPr>
            <a:xfrm>
              <a:off x="9054253" y="1440180"/>
              <a:ext cx="2741930" cy="928370"/>
              <a:chOff x="0" y="0"/>
              <a:chExt cx="2741930" cy="928370"/>
            </a:xfrm>
          </p:grpSpPr>
          <p:sp>
            <p:nvSpPr>
              <p:cNvPr id="48" name="Rectangle 47">
                <a:extLst>
                  <a:ext uri="{FF2B5EF4-FFF2-40B4-BE49-F238E27FC236}">
                    <a16:creationId xmlns:a16="http://schemas.microsoft.com/office/drawing/2014/main" id="{F195E722-036C-D0C6-8CB6-FE5DC317DE45}"/>
                  </a:ext>
                </a:extLst>
              </p:cNvPr>
              <p:cNvSpPr/>
              <p:nvPr/>
            </p:nvSpPr>
            <p:spPr>
              <a:xfrm>
                <a:off x="1847850" y="57150"/>
                <a:ext cx="268663" cy="29688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9" name="Straight Arrow Connector 48">
                <a:extLst>
                  <a:ext uri="{FF2B5EF4-FFF2-40B4-BE49-F238E27FC236}">
                    <a16:creationId xmlns:a16="http://schemas.microsoft.com/office/drawing/2014/main" id="{94B2F951-2474-155E-A414-BC24738BE7EE}"/>
                  </a:ext>
                </a:extLst>
              </p:cNvPr>
              <p:cNvCxnSpPr/>
              <p:nvPr/>
            </p:nvCxnSpPr>
            <p:spPr>
              <a:xfrm flipV="1">
                <a:off x="2146300" y="133350"/>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0" name="Text Box 689">
                <a:extLst>
                  <a:ext uri="{FF2B5EF4-FFF2-40B4-BE49-F238E27FC236}">
                    <a16:creationId xmlns:a16="http://schemas.microsoft.com/office/drawing/2014/main" id="{BC5A1146-F8E4-9346-668B-5FCAF11469CB}"/>
                  </a:ext>
                </a:extLst>
              </p:cNvPr>
              <p:cNvSpPr txBox="1"/>
              <p:nvPr/>
            </p:nvSpPr>
            <p:spPr>
              <a:xfrm>
                <a:off x="2266950"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sp>
            <p:nvSpPr>
              <p:cNvPr id="51" name="Curved Right Arrow 691">
                <a:extLst>
                  <a:ext uri="{FF2B5EF4-FFF2-40B4-BE49-F238E27FC236}">
                    <a16:creationId xmlns:a16="http://schemas.microsoft.com/office/drawing/2014/main" id="{1FA9AB6D-9042-A5A3-E698-15E272E5686D}"/>
                  </a:ext>
                </a:extLst>
              </p:cNvPr>
              <p:cNvSpPr/>
              <p:nvPr/>
            </p:nvSpPr>
            <p:spPr>
              <a:xfrm>
                <a:off x="1384300" y="139700"/>
                <a:ext cx="439387" cy="451262"/>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 name="Rectangle 51">
                <a:extLst>
                  <a:ext uri="{FF2B5EF4-FFF2-40B4-BE49-F238E27FC236}">
                    <a16:creationId xmlns:a16="http://schemas.microsoft.com/office/drawing/2014/main" id="{EDF57404-7D78-C098-9F5F-AE60AEEE13E7}"/>
                  </a:ext>
                </a:extLst>
              </p:cNvPr>
              <p:cNvSpPr/>
              <p:nvPr/>
            </p:nvSpPr>
            <p:spPr>
              <a:xfrm>
                <a:off x="0" y="679450"/>
                <a:ext cx="351790"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53" name="Straight Arrow Connector 52">
                <a:extLst>
                  <a:ext uri="{FF2B5EF4-FFF2-40B4-BE49-F238E27FC236}">
                    <a16:creationId xmlns:a16="http://schemas.microsoft.com/office/drawing/2014/main" id="{9916ABA4-A206-4FA1-5975-D9BE5B1D5BB8}"/>
                  </a:ext>
                </a:extLst>
              </p:cNvPr>
              <p:cNvCxnSpPr/>
              <p:nvPr/>
            </p:nvCxnSpPr>
            <p:spPr>
              <a:xfrm flipV="1">
                <a:off x="393700" y="736600"/>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4" name="Text Box 694">
                <a:extLst>
                  <a:ext uri="{FF2B5EF4-FFF2-40B4-BE49-F238E27FC236}">
                    <a16:creationId xmlns:a16="http://schemas.microsoft.com/office/drawing/2014/main" id="{6D59D216-0E2F-DAC9-D6F8-65C1FB7AC833}"/>
                  </a:ext>
                </a:extLst>
              </p:cNvPr>
              <p:cNvSpPr txBox="1"/>
              <p:nvPr/>
            </p:nvSpPr>
            <p:spPr>
              <a:xfrm>
                <a:off x="520700" y="60960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13</a:t>
                </a:r>
              </a:p>
            </p:txBody>
          </p:sp>
        </p:grpSp>
      </p:grpSp>
      <p:sp>
        <p:nvSpPr>
          <p:cNvPr id="8" name="Slide Number Placeholder 7">
            <a:extLst>
              <a:ext uri="{FF2B5EF4-FFF2-40B4-BE49-F238E27FC236}">
                <a16:creationId xmlns:a16="http://schemas.microsoft.com/office/drawing/2014/main" id="{D7EB28D9-5AB4-61CC-9B4D-33DAD45BBE5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62767CF4-8AE8-3157-1A45-07C8236551D6}"/>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Receivables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Received Payment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3483359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Received Payment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427250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received payment – main window, search the received payment transaction you wish to edit its information in the search bar. Or,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received payment – main form, click the lookup button and select the transaction you wish to edit its information by typing the transaction number in the search bar.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all"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CR transaction, if you wish to edit the header of the transaction click edit button.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 are done editing the CR header, click save button in the upper side of the header.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8673CA3-1D44-C44A-39AC-03BF9C5DE318}"/>
              </a:ext>
            </a:extLst>
          </p:cNvPr>
          <p:cNvSpPr txBox="1"/>
          <p:nvPr/>
        </p:nvSpPr>
        <p:spPr>
          <a:xfrm>
            <a:off x="7290763" y="2653157"/>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Received Payment – Main Window</a:t>
            </a:r>
            <a:endParaRPr kumimoji="0" lang="en-US" sz="12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9DD15007-9C88-741A-9271-4BE13BE6B3CE}"/>
              </a:ext>
            </a:extLst>
          </p:cNvPr>
          <p:cNvSpPr txBox="1"/>
          <p:nvPr/>
        </p:nvSpPr>
        <p:spPr>
          <a:xfrm>
            <a:off x="7401253" y="5013113"/>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Received Payment – Main Form</a:t>
            </a:r>
            <a:endParaRPr kumimoji="0" lang="en-US"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p:txBody>
      </p:sp>
      <p:grpSp>
        <p:nvGrpSpPr>
          <p:cNvPr id="28" name="Group 27">
            <a:extLst>
              <a:ext uri="{FF2B5EF4-FFF2-40B4-BE49-F238E27FC236}">
                <a16:creationId xmlns:a16="http://schemas.microsoft.com/office/drawing/2014/main" id="{39CDF60B-A208-83D4-2FA5-C0556B62B5A7}"/>
              </a:ext>
            </a:extLst>
          </p:cNvPr>
          <p:cNvGrpSpPr/>
          <p:nvPr/>
        </p:nvGrpSpPr>
        <p:grpSpPr>
          <a:xfrm>
            <a:off x="5197545" y="965527"/>
            <a:ext cx="6078855" cy="1693545"/>
            <a:chOff x="5191125" y="965527"/>
            <a:chExt cx="6078855" cy="1693545"/>
          </a:xfrm>
        </p:grpSpPr>
        <p:pic>
          <p:nvPicPr>
            <p:cNvPr id="16" name="Picture 15">
              <a:extLst>
                <a:ext uri="{FF2B5EF4-FFF2-40B4-BE49-F238E27FC236}">
                  <a16:creationId xmlns:a16="http://schemas.microsoft.com/office/drawing/2014/main" id="{07332873-5D76-1F1B-E890-1DB2CF1EDB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1125" y="965527"/>
              <a:ext cx="6078855" cy="1693545"/>
            </a:xfrm>
            <a:prstGeom prst="rect">
              <a:avLst/>
            </a:prstGeom>
          </p:spPr>
        </p:pic>
        <p:grpSp>
          <p:nvGrpSpPr>
            <p:cNvPr id="18" name="Group 17">
              <a:extLst>
                <a:ext uri="{FF2B5EF4-FFF2-40B4-BE49-F238E27FC236}">
                  <a16:creationId xmlns:a16="http://schemas.microsoft.com/office/drawing/2014/main" id="{CCB1FA04-1F96-1D5B-24E3-40564541353A}"/>
                </a:ext>
              </a:extLst>
            </p:cNvPr>
            <p:cNvGrpSpPr/>
            <p:nvPr/>
          </p:nvGrpSpPr>
          <p:grpSpPr>
            <a:xfrm>
              <a:off x="5250648" y="1765672"/>
              <a:ext cx="1475739" cy="333375"/>
              <a:chOff x="0" y="0"/>
              <a:chExt cx="1476374" cy="333375"/>
            </a:xfrm>
          </p:grpSpPr>
          <p:sp>
            <p:nvSpPr>
              <p:cNvPr id="19" name="Rectangle 18">
                <a:extLst>
                  <a:ext uri="{FF2B5EF4-FFF2-40B4-BE49-F238E27FC236}">
                    <a16:creationId xmlns:a16="http://schemas.microsoft.com/office/drawing/2014/main" id="{B45D5321-7663-2C2B-BFCB-C2F032DE8C1C}"/>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1" name="Straight Arrow Connector 20">
                <a:extLst>
                  <a:ext uri="{FF2B5EF4-FFF2-40B4-BE49-F238E27FC236}">
                    <a16:creationId xmlns:a16="http://schemas.microsoft.com/office/drawing/2014/main" id="{F0F50786-DDAB-6045-23B6-33680A1A6483}"/>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 Box 39">
                <a:extLst>
                  <a:ext uri="{FF2B5EF4-FFF2-40B4-BE49-F238E27FC236}">
                    <a16:creationId xmlns:a16="http://schemas.microsoft.com/office/drawing/2014/main" id="{6589A3DB-E364-626C-06D0-34739B4A8FA5}"/>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grpSp>
        <p:nvGrpSpPr>
          <p:cNvPr id="54" name="Group 53">
            <a:extLst>
              <a:ext uri="{FF2B5EF4-FFF2-40B4-BE49-F238E27FC236}">
                <a16:creationId xmlns:a16="http://schemas.microsoft.com/office/drawing/2014/main" id="{98681F6B-7F53-DEE2-B249-EE3474A5BF69}"/>
              </a:ext>
            </a:extLst>
          </p:cNvPr>
          <p:cNvGrpSpPr/>
          <p:nvPr/>
        </p:nvGrpSpPr>
        <p:grpSpPr>
          <a:xfrm>
            <a:off x="4653985" y="3238182"/>
            <a:ext cx="6732905" cy="1727835"/>
            <a:chOff x="4537075" y="3238182"/>
            <a:chExt cx="6732905" cy="1727835"/>
          </a:xfrm>
        </p:grpSpPr>
        <p:pic>
          <p:nvPicPr>
            <p:cNvPr id="40" name="Picture 39">
              <a:extLst>
                <a:ext uri="{FF2B5EF4-FFF2-40B4-BE49-F238E27FC236}">
                  <a16:creationId xmlns:a16="http://schemas.microsoft.com/office/drawing/2014/main" id="{5F415CD2-0E36-B04A-B6DB-93EC2EA92A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635" y="3238182"/>
              <a:ext cx="6189345" cy="1727835"/>
            </a:xfrm>
            <a:prstGeom prst="rect">
              <a:avLst/>
            </a:prstGeom>
          </p:spPr>
        </p:pic>
        <p:grpSp>
          <p:nvGrpSpPr>
            <p:cNvPr id="53" name="Group 52">
              <a:extLst>
                <a:ext uri="{FF2B5EF4-FFF2-40B4-BE49-F238E27FC236}">
                  <a16:creationId xmlns:a16="http://schemas.microsoft.com/office/drawing/2014/main" id="{3507EB86-EA67-63F4-4704-A273CB2ECD00}"/>
                </a:ext>
              </a:extLst>
            </p:cNvPr>
            <p:cNvGrpSpPr/>
            <p:nvPr/>
          </p:nvGrpSpPr>
          <p:grpSpPr>
            <a:xfrm>
              <a:off x="4537075" y="3459215"/>
              <a:ext cx="6318251" cy="1503045"/>
              <a:chOff x="2936875" y="2677477"/>
              <a:chExt cx="6318251" cy="1503045"/>
            </a:xfrm>
          </p:grpSpPr>
          <p:grpSp>
            <p:nvGrpSpPr>
              <p:cNvPr id="41" name="Group 40">
                <a:extLst>
                  <a:ext uri="{FF2B5EF4-FFF2-40B4-BE49-F238E27FC236}">
                    <a16:creationId xmlns:a16="http://schemas.microsoft.com/office/drawing/2014/main" id="{88735208-C1F3-7D65-8806-668F8FA5BA7D}"/>
                  </a:ext>
                </a:extLst>
              </p:cNvPr>
              <p:cNvGrpSpPr/>
              <p:nvPr/>
            </p:nvGrpSpPr>
            <p:grpSpPr>
              <a:xfrm>
                <a:off x="4763135" y="3131502"/>
                <a:ext cx="952500" cy="304800"/>
                <a:chOff x="523874" y="28575"/>
                <a:chExt cx="952500" cy="304800"/>
              </a:xfrm>
            </p:grpSpPr>
            <p:sp>
              <p:nvSpPr>
                <p:cNvPr id="50" name="Rectangle 49">
                  <a:extLst>
                    <a:ext uri="{FF2B5EF4-FFF2-40B4-BE49-F238E27FC236}">
                      <a16:creationId xmlns:a16="http://schemas.microsoft.com/office/drawing/2014/main" id="{1CF4D6E9-BAC6-D334-F68A-ECD9D5384927}"/>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51" name="Straight Arrow Connector 50">
                  <a:extLst>
                    <a:ext uri="{FF2B5EF4-FFF2-40B4-BE49-F238E27FC236}">
                      <a16:creationId xmlns:a16="http://schemas.microsoft.com/office/drawing/2014/main" id="{10DA139E-AF9D-6CD2-D3C1-2F39157C98F3}"/>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2" name="Text Box 44">
                  <a:extLst>
                    <a:ext uri="{FF2B5EF4-FFF2-40B4-BE49-F238E27FC236}">
                      <a16:creationId xmlns:a16="http://schemas.microsoft.com/office/drawing/2014/main" id="{DC8F96D8-0A0C-A9C5-3569-2A5F44AD256A}"/>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42" name="Group 41">
                <a:extLst>
                  <a:ext uri="{FF2B5EF4-FFF2-40B4-BE49-F238E27FC236}">
                    <a16:creationId xmlns:a16="http://schemas.microsoft.com/office/drawing/2014/main" id="{5BD74D76-5123-2C42-1D6C-EA38555583DC}"/>
                  </a:ext>
                </a:extLst>
              </p:cNvPr>
              <p:cNvGrpSpPr/>
              <p:nvPr/>
            </p:nvGrpSpPr>
            <p:grpSpPr>
              <a:xfrm>
                <a:off x="8274050" y="2859722"/>
                <a:ext cx="981076" cy="304800"/>
                <a:chOff x="333374" y="28575"/>
                <a:chExt cx="981076" cy="304800"/>
              </a:xfrm>
            </p:grpSpPr>
            <p:sp>
              <p:nvSpPr>
                <p:cNvPr id="47" name="Rectangle 46">
                  <a:extLst>
                    <a:ext uri="{FF2B5EF4-FFF2-40B4-BE49-F238E27FC236}">
                      <a16:creationId xmlns:a16="http://schemas.microsoft.com/office/drawing/2014/main" id="{FDBEC980-DF43-2538-D0C4-888204CC68CC}"/>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8" name="Straight Arrow Connector 47">
                  <a:extLst>
                    <a:ext uri="{FF2B5EF4-FFF2-40B4-BE49-F238E27FC236}">
                      <a16:creationId xmlns:a16="http://schemas.microsoft.com/office/drawing/2014/main" id="{C6D948F2-D9B6-272D-8B06-F0AACB0C23D5}"/>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9" name="Text Box 49">
                  <a:extLst>
                    <a:ext uri="{FF2B5EF4-FFF2-40B4-BE49-F238E27FC236}">
                      <a16:creationId xmlns:a16="http://schemas.microsoft.com/office/drawing/2014/main" id="{61C18DE3-CF1B-1A01-5F79-48C17D9C3481}"/>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grpSp>
            <p:nvGrpSpPr>
              <p:cNvPr id="43" name="Group 42">
                <a:extLst>
                  <a:ext uri="{FF2B5EF4-FFF2-40B4-BE49-F238E27FC236}">
                    <a16:creationId xmlns:a16="http://schemas.microsoft.com/office/drawing/2014/main" id="{C65B9B2D-1216-39FB-F184-9F831823C1C4}"/>
                  </a:ext>
                </a:extLst>
              </p:cNvPr>
              <p:cNvGrpSpPr>
                <a:grpSpLocks/>
              </p:cNvGrpSpPr>
              <p:nvPr/>
            </p:nvGrpSpPr>
            <p:grpSpPr bwMode="auto">
              <a:xfrm>
                <a:off x="5786120" y="3301047"/>
                <a:ext cx="2301875" cy="879475"/>
                <a:chOff x="6116" y="177"/>
                <a:chExt cx="3625" cy="1385"/>
              </a:xfrm>
            </p:grpSpPr>
            <p:pic>
              <p:nvPicPr>
                <p:cNvPr id="45" name="Picture 44">
                  <a:extLst>
                    <a:ext uri="{FF2B5EF4-FFF2-40B4-BE49-F238E27FC236}">
                      <a16:creationId xmlns:a16="http://schemas.microsoft.com/office/drawing/2014/main" id="{DFF1F9E8-77D6-08FD-0181-B4FD04883B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Text Box 241">
                  <a:extLst>
                    <a:ext uri="{FF2B5EF4-FFF2-40B4-BE49-F238E27FC236}">
                      <a16:creationId xmlns:a16="http://schemas.microsoft.com/office/drawing/2014/main" id="{DB4E8106-966A-651B-4F57-67959AEE452D}"/>
                    </a:ext>
                  </a:extLst>
                </p:cNvPr>
                <p:cNvSpPr txBox="1">
                  <a:spLocks noChangeArrowheads="1"/>
                </p:cNvSpPr>
                <p:nvPr/>
              </p:nvSpPr>
              <p:spPr bwMode="auto">
                <a:xfrm>
                  <a:off x="6116" y="177"/>
                  <a:ext cx="3625"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CR transaction?</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Tx/>
                    <a:buNone/>
                    <a:tabLst>
                      <a:tab pos="227330" algn="l"/>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Tx/>
                    <a:buNone/>
                    <a:tabLst>
                      <a:tab pos="203200" algn="l"/>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02565" marR="0" lvl="0" indent="-10160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sp>
            <p:nvSpPr>
              <p:cNvPr id="44" name="Text Box 8">
                <a:extLst>
                  <a:ext uri="{FF2B5EF4-FFF2-40B4-BE49-F238E27FC236}">
                    <a16:creationId xmlns:a16="http://schemas.microsoft.com/office/drawing/2014/main" id="{DA87EC10-4F69-910D-8C3F-DA81BEA9A1DA}"/>
                  </a:ext>
                </a:extLst>
              </p:cNvPr>
              <p:cNvSpPr txBox="1"/>
              <p:nvPr/>
            </p:nvSpPr>
            <p:spPr>
              <a:xfrm>
                <a:off x="2936875" y="2677477"/>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grpSp>
      <p:sp>
        <p:nvSpPr>
          <p:cNvPr id="4" name="Slide Number Placeholder 3">
            <a:extLst>
              <a:ext uri="{FF2B5EF4-FFF2-40B4-BE49-F238E27FC236}">
                <a16:creationId xmlns:a16="http://schemas.microsoft.com/office/drawing/2014/main" id="{B6A14022-6EE3-2BBE-AC5E-A477AC4BB33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807B2893-E574-6B50-D61B-DD062620D58A}"/>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Receivables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Received Payment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1249831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8">
            <a:extLst>
              <a:ext uri="{FF2B5EF4-FFF2-40B4-BE49-F238E27FC236}">
                <a16:creationId xmlns:a16="http://schemas.microsoft.com/office/drawing/2014/main" id="{9A8214E9-BA24-C1CD-FE2E-59471D8D7178}"/>
              </a:ext>
            </a:extLst>
          </p:cNvPr>
          <p:cNvSpPr txBox="1"/>
          <p:nvPr/>
        </p:nvSpPr>
        <p:spPr>
          <a:xfrm>
            <a:off x="540588" y="2288932"/>
            <a:ext cx="4179346" cy="181351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want to edit the entry in the detail, edit right away the details you want to change and you will notice that after you change the details, the account you edited will be highlighted into blue.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you’re done editing, click save account button to save the changes you made in the entry.</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all accounts in the entry, click delete account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 specific line on the table, click the delete icon next to the account to delete it.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908C5052-DDBB-5E0B-032A-B80037F24FD1}"/>
              </a:ext>
            </a:extLst>
          </p:cNvPr>
          <p:cNvSpPr txBox="1"/>
          <p:nvPr/>
        </p:nvSpPr>
        <p:spPr>
          <a:xfrm>
            <a:off x="1522069" y="633230"/>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Received Payment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35" name="Picture 34">
            <a:extLst>
              <a:ext uri="{FF2B5EF4-FFF2-40B4-BE49-F238E27FC236}">
                <a16:creationId xmlns:a16="http://schemas.microsoft.com/office/drawing/2014/main" id="{B1B96C4B-C29F-117E-6387-31B4392693FD}"/>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Slide Number Placeholder 4">
            <a:extLst>
              <a:ext uri="{FF2B5EF4-FFF2-40B4-BE49-F238E27FC236}">
                <a16:creationId xmlns:a16="http://schemas.microsoft.com/office/drawing/2014/main" id="{2EF75D0E-9CB8-9BAF-4F5D-66A94052388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8D38F8F5-3B5C-BEBF-052D-168358DF6BBA}"/>
              </a:ext>
            </a:extLst>
          </p:cNvPr>
          <p:cNvSpPr txBox="1"/>
          <p:nvPr/>
        </p:nvSpPr>
        <p:spPr>
          <a:xfrm>
            <a:off x="988873" y="148003"/>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Receivables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Received Payment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2" name="Group 1">
            <a:extLst>
              <a:ext uri="{FF2B5EF4-FFF2-40B4-BE49-F238E27FC236}">
                <a16:creationId xmlns:a16="http://schemas.microsoft.com/office/drawing/2014/main" id="{84A768E4-AF8E-1436-C371-78FD869D7A54}"/>
              </a:ext>
            </a:extLst>
          </p:cNvPr>
          <p:cNvGrpSpPr/>
          <p:nvPr/>
        </p:nvGrpSpPr>
        <p:grpSpPr>
          <a:xfrm>
            <a:off x="5126663" y="2158545"/>
            <a:ext cx="6260227" cy="2277457"/>
            <a:chOff x="5126663" y="2158545"/>
            <a:chExt cx="6260227" cy="2277457"/>
          </a:xfrm>
        </p:grpSpPr>
        <p:grpSp>
          <p:nvGrpSpPr>
            <p:cNvPr id="4" name="Group 3">
              <a:extLst>
                <a:ext uri="{FF2B5EF4-FFF2-40B4-BE49-F238E27FC236}">
                  <a16:creationId xmlns:a16="http://schemas.microsoft.com/office/drawing/2014/main" id="{968553E9-9637-AD06-6291-C6F7584D4DC9}"/>
                </a:ext>
              </a:extLst>
            </p:cNvPr>
            <p:cNvGrpSpPr/>
            <p:nvPr/>
          </p:nvGrpSpPr>
          <p:grpSpPr>
            <a:xfrm>
              <a:off x="5126663" y="2158545"/>
              <a:ext cx="6260227" cy="2277457"/>
              <a:chOff x="5126663" y="887465"/>
              <a:chExt cx="6260227" cy="2277457"/>
            </a:xfrm>
          </p:grpSpPr>
          <p:grpSp>
            <p:nvGrpSpPr>
              <p:cNvPr id="22" name="Group 21">
                <a:extLst>
                  <a:ext uri="{FF2B5EF4-FFF2-40B4-BE49-F238E27FC236}">
                    <a16:creationId xmlns:a16="http://schemas.microsoft.com/office/drawing/2014/main" id="{ECE9BE6F-7B20-D584-F6C4-33F5423DC9FE}"/>
                  </a:ext>
                </a:extLst>
              </p:cNvPr>
              <p:cNvGrpSpPr/>
              <p:nvPr/>
            </p:nvGrpSpPr>
            <p:grpSpPr>
              <a:xfrm>
                <a:off x="5197545" y="1053550"/>
                <a:ext cx="6189345" cy="2111372"/>
                <a:chOff x="0" y="3"/>
                <a:chExt cx="6189345" cy="2111372"/>
              </a:xfrm>
            </p:grpSpPr>
            <p:grpSp>
              <p:nvGrpSpPr>
                <p:cNvPr id="27" name="Group 26">
                  <a:extLst>
                    <a:ext uri="{FF2B5EF4-FFF2-40B4-BE49-F238E27FC236}">
                      <a16:creationId xmlns:a16="http://schemas.microsoft.com/office/drawing/2014/main" id="{18E85427-CFAB-FE19-AF12-C700B229761C}"/>
                    </a:ext>
                  </a:extLst>
                </p:cNvPr>
                <p:cNvGrpSpPr/>
                <p:nvPr/>
              </p:nvGrpSpPr>
              <p:grpSpPr>
                <a:xfrm>
                  <a:off x="444500" y="3"/>
                  <a:ext cx="5457854" cy="1534468"/>
                  <a:chOff x="365745" y="340675"/>
                  <a:chExt cx="5457854" cy="1534615"/>
                </a:xfrm>
              </p:grpSpPr>
              <p:pic>
                <p:nvPicPr>
                  <p:cNvPr id="36" name="Picture 35">
                    <a:extLst>
                      <a:ext uri="{FF2B5EF4-FFF2-40B4-BE49-F238E27FC236}">
                        <a16:creationId xmlns:a16="http://schemas.microsoft.com/office/drawing/2014/main" id="{92F4B85B-3883-915B-1713-80D60546A8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45" y="345037"/>
                    <a:ext cx="5457854" cy="1530253"/>
                  </a:xfrm>
                  <a:prstGeom prst="rect">
                    <a:avLst/>
                  </a:prstGeom>
                </p:spPr>
              </p:pic>
              <p:sp>
                <p:nvSpPr>
                  <p:cNvPr id="37" name="Rectangle 36">
                    <a:extLst>
                      <a:ext uri="{FF2B5EF4-FFF2-40B4-BE49-F238E27FC236}">
                        <a16:creationId xmlns:a16="http://schemas.microsoft.com/office/drawing/2014/main" id="{9A76545F-B854-3145-D7B1-BE3AA93E6AF4}"/>
                      </a:ext>
                    </a:extLst>
                  </p:cNvPr>
                  <p:cNvSpPr/>
                  <p:nvPr/>
                </p:nvSpPr>
                <p:spPr>
                  <a:xfrm>
                    <a:off x="424790" y="975708"/>
                    <a:ext cx="2836555" cy="73669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8" name="Group 37">
                    <a:extLst>
                      <a:ext uri="{FF2B5EF4-FFF2-40B4-BE49-F238E27FC236}">
                        <a16:creationId xmlns:a16="http://schemas.microsoft.com/office/drawing/2014/main" id="{4D5B989C-DE7B-C17B-597C-60114D596AAA}"/>
                      </a:ext>
                    </a:extLst>
                  </p:cNvPr>
                  <p:cNvGrpSpPr/>
                  <p:nvPr/>
                </p:nvGrpSpPr>
                <p:grpSpPr>
                  <a:xfrm>
                    <a:off x="3765617" y="340675"/>
                    <a:ext cx="647700" cy="709532"/>
                    <a:chOff x="-854008" y="-154625"/>
                    <a:chExt cx="647700" cy="709532"/>
                  </a:xfrm>
                </p:grpSpPr>
                <p:sp>
                  <p:nvSpPr>
                    <p:cNvPr id="39" name="Rectangle 38">
                      <a:extLst>
                        <a:ext uri="{FF2B5EF4-FFF2-40B4-BE49-F238E27FC236}">
                          <a16:creationId xmlns:a16="http://schemas.microsoft.com/office/drawing/2014/main" id="{CA005B5A-8CF1-A324-34AF-AE2ED969664B}"/>
                        </a:ext>
                      </a:extLst>
                    </p:cNvPr>
                    <p:cNvSpPr/>
                    <p:nvPr/>
                  </p:nvSpPr>
                  <p:spPr>
                    <a:xfrm>
                      <a:off x="-854008" y="-154625"/>
                      <a:ext cx="647700" cy="24764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449FB85A-839E-A8E9-AB89-56FAB546273A}"/>
                        </a:ext>
                      </a:extLst>
                    </p:cNvPr>
                    <p:cNvCxnSpPr>
                      <a:cxnSpLocks/>
                    </p:cNvCxnSpPr>
                    <p:nvPr/>
                  </p:nvCxnSpPr>
                  <p:spPr>
                    <a:xfrm>
                      <a:off x="-558370" y="86730"/>
                      <a:ext cx="0" cy="2205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62">
                      <a:extLst>
                        <a:ext uri="{FF2B5EF4-FFF2-40B4-BE49-F238E27FC236}">
                          <a16:creationId xmlns:a16="http://schemas.microsoft.com/office/drawing/2014/main" id="{1024AA9C-5703-3EB0-EACA-EDD95B8FDEC0}"/>
                        </a:ext>
                      </a:extLst>
                    </p:cNvPr>
                    <p:cNvSpPr txBox="1"/>
                    <p:nvPr/>
                  </p:nvSpPr>
                  <p:spPr>
                    <a:xfrm>
                      <a:off x="-658383" y="307257"/>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a:t>
                      </a:r>
                    </a:p>
                  </p:txBody>
                </p:sp>
              </p:grpSp>
            </p:grpSp>
            <p:pic>
              <p:nvPicPr>
                <p:cNvPr id="28" name="Picture 27">
                  <a:extLst>
                    <a:ext uri="{FF2B5EF4-FFF2-40B4-BE49-F238E27FC236}">
                      <a16:creationId xmlns:a16="http://schemas.microsoft.com/office/drawing/2014/main" id="{15B4F279-E0D4-66EB-5AF7-758C688CE9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593850"/>
                  <a:ext cx="6189345" cy="517525"/>
                </a:xfrm>
                <a:prstGeom prst="rect">
                  <a:avLst/>
                </a:prstGeom>
                <a:ln>
                  <a:noFill/>
                </a:ln>
                <a:effectLst>
                  <a:outerShdw blurRad="292100" dist="139700" dir="2700000" algn="tl" rotWithShape="0">
                    <a:srgbClr val="333333">
                      <a:alpha val="65000"/>
                    </a:srgbClr>
                  </a:outerShdw>
                </a:effectLst>
              </p:spPr>
            </p:pic>
          </p:grpSp>
          <p:grpSp>
            <p:nvGrpSpPr>
              <p:cNvPr id="23" name="Group 22">
                <a:extLst>
                  <a:ext uri="{FF2B5EF4-FFF2-40B4-BE49-F238E27FC236}">
                    <a16:creationId xmlns:a16="http://schemas.microsoft.com/office/drawing/2014/main" id="{B5BD9D7A-F069-08B3-3D5A-02D40197B3CB}"/>
                  </a:ext>
                </a:extLst>
              </p:cNvPr>
              <p:cNvGrpSpPr/>
              <p:nvPr/>
            </p:nvGrpSpPr>
            <p:grpSpPr>
              <a:xfrm>
                <a:off x="5126663" y="887465"/>
                <a:ext cx="3176904" cy="2008507"/>
                <a:chOff x="0" y="0"/>
                <a:chExt cx="3177391" cy="2008909"/>
              </a:xfrm>
            </p:grpSpPr>
            <p:sp>
              <p:nvSpPr>
                <p:cNvPr id="24" name="Text Box 81">
                  <a:extLst>
                    <a:ext uri="{FF2B5EF4-FFF2-40B4-BE49-F238E27FC236}">
                      <a16:creationId xmlns:a16="http://schemas.microsoft.com/office/drawing/2014/main" id="{988DB755-4995-1103-5259-2228E514C26A}"/>
                    </a:ext>
                  </a:extLst>
                </p:cNvPr>
                <p:cNvSpPr txBox="1"/>
                <p:nvPr/>
              </p:nvSpPr>
              <p:spPr>
                <a:xfrm>
                  <a:off x="76200"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DETAIL</a:t>
                  </a:r>
                </a:p>
              </p:txBody>
            </p:sp>
            <p:sp>
              <p:nvSpPr>
                <p:cNvPr id="25" name="Curved Left Arrow 95">
                  <a:extLst>
                    <a:ext uri="{FF2B5EF4-FFF2-40B4-BE49-F238E27FC236}">
                      <a16:creationId xmlns:a16="http://schemas.microsoft.com/office/drawing/2014/main" id="{7596609F-2702-DB70-E7A0-DEB34F7C3712}"/>
                    </a:ext>
                  </a:extLst>
                </p:cNvPr>
                <p:cNvSpPr/>
                <p:nvPr/>
              </p:nvSpPr>
              <p:spPr>
                <a:xfrm>
                  <a:off x="2833007" y="1415143"/>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Text Box 98">
                  <a:extLst>
                    <a:ext uri="{FF2B5EF4-FFF2-40B4-BE49-F238E27FC236}">
                      <a16:creationId xmlns:a16="http://schemas.microsoft.com/office/drawing/2014/main" id="{CB3B2572-727B-F3CF-345F-7185E7CA648A}"/>
                    </a:ext>
                  </a:extLst>
                </p:cNvPr>
                <p:cNvSpPr txBox="1"/>
                <p:nvPr/>
              </p:nvSpPr>
              <p:spPr>
                <a:xfrm>
                  <a:off x="0" y="1589315"/>
                  <a:ext cx="200025" cy="24756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a:t>
                  </a:r>
                </a:p>
              </p:txBody>
            </p:sp>
          </p:grpSp>
        </p:grpSp>
        <p:sp>
          <p:nvSpPr>
            <p:cNvPr id="8" name="Rectangle 7">
              <a:extLst>
                <a:ext uri="{FF2B5EF4-FFF2-40B4-BE49-F238E27FC236}">
                  <a16:creationId xmlns:a16="http://schemas.microsoft.com/office/drawing/2014/main" id="{2BF09D47-4BC7-354B-6F95-843F5B1CFEEC}"/>
                </a:ext>
              </a:extLst>
            </p:cNvPr>
            <p:cNvSpPr/>
            <p:nvPr/>
          </p:nvSpPr>
          <p:spPr>
            <a:xfrm>
              <a:off x="9707809" y="2324630"/>
              <a:ext cx="647700" cy="24762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0527765B-7C70-F759-752D-208B974E2795}"/>
                </a:ext>
              </a:extLst>
            </p:cNvPr>
            <p:cNvCxnSpPr>
              <a:cxnSpLocks/>
            </p:cNvCxnSpPr>
            <p:nvPr/>
          </p:nvCxnSpPr>
          <p:spPr>
            <a:xfrm>
              <a:off x="10003447" y="2565962"/>
              <a:ext cx="0" cy="2205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 Box 62">
              <a:extLst>
                <a:ext uri="{FF2B5EF4-FFF2-40B4-BE49-F238E27FC236}">
                  <a16:creationId xmlns:a16="http://schemas.microsoft.com/office/drawing/2014/main" id="{15EEC21D-37BB-DE3F-191B-7AFC749743EF}"/>
                </a:ext>
              </a:extLst>
            </p:cNvPr>
            <p:cNvSpPr txBox="1"/>
            <p:nvPr/>
          </p:nvSpPr>
          <p:spPr>
            <a:xfrm>
              <a:off x="9903434" y="2786468"/>
              <a:ext cx="200025" cy="24762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sp>
          <p:nvSpPr>
            <p:cNvPr id="18" name="Rectangle 17">
              <a:extLst>
                <a:ext uri="{FF2B5EF4-FFF2-40B4-BE49-F238E27FC236}">
                  <a16:creationId xmlns:a16="http://schemas.microsoft.com/office/drawing/2014/main" id="{54473B05-837A-8FD3-36C3-8E61B39D0510}"/>
                </a:ext>
              </a:extLst>
            </p:cNvPr>
            <p:cNvSpPr/>
            <p:nvPr/>
          </p:nvSpPr>
          <p:spPr>
            <a:xfrm>
              <a:off x="5986923" y="3175308"/>
              <a:ext cx="130187" cy="24762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F895A01B-C6E7-AB04-A5D0-F041C4AD6133}"/>
                </a:ext>
              </a:extLst>
            </p:cNvPr>
            <p:cNvCxnSpPr>
              <a:cxnSpLocks/>
            </p:cNvCxnSpPr>
            <p:nvPr/>
          </p:nvCxnSpPr>
          <p:spPr>
            <a:xfrm>
              <a:off x="6046239" y="3416640"/>
              <a:ext cx="0" cy="2205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 Box 62">
              <a:extLst>
                <a:ext uri="{FF2B5EF4-FFF2-40B4-BE49-F238E27FC236}">
                  <a16:creationId xmlns:a16="http://schemas.microsoft.com/office/drawing/2014/main" id="{32642383-CAA2-C653-9998-9035607E4284}"/>
                </a:ext>
              </a:extLst>
            </p:cNvPr>
            <p:cNvSpPr txBox="1"/>
            <p:nvPr/>
          </p:nvSpPr>
          <p:spPr>
            <a:xfrm>
              <a:off x="5955102" y="3650203"/>
              <a:ext cx="200025" cy="24762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grpSp>
    </p:spTree>
    <p:extLst>
      <p:ext uri="{BB962C8B-B14F-4D97-AF65-F5344CB8AC3E}">
        <p14:creationId xmlns:p14="http://schemas.microsoft.com/office/powerpoint/2010/main" val="2822113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ECC682B-E870-DC56-D00A-B39F803819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8174" y="1033626"/>
            <a:ext cx="6078855" cy="1693545"/>
          </a:xfrm>
          <a:prstGeom prst="rect">
            <a:avLst/>
          </a:prstGeom>
        </p:spPr>
      </p:pic>
      <p:sp>
        <p:nvSpPr>
          <p:cNvPr id="23" name="TextBox 22">
            <a:extLst>
              <a:ext uri="{FF2B5EF4-FFF2-40B4-BE49-F238E27FC236}">
                <a16:creationId xmlns:a16="http://schemas.microsoft.com/office/drawing/2014/main" id="{2384804B-EE2E-A346-8D83-E2034F24A0DC}"/>
              </a:ext>
            </a:extLst>
          </p:cNvPr>
          <p:cNvSpPr txBox="1"/>
          <p:nvPr/>
        </p:nvSpPr>
        <p:spPr>
          <a:xfrm>
            <a:off x="609600" y="965527"/>
            <a:ext cx="4048329"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Delete Received Payment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478583" y="2163454"/>
            <a:ext cx="4179346" cy="3659479"/>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received payment – main window, search the received payment transaction you wish to edit its information in the search bar. Or,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received payment – main form, click the lookup button and select the transaction you wish to edit its information by typing its transaction number in the search bar.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delete button.</a:t>
            </a: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grpSp>
        <p:nvGrpSpPr>
          <p:cNvPr id="7" name="Group 6">
            <a:extLst>
              <a:ext uri="{FF2B5EF4-FFF2-40B4-BE49-F238E27FC236}">
                <a16:creationId xmlns:a16="http://schemas.microsoft.com/office/drawing/2014/main" id="{9F6468B0-1193-7DD7-6DC6-170A0A093105}"/>
              </a:ext>
            </a:extLst>
          </p:cNvPr>
          <p:cNvGrpSpPr/>
          <p:nvPr/>
        </p:nvGrpSpPr>
        <p:grpSpPr>
          <a:xfrm>
            <a:off x="5236465" y="1830079"/>
            <a:ext cx="1475739" cy="333375"/>
            <a:chOff x="0" y="0"/>
            <a:chExt cx="1476374" cy="333375"/>
          </a:xfrm>
        </p:grpSpPr>
        <p:sp>
          <p:nvSpPr>
            <p:cNvPr id="8" name="Rectangle 7">
              <a:extLst>
                <a:ext uri="{FF2B5EF4-FFF2-40B4-BE49-F238E27FC236}">
                  <a16:creationId xmlns:a16="http://schemas.microsoft.com/office/drawing/2014/main" id="{8AF81949-A89A-90BD-58F8-77A71794E489}"/>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B9AEB4FB-3430-F4C7-AEF2-4704F51173FB}"/>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 Box 695">
              <a:extLst>
                <a:ext uri="{FF2B5EF4-FFF2-40B4-BE49-F238E27FC236}">
                  <a16:creationId xmlns:a16="http://schemas.microsoft.com/office/drawing/2014/main" id="{EEA0783B-7494-BE89-67D1-6D03EC455B69}"/>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sp>
        <p:nvSpPr>
          <p:cNvPr id="11" name="TextBox 10">
            <a:extLst>
              <a:ext uri="{FF2B5EF4-FFF2-40B4-BE49-F238E27FC236}">
                <a16:creationId xmlns:a16="http://schemas.microsoft.com/office/drawing/2014/main" id="{00FAE49C-C178-874F-0006-BE9CF6141258}"/>
              </a:ext>
            </a:extLst>
          </p:cNvPr>
          <p:cNvSpPr txBox="1"/>
          <p:nvPr/>
        </p:nvSpPr>
        <p:spPr>
          <a:xfrm>
            <a:off x="7340702" y="2653157"/>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Received Payment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F603002A-262E-A67B-C50A-ED71CBFB10EA}"/>
              </a:ext>
            </a:extLst>
          </p:cNvPr>
          <p:cNvSpPr txBox="1"/>
          <p:nvPr/>
        </p:nvSpPr>
        <p:spPr>
          <a:xfrm>
            <a:off x="7451192" y="5310482"/>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Received Payment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14" name="Picture 13">
            <a:extLst>
              <a:ext uri="{FF2B5EF4-FFF2-40B4-BE49-F238E27FC236}">
                <a16:creationId xmlns:a16="http://schemas.microsoft.com/office/drawing/2014/main" id="{E69373C7-D598-88D0-326A-384DC80209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2928" y="3550524"/>
            <a:ext cx="6189345" cy="1727835"/>
          </a:xfrm>
          <a:prstGeom prst="rect">
            <a:avLst/>
          </a:prstGeom>
        </p:spPr>
      </p:pic>
      <p:grpSp>
        <p:nvGrpSpPr>
          <p:cNvPr id="41" name="Group 40">
            <a:extLst>
              <a:ext uri="{FF2B5EF4-FFF2-40B4-BE49-F238E27FC236}">
                <a16:creationId xmlns:a16="http://schemas.microsoft.com/office/drawing/2014/main" id="{40E61BA2-2699-EB90-36B6-4BDF00E280FB}"/>
              </a:ext>
            </a:extLst>
          </p:cNvPr>
          <p:cNvGrpSpPr/>
          <p:nvPr/>
        </p:nvGrpSpPr>
        <p:grpSpPr>
          <a:xfrm>
            <a:off x="4492625" y="3725905"/>
            <a:ext cx="5280025" cy="1503045"/>
            <a:chOff x="2936875" y="2677478"/>
            <a:chExt cx="5280025" cy="1503045"/>
          </a:xfrm>
        </p:grpSpPr>
        <p:grpSp>
          <p:nvGrpSpPr>
            <p:cNvPr id="15" name="Group 14">
              <a:extLst>
                <a:ext uri="{FF2B5EF4-FFF2-40B4-BE49-F238E27FC236}">
                  <a16:creationId xmlns:a16="http://schemas.microsoft.com/office/drawing/2014/main" id="{C841616D-3257-94BF-D23E-1981947CE1DB}"/>
                </a:ext>
              </a:extLst>
            </p:cNvPr>
            <p:cNvGrpSpPr/>
            <p:nvPr/>
          </p:nvGrpSpPr>
          <p:grpSpPr>
            <a:xfrm>
              <a:off x="4763135" y="3131503"/>
              <a:ext cx="952500" cy="304800"/>
              <a:chOff x="523874" y="28575"/>
              <a:chExt cx="952500" cy="304800"/>
            </a:xfrm>
          </p:grpSpPr>
          <p:sp>
            <p:nvSpPr>
              <p:cNvPr id="36" name="Rectangle 35">
                <a:extLst>
                  <a:ext uri="{FF2B5EF4-FFF2-40B4-BE49-F238E27FC236}">
                    <a16:creationId xmlns:a16="http://schemas.microsoft.com/office/drawing/2014/main" id="{CE3AAC7C-58C1-8DDF-B211-940BF5440B41}"/>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8" name="Straight Arrow Connector 37">
                <a:extLst>
                  <a:ext uri="{FF2B5EF4-FFF2-40B4-BE49-F238E27FC236}">
                    <a16:creationId xmlns:a16="http://schemas.microsoft.com/office/drawing/2014/main" id="{F585DB28-1913-6415-48C0-236E2FED69DE}"/>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 name="Text Box 1138">
                <a:extLst>
                  <a:ext uri="{FF2B5EF4-FFF2-40B4-BE49-F238E27FC236}">
                    <a16:creationId xmlns:a16="http://schemas.microsoft.com/office/drawing/2014/main" id="{37D8A4A3-7D1B-EC08-AB2F-DA5458C0A322}"/>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20" name="Group 19">
              <a:extLst>
                <a:ext uri="{FF2B5EF4-FFF2-40B4-BE49-F238E27FC236}">
                  <a16:creationId xmlns:a16="http://schemas.microsoft.com/office/drawing/2014/main" id="{82A1D249-DA00-C82A-A9D9-F9D7B63D9761}"/>
                </a:ext>
              </a:extLst>
            </p:cNvPr>
            <p:cNvGrpSpPr/>
            <p:nvPr/>
          </p:nvGrpSpPr>
          <p:grpSpPr>
            <a:xfrm>
              <a:off x="6012532" y="2859723"/>
              <a:ext cx="940718" cy="304800"/>
              <a:chOff x="-1928144" y="28575"/>
              <a:chExt cx="940718" cy="304800"/>
            </a:xfrm>
          </p:grpSpPr>
          <p:sp>
            <p:nvSpPr>
              <p:cNvPr id="33" name="Rectangle 32">
                <a:extLst>
                  <a:ext uri="{FF2B5EF4-FFF2-40B4-BE49-F238E27FC236}">
                    <a16:creationId xmlns:a16="http://schemas.microsoft.com/office/drawing/2014/main" id="{D07BC301-1FA0-B1F4-31E6-3E531762FAA3}"/>
                  </a:ext>
                </a:extLst>
              </p:cNvPr>
              <p:cNvSpPr/>
              <p:nvPr/>
            </p:nvSpPr>
            <p:spPr>
              <a:xfrm>
                <a:off x="-192814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4" name="Straight Arrow Connector 33">
                <a:extLst>
                  <a:ext uri="{FF2B5EF4-FFF2-40B4-BE49-F238E27FC236}">
                    <a16:creationId xmlns:a16="http://schemas.microsoft.com/office/drawing/2014/main" id="{91033B1F-DBBF-9FE8-19C9-D53EAE078A13}"/>
                  </a:ext>
                </a:extLst>
              </p:cNvPr>
              <p:cNvCxnSpPr/>
              <p:nvPr/>
            </p:nvCxnSpPr>
            <p:spPr>
              <a:xfrm>
                <a:off x="-1461418" y="8890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 Box 1142">
                <a:extLst>
                  <a:ext uri="{FF2B5EF4-FFF2-40B4-BE49-F238E27FC236}">
                    <a16:creationId xmlns:a16="http://schemas.microsoft.com/office/drawing/2014/main" id="{9FD2EB24-7B40-DA1F-F7CC-20A6CB774815}"/>
                  </a:ext>
                </a:extLst>
              </p:cNvPr>
              <p:cNvSpPr txBox="1"/>
              <p:nvPr/>
            </p:nvSpPr>
            <p:spPr>
              <a:xfrm>
                <a:off x="-1236302" y="28575"/>
                <a:ext cx="248876" cy="30480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grpSp>
          <p:nvGrpSpPr>
            <p:cNvPr id="29" name="Group 28">
              <a:extLst>
                <a:ext uri="{FF2B5EF4-FFF2-40B4-BE49-F238E27FC236}">
                  <a16:creationId xmlns:a16="http://schemas.microsoft.com/office/drawing/2014/main" id="{7E104197-C649-D382-4F13-23EA3308E3B7}"/>
                </a:ext>
              </a:extLst>
            </p:cNvPr>
            <p:cNvGrpSpPr>
              <a:grpSpLocks/>
            </p:cNvGrpSpPr>
            <p:nvPr/>
          </p:nvGrpSpPr>
          <p:grpSpPr bwMode="auto">
            <a:xfrm>
              <a:off x="5786120" y="3301048"/>
              <a:ext cx="2430780" cy="879475"/>
              <a:chOff x="6116" y="177"/>
              <a:chExt cx="3828" cy="1385"/>
            </a:xfrm>
          </p:grpSpPr>
          <p:pic>
            <p:nvPicPr>
              <p:cNvPr id="31" name="Picture 30">
                <a:extLst>
                  <a:ext uri="{FF2B5EF4-FFF2-40B4-BE49-F238E27FC236}">
                    <a16:creationId xmlns:a16="http://schemas.microsoft.com/office/drawing/2014/main" id="{CECF6975-00F5-918E-3AA6-55DC33F97E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Text Box 241">
                <a:extLst>
                  <a:ext uri="{FF2B5EF4-FFF2-40B4-BE49-F238E27FC236}">
                    <a16:creationId xmlns:a16="http://schemas.microsoft.com/office/drawing/2014/main" id="{E57F07DB-1753-5E12-908B-99BD8D5CB644}"/>
                  </a:ext>
                </a:extLst>
              </p:cNvPr>
              <p:cNvSpPr txBox="1">
                <a:spLocks noChangeArrowheads="1"/>
              </p:cNvSpPr>
              <p:nvPr/>
            </p:nvSpPr>
            <p:spPr bwMode="auto">
              <a:xfrm>
                <a:off x="6116" y="177"/>
                <a:ext cx="3828"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CR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29565"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sp>
          <p:nvSpPr>
            <p:cNvPr id="30" name="Text Box 1143">
              <a:extLst>
                <a:ext uri="{FF2B5EF4-FFF2-40B4-BE49-F238E27FC236}">
                  <a16:creationId xmlns:a16="http://schemas.microsoft.com/office/drawing/2014/main" id="{DEA4904D-ACEC-014A-EB09-3AFCF24A43C9}"/>
                </a:ext>
              </a:extLst>
            </p:cNvPr>
            <p:cNvSpPr txBox="1"/>
            <p:nvPr/>
          </p:nvSpPr>
          <p:spPr>
            <a:xfrm>
              <a:off x="2936875" y="2677478"/>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sp>
        <p:nvSpPr>
          <p:cNvPr id="4" name="Slide Number Placeholder 3">
            <a:extLst>
              <a:ext uri="{FF2B5EF4-FFF2-40B4-BE49-F238E27FC236}">
                <a16:creationId xmlns:a16="http://schemas.microsoft.com/office/drawing/2014/main" id="{045E3369-7732-7E39-EE14-7557E1C7209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E93562EE-31DA-E2FA-21D7-9FB91DFDB099}"/>
              </a:ext>
            </a:extLst>
          </p:cNvPr>
          <p:cNvSpPr txBox="1"/>
          <p:nvPr/>
        </p:nvSpPr>
        <p:spPr>
          <a:xfrm>
            <a:off x="921999" y="127435"/>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Receivables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Received Payment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792858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Information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5" name="TextBox 64">
            <a:extLst>
              <a:ext uri="{FF2B5EF4-FFF2-40B4-BE49-F238E27FC236}">
                <a16:creationId xmlns:a16="http://schemas.microsoft.com/office/drawing/2014/main" id="{E7777D04-D73F-74AB-C30B-7D3C9397264F}"/>
              </a:ext>
            </a:extLst>
          </p:cNvPr>
          <p:cNvSpPr txBox="1"/>
          <p:nvPr/>
        </p:nvSpPr>
        <p:spPr>
          <a:xfrm>
            <a:off x="805109" y="4516141"/>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Buttons</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8" name="Text Box 102">
            <a:extLst>
              <a:ext uri="{FF2B5EF4-FFF2-40B4-BE49-F238E27FC236}">
                <a16:creationId xmlns:a16="http://schemas.microsoft.com/office/drawing/2014/main" id="{9C27B11D-33B2-DB7D-A894-E01425B3F550}"/>
              </a:ext>
            </a:extLst>
          </p:cNvPr>
          <p:cNvSpPr txBox="1"/>
          <p:nvPr/>
        </p:nvSpPr>
        <p:spPr>
          <a:xfrm>
            <a:off x="805109" y="1589414"/>
            <a:ext cx="3852820" cy="2121974"/>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arrow up icon parallel in the main form on the upper right, and the received payment – main form will be minimize and the other information will be displayed as shown in the photo below.</a:t>
            </a:r>
          </a:p>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arrow parallel to what information you want to open and provide the necessary filter to generate the data you want to display.</a:t>
            </a:r>
          </a:p>
          <a:p>
            <a:pPr marL="0" marR="227330" lvl="0" indent="0" algn="l" defTabSz="914400" rtl="0" eaLnBrk="1" fontAlgn="auto" latinLnBrk="0" hangingPunct="1">
              <a:lnSpc>
                <a:spcPct val="107000"/>
              </a:lnSpc>
              <a:spcBef>
                <a:spcPts val="190"/>
              </a:spcBef>
              <a:spcAft>
                <a:spcPts val="80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96E78E19-4025-2CF4-0152-5EE4A8E0C0E1}"/>
              </a:ext>
            </a:extLst>
          </p:cNvPr>
          <p:cNvPicPr>
            <a:picLocks noChangeAspect="1"/>
          </p:cNvPicPr>
          <p:nvPr/>
        </p:nvPicPr>
        <p:blipFill>
          <a:blip r:embed="rId3"/>
          <a:stretch>
            <a:fillRect/>
          </a:stretch>
        </p:blipFill>
        <p:spPr>
          <a:xfrm>
            <a:off x="5294021" y="1882199"/>
            <a:ext cx="6108721" cy="280440"/>
          </a:xfrm>
          <a:prstGeom prst="rect">
            <a:avLst/>
          </a:prstGeom>
        </p:spPr>
      </p:pic>
      <p:pic>
        <p:nvPicPr>
          <p:cNvPr id="3" name="Picture 2">
            <a:extLst>
              <a:ext uri="{FF2B5EF4-FFF2-40B4-BE49-F238E27FC236}">
                <a16:creationId xmlns:a16="http://schemas.microsoft.com/office/drawing/2014/main" id="{92A95542-7476-3347-C710-5D4AB8B6D5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92751" y="1023006"/>
            <a:ext cx="6186805" cy="746760"/>
          </a:xfrm>
          <a:prstGeom prst="rect">
            <a:avLst/>
          </a:prstGeom>
        </p:spPr>
      </p:pic>
      <p:pic>
        <p:nvPicPr>
          <p:cNvPr id="9" name="Picture 8">
            <a:extLst>
              <a:ext uri="{FF2B5EF4-FFF2-40B4-BE49-F238E27FC236}">
                <a16:creationId xmlns:a16="http://schemas.microsoft.com/office/drawing/2014/main" id="{2CEEC7D9-6AAB-1A96-7913-6B98A9875D9B}"/>
              </a:ext>
            </a:extLst>
          </p:cNvPr>
          <p:cNvPicPr>
            <a:picLocks noChangeAspect="1"/>
          </p:cNvPicPr>
          <p:nvPr/>
        </p:nvPicPr>
        <p:blipFill>
          <a:blip r:embed="rId5"/>
          <a:stretch>
            <a:fillRect/>
          </a:stretch>
        </p:blipFill>
        <p:spPr>
          <a:xfrm>
            <a:off x="5352292" y="2800350"/>
            <a:ext cx="6093332" cy="2705390"/>
          </a:xfrm>
          <a:prstGeom prst="rect">
            <a:avLst/>
          </a:prstGeom>
        </p:spPr>
      </p:pic>
      <p:sp>
        <p:nvSpPr>
          <p:cNvPr id="6" name="Slide Number Placeholder 5">
            <a:extLst>
              <a:ext uri="{FF2B5EF4-FFF2-40B4-BE49-F238E27FC236}">
                <a16:creationId xmlns:a16="http://schemas.microsoft.com/office/drawing/2014/main" id="{54D302A8-2771-68E8-C5AA-A4061077E6A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722FD87B-4D3C-24DE-86EE-BBD07DC1116A}"/>
              </a:ext>
            </a:extLst>
          </p:cNvPr>
          <p:cNvSpPr txBox="1"/>
          <p:nvPr/>
        </p:nvSpPr>
        <p:spPr>
          <a:xfrm>
            <a:off x="720892" y="132641"/>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Receivables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Received Payment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70222628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1227</Words>
  <Application>Microsoft Office PowerPoint</Application>
  <PresentationFormat>Widescreen</PresentationFormat>
  <Paragraphs>167</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Animosa Extra Bold</vt:lpstr>
      <vt:lpstr>Arial</vt:lpstr>
      <vt:lpstr>Bodoni MT Condensed</vt:lpstr>
      <vt:lpstr>Calibri</vt:lpstr>
      <vt:lpstr>Calibri Light</vt:lpstr>
      <vt:lpstr>Chivo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1</cp:revision>
  <dcterms:created xsi:type="dcterms:W3CDTF">2023-01-03T08:53:03Z</dcterms:created>
  <dcterms:modified xsi:type="dcterms:W3CDTF">2023-01-03T08:53:12Z</dcterms:modified>
</cp:coreProperties>
</file>