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9" r:id="rId2"/>
    <p:sldId id="263" r:id="rId3"/>
    <p:sldId id="291" r:id="rId4"/>
    <p:sldId id="274" r:id="rId5"/>
    <p:sldId id="292" r:id="rId6"/>
    <p:sldId id="276" r:id="rId7"/>
    <p:sldId id="277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111" d="100"/>
          <a:sy n="111" d="100"/>
        </p:scale>
        <p:origin x="456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A0B62D-C7D8-6047-F801-51B9C5B7722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5C07881-D4E7-D951-7318-BD4B480F796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P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1BC17D7-AD68-F9C4-0CF0-6F6D0D2DF3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707959-F8A2-4579-8B1A-3904AE839F54}" type="datetimeFigureOut">
              <a:rPr lang="en-PH" smtClean="0"/>
              <a:t>01/10/2023</a:t>
            </a:fld>
            <a:endParaRPr lang="en-P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231B936-BEDA-B682-387A-C2E28347E0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CAE32F0-A8AB-C276-792A-9BC2E7B601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E16B2A-E8A9-48DC-8BFE-93FAFACED585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241706863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C53DFF-6142-17ED-0FD6-5D0ED6815C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488FDE-CBEE-679B-6C28-FC5E36EBC6D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FD57131-AD23-96CB-79D5-C7856954BC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707959-F8A2-4579-8B1A-3904AE839F54}" type="datetimeFigureOut">
              <a:rPr lang="en-PH" smtClean="0"/>
              <a:t>01/10/2023</a:t>
            </a:fld>
            <a:endParaRPr lang="en-P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DD3C720-905B-0DFF-F931-1BAA76D87B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15B2172-3CE8-8B1A-DD22-1C7147C31C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E16B2A-E8A9-48DC-8BFE-93FAFACED585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13161585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765935-BEFB-EFDB-74A7-EE02A1CE24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2CA76B2-3D9A-933C-6DD3-4E37EEB8969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BA89307-6156-0127-1DA6-B55FC89605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707959-F8A2-4579-8B1A-3904AE839F54}" type="datetimeFigureOut">
              <a:rPr lang="en-PH" smtClean="0"/>
              <a:t>01/10/2023</a:t>
            </a:fld>
            <a:endParaRPr lang="en-P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2645E61-E358-BA71-6586-5613281317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031C576-3910-142B-B248-5539747B69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E16B2A-E8A9-48DC-8BFE-93FAFACED585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22073643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786580-EAC4-1772-153C-4D4252807F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DC36A4-D7E7-6914-DF78-2809781064D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DF9DDE3-67D1-5B60-4E0D-885DA9E6ADF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ACB2583-8EB4-6822-8D29-D54F4E2566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707959-F8A2-4579-8B1A-3904AE839F54}" type="datetimeFigureOut">
              <a:rPr lang="en-PH" smtClean="0"/>
              <a:t>01/10/2023</a:t>
            </a:fld>
            <a:endParaRPr lang="en-PH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3DC38AB-9265-752C-A2A5-77C9AA34F6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628BCDB-D2FB-B19D-5A51-355FFDAC9E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E16B2A-E8A9-48DC-8BFE-93FAFACED585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414920700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B34F77-E2D6-7ADC-91A0-F1DEE28F66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675C01E-AC59-5821-AB9F-17CA3BC6405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6A09176-01C4-EA0B-93C4-EB726E45D48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CFCBEBD-27CA-BB15-624A-63F07AA8F47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63DD438-4F30-188B-1BF2-4AC5A7A49C4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1955682-CA71-42DB-B168-CA1EE62DF1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707959-F8A2-4579-8B1A-3904AE839F54}" type="datetimeFigureOut">
              <a:rPr lang="en-PH" smtClean="0"/>
              <a:t>01/10/2023</a:t>
            </a:fld>
            <a:endParaRPr lang="en-PH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D3378DF-BCD2-107E-9D4F-227453DFED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D0A6AC9-DD6C-D43F-2E25-3F7F81D7ED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E16B2A-E8A9-48DC-8BFE-93FAFACED585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184897110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C16E74-E342-3705-710D-6BF8D2A07A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2B6177D-D514-2C89-EFA6-D05D08650E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707959-F8A2-4579-8B1A-3904AE839F54}" type="datetimeFigureOut">
              <a:rPr lang="en-PH" smtClean="0"/>
              <a:t>01/10/2023</a:t>
            </a:fld>
            <a:endParaRPr lang="en-PH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11F5858-02E7-5F99-9830-EC1F1A789B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1FE046D-6649-C608-E524-E41E388514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E16B2A-E8A9-48DC-8BFE-93FAFACED585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22384521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85093B1-1EDD-6C87-8764-858B01836F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707959-F8A2-4579-8B1A-3904AE839F54}" type="datetimeFigureOut">
              <a:rPr lang="en-PH" smtClean="0"/>
              <a:t>01/10/2023</a:t>
            </a:fld>
            <a:endParaRPr lang="en-PH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E6A3CC6-3E41-0785-1225-4C89BA269E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B8FB215-CA2B-0871-ECC4-F7369EE795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E16B2A-E8A9-48DC-8BFE-93FAFACED585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329350670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C6972A-3153-25F7-242D-CF64926804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ACE414D-63DA-1946-5048-3AB2E3405F7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348849E-1CF9-676A-E169-9C3A4D8E625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54F1CC9-56C6-D0B3-ACFE-A1699BDBCD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707959-F8A2-4579-8B1A-3904AE839F54}" type="datetimeFigureOut">
              <a:rPr lang="en-PH" smtClean="0"/>
              <a:t>01/10/2023</a:t>
            </a:fld>
            <a:endParaRPr lang="en-PH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159ED0D-CC09-E888-D47C-F64E48C43F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60A34F3-E191-214E-80FE-01BBFB389B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E16B2A-E8A9-48DC-8BFE-93FAFACED585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185203869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04C84E-EA8F-BF28-191F-8DE3B34A58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B24B4F3-A1B1-CFD5-E0FA-24FB81FF31D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PH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37A8C0B-7826-A420-DCEF-06110477E2C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1CE1BF7-D5B0-06CA-DF77-33669C6F03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707959-F8A2-4579-8B1A-3904AE839F54}" type="datetimeFigureOut">
              <a:rPr lang="en-PH" smtClean="0"/>
              <a:t>01/10/2023</a:t>
            </a:fld>
            <a:endParaRPr lang="en-PH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B3D937F-2975-46C7-645C-0CD18A40AE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B41C109-E158-DDA5-8B5D-80477F80A5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E16B2A-E8A9-48DC-8BFE-93FAFACED585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13188337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2DE97D-7263-6A7B-5BE1-4AA9C6968A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6423862-E9BE-5549-A8DD-0B5A1C0A88B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B8940A9-05A8-FC8D-E7B8-62F64B2F34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707959-F8A2-4579-8B1A-3904AE839F54}" type="datetimeFigureOut">
              <a:rPr lang="en-PH" smtClean="0"/>
              <a:t>01/10/2023</a:t>
            </a:fld>
            <a:endParaRPr lang="en-P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2073B2F-3794-CD69-2967-B7E1FE7A6F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2C44B5B-8377-06BA-7D23-50953C6166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E16B2A-E8A9-48DC-8BFE-93FAFACED585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376413770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E9F3114-627C-6770-620B-636389BE329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D1564D6-4112-4C95-76E7-03FC2880EE7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EE3815F-E3FA-ED25-0E24-221AFE7E94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707959-F8A2-4579-8B1A-3904AE839F54}" type="datetimeFigureOut">
              <a:rPr lang="en-PH" smtClean="0"/>
              <a:t>01/10/2023</a:t>
            </a:fld>
            <a:endParaRPr lang="en-P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1328F1E-E6F2-9AE3-AF36-4CFAC12947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0828B85-4C87-806F-12DC-66624571E2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E16B2A-E8A9-48DC-8BFE-93FAFACED585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302606765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F27681C-A196-C18D-FCCF-FB29837E85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AACEB0B-899B-C12B-9803-847B0FA42C5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51F46D8-BCA1-8987-075D-C67C272EEA7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1707959-F8A2-4579-8B1A-3904AE839F54}" type="datetimeFigureOut">
              <a:rPr lang="en-PH" smtClean="0"/>
              <a:t>01/10/2023</a:t>
            </a:fld>
            <a:endParaRPr lang="en-P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6B91B7B-C9A2-58EA-DEF0-72522AF5EF6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P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17DC34A-7613-DA97-9C97-026A15A85E4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0E16B2A-E8A9-48DC-8BFE-93FAFACED585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77299341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3C7E240B-5C00-D259-7CC9-8482319B9C8B}"/>
              </a:ext>
            </a:extLst>
          </p:cNvPr>
          <p:cNvSpPr txBox="1"/>
          <p:nvPr/>
        </p:nvSpPr>
        <p:spPr>
          <a:xfrm>
            <a:off x="2327374" y="1790241"/>
            <a:ext cx="8128592" cy="1569660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pPr algn="ctr"/>
            <a:r>
              <a:rPr lang="en-US" sz="9600" b="1" dirty="0">
                <a:solidFill>
                  <a:srgbClr val="00B050"/>
                </a:solidFill>
                <a:latin typeface="Bodoni MT Condensed" panose="02070606080606020203" pitchFamily="18" charset="0"/>
                <a:ea typeface="MS Gothic" panose="020B0609070205080204" pitchFamily="49" charset="-128"/>
              </a:rPr>
              <a:t>Customer Ledger</a:t>
            </a:r>
            <a:endParaRPr lang="en-US" sz="9600" dirty="0">
              <a:solidFill>
                <a:srgbClr val="00B050"/>
              </a:solidFill>
              <a:latin typeface="Bodoni MT Condensed" panose="02070606080606020203" pitchFamily="18" charset="0"/>
              <a:ea typeface="MS Gothic" panose="020B0609070205080204" pitchFamily="49" charset="-128"/>
            </a:endParaRPr>
          </a:p>
        </p:txBody>
      </p:sp>
      <p:sp>
        <p:nvSpPr>
          <p:cNvPr id="8" name="Text Box 6">
            <a:extLst>
              <a:ext uri="{FF2B5EF4-FFF2-40B4-BE49-F238E27FC236}">
                <a16:creationId xmlns:a16="http://schemas.microsoft.com/office/drawing/2014/main" id="{F98AB504-F121-820A-CAC3-1E72B851128C}"/>
              </a:ext>
            </a:extLst>
          </p:cNvPr>
          <p:cNvSpPr txBox="1"/>
          <p:nvPr/>
        </p:nvSpPr>
        <p:spPr>
          <a:xfrm>
            <a:off x="0" y="5769429"/>
            <a:ext cx="12191999" cy="1088572"/>
          </a:xfrm>
          <a:prstGeom prst="rect">
            <a:avLst/>
          </a:prstGeom>
          <a:solidFill>
            <a:srgbClr val="00863D"/>
          </a:solidFill>
          <a:ln w="6350">
            <a:noFill/>
          </a:ln>
          <a:effectLst/>
        </p:spPr>
        <p:txBody>
          <a:bodyPr rot="0" spcFirstLastPara="0" vert="horz" wrap="square" lIns="91440" tIns="91440" rIns="91440" bIns="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algn="ctr">
              <a:spcBef>
                <a:spcPts val="0"/>
              </a:spcBef>
            </a:pPr>
            <a:endParaRPr lang="en-US" sz="1400" dirty="0">
              <a:solidFill>
                <a:schemeClr val="bg1"/>
              </a:solidFill>
              <a:ea typeface="Open Sans" panose="020B0606030504020204" pitchFamily="34" charset="0"/>
              <a:cs typeface="Times New Roman" panose="02020603050405020304" pitchFamily="18" charset="0"/>
            </a:endParaRPr>
          </a:p>
          <a:p>
            <a:pPr marL="0" marR="0" algn="ctr">
              <a:spcBef>
                <a:spcPts val="0"/>
              </a:spcBef>
            </a:pPr>
            <a:r>
              <a:rPr lang="en-US" sz="1400" dirty="0">
                <a:solidFill>
                  <a:schemeClr val="bg1"/>
                </a:solidFill>
                <a:ea typeface="Open Sans" panose="020B0606030504020204" pitchFamily="34" charset="0"/>
                <a:cs typeface="Times New Roman" panose="02020603050405020304" pitchFamily="18" charset="0"/>
              </a:rPr>
              <a:t>Customer Ledger is a list of customers of the company.</a:t>
            </a:r>
          </a:p>
          <a:p>
            <a:pPr marL="0" marR="0" algn="ctr">
              <a:spcBef>
                <a:spcPts val="0"/>
              </a:spcBef>
            </a:pPr>
            <a:r>
              <a:rPr lang="en-US" sz="1400" dirty="0">
                <a:solidFill>
                  <a:schemeClr val="bg1"/>
                </a:solidFill>
                <a:ea typeface="Open Sans" panose="020B0606030504020204" pitchFamily="34" charset="0"/>
                <a:cs typeface="Times New Roman" panose="02020603050405020304" pitchFamily="18" charset="0"/>
              </a:rPr>
              <a:t>It is where all transactions in inventory, receivables and payments made by the customer are all display.</a:t>
            </a:r>
            <a:endParaRPr lang="en-US" sz="1400" dirty="0">
              <a:solidFill>
                <a:srgbClr val="007434"/>
              </a:solidFill>
              <a:effectLst/>
              <a:ea typeface="Open Sans" panose="020B060603050402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5769953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Text Box 6">
            <a:extLst>
              <a:ext uri="{FF2B5EF4-FFF2-40B4-BE49-F238E27FC236}">
                <a16:creationId xmlns:a16="http://schemas.microsoft.com/office/drawing/2014/main" id="{54861942-378E-F979-6642-00E02D67C1A4}"/>
              </a:ext>
            </a:extLst>
          </p:cNvPr>
          <p:cNvSpPr txBox="1"/>
          <p:nvPr/>
        </p:nvSpPr>
        <p:spPr>
          <a:xfrm>
            <a:off x="0" y="-11307"/>
            <a:ext cx="5106907" cy="653359"/>
          </a:xfrm>
          <a:prstGeom prst="rect">
            <a:avLst/>
          </a:prstGeom>
          <a:solidFill>
            <a:srgbClr val="00863D"/>
          </a:solidFill>
          <a:ln w="6350">
            <a:noFill/>
          </a:ln>
          <a:effectLst>
            <a:outerShdw blurRad="50800" dist="38100" dir="2700000" sx="73000" sy="73000" algn="tl" rotWithShape="0">
              <a:prstClr val="black">
                <a:alpha val="5000"/>
              </a:prstClr>
            </a:outerShdw>
          </a:effectLst>
        </p:spPr>
        <p:txBody>
          <a:bodyPr rot="0" spcFirstLastPara="0" vert="horz" wrap="square" lIns="91440" tIns="91440" rIns="91440" bIns="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algn="ctr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endParaRPr lang="en-US" sz="1400" dirty="0">
              <a:solidFill>
                <a:srgbClr val="007434"/>
              </a:solidFill>
              <a:effectLst/>
              <a:ea typeface="Open Sans" panose="020B0606030504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C7E240B-5C00-D259-7CC9-8482319B9C8B}"/>
              </a:ext>
            </a:extLst>
          </p:cNvPr>
          <p:cNvSpPr txBox="1"/>
          <p:nvPr/>
        </p:nvSpPr>
        <p:spPr>
          <a:xfrm>
            <a:off x="805110" y="123167"/>
            <a:ext cx="4386015" cy="707886"/>
          </a:xfrm>
          <a:prstGeom prst="rect">
            <a:avLst/>
          </a:prstGeom>
          <a:noFill/>
          <a:effectLst>
            <a:glow rad="228600">
              <a:schemeClr val="accent6">
                <a:lumMod val="20000"/>
                <a:lumOff val="80000"/>
                <a:alpha val="40000"/>
              </a:schemeClr>
            </a:glow>
            <a:outerShdw blurRad="50800" dist="38100" dir="2700000" algn="tl" rotWithShape="0">
              <a:srgbClr val="00863D">
                <a:alpha val="10000"/>
              </a:srgbClr>
            </a:outerShdw>
          </a:effectLst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chemeClr val="accent6">
                    <a:lumMod val="20000"/>
                    <a:lumOff val="80000"/>
                  </a:schemeClr>
                </a:solidFill>
                <a:latin typeface="+mj-lt"/>
              </a:rPr>
              <a:t>Masterfile </a:t>
            </a:r>
            <a:r>
              <a:rPr lang="en-US" sz="2000" dirty="0">
                <a:solidFill>
                  <a:schemeClr val="accent6">
                    <a:lumMod val="20000"/>
                    <a:lumOff val="80000"/>
                  </a:schemeClr>
                </a:solidFill>
                <a:latin typeface="+mj-lt"/>
              </a:rPr>
              <a:t>/ Customer Ledger </a:t>
            </a:r>
            <a:r>
              <a:rPr lang="en-US" sz="1900" dirty="0">
                <a:solidFill>
                  <a:schemeClr val="accent6">
                    <a:lumMod val="20000"/>
                    <a:lumOff val="80000"/>
                  </a:schemeClr>
                </a:solidFill>
                <a:latin typeface="+mj-lt"/>
              </a:rPr>
              <a:t>- Module</a:t>
            </a:r>
          </a:p>
          <a:p>
            <a:endParaRPr lang="en-US" sz="2000" dirty="0">
              <a:solidFill>
                <a:srgbClr val="007434"/>
              </a:solidFill>
              <a:latin typeface="+mj-lt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6801940-C472-2128-749A-74F3CCB5F124}"/>
              </a:ext>
            </a:extLst>
          </p:cNvPr>
          <p:cNvSpPr txBox="1"/>
          <p:nvPr/>
        </p:nvSpPr>
        <p:spPr>
          <a:xfrm>
            <a:off x="805110" y="2375033"/>
            <a:ext cx="3887062" cy="338554"/>
          </a:xfrm>
          <a:prstGeom prst="rect">
            <a:avLst/>
          </a:prstGeom>
          <a:solidFill>
            <a:srgbClr val="00B050"/>
          </a:solidFill>
          <a:effectLst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solidFill>
                  <a:schemeClr val="bg1"/>
                </a:solidFill>
                <a:latin typeface="+mj-lt"/>
              </a:rPr>
              <a:t>Main Window</a:t>
            </a:r>
            <a:endParaRPr lang="en-US" sz="2000" dirty="0">
              <a:solidFill>
                <a:srgbClr val="007434"/>
              </a:solidFill>
              <a:latin typeface="+mj-lt"/>
            </a:endParaRPr>
          </a:p>
        </p:txBody>
      </p:sp>
      <p:pic>
        <p:nvPicPr>
          <p:cNvPr id="28" name="Picture 27">
            <a:extLst>
              <a:ext uri="{FF2B5EF4-FFF2-40B4-BE49-F238E27FC236}">
                <a16:creationId xmlns:a16="http://schemas.microsoft.com/office/drawing/2014/main" id="{CB5C160F-C04C-EA95-C39F-2B967C6BCB5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80479" y="6391410"/>
            <a:ext cx="1047454" cy="267619"/>
          </a:xfrm>
          <a:prstGeom prst="rect">
            <a:avLst/>
          </a:prstGeom>
          <a:effectLst/>
        </p:spPr>
      </p:pic>
      <p:sp>
        <p:nvSpPr>
          <p:cNvPr id="20" name="Text Box 15">
            <a:extLst>
              <a:ext uri="{FF2B5EF4-FFF2-40B4-BE49-F238E27FC236}">
                <a16:creationId xmlns:a16="http://schemas.microsoft.com/office/drawing/2014/main" id="{E1DF78E5-41B8-4843-8426-68AD1D115D04}"/>
              </a:ext>
            </a:extLst>
          </p:cNvPr>
          <p:cNvSpPr txBox="1"/>
          <p:nvPr/>
        </p:nvSpPr>
        <p:spPr>
          <a:xfrm>
            <a:off x="832872" y="2847734"/>
            <a:ext cx="3887062" cy="1271768"/>
          </a:xfrm>
          <a:prstGeom prst="rect">
            <a:avLst/>
          </a:prstGeom>
          <a:noFill/>
          <a:ln w="6350">
            <a:noFill/>
          </a:ln>
          <a:effectLst/>
        </p:spPr>
        <p:txBody>
          <a:bodyPr rot="0" spcFirstLastPara="0" vert="horz" wrap="square" lIns="91440" tIns="91440" rIns="91440" bIns="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227330" lvl="2">
              <a:lnSpc>
                <a:spcPct val="107000"/>
              </a:lnSpc>
              <a:spcBef>
                <a:spcPts val="190"/>
              </a:spcBef>
              <a:spcAft>
                <a:spcPts val="800"/>
              </a:spcAft>
            </a:pPr>
            <a:r>
              <a:rPr lang="en-PH" sz="14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When you click the Customer module under Masterfile, customer list will display in the customer ledger main window. </a:t>
            </a:r>
            <a:endParaRPr lang="en-US" sz="1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lvl="2">
              <a:lnSpc>
                <a:spcPct val="107000"/>
              </a:lnSpc>
            </a:pPr>
            <a:r>
              <a:rPr lang="en-PH" sz="1000" dirty="0">
                <a:effectLst/>
                <a:latin typeface="Chivo Light" panose="020B03030302020208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US" sz="1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lvl="2">
              <a:lnSpc>
                <a:spcPct val="107000"/>
              </a:lnSpc>
              <a:spcAft>
                <a:spcPts val="800"/>
              </a:spcAft>
            </a:pPr>
            <a:r>
              <a:rPr lang="en-PH" sz="1300" cap="all" dirty="0">
                <a:solidFill>
                  <a:srgbClr val="4472C4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  <a:endParaRPr lang="en-US" sz="1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lvl="2">
              <a:lnSpc>
                <a:spcPct val="107000"/>
              </a:lnSpc>
              <a:spcAft>
                <a:spcPts val="800"/>
              </a:spcAft>
            </a:pPr>
            <a:r>
              <a:rPr lang="en-PH" sz="1300" cap="all" dirty="0">
                <a:solidFill>
                  <a:srgbClr val="4472C4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  <a:endParaRPr lang="en-US" sz="1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438989E4-F23C-F4AC-684B-2BE81114D33A}"/>
              </a:ext>
            </a:extLst>
          </p:cNvPr>
          <p:cNvSpPr txBox="1"/>
          <p:nvPr/>
        </p:nvSpPr>
        <p:spPr>
          <a:xfrm>
            <a:off x="7305287" y="4396080"/>
            <a:ext cx="2552700" cy="2812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ctr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PH" sz="12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Customer Ledger – Main </a:t>
            </a:r>
            <a:r>
              <a:rPr lang="en-PH" sz="12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Window</a:t>
            </a:r>
            <a:endParaRPr lang="en-US" sz="1200" b="1" dirty="0"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A93AC979-6F02-F220-CC6C-81ED0BDD1737}"/>
              </a:ext>
            </a:extLst>
          </p:cNvPr>
          <p:cNvGrpSpPr/>
          <p:nvPr/>
        </p:nvGrpSpPr>
        <p:grpSpPr>
          <a:xfrm>
            <a:off x="5367090" y="1831950"/>
            <a:ext cx="6019800" cy="2548255"/>
            <a:chOff x="5106907" y="1561525"/>
            <a:chExt cx="6019800" cy="2548255"/>
          </a:xfrm>
        </p:grpSpPr>
        <p:grpSp>
          <p:nvGrpSpPr>
            <p:cNvPr id="2" name="Group 1">
              <a:extLst>
                <a:ext uri="{FF2B5EF4-FFF2-40B4-BE49-F238E27FC236}">
                  <a16:creationId xmlns:a16="http://schemas.microsoft.com/office/drawing/2014/main" id="{521B408F-2D25-D2C4-E06A-C0A4E925CD5B}"/>
                </a:ext>
              </a:extLst>
            </p:cNvPr>
            <p:cNvGrpSpPr/>
            <p:nvPr/>
          </p:nvGrpSpPr>
          <p:grpSpPr>
            <a:xfrm>
              <a:off x="5106907" y="1561525"/>
              <a:ext cx="6019800" cy="2548255"/>
              <a:chOff x="190500" y="0"/>
              <a:chExt cx="6019800" cy="2548255"/>
            </a:xfrm>
          </p:grpSpPr>
          <p:pic>
            <p:nvPicPr>
              <p:cNvPr id="8" name="Picture 7">
                <a:extLst>
                  <a:ext uri="{FF2B5EF4-FFF2-40B4-BE49-F238E27FC236}">
                    <a16:creationId xmlns:a16="http://schemas.microsoft.com/office/drawing/2014/main" id="{FC3362EA-1138-702E-4748-717808B5ADF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190500" y="0"/>
                <a:ext cx="6019800" cy="2350135"/>
              </a:xfrm>
              <a:prstGeom prst="rect">
                <a:avLst/>
              </a:prstGeom>
            </p:spPr>
          </p:pic>
          <p:pic>
            <p:nvPicPr>
              <p:cNvPr id="9" name="Picture 8">
                <a:extLst>
                  <a:ext uri="{FF2B5EF4-FFF2-40B4-BE49-F238E27FC236}">
                    <a16:creationId xmlns:a16="http://schemas.microsoft.com/office/drawing/2014/main" id="{766D915E-5814-F95C-7C98-D23E144EEAC2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3232" t="4250"/>
              <a:stretch/>
            </p:blipFill>
            <p:spPr>
              <a:xfrm>
                <a:off x="200025" y="2333625"/>
                <a:ext cx="5989320" cy="214630"/>
              </a:xfrm>
              <a:prstGeom prst="rect">
                <a:avLst/>
              </a:prstGeom>
            </p:spPr>
          </p:pic>
        </p:grpSp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FB912945-E0C1-904A-6AE2-06E9D18C3971}"/>
                </a:ext>
              </a:extLst>
            </p:cNvPr>
            <p:cNvSpPr/>
            <p:nvPr/>
          </p:nvSpPr>
          <p:spPr>
            <a:xfrm>
              <a:off x="5202157" y="2460050"/>
              <a:ext cx="990600" cy="171450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E0B10776-CC5B-34CD-B033-ED2F6412E1F1}"/>
                </a:ext>
              </a:extLst>
            </p:cNvPr>
            <p:cNvSpPr/>
            <p:nvPr/>
          </p:nvSpPr>
          <p:spPr>
            <a:xfrm>
              <a:off x="6421357" y="2345750"/>
              <a:ext cx="4171950" cy="1533525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cxnSp>
          <p:nvCxnSpPr>
            <p:cNvPr id="7" name="Straight Arrow Connector 6">
              <a:extLst>
                <a:ext uri="{FF2B5EF4-FFF2-40B4-BE49-F238E27FC236}">
                  <a16:creationId xmlns:a16="http://schemas.microsoft.com/office/drawing/2014/main" id="{C1753E08-B929-72C1-3CA1-DD200D97DAAE}"/>
                </a:ext>
              </a:extLst>
            </p:cNvPr>
            <p:cNvCxnSpPr/>
            <p:nvPr/>
          </p:nvCxnSpPr>
          <p:spPr>
            <a:xfrm>
              <a:off x="6183232" y="2545775"/>
              <a:ext cx="257175" cy="1905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11" name="Slide Number Placeholder 9">
            <a:extLst>
              <a:ext uri="{FF2B5EF4-FFF2-40B4-BE49-F238E27FC236}">
                <a16:creationId xmlns:a16="http://schemas.microsoft.com/office/drawing/2014/main" id="{5F96E4AE-0F17-4B13-DD8D-4AAF86D3706E}"/>
              </a:ext>
            </a:extLst>
          </p:cNvPr>
          <p:cNvSpPr>
            <a:spLocks noGrp="1"/>
          </p:cNvSpPr>
          <p:nvPr/>
        </p:nvSpPr>
        <p:spPr>
          <a:xfrm>
            <a:off x="93608" y="6391410"/>
            <a:ext cx="54091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16086AB-602C-49A8-AF1B-7C398AACFC06}" type="slidenum">
              <a:rPr kumimoji="0" lang="en-US" sz="1600" b="0" i="0" u="none" strike="noStrike" kern="1200" cap="none" spc="0" normalizeH="0" baseline="0" noProof="0" smtClean="0">
                <a:ln>
                  <a:noFill/>
                </a:ln>
                <a:solidFill>
                  <a:srgbClr val="00863D"/>
                </a:solidFill>
                <a:effectLst/>
                <a:uLnTx/>
                <a:uFillTx/>
                <a:latin typeface="Animosa Extra Bold" panose="00000900000000000000" pitchFamily="50" charset="0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00863D"/>
              </a:solidFill>
              <a:effectLst/>
              <a:uLnTx/>
              <a:uFillTx/>
              <a:latin typeface="Animosa Extra Bold" panose="00000900000000000000" pitchFamily="50" charset="0"/>
              <a:ea typeface="+mn-ea"/>
              <a:cs typeface="+mn-cs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5712591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Text Box 6">
            <a:extLst>
              <a:ext uri="{FF2B5EF4-FFF2-40B4-BE49-F238E27FC236}">
                <a16:creationId xmlns:a16="http://schemas.microsoft.com/office/drawing/2014/main" id="{54861942-378E-F979-6642-00E02D67C1A4}"/>
              </a:ext>
            </a:extLst>
          </p:cNvPr>
          <p:cNvSpPr txBox="1"/>
          <p:nvPr/>
        </p:nvSpPr>
        <p:spPr>
          <a:xfrm>
            <a:off x="0" y="-11307"/>
            <a:ext cx="5106907" cy="653359"/>
          </a:xfrm>
          <a:prstGeom prst="rect">
            <a:avLst/>
          </a:prstGeom>
          <a:solidFill>
            <a:srgbClr val="00863D"/>
          </a:solidFill>
          <a:ln w="6350">
            <a:noFill/>
          </a:ln>
          <a:effectLst>
            <a:outerShdw blurRad="50800" dist="38100" dir="2700000" sx="73000" sy="73000" algn="tl" rotWithShape="0">
              <a:prstClr val="black">
                <a:alpha val="5000"/>
              </a:prstClr>
            </a:outerShdw>
          </a:effectLst>
        </p:spPr>
        <p:txBody>
          <a:bodyPr rot="0" spcFirstLastPara="0" vert="horz" wrap="square" lIns="91440" tIns="91440" rIns="91440" bIns="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algn="ctr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endParaRPr lang="en-US" sz="1400" dirty="0">
              <a:solidFill>
                <a:srgbClr val="007434"/>
              </a:solidFill>
              <a:effectLst/>
              <a:ea typeface="Open Sans" panose="020B0606030504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2384804B-EE2E-A346-8D83-E2034F24A0DC}"/>
              </a:ext>
            </a:extLst>
          </p:cNvPr>
          <p:cNvSpPr txBox="1"/>
          <p:nvPr/>
        </p:nvSpPr>
        <p:spPr>
          <a:xfrm>
            <a:off x="805110" y="965527"/>
            <a:ext cx="3852819" cy="337392"/>
          </a:xfrm>
          <a:prstGeom prst="rect">
            <a:avLst/>
          </a:prstGeom>
          <a:solidFill>
            <a:srgbClr val="00B050"/>
          </a:solidFill>
          <a:effectLst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solidFill>
                  <a:schemeClr val="bg1"/>
                </a:solidFill>
                <a:latin typeface="+mj-lt"/>
              </a:rPr>
              <a:t>How To Create New Customer?</a:t>
            </a:r>
            <a:endParaRPr lang="en-US" sz="2000" dirty="0">
              <a:solidFill>
                <a:srgbClr val="007434"/>
              </a:solidFill>
              <a:latin typeface="+mj-lt"/>
            </a:endParaRPr>
          </a:p>
        </p:txBody>
      </p:sp>
      <p:sp>
        <p:nvSpPr>
          <p:cNvPr id="12" name="Text Box 18">
            <a:extLst>
              <a:ext uri="{FF2B5EF4-FFF2-40B4-BE49-F238E27FC236}">
                <a16:creationId xmlns:a16="http://schemas.microsoft.com/office/drawing/2014/main" id="{9A8214E9-BA24-C1CD-FE2E-59471D8D7178}"/>
              </a:ext>
            </a:extLst>
          </p:cNvPr>
          <p:cNvSpPr txBox="1"/>
          <p:nvPr/>
        </p:nvSpPr>
        <p:spPr>
          <a:xfrm>
            <a:off x="367344" y="1981040"/>
            <a:ext cx="4588921" cy="3911433"/>
          </a:xfrm>
          <a:prstGeom prst="rect">
            <a:avLst/>
          </a:prstGeom>
          <a:noFill/>
          <a:ln w="6350">
            <a:noFill/>
          </a:ln>
          <a:effectLst/>
        </p:spPr>
        <p:txBody>
          <a:bodyPr rot="0" spcFirstLastPara="0" vert="horz" wrap="square" lIns="91440" tIns="91440" rIns="91440" bIns="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457200" marR="0" indent="-228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863D"/>
              </a:buClr>
              <a:buFont typeface="+mj-lt"/>
              <a:buAutoNum type="arabicPeriod"/>
            </a:pPr>
            <a:r>
              <a:rPr lang="en-US" sz="1200" dirty="0">
                <a:effectLst/>
                <a:latin typeface="Chivo Light" panose="020B03030302020208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In Customer Ledger – Main Window, you will notice a create button in the upper left of the window. Click the create button and you will be redirect in customer ledger – main form.</a:t>
            </a:r>
          </a:p>
          <a:p>
            <a:pPr marL="457200" marR="0" indent="-228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863D"/>
              </a:buClr>
              <a:buFont typeface="+mj-lt"/>
              <a:buAutoNum type="arabicPeriod"/>
            </a:pPr>
            <a:endParaRPr lang="en-US" sz="1200" dirty="0">
              <a:effectLst/>
              <a:latin typeface="Chivo Light" panose="020B03030302020208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marR="0" indent="-228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863D"/>
              </a:buClr>
              <a:buFont typeface="+mj-lt"/>
              <a:buAutoNum type="arabicPeriod"/>
            </a:pPr>
            <a:r>
              <a:rPr lang="en-US" sz="1200" dirty="0">
                <a:effectLst/>
                <a:latin typeface="Chivo Light" panose="020B03030302020208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After you click the create button in the customer ledger – main window, you will be redirected in customer ledger – main form where you will encode the customer other information.</a:t>
            </a:r>
          </a:p>
          <a:p>
            <a:pPr marL="457200" marR="0" indent="-228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863D"/>
              </a:buClr>
              <a:buFont typeface="+mj-lt"/>
              <a:buAutoNum type="arabicPeriod"/>
            </a:pPr>
            <a:endParaRPr lang="en-US" sz="1200" dirty="0"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marR="0" indent="-228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863D"/>
              </a:buClr>
              <a:buFont typeface="+mj-lt"/>
              <a:buAutoNum type="arabicPeriod"/>
            </a:pPr>
            <a:r>
              <a:rPr lang="en-US" sz="1200" dirty="0">
                <a:effectLst/>
                <a:latin typeface="Chivo Light" panose="020B03030302020208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In the photo, fill in all the necessary details in the provided field.</a:t>
            </a:r>
          </a:p>
          <a:p>
            <a:pPr marL="457200" marR="0" indent="-228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863D"/>
              </a:buClr>
              <a:buFont typeface="+mj-lt"/>
              <a:buAutoNum type="arabicPeriod"/>
            </a:pPr>
            <a:endParaRPr lang="en-US" sz="1200" dirty="0">
              <a:effectLst/>
              <a:latin typeface="Chivo Light" panose="020B03030302020208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marR="0" indent="-228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863D"/>
              </a:buClr>
              <a:buFont typeface="+mj-lt"/>
              <a:buAutoNum type="arabicPeriod"/>
            </a:pPr>
            <a:r>
              <a:rPr lang="en-US" sz="1200" dirty="0">
                <a:effectLst/>
                <a:latin typeface="Chivo Light" panose="020B03030302020208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If done, click save button.</a:t>
            </a:r>
            <a:endParaRPr lang="en-US" sz="12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endParaRPr lang="en-US" sz="1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PH" sz="1300" cap="all" dirty="0">
                <a:solidFill>
                  <a:srgbClr val="4472C4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  <a:endParaRPr lang="en-US" sz="1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grpSp>
        <p:nvGrpSpPr>
          <p:cNvPr id="54" name="Group 53">
            <a:extLst>
              <a:ext uri="{FF2B5EF4-FFF2-40B4-BE49-F238E27FC236}">
                <a16:creationId xmlns:a16="http://schemas.microsoft.com/office/drawing/2014/main" id="{21C298D9-0928-F4E6-3B11-16106D6ABE2E}"/>
              </a:ext>
            </a:extLst>
          </p:cNvPr>
          <p:cNvGrpSpPr/>
          <p:nvPr/>
        </p:nvGrpSpPr>
        <p:grpSpPr>
          <a:xfrm>
            <a:off x="5462067" y="965527"/>
            <a:ext cx="6189345" cy="1238885"/>
            <a:chOff x="3001327" y="2809558"/>
            <a:chExt cx="6189345" cy="1238885"/>
          </a:xfrm>
        </p:grpSpPr>
        <p:pic>
          <p:nvPicPr>
            <p:cNvPr id="48" name="Picture 47">
              <a:extLst>
                <a:ext uri="{FF2B5EF4-FFF2-40B4-BE49-F238E27FC236}">
                  <a16:creationId xmlns:a16="http://schemas.microsoft.com/office/drawing/2014/main" id="{C0C46E2B-EBBD-3F16-A765-D76EFB68496D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001327" y="2809558"/>
              <a:ext cx="6189345" cy="1238885"/>
            </a:xfrm>
            <a:prstGeom prst="rect">
              <a:avLst/>
            </a:prstGeom>
          </p:spPr>
        </p:pic>
        <p:cxnSp>
          <p:nvCxnSpPr>
            <p:cNvPr id="51" name="Straight Arrow Connector 50">
              <a:extLst>
                <a:ext uri="{FF2B5EF4-FFF2-40B4-BE49-F238E27FC236}">
                  <a16:creationId xmlns:a16="http://schemas.microsoft.com/office/drawing/2014/main" id="{1D7BCDB9-8037-8ACC-06BB-CB98700D241E}"/>
                </a:ext>
              </a:extLst>
            </p:cNvPr>
            <p:cNvCxnSpPr/>
            <p:nvPr/>
          </p:nvCxnSpPr>
          <p:spPr>
            <a:xfrm>
              <a:off x="3912584" y="3216488"/>
              <a:ext cx="200025" cy="9525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52" name="Text Box 22">
              <a:extLst>
                <a:ext uri="{FF2B5EF4-FFF2-40B4-BE49-F238E27FC236}">
                  <a16:creationId xmlns:a16="http://schemas.microsoft.com/office/drawing/2014/main" id="{600B11A2-E210-0144-C619-3F6D39D6C7F1}"/>
                </a:ext>
              </a:extLst>
            </p:cNvPr>
            <p:cNvSpPr txBox="1"/>
            <p:nvPr/>
          </p:nvSpPr>
          <p:spPr>
            <a:xfrm>
              <a:off x="4116234" y="3101288"/>
              <a:ext cx="200025" cy="247650"/>
            </a:xfrm>
            <a:prstGeom prst="rect">
              <a:avLst/>
            </a:prstGeom>
            <a:solidFill>
              <a:srgbClr val="FFFF00"/>
            </a:solidFill>
            <a:ln w="6350">
              <a:solidFill>
                <a:prstClr val="black"/>
              </a:solidFill>
            </a:ln>
            <a:effectLst/>
          </p:spPr>
          <p:style>
            <a:lnRef idx="0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ot="0" spcFirstLastPara="0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algn="ctr">
                <a:lnSpc>
                  <a:spcPct val="107000"/>
                </a:lnSpc>
                <a:spcBef>
                  <a:spcPts val="0"/>
                </a:spcBef>
                <a:spcAft>
                  <a:spcPts val="800"/>
                </a:spcAft>
              </a:pPr>
              <a:r>
                <a:rPr lang="en-US" sz="1100" dirty="0">
                  <a:effectLst/>
                  <a:ea typeface="Calibri" panose="020F0502020204030204" pitchFamily="34" charset="0"/>
                  <a:cs typeface="Times New Roman" panose="02020603050405020304" pitchFamily="18" charset="0"/>
                </a:rPr>
                <a:t>1</a:t>
              </a:r>
            </a:p>
          </p:txBody>
        </p:sp>
        <p:sp>
          <p:nvSpPr>
            <p:cNvPr id="53" name="Rectangle 52">
              <a:extLst>
                <a:ext uri="{FF2B5EF4-FFF2-40B4-BE49-F238E27FC236}">
                  <a16:creationId xmlns:a16="http://schemas.microsoft.com/office/drawing/2014/main" id="{B60AC56F-8698-7C1A-3953-C3455432800C}"/>
                </a:ext>
              </a:extLst>
            </p:cNvPr>
            <p:cNvSpPr/>
            <p:nvPr/>
          </p:nvSpPr>
          <p:spPr>
            <a:xfrm>
              <a:off x="3112484" y="3083138"/>
              <a:ext cx="800100" cy="333375"/>
            </a:xfrm>
            <a:prstGeom prst="rect">
              <a:avLst/>
            </a:prstGeom>
            <a:noFill/>
            <a:ln w="1905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</p:grpSp>
      <p:grpSp>
        <p:nvGrpSpPr>
          <p:cNvPr id="56" name="Group 55">
            <a:extLst>
              <a:ext uri="{FF2B5EF4-FFF2-40B4-BE49-F238E27FC236}">
                <a16:creationId xmlns:a16="http://schemas.microsoft.com/office/drawing/2014/main" id="{A140C82F-E0CA-9E84-DDDE-D16648C9B0E5}"/>
              </a:ext>
            </a:extLst>
          </p:cNvPr>
          <p:cNvGrpSpPr/>
          <p:nvPr/>
        </p:nvGrpSpPr>
        <p:grpSpPr>
          <a:xfrm>
            <a:off x="5462067" y="2591144"/>
            <a:ext cx="6467475" cy="4020820"/>
            <a:chOff x="0" y="0"/>
            <a:chExt cx="6467475" cy="4020820"/>
          </a:xfrm>
        </p:grpSpPr>
        <p:grpSp>
          <p:nvGrpSpPr>
            <p:cNvPr id="57" name="Group 56">
              <a:extLst>
                <a:ext uri="{FF2B5EF4-FFF2-40B4-BE49-F238E27FC236}">
                  <a16:creationId xmlns:a16="http://schemas.microsoft.com/office/drawing/2014/main" id="{D30F95CE-203E-28A7-3E6F-ABC640E32F0C}"/>
                </a:ext>
              </a:extLst>
            </p:cNvPr>
            <p:cNvGrpSpPr/>
            <p:nvPr/>
          </p:nvGrpSpPr>
          <p:grpSpPr>
            <a:xfrm>
              <a:off x="0" y="0"/>
              <a:ext cx="6189345" cy="4020820"/>
              <a:chOff x="0" y="0"/>
              <a:chExt cx="6189345" cy="4020820"/>
            </a:xfrm>
          </p:grpSpPr>
          <p:pic>
            <p:nvPicPr>
              <p:cNvPr id="65" name="Picture 64">
                <a:extLst>
                  <a:ext uri="{FF2B5EF4-FFF2-40B4-BE49-F238E27FC236}">
                    <a16:creationId xmlns:a16="http://schemas.microsoft.com/office/drawing/2014/main" id="{B69DD843-7605-9810-2A92-8155309DF0F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57150" y="3381375"/>
                <a:ext cx="1647825" cy="639445"/>
              </a:xfrm>
              <a:prstGeom prst="rect">
                <a:avLst/>
              </a:prstGeom>
            </p:spPr>
          </p:pic>
          <p:pic>
            <p:nvPicPr>
              <p:cNvPr id="66" name="Picture 65">
                <a:extLst>
                  <a:ext uri="{FF2B5EF4-FFF2-40B4-BE49-F238E27FC236}">
                    <a16:creationId xmlns:a16="http://schemas.microsoft.com/office/drawing/2014/main" id="{89549959-3A62-5092-2F32-E3FEEE29F5A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0" y="0"/>
                <a:ext cx="6189345" cy="3479165"/>
              </a:xfrm>
              <a:prstGeom prst="rect">
                <a:avLst/>
              </a:prstGeom>
            </p:spPr>
          </p:pic>
        </p:grpSp>
        <p:sp>
          <p:nvSpPr>
            <p:cNvPr id="58" name="Rectangle 57">
              <a:extLst>
                <a:ext uri="{FF2B5EF4-FFF2-40B4-BE49-F238E27FC236}">
                  <a16:creationId xmlns:a16="http://schemas.microsoft.com/office/drawing/2014/main" id="{72AA704A-F264-37C8-4F82-3944BCDA81E4}"/>
                </a:ext>
              </a:extLst>
            </p:cNvPr>
            <p:cNvSpPr/>
            <p:nvPr/>
          </p:nvSpPr>
          <p:spPr>
            <a:xfrm>
              <a:off x="57150" y="885825"/>
              <a:ext cx="5981700" cy="2971800"/>
            </a:xfrm>
            <a:prstGeom prst="rect">
              <a:avLst/>
            </a:prstGeom>
            <a:noFill/>
            <a:ln w="1905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cxnSp>
          <p:nvCxnSpPr>
            <p:cNvPr id="59" name="Straight Arrow Connector 58">
              <a:extLst>
                <a:ext uri="{FF2B5EF4-FFF2-40B4-BE49-F238E27FC236}">
                  <a16:creationId xmlns:a16="http://schemas.microsoft.com/office/drawing/2014/main" id="{DD39E60F-3C3D-BA00-F31B-93EB5CA9ED74}"/>
                </a:ext>
              </a:extLst>
            </p:cNvPr>
            <p:cNvCxnSpPr/>
            <p:nvPr/>
          </p:nvCxnSpPr>
          <p:spPr>
            <a:xfrm>
              <a:off x="6067425" y="1028700"/>
              <a:ext cx="200025" cy="9525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60" name="Text Box 16">
              <a:extLst>
                <a:ext uri="{FF2B5EF4-FFF2-40B4-BE49-F238E27FC236}">
                  <a16:creationId xmlns:a16="http://schemas.microsoft.com/office/drawing/2014/main" id="{91FC79B0-D199-2009-7370-1174152405BD}"/>
                </a:ext>
              </a:extLst>
            </p:cNvPr>
            <p:cNvSpPr txBox="1"/>
            <p:nvPr/>
          </p:nvSpPr>
          <p:spPr>
            <a:xfrm>
              <a:off x="6267450" y="933450"/>
              <a:ext cx="200025" cy="272415"/>
            </a:xfrm>
            <a:prstGeom prst="rect">
              <a:avLst/>
            </a:prstGeom>
            <a:solidFill>
              <a:srgbClr val="FFFF00"/>
            </a:solidFill>
            <a:ln w="6350">
              <a:solidFill>
                <a:prstClr val="black"/>
              </a:solidFill>
            </a:ln>
            <a:effectLst/>
          </p:spPr>
          <p:style>
            <a:lnRef idx="0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ot="0" spcFirstLastPara="0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algn="ctr">
                <a:lnSpc>
                  <a:spcPct val="107000"/>
                </a:lnSpc>
                <a:spcBef>
                  <a:spcPts val="0"/>
                </a:spcBef>
                <a:spcAft>
                  <a:spcPts val="800"/>
                </a:spcAft>
              </a:pPr>
              <a:r>
                <a:rPr lang="en-US" sz="1100">
                  <a:effectLst/>
                  <a:ea typeface="Calibri" panose="020F0502020204030204" pitchFamily="34" charset="0"/>
                  <a:cs typeface="Times New Roman" panose="02020603050405020304" pitchFamily="18" charset="0"/>
                </a:rPr>
                <a:t>3</a:t>
              </a:r>
            </a:p>
          </p:txBody>
        </p:sp>
        <p:grpSp>
          <p:nvGrpSpPr>
            <p:cNvPr id="61" name="Group 60">
              <a:extLst>
                <a:ext uri="{FF2B5EF4-FFF2-40B4-BE49-F238E27FC236}">
                  <a16:creationId xmlns:a16="http://schemas.microsoft.com/office/drawing/2014/main" id="{F736B56C-3006-94B8-FD08-CB26E6A6C86F}"/>
                </a:ext>
              </a:extLst>
            </p:cNvPr>
            <p:cNvGrpSpPr/>
            <p:nvPr/>
          </p:nvGrpSpPr>
          <p:grpSpPr>
            <a:xfrm>
              <a:off x="4772025" y="381000"/>
              <a:ext cx="1057275" cy="447675"/>
              <a:chOff x="152400" y="-114300"/>
              <a:chExt cx="1057275" cy="447675"/>
            </a:xfrm>
          </p:grpSpPr>
          <p:sp>
            <p:nvSpPr>
              <p:cNvPr id="62" name="Rectangle 61">
                <a:extLst>
                  <a:ext uri="{FF2B5EF4-FFF2-40B4-BE49-F238E27FC236}">
                    <a16:creationId xmlns:a16="http://schemas.microsoft.com/office/drawing/2014/main" id="{2C198146-8276-8372-F150-D94C9FE98430}"/>
                  </a:ext>
                </a:extLst>
              </p:cNvPr>
              <p:cNvSpPr/>
              <p:nvPr/>
            </p:nvSpPr>
            <p:spPr>
              <a:xfrm>
                <a:off x="152400" y="47625"/>
                <a:ext cx="647700" cy="285750"/>
              </a:xfrm>
              <a:prstGeom prst="rect">
                <a:avLst/>
              </a:prstGeom>
              <a:noFill/>
              <a:ln w="19050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en-US"/>
              </a:p>
            </p:txBody>
          </p:sp>
          <p:cxnSp>
            <p:nvCxnSpPr>
              <p:cNvPr id="63" name="Straight Arrow Connector 62">
                <a:extLst>
                  <a:ext uri="{FF2B5EF4-FFF2-40B4-BE49-F238E27FC236}">
                    <a16:creationId xmlns:a16="http://schemas.microsoft.com/office/drawing/2014/main" id="{3204F2F3-7E38-DC6F-9DFC-A84A1F6AA186}"/>
                  </a:ext>
                </a:extLst>
              </p:cNvPr>
              <p:cNvCxnSpPr/>
              <p:nvPr/>
            </p:nvCxnSpPr>
            <p:spPr>
              <a:xfrm>
                <a:off x="800100" y="57150"/>
                <a:ext cx="200025" cy="9525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64" name="Text Box 31">
                <a:extLst>
                  <a:ext uri="{FF2B5EF4-FFF2-40B4-BE49-F238E27FC236}">
                    <a16:creationId xmlns:a16="http://schemas.microsoft.com/office/drawing/2014/main" id="{7A0A366C-E346-1595-CA8A-1A4A6C131927}"/>
                  </a:ext>
                </a:extLst>
              </p:cNvPr>
              <p:cNvSpPr txBox="1"/>
              <p:nvPr/>
            </p:nvSpPr>
            <p:spPr>
              <a:xfrm>
                <a:off x="1009650" y="-114300"/>
                <a:ext cx="200025" cy="247650"/>
              </a:xfrm>
              <a:prstGeom prst="rect">
                <a:avLst/>
              </a:prstGeom>
              <a:solidFill>
                <a:srgbClr val="FFFF00"/>
              </a:solidFill>
              <a:ln w="6350">
                <a:solidFill>
                  <a:prstClr val="black"/>
                </a:solidFill>
              </a:ln>
              <a:effectLst/>
            </p:spPr>
            <p:style>
              <a:lnRef idx="0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 rot="0" spcFirstLastPara="0" vert="horz" wrap="squar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algn="ctr">
                  <a:lnSpc>
                    <a:spcPct val="107000"/>
                  </a:lnSpc>
                  <a:spcBef>
                    <a:spcPts val="0"/>
                  </a:spcBef>
                  <a:spcAft>
                    <a:spcPts val="800"/>
                  </a:spcAft>
                </a:pPr>
                <a:r>
                  <a:rPr lang="en-US" sz="1100">
                    <a:effectLst/>
                    <a:ea typeface="Calibri" panose="020F0502020204030204" pitchFamily="34" charset="0"/>
                    <a:cs typeface="Times New Roman" panose="02020603050405020304" pitchFamily="18" charset="0"/>
                  </a:rPr>
                  <a:t>4</a:t>
                </a:r>
              </a:p>
            </p:txBody>
          </p:sp>
        </p:grpSp>
      </p:grpSp>
      <p:sp>
        <p:nvSpPr>
          <p:cNvPr id="78" name="TextBox 77">
            <a:extLst>
              <a:ext uri="{FF2B5EF4-FFF2-40B4-BE49-F238E27FC236}">
                <a16:creationId xmlns:a16="http://schemas.microsoft.com/office/drawing/2014/main" id="{892FE724-2EDC-5BB7-B8E8-4C19A44ADF63}"/>
              </a:ext>
            </a:extLst>
          </p:cNvPr>
          <p:cNvSpPr txBox="1"/>
          <p:nvPr/>
        </p:nvSpPr>
        <p:spPr>
          <a:xfrm>
            <a:off x="7605688" y="6055165"/>
            <a:ext cx="2552700" cy="2812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ctr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PH" sz="12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Customer Ledger – Main </a:t>
            </a:r>
            <a:r>
              <a:rPr lang="en-PH" sz="12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Window</a:t>
            </a:r>
            <a:endParaRPr lang="en-US" sz="1200" b="1" dirty="0"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9F79B6D-A12C-ED84-FCCC-2FD128356FED}"/>
              </a:ext>
            </a:extLst>
          </p:cNvPr>
          <p:cNvSpPr txBox="1"/>
          <p:nvPr/>
        </p:nvSpPr>
        <p:spPr>
          <a:xfrm>
            <a:off x="805110" y="123167"/>
            <a:ext cx="4386015" cy="707886"/>
          </a:xfrm>
          <a:prstGeom prst="rect">
            <a:avLst/>
          </a:prstGeom>
          <a:noFill/>
          <a:effectLst>
            <a:glow rad="228600">
              <a:schemeClr val="accent6">
                <a:lumMod val="20000"/>
                <a:lumOff val="80000"/>
                <a:alpha val="40000"/>
              </a:schemeClr>
            </a:glow>
            <a:outerShdw blurRad="50800" dist="38100" dir="2700000" algn="tl" rotWithShape="0">
              <a:srgbClr val="00863D">
                <a:alpha val="10000"/>
              </a:srgbClr>
            </a:outerShdw>
          </a:effectLst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chemeClr val="accent6">
                    <a:lumMod val="20000"/>
                    <a:lumOff val="80000"/>
                  </a:schemeClr>
                </a:solidFill>
                <a:latin typeface="+mj-lt"/>
              </a:rPr>
              <a:t>Masterfile </a:t>
            </a:r>
            <a:r>
              <a:rPr lang="en-US" sz="2000" dirty="0">
                <a:solidFill>
                  <a:schemeClr val="accent6">
                    <a:lumMod val="20000"/>
                    <a:lumOff val="80000"/>
                  </a:schemeClr>
                </a:solidFill>
                <a:latin typeface="+mj-lt"/>
              </a:rPr>
              <a:t>/ Customer Ledger</a:t>
            </a:r>
            <a:r>
              <a:rPr lang="en-US" sz="2000" dirty="0">
                <a:solidFill>
                  <a:schemeClr val="accent6">
                    <a:lumMod val="20000"/>
                    <a:lumOff val="80000"/>
                  </a:schemeClr>
                </a:solidFill>
                <a:latin typeface="Bahnschrift Condensed" panose="020B0502040204020203" pitchFamily="34" charset="0"/>
              </a:rPr>
              <a:t> </a:t>
            </a:r>
            <a:r>
              <a:rPr lang="en-US" sz="1900" dirty="0">
                <a:solidFill>
                  <a:schemeClr val="accent6">
                    <a:lumMod val="20000"/>
                    <a:lumOff val="80000"/>
                  </a:schemeClr>
                </a:solidFill>
                <a:latin typeface="+mj-lt"/>
              </a:rPr>
              <a:t>- Module</a:t>
            </a:r>
          </a:p>
          <a:p>
            <a:endParaRPr lang="en-US" sz="2000" dirty="0">
              <a:solidFill>
                <a:srgbClr val="007434"/>
              </a:solidFill>
              <a:latin typeface="Century Gothic" panose="020B0502020202020204" pitchFamily="34" charset="0"/>
            </a:endParaRPr>
          </a:p>
        </p:txBody>
      </p:sp>
      <p:sp>
        <p:nvSpPr>
          <p:cNvPr id="3" name="Slide Number Placeholder 9">
            <a:extLst>
              <a:ext uri="{FF2B5EF4-FFF2-40B4-BE49-F238E27FC236}">
                <a16:creationId xmlns:a16="http://schemas.microsoft.com/office/drawing/2014/main" id="{CC0A9E6C-8749-D7EF-4EC8-210A00D68339}"/>
              </a:ext>
            </a:extLst>
          </p:cNvPr>
          <p:cNvSpPr>
            <a:spLocks noGrp="1"/>
          </p:cNvSpPr>
          <p:nvPr/>
        </p:nvSpPr>
        <p:spPr>
          <a:xfrm>
            <a:off x="93608" y="6391410"/>
            <a:ext cx="54091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16086AB-602C-49A8-AF1B-7C398AACFC06}" type="slidenum">
              <a:rPr kumimoji="0" lang="en-US" sz="1600" b="0" i="0" u="none" strike="noStrike" kern="1200" cap="none" spc="0" normalizeH="0" baseline="0" noProof="0" smtClean="0">
                <a:ln>
                  <a:noFill/>
                </a:ln>
                <a:solidFill>
                  <a:srgbClr val="00863D"/>
                </a:solidFill>
                <a:effectLst/>
                <a:uLnTx/>
                <a:uFillTx/>
                <a:latin typeface="Animosa Extra Bold" panose="00000900000000000000" pitchFamily="50" charset="0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00863D"/>
              </a:solidFill>
              <a:effectLst/>
              <a:uLnTx/>
              <a:uFillTx/>
              <a:latin typeface="Animosa Extra Bold" panose="00000900000000000000" pitchFamily="50" charset="0"/>
              <a:ea typeface="+mn-ea"/>
              <a:cs typeface="+mn-cs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7841644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Text Box 6">
            <a:extLst>
              <a:ext uri="{FF2B5EF4-FFF2-40B4-BE49-F238E27FC236}">
                <a16:creationId xmlns:a16="http://schemas.microsoft.com/office/drawing/2014/main" id="{54861942-378E-F979-6642-00E02D67C1A4}"/>
              </a:ext>
            </a:extLst>
          </p:cNvPr>
          <p:cNvSpPr txBox="1"/>
          <p:nvPr/>
        </p:nvSpPr>
        <p:spPr>
          <a:xfrm>
            <a:off x="0" y="-11307"/>
            <a:ext cx="5106907" cy="653359"/>
          </a:xfrm>
          <a:prstGeom prst="rect">
            <a:avLst/>
          </a:prstGeom>
          <a:solidFill>
            <a:srgbClr val="00863D"/>
          </a:solidFill>
          <a:ln w="6350">
            <a:noFill/>
          </a:ln>
          <a:effectLst>
            <a:outerShdw blurRad="50800" dist="38100" dir="2700000" sx="73000" sy="73000" algn="tl" rotWithShape="0">
              <a:prstClr val="black">
                <a:alpha val="5000"/>
              </a:prstClr>
            </a:outerShdw>
          </a:effectLst>
        </p:spPr>
        <p:txBody>
          <a:bodyPr rot="0" spcFirstLastPara="0" vert="horz" wrap="square" lIns="91440" tIns="91440" rIns="91440" bIns="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algn="ctr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endParaRPr lang="en-US" sz="1400" dirty="0">
              <a:solidFill>
                <a:srgbClr val="007434"/>
              </a:solidFill>
              <a:effectLst/>
              <a:ea typeface="Open Sans" panose="020B0606030504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C7E240B-5C00-D259-7CC9-8482319B9C8B}"/>
              </a:ext>
            </a:extLst>
          </p:cNvPr>
          <p:cNvSpPr txBox="1"/>
          <p:nvPr/>
        </p:nvSpPr>
        <p:spPr>
          <a:xfrm>
            <a:off x="805110" y="123167"/>
            <a:ext cx="4301797" cy="707886"/>
          </a:xfrm>
          <a:prstGeom prst="rect">
            <a:avLst/>
          </a:prstGeom>
          <a:noFill/>
          <a:effectLst>
            <a:glow rad="228600">
              <a:schemeClr val="accent6">
                <a:lumMod val="20000"/>
                <a:lumOff val="80000"/>
                <a:alpha val="40000"/>
              </a:schemeClr>
            </a:glow>
            <a:outerShdw blurRad="50800" dist="38100" dir="2700000" algn="tl" rotWithShape="0">
              <a:srgbClr val="00863D">
                <a:alpha val="10000"/>
              </a:srgbClr>
            </a:outerShdw>
          </a:effectLst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chemeClr val="accent6">
                    <a:lumMod val="20000"/>
                    <a:lumOff val="80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Masterfile </a:t>
            </a:r>
            <a:r>
              <a:rPr lang="en-US" sz="2000" dirty="0">
                <a:solidFill>
                  <a:schemeClr val="accent6">
                    <a:lumMod val="20000"/>
                    <a:lumOff val="80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/ Customer Ledger </a:t>
            </a:r>
            <a:r>
              <a:rPr lang="en-US" sz="1900" dirty="0">
                <a:solidFill>
                  <a:schemeClr val="accent6">
                    <a:lumMod val="20000"/>
                    <a:lumOff val="80000"/>
                  </a:schemeClr>
                </a:solidFill>
                <a:latin typeface="+mj-lt"/>
              </a:rPr>
              <a:t>- Module</a:t>
            </a:r>
          </a:p>
          <a:p>
            <a:endParaRPr lang="en-US" sz="2000" dirty="0">
              <a:solidFill>
                <a:srgbClr val="007434"/>
              </a:solidFill>
              <a:latin typeface="Century Gothic" panose="020B0502020202020204" pitchFamily="34" charset="0"/>
            </a:endParaRPr>
          </a:p>
        </p:txBody>
      </p:sp>
      <p:pic>
        <p:nvPicPr>
          <p:cNvPr id="28" name="Picture 27">
            <a:extLst>
              <a:ext uri="{FF2B5EF4-FFF2-40B4-BE49-F238E27FC236}">
                <a16:creationId xmlns:a16="http://schemas.microsoft.com/office/drawing/2014/main" id="{CB5C160F-C04C-EA95-C39F-2B967C6BCB5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80479" y="6391410"/>
            <a:ext cx="1047454" cy="267619"/>
          </a:xfrm>
          <a:prstGeom prst="rect">
            <a:avLst/>
          </a:prstGeom>
          <a:effectLst/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CBE13CC3-0EBB-4997-FCE7-B09A824D1CEB}"/>
              </a:ext>
            </a:extLst>
          </p:cNvPr>
          <p:cNvSpPr txBox="1"/>
          <p:nvPr/>
        </p:nvSpPr>
        <p:spPr>
          <a:xfrm>
            <a:off x="805110" y="1053547"/>
            <a:ext cx="3852819" cy="337392"/>
          </a:xfrm>
          <a:prstGeom prst="rect">
            <a:avLst/>
          </a:prstGeom>
          <a:solidFill>
            <a:srgbClr val="00B050"/>
          </a:solidFill>
          <a:effectLst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How To Edit Customer Details?</a:t>
            </a:r>
            <a:endParaRPr lang="en-US" sz="2000" dirty="0">
              <a:solidFill>
                <a:srgbClr val="007434"/>
              </a:solidFill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sp>
        <p:nvSpPr>
          <p:cNvPr id="6" name="Text Box 34">
            <a:extLst>
              <a:ext uri="{FF2B5EF4-FFF2-40B4-BE49-F238E27FC236}">
                <a16:creationId xmlns:a16="http://schemas.microsoft.com/office/drawing/2014/main" id="{3C955D35-908F-C41B-A58E-309112EE5A39}"/>
              </a:ext>
            </a:extLst>
          </p:cNvPr>
          <p:cNvSpPr txBox="1"/>
          <p:nvPr/>
        </p:nvSpPr>
        <p:spPr>
          <a:xfrm>
            <a:off x="805109" y="1802434"/>
            <a:ext cx="3852820" cy="2084768"/>
          </a:xfrm>
          <a:prstGeom prst="rect">
            <a:avLst/>
          </a:prstGeom>
          <a:noFill/>
          <a:ln w="6350">
            <a:noFill/>
          </a:ln>
          <a:effectLst/>
        </p:spPr>
        <p:txBody>
          <a:bodyPr rot="0" spcFirstLastPara="0" vert="horz" wrap="square" lIns="91440" tIns="91440" rIns="91440" bIns="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>
              <a:lnSpc>
                <a:spcPct val="115000"/>
              </a:lnSpc>
            </a:pPr>
            <a:r>
              <a:rPr lang="en-US" sz="1200" b="1" dirty="0">
                <a:solidFill>
                  <a:srgbClr val="00863D"/>
                </a:solidFill>
                <a:latin typeface="Chivo Light" panose="020B03030302020208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1.1 </a:t>
            </a:r>
            <a:r>
              <a:rPr lang="en-US" sz="1200" b="1" dirty="0">
                <a:solidFill>
                  <a:srgbClr val="00863D"/>
                </a:solidFill>
                <a:effectLst/>
                <a:latin typeface="Chivo Light" panose="020B03030302020208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dirty="0">
                <a:effectLst/>
                <a:latin typeface="Chivo Light" panose="020B03030302020208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In the customer ledger – main window, search the customer you wish to edit its information in the search bar. Or,</a:t>
            </a:r>
            <a:endParaRPr lang="en-US" sz="1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571500" indent="-457200">
              <a:lnSpc>
                <a:spcPct val="115000"/>
              </a:lnSpc>
            </a:pPr>
            <a:endParaRPr lang="en-US" sz="1200" dirty="0">
              <a:effectLst/>
              <a:latin typeface="Chivo Light" panose="020B03030302020208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</a:pPr>
            <a:r>
              <a:rPr lang="en-US" sz="1100" b="1" dirty="0">
                <a:solidFill>
                  <a:srgbClr val="00863D"/>
                </a:solidFill>
                <a:latin typeface="Chivo Light" panose="020B03030302020208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1.2  </a:t>
            </a:r>
            <a:r>
              <a:rPr lang="en-US" sz="1200" dirty="0">
                <a:effectLst/>
                <a:latin typeface="Chivo Light" panose="020B03030302020208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In customer ledger – main form, click the lookup button and select the customer you wish to edit its information by typing its customer name in the search bar.</a:t>
            </a:r>
            <a:endParaRPr lang="en-US" sz="12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571500" indent="-457200">
              <a:lnSpc>
                <a:spcPct val="115000"/>
              </a:lnSpc>
            </a:pPr>
            <a:endParaRPr lang="en-US" sz="1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PH" sz="1300" cap="all" dirty="0">
                <a:solidFill>
                  <a:srgbClr val="4472C4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  <a:endParaRPr lang="en-US" sz="1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PH" sz="1300" cap="all" dirty="0">
                <a:solidFill>
                  <a:srgbClr val="4472C4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  <a:endParaRPr lang="en-US" sz="1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4B14687C-52A3-56C7-BB62-1861435F0424}"/>
              </a:ext>
            </a:extLst>
          </p:cNvPr>
          <p:cNvSpPr txBox="1"/>
          <p:nvPr/>
        </p:nvSpPr>
        <p:spPr>
          <a:xfrm>
            <a:off x="7256349" y="6049347"/>
            <a:ext cx="2552700" cy="2812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ctr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PH" sz="12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  </a:t>
            </a:r>
            <a:r>
              <a:rPr lang="en-PH" sz="12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Customer Ledger</a:t>
            </a:r>
            <a:r>
              <a:rPr lang="en-PH" sz="12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– Main Form</a:t>
            </a:r>
            <a:endParaRPr lang="en-US" sz="1200" b="1" dirty="0"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0258C296-63A5-1455-F8AB-54834279C957}"/>
              </a:ext>
            </a:extLst>
          </p:cNvPr>
          <p:cNvSpPr txBox="1"/>
          <p:nvPr/>
        </p:nvSpPr>
        <p:spPr>
          <a:xfrm>
            <a:off x="7256349" y="2857416"/>
            <a:ext cx="2552700" cy="2812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ctr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PH" sz="12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  </a:t>
            </a:r>
            <a:r>
              <a:rPr lang="en-PH" sz="12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Customer Ledger</a:t>
            </a:r>
            <a:r>
              <a:rPr lang="en-PH" sz="12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– Main </a:t>
            </a:r>
            <a:r>
              <a:rPr lang="en-PH" sz="12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Window</a:t>
            </a:r>
            <a:endParaRPr lang="en-US" sz="1200" b="1" dirty="0"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7" name="Text Box 45">
            <a:extLst>
              <a:ext uri="{FF2B5EF4-FFF2-40B4-BE49-F238E27FC236}">
                <a16:creationId xmlns:a16="http://schemas.microsoft.com/office/drawing/2014/main" id="{45EBA796-8D0D-7A62-3DFD-D0EFF016851E}"/>
              </a:ext>
            </a:extLst>
          </p:cNvPr>
          <p:cNvSpPr txBox="1"/>
          <p:nvPr/>
        </p:nvSpPr>
        <p:spPr>
          <a:xfrm>
            <a:off x="805109" y="3787404"/>
            <a:ext cx="3852820" cy="1512659"/>
          </a:xfrm>
          <a:prstGeom prst="rect">
            <a:avLst/>
          </a:prstGeom>
          <a:noFill/>
          <a:ln w="6350">
            <a:noFill/>
          </a:ln>
          <a:effectLst/>
        </p:spPr>
        <p:txBody>
          <a:bodyPr rot="0" spcFirstLastPara="0" vert="horz" wrap="square" lIns="91440" tIns="91440" rIns="91440" bIns="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R="0" lv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200" b="1" dirty="0">
                <a:solidFill>
                  <a:srgbClr val="00863D"/>
                </a:solidFill>
                <a:latin typeface="Chivo Light" panose="020B03030302020208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2.  </a:t>
            </a:r>
            <a:r>
              <a:rPr lang="en-US" sz="1200" dirty="0">
                <a:effectLst/>
                <a:latin typeface="Chivo Light" panose="020B03030302020208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After you select the customer, click edit button in the upper right side of customer ledger – main form.</a:t>
            </a:r>
            <a:endParaRPr lang="en-US" sz="1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grpSp>
        <p:nvGrpSpPr>
          <p:cNvPr id="72" name="Group 71">
            <a:extLst>
              <a:ext uri="{FF2B5EF4-FFF2-40B4-BE49-F238E27FC236}">
                <a16:creationId xmlns:a16="http://schemas.microsoft.com/office/drawing/2014/main" id="{18292238-7EB6-D84F-92A7-0EDDA01DC9A4}"/>
              </a:ext>
            </a:extLst>
          </p:cNvPr>
          <p:cNvGrpSpPr/>
          <p:nvPr/>
        </p:nvGrpSpPr>
        <p:grpSpPr>
          <a:xfrm>
            <a:off x="5197546" y="1037506"/>
            <a:ext cx="6189345" cy="1819910"/>
            <a:chOff x="5197546" y="1609090"/>
            <a:chExt cx="6189345" cy="1819910"/>
          </a:xfrm>
        </p:grpSpPr>
        <p:pic>
          <p:nvPicPr>
            <p:cNvPr id="62" name="Picture 61">
              <a:extLst>
                <a:ext uri="{FF2B5EF4-FFF2-40B4-BE49-F238E27FC236}">
                  <a16:creationId xmlns:a16="http://schemas.microsoft.com/office/drawing/2014/main" id="{FC2BDCF2-B782-AB38-D747-562C63752054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5197546" y="1609090"/>
              <a:ext cx="6189345" cy="1819910"/>
            </a:xfrm>
            <a:prstGeom prst="rect">
              <a:avLst/>
            </a:prstGeom>
          </p:spPr>
        </p:pic>
        <p:grpSp>
          <p:nvGrpSpPr>
            <p:cNvPr id="71" name="Group 70">
              <a:extLst>
                <a:ext uri="{FF2B5EF4-FFF2-40B4-BE49-F238E27FC236}">
                  <a16:creationId xmlns:a16="http://schemas.microsoft.com/office/drawing/2014/main" id="{804F62CD-8962-29C6-766F-14BAB0B2C2AA}"/>
                </a:ext>
              </a:extLst>
            </p:cNvPr>
            <p:cNvGrpSpPr/>
            <p:nvPr/>
          </p:nvGrpSpPr>
          <p:grpSpPr>
            <a:xfrm>
              <a:off x="5246919" y="2218167"/>
              <a:ext cx="1475739" cy="333375"/>
              <a:chOff x="5358130" y="3262312"/>
              <a:chExt cx="1475739" cy="333375"/>
            </a:xfrm>
          </p:grpSpPr>
          <p:sp>
            <p:nvSpPr>
              <p:cNvPr id="68" name="Rectangle 67">
                <a:extLst>
                  <a:ext uri="{FF2B5EF4-FFF2-40B4-BE49-F238E27FC236}">
                    <a16:creationId xmlns:a16="http://schemas.microsoft.com/office/drawing/2014/main" id="{13AEBD53-92D3-F696-96E4-26D568500746}"/>
                  </a:ext>
                </a:extLst>
              </p:cNvPr>
              <p:cNvSpPr/>
              <p:nvPr/>
            </p:nvSpPr>
            <p:spPr>
              <a:xfrm>
                <a:off x="5358130" y="3262312"/>
                <a:ext cx="799756" cy="333375"/>
              </a:xfrm>
              <a:prstGeom prst="rect">
                <a:avLst/>
              </a:prstGeom>
              <a:noFill/>
              <a:ln w="19050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en-US"/>
              </a:p>
            </p:txBody>
          </p:sp>
          <p:cxnSp>
            <p:nvCxnSpPr>
              <p:cNvPr id="69" name="Straight Arrow Connector 68">
                <a:extLst>
                  <a:ext uri="{FF2B5EF4-FFF2-40B4-BE49-F238E27FC236}">
                    <a16:creationId xmlns:a16="http://schemas.microsoft.com/office/drawing/2014/main" id="{C48CC673-7142-F7E7-8040-2E24135B7BE0}"/>
                  </a:ext>
                </a:extLst>
              </p:cNvPr>
              <p:cNvCxnSpPr/>
              <p:nvPr/>
            </p:nvCxnSpPr>
            <p:spPr>
              <a:xfrm>
                <a:off x="6157886" y="3395662"/>
                <a:ext cx="199939" cy="9525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70" name="Text Box 39">
                <a:extLst>
                  <a:ext uri="{FF2B5EF4-FFF2-40B4-BE49-F238E27FC236}">
                    <a16:creationId xmlns:a16="http://schemas.microsoft.com/office/drawing/2014/main" id="{E88F12A3-A77D-AD07-BC3F-FAC54B0C445D}"/>
                  </a:ext>
                </a:extLst>
              </p:cNvPr>
              <p:cNvSpPr txBox="1"/>
              <p:nvPr/>
            </p:nvSpPr>
            <p:spPr>
              <a:xfrm>
                <a:off x="6367345" y="3290887"/>
                <a:ext cx="466524" cy="247650"/>
              </a:xfrm>
              <a:prstGeom prst="rect">
                <a:avLst/>
              </a:prstGeom>
              <a:solidFill>
                <a:srgbClr val="FFFF00"/>
              </a:solidFill>
              <a:ln w="6350">
                <a:solidFill>
                  <a:prstClr val="black"/>
                </a:solidFill>
              </a:ln>
              <a:effectLst/>
            </p:spPr>
            <p:style>
              <a:lnRef idx="0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 rot="0" spcFirstLastPara="0" vert="horz" wrap="squar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algn="ctr">
                  <a:lnSpc>
                    <a:spcPct val="107000"/>
                  </a:lnSpc>
                  <a:spcBef>
                    <a:spcPts val="0"/>
                  </a:spcBef>
                  <a:spcAft>
                    <a:spcPts val="800"/>
                  </a:spcAft>
                </a:pPr>
                <a:r>
                  <a:rPr lang="en-US" sz="1100" dirty="0">
                    <a:effectLst/>
                    <a:ea typeface="Calibri" panose="020F0502020204030204" pitchFamily="34" charset="0"/>
                    <a:cs typeface="Times New Roman" panose="02020603050405020304" pitchFamily="18" charset="0"/>
                  </a:rPr>
                  <a:t>1.1.</a:t>
                </a:r>
              </a:p>
            </p:txBody>
          </p:sp>
        </p:grpSp>
      </p:grpSp>
      <p:pic>
        <p:nvPicPr>
          <p:cNvPr id="75" name="Picture 74">
            <a:extLst>
              <a:ext uri="{FF2B5EF4-FFF2-40B4-BE49-F238E27FC236}">
                <a16:creationId xmlns:a16="http://schemas.microsoft.com/office/drawing/2014/main" id="{ABD37553-5B68-7C8D-3725-30EF3C9F34C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97545" y="3543533"/>
            <a:ext cx="6189345" cy="2267585"/>
          </a:xfrm>
          <a:prstGeom prst="rect">
            <a:avLst/>
          </a:prstGeom>
        </p:spPr>
      </p:pic>
      <p:grpSp>
        <p:nvGrpSpPr>
          <p:cNvPr id="85" name="Group 84">
            <a:extLst>
              <a:ext uri="{FF2B5EF4-FFF2-40B4-BE49-F238E27FC236}">
                <a16:creationId xmlns:a16="http://schemas.microsoft.com/office/drawing/2014/main" id="{AFE500BD-76B0-16CF-7FDE-10E25D7ECA97}"/>
              </a:ext>
            </a:extLst>
          </p:cNvPr>
          <p:cNvGrpSpPr/>
          <p:nvPr/>
        </p:nvGrpSpPr>
        <p:grpSpPr>
          <a:xfrm>
            <a:off x="6422362" y="4168859"/>
            <a:ext cx="4715510" cy="1651635"/>
            <a:chOff x="6413483" y="4145232"/>
            <a:chExt cx="4715510" cy="1651635"/>
          </a:xfrm>
        </p:grpSpPr>
        <p:sp>
          <p:nvSpPr>
            <p:cNvPr id="78" name="Rectangle 77">
              <a:extLst>
                <a:ext uri="{FF2B5EF4-FFF2-40B4-BE49-F238E27FC236}">
                  <a16:creationId xmlns:a16="http://schemas.microsoft.com/office/drawing/2014/main" id="{60941612-B454-7552-7820-6B3D110F7DAD}"/>
                </a:ext>
              </a:extLst>
            </p:cNvPr>
            <p:cNvSpPr/>
            <p:nvPr/>
          </p:nvSpPr>
          <p:spPr>
            <a:xfrm>
              <a:off x="6468093" y="4526232"/>
              <a:ext cx="275590" cy="304165"/>
            </a:xfrm>
            <a:prstGeom prst="rect">
              <a:avLst/>
            </a:prstGeom>
            <a:noFill/>
            <a:ln w="1905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cxnSp>
          <p:nvCxnSpPr>
            <p:cNvPr id="79" name="Straight Arrow Connector 78">
              <a:extLst>
                <a:ext uri="{FF2B5EF4-FFF2-40B4-BE49-F238E27FC236}">
                  <a16:creationId xmlns:a16="http://schemas.microsoft.com/office/drawing/2014/main" id="{D5B57C65-1271-E33A-F7EA-DDEF4D84F7C2}"/>
                </a:ext>
              </a:extLst>
            </p:cNvPr>
            <p:cNvCxnSpPr/>
            <p:nvPr/>
          </p:nvCxnSpPr>
          <p:spPr>
            <a:xfrm>
              <a:off x="6744318" y="4631007"/>
              <a:ext cx="200025" cy="889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80" name="Text Box 44">
              <a:extLst>
                <a:ext uri="{FF2B5EF4-FFF2-40B4-BE49-F238E27FC236}">
                  <a16:creationId xmlns:a16="http://schemas.microsoft.com/office/drawing/2014/main" id="{63A0BBBA-F2BB-D498-E658-9F6FD3E10058}"/>
                </a:ext>
              </a:extLst>
            </p:cNvPr>
            <p:cNvSpPr txBox="1"/>
            <p:nvPr/>
          </p:nvSpPr>
          <p:spPr>
            <a:xfrm>
              <a:off x="6953868" y="4526232"/>
              <a:ext cx="466725" cy="247015"/>
            </a:xfrm>
            <a:prstGeom prst="rect">
              <a:avLst/>
            </a:prstGeom>
            <a:solidFill>
              <a:srgbClr val="FFFF00"/>
            </a:solidFill>
            <a:ln w="6350">
              <a:solidFill>
                <a:prstClr val="black"/>
              </a:solidFill>
            </a:ln>
            <a:effectLst/>
          </p:spPr>
          <p:style>
            <a:lnRef idx="0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ot="0" spcFirstLastPara="0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algn="ctr">
                <a:lnSpc>
                  <a:spcPct val="107000"/>
                </a:lnSpc>
                <a:spcBef>
                  <a:spcPts val="0"/>
                </a:spcBef>
                <a:spcAft>
                  <a:spcPts val="800"/>
                </a:spcAft>
              </a:pPr>
              <a:r>
                <a:rPr lang="en-US" sz="1100">
                  <a:effectLst/>
                  <a:ea typeface="Calibri" panose="020F0502020204030204" pitchFamily="34" charset="0"/>
                  <a:cs typeface="Times New Roman" panose="02020603050405020304" pitchFamily="18" charset="0"/>
                </a:rPr>
                <a:t>1.2.</a:t>
              </a:r>
            </a:p>
          </p:txBody>
        </p:sp>
        <p:sp>
          <p:nvSpPr>
            <p:cNvPr id="81" name="Rectangle 80">
              <a:extLst>
                <a:ext uri="{FF2B5EF4-FFF2-40B4-BE49-F238E27FC236}">
                  <a16:creationId xmlns:a16="http://schemas.microsoft.com/office/drawing/2014/main" id="{E4A41F8A-2F21-8944-F861-2CEED4CDCCB5}"/>
                </a:ext>
              </a:extLst>
            </p:cNvPr>
            <p:cNvSpPr/>
            <p:nvPr/>
          </p:nvSpPr>
          <p:spPr>
            <a:xfrm>
              <a:off x="10147918" y="4145232"/>
              <a:ext cx="466090" cy="304165"/>
            </a:xfrm>
            <a:prstGeom prst="rect">
              <a:avLst/>
            </a:prstGeom>
            <a:noFill/>
            <a:ln w="1905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cxnSp>
          <p:nvCxnSpPr>
            <p:cNvPr id="82" name="Straight Arrow Connector 81">
              <a:extLst>
                <a:ext uri="{FF2B5EF4-FFF2-40B4-BE49-F238E27FC236}">
                  <a16:creationId xmlns:a16="http://schemas.microsoft.com/office/drawing/2014/main" id="{CCDCFD9F-ADBC-5570-6300-3E7A2DD394CF}"/>
                </a:ext>
              </a:extLst>
            </p:cNvPr>
            <p:cNvCxnSpPr/>
            <p:nvPr/>
          </p:nvCxnSpPr>
          <p:spPr>
            <a:xfrm>
              <a:off x="10614643" y="4250007"/>
              <a:ext cx="200025" cy="889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83" name="Text Box 49">
              <a:extLst>
                <a:ext uri="{FF2B5EF4-FFF2-40B4-BE49-F238E27FC236}">
                  <a16:creationId xmlns:a16="http://schemas.microsoft.com/office/drawing/2014/main" id="{85019864-97D6-AC18-C51E-C72CADC4C5C4}"/>
                </a:ext>
              </a:extLst>
            </p:cNvPr>
            <p:cNvSpPr txBox="1"/>
            <p:nvPr/>
          </p:nvSpPr>
          <p:spPr>
            <a:xfrm>
              <a:off x="10824193" y="4145232"/>
              <a:ext cx="304800" cy="247015"/>
            </a:xfrm>
            <a:prstGeom prst="rect">
              <a:avLst/>
            </a:prstGeom>
            <a:solidFill>
              <a:srgbClr val="FFFF00"/>
            </a:solidFill>
            <a:ln w="6350">
              <a:solidFill>
                <a:prstClr val="black"/>
              </a:solidFill>
            </a:ln>
            <a:effectLst/>
          </p:spPr>
          <p:style>
            <a:lnRef idx="0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ot="0" spcFirstLastPara="0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algn="ctr">
                <a:lnSpc>
                  <a:spcPct val="107000"/>
                </a:lnSpc>
                <a:spcBef>
                  <a:spcPts val="0"/>
                </a:spcBef>
                <a:spcAft>
                  <a:spcPts val="800"/>
                </a:spcAft>
              </a:pPr>
              <a:r>
                <a:rPr lang="en-US" sz="1100">
                  <a:effectLst/>
                  <a:ea typeface="Calibri" panose="020F0502020204030204" pitchFamily="34" charset="0"/>
                  <a:cs typeface="Times New Roman" panose="02020603050405020304" pitchFamily="18" charset="0"/>
                </a:rPr>
                <a:t>2.</a:t>
              </a:r>
            </a:p>
          </p:txBody>
        </p:sp>
        <p:sp>
          <p:nvSpPr>
            <p:cNvPr id="84" name="Text Box 241">
              <a:extLst>
                <a:ext uri="{FF2B5EF4-FFF2-40B4-BE49-F238E27FC236}">
                  <a16:creationId xmlns:a16="http://schemas.microsoft.com/office/drawing/2014/main" id="{089EDAE2-73E6-3423-D4FD-6B370F1FC7C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413483" y="4918026"/>
              <a:ext cx="2483382" cy="878841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rot="0" vert="horz" wrap="square" lIns="0" tIns="0" rIns="0" bIns="0" anchor="t" anchorCtr="0" upright="1">
              <a:noAutofit/>
            </a:bodyPr>
            <a:lstStyle/>
            <a:p>
              <a:pPr marL="101600" marR="0">
                <a:lnSpc>
                  <a:spcPct val="107000"/>
                </a:lnSpc>
                <a:spcBef>
                  <a:spcPts val="440"/>
                </a:spcBef>
                <a:spcAft>
                  <a:spcPts val="800"/>
                </a:spcAft>
              </a:pPr>
              <a:r>
                <a:rPr lang="en-PH" sz="1000" i="1" dirty="0">
                  <a:solidFill>
                    <a:srgbClr val="4F6128"/>
                  </a:solidFill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How to search customer?</a:t>
              </a:r>
              <a:endParaRPr lang="en-US" sz="1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endParaRPr>
            </a:p>
            <a:p>
              <a:pPr marL="457200" marR="0" lvl="0" indent="-34290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SzPts val="800"/>
                <a:buFont typeface="+mj-lt"/>
                <a:buAutoNum type="arabicPeriod"/>
                <a:tabLst>
                  <a:tab pos="227330" algn="l"/>
                </a:tabLst>
              </a:pPr>
              <a:r>
                <a:rPr lang="en-US" sz="800" dirty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Type the customer name in the search bar.</a:t>
              </a:r>
              <a:endParaRPr lang="en-US" sz="1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endParaRPr>
            </a:p>
            <a:p>
              <a:pPr marL="457200" marR="0" lvl="0" indent="-342900">
                <a:lnSpc>
                  <a:spcPts val="975"/>
                </a:lnSpc>
                <a:spcBef>
                  <a:spcPts val="5"/>
                </a:spcBef>
                <a:spcAft>
                  <a:spcPts val="0"/>
                </a:spcAft>
                <a:buSzPts val="800"/>
                <a:buFont typeface="+mj-lt"/>
                <a:buAutoNum type="arabicPeriod"/>
                <a:tabLst>
                  <a:tab pos="203200" algn="l"/>
                </a:tabLst>
              </a:pPr>
              <a:r>
                <a:rPr lang="en-US" sz="800" dirty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Click ‘enter’ in the keyboard to</a:t>
              </a:r>
              <a:r>
                <a:rPr lang="en-US" sz="800" spc="-40" dirty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 </a:t>
              </a:r>
              <a:r>
                <a:rPr lang="en-US" sz="800" dirty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search.</a:t>
              </a:r>
              <a:endParaRPr lang="en-US" sz="1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endParaRPr>
            </a:p>
            <a:p>
              <a:pPr marL="457200" marR="0" lvl="0" indent="-342900">
                <a:lnSpc>
                  <a:spcPts val="975"/>
                </a:lnSpc>
                <a:spcBef>
                  <a:spcPts val="0"/>
                </a:spcBef>
                <a:spcAft>
                  <a:spcPts val="0"/>
                </a:spcAft>
                <a:buSzPts val="800"/>
                <a:buFont typeface="+mj-lt"/>
                <a:buAutoNum type="arabicPeriod"/>
                <a:tabLst>
                  <a:tab pos="203200" algn="l"/>
                </a:tabLst>
              </a:pPr>
              <a:r>
                <a:rPr lang="en-PH" sz="800" dirty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Click the button before the customer code to select the customer.</a:t>
              </a:r>
              <a:endParaRPr lang="en-US" sz="1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2" name="Slide Number Placeholder 9">
            <a:extLst>
              <a:ext uri="{FF2B5EF4-FFF2-40B4-BE49-F238E27FC236}">
                <a16:creationId xmlns:a16="http://schemas.microsoft.com/office/drawing/2014/main" id="{1F051E3A-65A8-7E22-8C8A-24EDAC2261EE}"/>
              </a:ext>
            </a:extLst>
          </p:cNvPr>
          <p:cNvSpPr>
            <a:spLocks noGrp="1"/>
          </p:cNvSpPr>
          <p:nvPr/>
        </p:nvSpPr>
        <p:spPr>
          <a:xfrm>
            <a:off x="93608" y="6391410"/>
            <a:ext cx="54091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16086AB-602C-49A8-AF1B-7C398AACFC06}" type="slidenum">
              <a:rPr kumimoji="0" lang="en-US" sz="1600" b="0" i="0" u="none" strike="noStrike" kern="1200" cap="none" spc="0" normalizeH="0" baseline="0" noProof="0" smtClean="0">
                <a:ln>
                  <a:noFill/>
                </a:ln>
                <a:solidFill>
                  <a:srgbClr val="00863D"/>
                </a:solidFill>
                <a:effectLst/>
                <a:uLnTx/>
                <a:uFillTx/>
                <a:latin typeface="Animosa Extra Bold" panose="00000900000000000000" pitchFamily="50" charset="0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00863D"/>
              </a:solidFill>
              <a:effectLst/>
              <a:uLnTx/>
              <a:uFillTx/>
              <a:latin typeface="Animosa Extra Bold" panose="00000900000000000000" pitchFamily="50" charset="0"/>
              <a:ea typeface="+mn-ea"/>
              <a:cs typeface="+mn-cs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570198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Text Box 6">
            <a:extLst>
              <a:ext uri="{FF2B5EF4-FFF2-40B4-BE49-F238E27FC236}">
                <a16:creationId xmlns:a16="http://schemas.microsoft.com/office/drawing/2014/main" id="{54861942-378E-F979-6642-00E02D67C1A4}"/>
              </a:ext>
            </a:extLst>
          </p:cNvPr>
          <p:cNvSpPr txBox="1"/>
          <p:nvPr/>
        </p:nvSpPr>
        <p:spPr>
          <a:xfrm>
            <a:off x="0" y="-11307"/>
            <a:ext cx="5106907" cy="653359"/>
          </a:xfrm>
          <a:prstGeom prst="rect">
            <a:avLst/>
          </a:prstGeom>
          <a:solidFill>
            <a:srgbClr val="00863D"/>
          </a:solidFill>
          <a:ln w="6350">
            <a:noFill/>
          </a:ln>
          <a:effectLst>
            <a:outerShdw blurRad="50800" dist="38100" dir="2700000" sx="73000" sy="73000" algn="tl" rotWithShape="0">
              <a:prstClr val="black">
                <a:alpha val="5000"/>
              </a:prstClr>
            </a:outerShdw>
          </a:effectLst>
        </p:spPr>
        <p:txBody>
          <a:bodyPr rot="0" spcFirstLastPara="0" vert="horz" wrap="square" lIns="91440" tIns="91440" rIns="91440" bIns="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algn="ctr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endParaRPr lang="en-US" sz="1400" dirty="0">
              <a:solidFill>
                <a:srgbClr val="007434"/>
              </a:solidFill>
              <a:effectLst/>
              <a:ea typeface="Open Sans" panose="020B0606030504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C7E240B-5C00-D259-7CC9-8482319B9C8B}"/>
              </a:ext>
            </a:extLst>
          </p:cNvPr>
          <p:cNvSpPr txBox="1"/>
          <p:nvPr/>
        </p:nvSpPr>
        <p:spPr>
          <a:xfrm>
            <a:off x="805110" y="123167"/>
            <a:ext cx="4301797" cy="707886"/>
          </a:xfrm>
          <a:prstGeom prst="rect">
            <a:avLst/>
          </a:prstGeom>
          <a:noFill/>
          <a:effectLst>
            <a:glow rad="228600">
              <a:schemeClr val="accent6">
                <a:lumMod val="20000"/>
                <a:lumOff val="80000"/>
                <a:alpha val="40000"/>
              </a:schemeClr>
            </a:glow>
            <a:outerShdw blurRad="50800" dist="38100" dir="2700000" algn="tl" rotWithShape="0">
              <a:srgbClr val="00863D">
                <a:alpha val="10000"/>
              </a:srgbClr>
            </a:outerShdw>
          </a:effectLst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chemeClr val="accent6">
                    <a:lumMod val="20000"/>
                    <a:lumOff val="80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Masterfile </a:t>
            </a:r>
            <a:r>
              <a:rPr lang="en-US" sz="2000" dirty="0">
                <a:solidFill>
                  <a:schemeClr val="accent6">
                    <a:lumMod val="20000"/>
                    <a:lumOff val="80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/ Customer Ledger</a:t>
            </a:r>
            <a:r>
              <a:rPr lang="en-US" sz="2000" dirty="0">
                <a:solidFill>
                  <a:schemeClr val="accent6">
                    <a:lumMod val="20000"/>
                    <a:lumOff val="80000"/>
                  </a:schemeClr>
                </a:solidFill>
                <a:latin typeface="Bahnschrift Condensed" panose="020B0502040204020203" pitchFamily="34" charset="0"/>
              </a:rPr>
              <a:t> </a:t>
            </a:r>
            <a:r>
              <a:rPr lang="en-US" sz="1900" dirty="0">
                <a:solidFill>
                  <a:schemeClr val="accent6">
                    <a:lumMod val="20000"/>
                    <a:lumOff val="80000"/>
                  </a:schemeClr>
                </a:solidFill>
                <a:latin typeface="+mj-lt"/>
              </a:rPr>
              <a:t>- Module</a:t>
            </a:r>
          </a:p>
          <a:p>
            <a:endParaRPr lang="en-US" sz="2000" dirty="0">
              <a:solidFill>
                <a:srgbClr val="007434"/>
              </a:solidFill>
              <a:latin typeface="Century Gothic" panose="020B0502020202020204" pitchFamily="34" charset="0"/>
            </a:endParaRPr>
          </a:p>
        </p:txBody>
      </p:sp>
      <p:pic>
        <p:nvPicPr>
          <p:cNvPr id="28" name="Picture 27">
            <a:extLst>
              <a:ext uri="{FF2B5EF4-FFF2-40B4-BE49-F238E27FC236}">
                <a16:creationId xmlns:a16="http://schemas.microsoft.com/office/drawing/2014/main" id="{CB5C160F-C04C-EA95-C39F-2B967C6BCB5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80479" y="6391410"/>
            <a:ext cx="1047454" cy="267619"/>
          </a:xfrm>
          <a:prstGeom prst="rect">
            <a:avLst/>
          </a:prstGeom>
          <a:effectLst/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CBE13CC3-0EBB-4997-FCE7-B09A824D1CEB}"/>
              </a:ext>
            </a:extLst>
          </p:cNvPr>
          <p:cNvSpPr txBox="1"/>
          <p:nvPr/>
        </p:nvSpPr>
        <p:spPr>
          <a:xfrm>
            <a:off x="1254088" y="628135"/>
            <a:ext cx="3852819" cy="337392"/>
          </a:xfrm>
          <a:prstGeom prst="rect">
            <a:avLst/>
          </a:prstGeom>
          <a:solidFill>
            <a:srgbClr val="00B050"/>
          </a:solidFill>
          <a:effectLst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How To Edit Customer Details?</a:t>
            </a:r>
            <a:endParaRPr lang="en-US" sz="2000" dirty="0">
              <a:solidFill>
                <a:srgbClr val="007434"/>
              </a:solidFill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sp>
        <p:nvSpPr>
          <p:cNvPr id="6" name="Text Box 34">
            <a:extLst>
              <a:ext uri="{FF2B5EF4-FFF2-40B4-BE49-F238E27FC236}">
                <a16:creationId xmlns:a16="http://schemas.microsoft.com/office/drawing/2014/main" id="{3C955D35-908F-C41B-A58E-309112EE5A39}"/>
              </a:ext>
            </a:extLst>
          </p:cNvPr>
          <p:cNvSpPr txBox="1"/>
          <p:nvPr/>
        </p:nvSpPr>
        <p:spPr>
          <a:xfrm>
            <a:off x="805109" y="2315239"/>
            <a:ext cx="3852820" cy="1113761"/>
          </a:xfrm>
          <a:prstGeom prst="rect">
            <a:avLst/>
          </a:prstGeom>
          <a:noFill/>
          <a:ln w="6350">
            <a:noFill/>
          </a:ln>
          <a:effectLst/>
        </p:spPr>
        <p:txBody>
          <a:bodyPr rot="0" spcFirstLastPara="0" vert="horz" wrap="square" lIns="91440" tIns="91440" rIns="91440" bIns="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R="0" lv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200" b="1" dirty="0">
                <a:solidFill>
                  <a:srgbClr val="00863D"/>
                </a:solidFill>
                <a:latin typeface="Chivo Light" panose="020B03030302020208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3.  </a:t>
            </a:r>
            <a:r>
              <a:rPr lang="en-US" sz="1200" dirty="0">
                <a:effectLst/>
                <a:latin typeface="Chivo Light" panose="020B03030302020208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Edit the information you want to edit.</a:t>
            </a:r>
            <a:endParaRPr lang="en-US" sz="1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</a:pPr>
            <a:endParaRPr lang="en-US" sz="1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571500" indent="-457200">
              <a:lnSpc>
                <a:spcPct val="115000"/>
              </a:lnSpc>
            </a:pPr>
            <a:endParaRPr lang="en-US" sz="1200" dirty="0">
              <a:effectLst/>
              <a:latin typeface="Chivo Light" panose="020B03030302020208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R="0" lv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100" b="1" dirty="0">
                <a:solidFill>
                  <a:srgbClr val="00863D"/>
                </a:solidFill>
                <a:latin typeface="Chivo Light" panose="020B03030302020208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4.  </a:t>
            </a:r>
            <a:r>
              <a:rPr lang="en-US" sz="1200" dirty="0">
                <a:effectLst/>
                <a:latin typeface="Chivo Light" panose="020B03030302020208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If done, click save button. </a:t>
            </a:r>
            <a:endParaRPr lang="en-US" sz="12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</a:pPr>
            <a:endParaRPr lang="en-US" sz="105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571500" indent="-457200">
              <a:lnSpc>
                <a:spcPct val="115000"/>
              </a:lnSpc>
            </a:pPr>
            <a:endParaRPr lang="en-US" sz="1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PH" sz="1300" cap="all" dirty="0">
                <a:solidFill>
                  <a:srgbClr val="4472C4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  <a:endParaRPr lang="en-US" sz="1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PH" sz="1300" cap="all" dirty="0">
                <a:solidFill>
                  <a:srgbClr val="4472C4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  <a:endParaRPr lang="en-US" sz="1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7D336887-F8DF-8C74-1414-CEF744A2BC8F}"/>
              </a:ext>
            </a:extLst>
          </p:cNvPr>
          <p:cNvGrpSpPr/>
          <p:nvPr/>
        </p:nvGrpSpPr>
        <p:grpSpPr>
          <a:xfrm>
            <a:off x="5287327" y="2396775"/>
            <a:ext cx="6189345" cy="937834"/>
            <a:chOff x="5287327" y="1883970"/>
            <a:chExt cx="6189345" cy="937834"/>
          </a:xfrm>
        </p:grpSpPr>
        <p:pic>
          <p:nvPicPr>
            <p:cNvPr id="2" name="Picture 1">
              <a:extLst>
                <a:ext uri="{FF2B5EF4-FFF2-40B4-BE49-F238E27FC236}">
                  <a16:creationId xmlns:a16="http://schemas.microsoft.com/office/drawing/2014/main" id="{12C1C625-4494-74B6-51F6-7826FC4522C4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b="73044"/>
            <a:stretch/>
          </p:blipFill>
          <p:spPr>
            <a:xfrm>
              <a:off x="5287327" y="1883970"/>
              <a:ext cx="6189345" cy="937834"/>
            </a:xfrm>
            <a:prstGeom prst="rect">
              <a:avLst/>
            </a:prstGeom>
          </p:spPr>
        </p:pic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99202932-390B-BA20-781A-279969C4F35D}"/>
                </a:ext>
              </a:extLst>
            </p:cNvPr>
            <p:cNvGrpSpPr/>
            <p:nvPr/>
          </p:nvGrpSpPr>
          <p:grpSpPr>
            <a:xfrm>
              <a:off x="10090243" y="2285220"/>
              <a:ext cx="1057275" cy="447675"/>
              <a:chOff x="10059352" y="1383177"/>
              <a:chExt cx="1057275" cy="447675"/>
            </a:xfrm>
          </p:grpSpPr>
          <p:sp>
            <p:nvSpPr>
              <p:cNvPr id="3" name="Rectangle 2">
                <a:extLst>
                  <a:ext uri="{FF2B5EF4-FFF2-40B4-BE49-F238E27FC236}">
                    <a16:creationId xmlns:a16="http://schemas.microsoft.com/office/drawing/2014/main" id="{10B390B3-AAA6-CB8A-2FB7-2DB7E3AC7CAE}"/>
                  </a:ext>
                </a:extLst>
              </p:cNvPr>
              <p:cNvSpPr/>
              <p:nvPr/>
            </p:nvSpPr>
            <p:spPr>
              <a:xfrm>
                <a:off x="10059352" y="1545102"/>
                <a:ext cx="647700" cy="285750"/>
              </a:xfrm>
              <a:prstGeom prst="rect">
                <a:avLst/>
              </a:prstGeom>
              <a:noFill/>
              <a:ln w="19050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en-US"/>
              </a:p>
            </p:txBody>
          </p:sp>
          <p:cxnSp>
            <p:nvCxnSpPr>
              <p:cNvPr id="7" name="Straight Arrow Connector 6">
                <a:extLst>
                  <a:ext uri="{FF2B5EF4-FFF2-40B4-BE49-F238E27FC236}">
                    <a16:creationId xmlns:a16="http://schemas.microsoft.com/office/drawing/2014/main" id="{B43C5D0A-97DB-43AE-AB17-53215100AE03}"/>
                  </a:ext>
                </a:extLst>
              </p:cNvPr>
              <p:cNvCxnSpPr/>
              <p:nvPr/>
            </p:nvCxnSpPr>
            <p:spPr>
              <a:xfrm>
                <a:off x="10707052" y="1554627"/>
                <a:ext cx="200025" cy="9525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8" name="Text Box 62">
                <a:extLst>
                  <a:ext uri="{FF2B5EF4-FFF2-40B4-BE49-F238E27FC236}">
                    <a16:creationId xmlns:a16="http://schemas.microsoft.com/office/drawing/2014/main" id="{A4F7C839-870C-257D-65AE-46E2CE665ADC}"/>
                  </a:ext>
                </a:extLst>
              </p:cNvPr>
              <p:cNvSpPr txBox="1"/>
              <p:nvPr/>
            </p:nvSpPr>
            <p:spPr>
              <a:xfrm>
                <a:off x="10916602" y="1383177"/>
                <a:ext cx="200025" cy="247650"/>
              </a:xfrm>
              <a:prstGeom prst="rect">
                <a:avLst/>
              </a:prstGeom>
              <a:solidFill>
                <a:srgbClr val="FFFF00"/>
              </a:solidFill>
              <a:ln w="6350">
                <a:solidFill>
                  <a:prstClr val="black"/>
                </a:solidFill>
              </a:ln>
              <a:effectLst/>
            </p:spPr>
            <p:style>
              <a:lnRef idx="0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 rot="0" spcFirstLastPara="0" vert="horz" wrap="squar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algn="ctr">
                  <a:lnSpc>
                    <a:spcPct val="107000"/>
                  </a:lnSpc>
                  <a:spcBef>
                    <a:spcPts val="0"/>
                  </a:spcBef>
                  <a:spcAft>
                    <a:spcPts val="800"/>
                  </a:spcAft>
                </a:pPr>
                <a:r>
                  <a:rPr lang="en-US" sz="1100">
                    <a:effectLst/>
                    <a:ea typeface="Calibri" panose="020F0502020204030204" pitchFamily="34" charset="0"/>
                    <a:cs typeface="Times New Roman" panose="02020603050405020304" pitchFamily="18" charset="0"/>
                  </a:rPr>
                  <a:t>4</a:t>
                </a:r>
              </a:p>
            </p:txBody>
          </p:sp>
        </p:grpSp>
      </p:grpSp>
      <p:sp>
        <p:nvSpPr>
          <p:cNvPr id="11" name="Slide Number Placeholder 9">
            <a:extLst>
              <a:ext uri="{FF2B5EF4-FFF2-40B4-BE49-F238E27FC236}">
                <a16:creationId xmlns:a16="http://schemas.microsoft.com/office/drawing/2014/main" id="{CB3FD30A-8AB3-02A0-43BA-431A0431AE13}"/>
              </a:ext>
            </a:extLst>
          </p:cNvPr>
          <p:cNvSpPr>
            <a:spLocks noGrp="1"/>
          </p:cNvSpPr>
          <p:nvPr/>
        </p:nvSpPr>
        <p:spPr>
          <a:xfrm>
            <a:off x="93608" y="6391410"/>
            <a:ext cx="54091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16086AB-602C-49A8-AF1B-7C398AACFC06}" type="slidenum">
              <a:rPr kumimoji="0" lang="en-US" sz="1600" b="0" i="0" u="none" strike="noStrike" kern="1200" cap="none" spc="0" normalizeH="0" baseline="0" noProof="0" smtClean="0">
                <a:ln>
                  <a:noFill/>
                </a:ln>
                <a:solidFill>
                  <a:srgbClr val="00863D"/>
                </a:solidFill>
                <a:effectLst/>
                <a:uLnTx/>
                <a:uFillTx/>
                <a:latin typeface="Animosa Extra Bold" panose="00000900000000000000" pitchFamily="50" charset="0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00863D"/>
              </a:solidFill>
              <a:effectLst/>
              <a:uLnTx/>
              <a:uFillTx/>
              <a:latin typeface="Animosa Extra Bold" panose="00000900000000000000" pitchFamily="50" charset="0"/>
              <a:ea typeface="+mn-ea"/>
              <a:cs typeface="+mn-cs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8908142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Text Box 6">
            <a:extLst>
              <a:ext uri="{FF2B5EF4-FFF2-40B4-BE49-F238E27FC236}">
                <a16:creationId xmlns:a16="http://schemas.microsoft.com/office/drawing/2014/main" id="{54861942-378E-F979-6642-00E02D67C1A4}"/>
              </a:ext>
            </a:extLst>
          </p:cNvPr>
          <p:cNvSpPr txBox="1"/>
          <p:nvPr/>
        </p:nvSpPr>
        <p:spPr>
          <a:xfrm>
            <a:off x="0" y="-11307"/>
            <a:ext cx="5106907" cy="653359"/>
          </a:xfrm>
          <a:prstGeom prst="rect">
            <a:avLst/>
          </a:prstGeom>
          <a:solidFill>
            <a:srgbClr val="00863D"/>
          </a:solidFill>
          <a:ln w="6350">
            <a:noFill/>
          </a:ln>
          <a:effectLst>
            <a:outerShdw blurRad="50800" dist="38100" dir="2700000" sx="73000" sy="73000" algn="tl" rotWithShape="0">
              <a:prstClr val="black">
                <a:alpha val="5000"/>
              </a:prstClr>
            </a:outerShdw>
          </a:effectLst>
        </p:spPr>
        <p:txBody>
          <a:bodyPr rot="0" spcFirstLastPara="0" vert="horz" wrap="square" lIns="91440" tIns="91440" rIns="91440" bIns="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algn="ctr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endParaRPr lang="en-US" sz="1400" dirty="0">
              <a:solidFill>
                <a:srgbClr val="007434"/>
              </a:solidFill>
              <a:effectLst/>
              <a:ea typeface="Open Sans" panose="020B0606030504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C7E240B-5C00-D259-7CC9-8482319B9C8B}"/>
              </a:ext>
            </a:extLst>
          </p:cNvPr>
          <p:cNvSpPr txBox="1"/>
          <p:nvPr/>
        </p:nvSpPr>
        <p:spPr>
          <a:xfrm>
            <a:off x="805110" y="123167"/>
            <a:ext cx="4427976" cy="707886"/>
          </a:xfrm>
          <a:prstGeom prst="rect">
            <a:avLst/>
          </a:prstGeom>
          <a:noFill/>
          <a:effectLst>
            <a:glow rad="228600">
              <a:schemeClr val="accent6">
                <a:lumMod val="20000"/>
                <a:lumOff val="80000"/>
                <a:alpha val="40000"/>
              </a:schemeClr>
            </a:glow>
            <a:outerShdw blurRad="50800" dist="38100" dir="2700000" algn="tl" rotWithShape="0">
              <a:srgbClr val="00863D">
                <a:alpha val="10000"/>
              </a:srgbClr>
            </a:outerShdw>
          </a:effectLst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chemeClr val="accent6">
                    <a:lumMod val="20000"/>
                    <a:lumOff val="80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Masterfile </a:t>
            </a:r>
            <a:r>
              <a:rPr lang="en-US" sz="2000" dirty="0">
                <a:solidFill>
                  <a:schemeClr val="accent6">
                    <a:lumMod val="20000"/>
                    <a:lumOff val="80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/ Customer ledger</a:t>
            </a:r>
            <a:r>
              <a:rPr lang="en-US" sz="2000" dirty="0">
                <a:solidFill>
                  <a:schemeClr val="accent6">
                    <a:lumMod val="20000"/>
                    <a:lumOff val="80000"/>
                  </a:schemeClr>
                </a:solidFill>
                <a:latin typeface="Bahnschrift Condensed" panose="020B0502040204020203" pitchFamily="34" charset="0"/>
              </a:rPr>
              <a:t> </a:t>
            </a:r>
            <a:r>
              <a:rPr lang="en-US" sz="1900" dirty="0">
                <a:solidFill>
                  <a:schemeClr val="accent6">
                    <a:lumMod val="20000"/>
                    <a:lumOff val="80000"/>
                  </a:schemeClr>
                </a:solidFill>
                <a:latin typeface="+mj-lt"/>
              </a:rPr>
              <a:t>- Module</a:t>
            </a:r>
          </a:p>
          <a:p>
            <a:endParaRPr lang="en-US" sz="2000" dirty="0">
              <a:solidFill>
                <a:srgbClr val="007434"/>
              </a:solidFill>
              <a:latin typeface="Century Gothic" panose="020B0502020202020204" pitchFamily="34" charset="0"/>
            </a:endParaRPr>
          </a:p>
        </p:txBody>
      </p:sp>
      <p:pic>
        <p:nvPicPr>
          <p:cNvPr id="28" name="Picture 27">
            <a:extLst>
              <a:ext uri="{FF2B5EF4-FFF2-40B4-BE49-F238E27FC236}">
                <a16:creationId xmlns:a16="http://schemas.microsoft.com/office/drawing/2014/main" id="{CB5C160F-C04C-EA95-C39F-2B967C6BCB5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80479" y="6391410"/>
            <a:ext cx="1047454" cy="267619"/>
          </a:xfrm>
          <a:prstGeom prst="rect">
            <a:avLst/>
          </a:prstGeom>
          <a:effectLst/>
        </p:spPr>
      </p:pic>
      <p:sp>
        <p:nvSpPr>
          <p:cNvPr id="45" name="TextBox 44">
            <a:extLst>
              <a:ext uri="{FF2B5EF4-FFF2-40B4-BE49-F238E27FC236}">
                <a16:creationId xmlns:a16="http://schemas.microsoft.com/office/drawing/2014/main" id="{4B14687C-52A3-56C7-BB62-1861435F0424}"/>
              </a:ext>
            </a:extLst>
          </p:cNvPr>
          <p:cNvSpPr txBox="1"/>
          <p:nvPr/>
        </p:nvSpPr>
        <p:spPr>
          <a:xfrm>
            <a:off x="7256349" y="5815358"/>
            <a:ext cx="2552700" cy="2812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ctr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PH" sz="12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  Customer Ledger – Main </a:t>
            </a:r>
            <a:r>
              <a:rPr lang="en-PH" sz="12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form</a:t>
            </a:r>
            <a:endParaRPr lang="en-US" sz="1200" b="1" dirty="0"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8" name="Text Box 854">
            <a:extLst>
              <a:ext uri="{FF2B5EF4-FFF2-40B4-BE49-F238E27FC236}">
                <a16:creationId xmlns:a16="http://schemas.microsoft.com/office/drawing/2014/main" id="{9845929A-47AB-7953-E946-C7A4D2E1538F}"/>
              </a:ext>
            </a:extLst>
          </p:cNvPr>
          <p:cNvSpPr txBox="1"/>
          <p:nvPr/>
        </p:nvSpPr>
        <p:spPr>
          <a:xfrm>
            <a:off x="805109" y="3429000"/>
            <a:ext cx="3852819" cy="407638"/>
          </a:xfrm>
          <a:prstGeom prst="rect">
            <a:avLst/>
          </a:prstGeom>
          <a:noFill/>
          <a:ln w="6350">
            <a:noFill/>
          </a:ln>
          <a:effectLst/>
        </p:spPr>
        <p:txBody>
          <a:bodyPr rot="0" spcFirstLastPara="0" vert="horz" wrap="square" lIns="91440" tIns="91440" rIns="91440" bIns="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R="0" lv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200" b="1" dirty="0">
                <a:solidFill>
                  <a:srgbClr val="00863D"/>
                </a:solidFill>
                <a:latin typeface="Chivo Light" panose="020B03030302020208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2.  </a:t>
            </a:r>
            <a:r>
              <a:rPr lang="en-US" sz="1200" dirty="0">
                <a:effectLst/>
                <a:latin typeface="Chivo Light" panose="020B03030302020208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Click delete button.</a:t>
            </a:r>
            <a:endParaRPr lang="en-US" sz="1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PH" sz="1300" cap="all" dirty="0">
                <a:solidFill>
                  <a:srgbClr val="4472C4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  <a:endParaRPr lang="en-US" sz="1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PH" sz="1300" cap="all" dirty="0">
                <a:solidFill>
                  <a:srgbClr val="4472C4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  <a:endParaRPr lang="en-US" sz="1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C8893AC7-359D-C22C-2311-9CD3A72D6B8F}"/>
              </a:ext>
            </a:extLst>
          </p:cNvPr>
          <p:cNvSpPr txBox="1"/>
          <p:nvPr/>
        </p:nvSpPr>
        <p:spPr>
          <a:xfrm>
            <a:off x="7273648" y="2990923"/>
            <a:ext cx="2552700" cy="2812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ctr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PH" sz="12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  Customer Ledger – Main Windo</a:t>
            </a:r>
            <a:r>
              <a:rPr lang="en-PH" sz="12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</a:t>
            </a:r>
            <a:endParaRPr lang="en-US" sz="1200" b="1" dirty="0"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C278DA03-424D-142E-BB8A-D8491412C4DA}"/>
              </a:ext>
            </a:extLst>
          </p:cNvPr>
          <p:cNvSpPr txBox="1"/>
          <p:nvPr/>
        </p:nvSpPr>
        <p:spPr>
          <a:xfrm>
            <a:off x="805110" y="1122322"/>
            <a:ext cx="3852819" cy="337392"/>
          </a:xfrm>
          <a:prstGeom prst="rect">
            <a:avLst/>
          </a:prstGeom>
          <a:solidFill>
            <a:srgbClr val="00B050"/>
          </a:solidFill>
          <a:effectLst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How To Delete a </a:t>
            </a:r>
            <a:r>
              <a:rPr lang="en-US" sz="160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Customer Ledger?</a:t>
            </a:r>
            <a:endParaRPr lang="en-US" sz="2000" dirty="0">
              <a:solidFill>
                <a:srgbClr val="007434"/>
              </a:solidFill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sp>
        <p:nvSpPr>
          <p:cNvPr id="24" name="Text Box 65">
            <a:extLst>
              <a:ext uri="{FF2B5EF4-FFF2-40B4-BE49-F238E27FC236}">
                <a16:creationId xmlns:a16="http://schemas.microsoft.com/office/drawing/2014/main" id="{1E9EB7A6-9663-FDE2-5365-91A0C0AA96C8}"/>
              </a:ext>
            </a:extLst>
          </p:cNvPr>
          <p:cNvSpPr txBox="1"/>
          <p:nvPr/>
        </p:nvSpPr>
        <p:spPr>
          <a:xfrm>
            <a:off x="805110" y="1699032"/>
            <a:ext cx="3746666" cy="1236091"/>
          </a:xfrm>
          <a:prstGeom prst="rect">
            <a:avLst/>
          </a:prstGeom>
          <a:noFill/>
          <a:ln w="6350">
            <a:noFill/>
          </a:ln>
          <a:effectLst/>
        </p:spPr>
        <p:txBody>
          <a:bodyPr rot="0" spcFirstLastPara="0" vert="horz" wrap="square" lIns="91440" tIns="91440" rIns="91440" bIns="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just"/>
            <a:r>
              <a:rPr lang="en-US" sz="1200" b="1" dirty="0">
                <a:solidFill>
                  <a:srgbClr val="00863D"/>
                </a:solidFill>
                <a:latin typeface="Chivo Light" panose="020B03030302020208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1.1 </a:t>
            </a:r>
            <a:r>
              <a:rPr lang="en-US" sz="1200" dirty="0">
                <a:effectLst/>
                <a:latin typeface="Chivo Light" panose="020B03030302020208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In the customer ledger – main window, search the customer you want to delete.</a:t>
            </a:r>
          </a:p>
          <a:p>
            <a:pPr algn="just"/>
            <a:endParaRPr lang="en-US" sz="1000" dirty="0">
              <a:effectLst/>
              <a:latin typeface="Verdana" panose="020B0604030504040204" pitchFamily="34" charset="0"/>
              <a:ea typeface="Verdana" panose="020B0604030504040204" pitchFamily="34" charset="0"/>
              <a:cs typeface="Times New Roman" panose="02020603050405020304" pitchFamily="18" charset="0"/>
            </a:endParaRPr>
          </a:p>
          <a:p>
            <a:pPr algn="just"/>
            <a:r>
              <a:rPr lang="en-US" sz="1200" b="1" dirty="0">
                <a:solidFill>
                  <a:srgbClr val="00863D"/>
                </a:solidFill>
                <a:latin typeface="Chivo Light" panose="020B03030302020208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1.2 </a:t>
            </a:r>
            <a:r>
              <a:rPr lang="en-US" sz="1200" dirty="0">
                <a:effectLst/>
                <a:latin typeface="Chivo Light" panose="020B03030302020208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In customer ledger – main form, click the lookup button and select the customer you want to delete.</a:t>
            </a:r>
            <a:endParaRPr lang="en-US" sz="1000" dirty="0">
              <a:effectLst/>
              <a:latin typeface="Verdana" panose="020B0604030504040204" pitchFamily="34" charset="0"/>
              <a:ea typeface="Verdana" panose="020B060403050404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PH" sz="1300" cap="all" dirty="0">
                <a:solidFill>
                  <a:srgbClr val="4472C4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  <a:endParaRPr lang="en-US" sz="1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PH" sz="1300" cap="all" dirty="0">
                <a:solidFill>
                  <a:srgbClr val="4472C4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  <a:endParaRPr lang="en-US" sz="1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grpSp>
        <p:nvGrpSpPr>
          <p:cNvPr id="27" name="Group 26">
            <a:extLst>
              <a:ext uri="{FF2B5EF4-FFF2-40B4-BE49-F238E27FC236}">
                <a16:creationId xmlns:a16="http://schemas.microsoft.com/office/drawing/2014/main" id="{34DD7BAF-D95A-F7F4-6617-A82E395C6F34}"/>
              </a:ext>
            </a:extLst>
          </p:cNvPr>
          <p:cNvGrpSpPr/>
          <p:nvPr/>
        </p:nvGrpSpPr>
        <p:grpSpPr>
          <a:xfrm>
            <a:off x="5233086" y="1115213"/>
            <a:ext cx="6189345" cy="1819910"/>
            <a:chOff x="4359563" y="1833128"/>
            <a:chExt cx="6189345" cy="1819910"/>
          </a:xfrm>
        </p:grpSpPr>
        <p:pic>
          <p:nvPicPr>
            <p:cNvPr id="26" name="Picture 25">
              <a:extLst>
                <a:ext uri="{FF2B5EF4-FFF2-40B4-BE49-F238E27FC236}">
                  <a16:creationId xmlns:a16="http://schemas.microsoft.com/office/drawing/2014/main" id="{65DDAF03-A24F-32D4-9877-346D50172511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359563" y="1833128"/>
              <a:ext cx="6189345" cy="1819910"/>
            </a:xfrm>
            <a:prstGeom prst="rect">
              <a:avLst/>
            </a:prstGeom>
          </p:spPr>
        </p:pic>
        <p:grpSp>
          <p:nvGrpSpPr>
            <p:cNvPr id="17" name="Group 16">
              <a:extLst>
                <a:ext uri="{FF2B5EF4-FFF2-40B4-BE49-F238E27FC236}">
                  <a16:creationId xmlns:a16="http://schemas.microsoft.com/office/drawing/2014/main" id="{90CDD148-14A6-5B3A-6A43-A3CDE1B63CD9}"/>
                </a:ext>
              </a:extLst>
            </p:cNvPr>
            <p:cNvGrpSpPr/>
            <p:nvPr/>
          </p:nvGrpSpPr>
          <p:grpSpPr>
            <a:xfrm>
              <a:off x="4449289" y="2420928"/>
              <a:ext cx="1475739" cy="333375"/>
              <a:chOff x="0" y="0"/>
              <a:chExt cx="1476374" cy="333375"/>
            </a:xfrm>
          </p:grpSpPr>
          <p:sp>
            <p:nvSpPr>
              <p:cNvPr id="18" name="Rectangle 17">
                <a:extLst>
                  <a:ext uri="{FF2B5EF4-FFF2-40B4-BE49-F238E27FC236}">
                    <a16:creationId xmlns:a16="http://schemas.microsoft.com/office/drawing/2014/main" id="{68CA325F-1BF9-2563-7DCA-FC4746AA9EBA}"/>
                  </a:ext>
                </a:extLst>
              </p:cNvPr>
              <p:cNvSpPr/>
              <p:nvPr/>
            </p:nvSpPr>
            <p:spPr>
              <a:xfrm>
                <a:off x="0" y="0"/>
                <a:ext cx="800100" cy="333375"/>
              </a:xfrm>
              <a:prstGeom prst="rect">
                <a:avLst/>
              </a:prstGeom>
              <a:noFill/>
              <a:ln w="19050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en-US"/>
              </a:p>
            </p:txBody>
          </p:sp>
          <p:cxnSp>
            <p:nvCxnSpPr>
              <p:cNvPr id="19" name="Straight Arrow Connector 18">
                <a:extLst>
                  <a:ext uri="{FF2B5EF4-FFF2-40B4-BE49-F238E27FC236}">
                    <a16:creationId xmlns:a16="http://schemas.microsoft.com/office/drawing/2014/main" id="{0D6D44AB-94C1-275F-BECF-26D995D37644}"/>
                  </a:ext>
                </a:extLst>
              </p:cNvPr>
              <p:cNvCxnSpPr/>
              <p:nvPr/>
            </p:nvCxnSpPr>
            <p:spPr>
              <a:xfrm>
                <a:off x="800100" y="133350"/>
                <a:ext cx="200025" cy="9525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20" name="Text Box 70">
                <a:extLst>
                  <a:ext uri="{FF2B5EF4-FFF2-40B4-BE49-F238E27FC236}">
                    <a16:creationId xmlns:a16="http://schemas.microsoft.com/office/drawing/2014/main" id="{8563867A-7A92-4F6A-99AE-2FF35F57FB0E}"/>
                  </a:ext>
                </a:extLst>
              </p:cNvPr>
              <p:cNvSpPr txBox="1"/>
              <p:nvPr/>
            </p:nvSpPr>
            <p:spPr>
              <a:xfrm>
                <a:off x="1009649" y="28575"/>
                <a:ext cx="466725" cy="247650"/>
              </a:xfrm>
              <a:prstGeom prst="rect">
                <a:avLst/>
              </a:prstGeom>
              <a:solidFill>
                <a:srgbClr val="FFFF00"/>
              </a:solidFill>
              <a:ln w="6350">
                <a:solidFill>
                  <a:prstClr val="black"/>
                </a:solidFill>
              </a:ln>
              <a:effectLst/>
            </p:spPr>
            <p:style>
              <a:lnRef idx="0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 rot="0" spcFirstLastPara="0" vert="horz" wrap="squar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algn="ctr">
                  <a:lnSpc>
                    <a:spcPct val="107000"/>
                  </a:lnSpc>
                  <a:spcBef>
                    <a:spcPts val="0"/>
                  </a:spcBef>
                  <a:spcAft>
                    <a:spcPts val="800"/>
                  </a:spcAft>
                </a:pPr>
                <a:r>
                  <a:rPr lang="en-US" sz="1100" dirty="0">
                    <a:effectLst/>
                    <a:ea typeface="Calibri" panose="020F0502020204030204" pitchFamily="34" charset="0"/>
                    <a:cs typeface="Times New Roman" panose="02020603050405020304" pitchFamily="18" charset="0"/>
                  </a:rPr>
                  <a:t>1.1.</a:t>
                </a:r>
              </a:p>
            </p:txBody>
          </p:sp>
        </p:grpSp>
      </p:grpSp>
      <p:pic>
        <p:nvPicPr>
          <p:cNvPr id="33" name="Picture 32">
            <a:extLst>
              <a:ext uri="{FF2B5EF4-FFF2-40B4-BE49-F238E27FC236}">
                <a16:creationId xmlns:a16="http://schemas.microsoft.com/office/drawing/2014/main" id="{8050088A-6AD4-8357-6DC3-926D9B78CBD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33086" y="3457260"/>
            <a:ext cx="6189345" cy="2267585"/>
          </a:xfrm>
          <a:prstGeom prst="rect">
            <a:avLst/>
          </a:prstGeom>
        </p:spPr>
      </p:pic>
      <p:grpSp>
        <p:nvGrpSpPr>
          <p:cNvPr id="34" name="Group 33">
            <a:extLst>
              <a:ext uri="{FF2B5EF4-FFF2-40B4-BE49-F238E27FC236}">
                <a16:creationId xmlns:a16="http://schemas.microsoft.com/office/drawing/2014/main" id="{0DF16E5D-F6FA-65AD-15F5-B11EDE2F5039}"/>
              </a:ext>
            </a:extLst>
          </p:cNvPr>
          <p:cNvGrpSpPr>
            <a:grpSpLocks/>
          </p:cNvGrpSpPr>
          <p:nvPr/>
        </p:nvGrpSpPr>
        <p:grpSpPr bwMode="auto">
          <a:xfrm>
            <a:off x="6490257" y="4832545"/>
            <a:ext cx="2301875" cy="879475"/>
            <a:chOff x="6116" y="177"/>
            <a:chExt cx="3625" cy="1385"/>
          </a:xfrm>
        </p:grpSpPr>
        <p:pic>
          <p:nvPicPr>
            <p:cNvPr id="44" name="Picture 43">
              <a:extLst>
                <a:ext uri="{FF2B5EF4-FFF2-40B4-BE49-F238E27FC236}">
                  <a16:creationId xmlns:a16="http://schemas.microsoft.com/office/drawing/2014/main" id="{ABA222A2-B422-5E9C-D4F5-E4CA0F03691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116" y="177"/>
              <a:ext cx="3625" cy="138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46" name="Text Box 241">
              <a:extLst>
                <a:ext uri="{FF2B5EF4-FFF2-40B4-BE49-F238E27FC236}">
                  <a16:creationId xmlns:a16="http://schemas.microsoft.com/office/drawing/2014/main" id="{D01A00CF-604E-AA85-7A51-05D6444C59F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116" y="177"/>
              <a:ext cx="3625" cy="1385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rot="0" vert="horz" wrap="square" lIns="0" tIns="0" rIns="0" bIns="0" anchor="t" anchorCtr="0" upright="1">
              <a:noAutofit/>
            </a:bodyPr>
            <a:lstStyle/>
            <a:p>
              <a:pPr marL="101600" marR="0">
                <a:lnSpc>
                  <a:spcPct val="107000"/>
                </a:lnSpc>
                <a:spcBef>
                  <a:spcPts val="440"/>
                </a:spcBef>
                <a:spcAft>
                  <a:spcPts val="800"/>
                </a:spcAft>
              </a:pPr>
              <a:r>
                <a:rPr lang="en-PH" sz="1000" i="1" dirty="0">
                  <a:solidFill>
                    <a:srgbClr val="4F6128"/>
                  </a:solidFill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How to search customer?</a:t>
              </a:r>
              <a:endParaRPr lang="en-US" sz="1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endParaRPr>
            </a:p>
            <a:p>
              <a:pPr marL="329565" marR="0" indent="-228600">
                <a:lnSpc>
                  <a:spcPct val="107000"/>
                </a:lnSpc>
                <a:spcBef>
                  <a:spcPts val="0"/>
                </a:spcBef>
                <a:spcAft>
                  <a:spcPts val="0"/>
                </a:spcAft>
                <a:buFont typeface="+mj-lt"/>
                <a:buAutoNum type="arabicPeriod"/>
                <a:tabLst>
                  <a:tab pos="227330" algn="l"/>
                </a:tabLst>
              </a:pPr>
              <a:r>
                <a:rPr lang="en-PH" sz="800" dirty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Type the customer name or customer</a:t>
              </a:r>
              <a:r>
                <a:rPr lang="en-PH" sz="800" spc="-60" dirty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 </a:t>
              </a:r>
              <a:r>
                <a:rPr lang="en-PH" sz="800" dirty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code.</a:t>
              </a:r>
              <a:endParaRPr lang="en-US" sz="1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endParaRPr>
            </a:p>
            <a:p>
              <a:pPr marL="329565" marR="0" indent="-228600">
                <a:lnSpc>
                  <a:spcPts val="975"/>
                </a:lnSpc>
                <a:spcBef>
                  <a:spcPts val="5"/>
                </a:spcBef>
                <a:spcAft>
                  <a:spcPts val="0"/>
                </a:spcAft>
                <a:buFont typeface="+mj-lt"/>
                <a:buAutoNum type="arabicPeriod"/>
                <a:tabLst>
                  <a:tab pos="203200" algn="l"/>
                </a:tabLst>
              </a:pPr>
              <a:r>
                <a:rPr lang="en-PH" sz="800" dirty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Click ‘enter’ in the keyboard to</a:t>
              </a:r>
              <a:r>
                <a:rPr lang="en-PH" sz="800" spc="-40" dirty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 </a:t>
              </a:r>
              <a:r>
                <a:rPr lang="en-PH" sz="800" dirty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search.</a:t>
              </a:r>
              <a:endParaRPr lang="en-US" sz="1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endParaRPr>
            </a:p>
            <a:p>
              <a:pPr marL="329565" marR="0" indent="-228600">
                <a:lnSpc>
                  <a:spcPts val="975"/>
                </a:lnSpc>
                <a:spcBef>
                  <a:spcPts val="0"/>
                </a:spcBef>
                <a:spcAft>
                  <a:spcPts val="0"/>
                </a:spcAft>
                <a:buFont typeface="+mj-lt"/>
                <a:buAutoNum type="arabicPeriod"/>
                <a:tabLst>
                  <a:tab pos="203200" algn="l"/>
                </a:tabLst>
              </a:pPr>
              <a:r>
                <a:rPr lang="en-PH" sz="800" dirty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Click the button before the customer code to select the customer.</a:t>
              </a:r>
              <a:endParaRPr lang="en-US" sz="1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endParaRPr>
            </a:p>
            <a:p>
              <a:pPr marL="202565" marR="0" indent="-101600">
                <a:lnSpc>
                  <a:spcPts val="975"/>
                </a:lnSpc>
                <a:spcBef>
                  <a:spcPts val="0"/>
                </a:spcBef>
                <a:spcAft>
                  <a:spcPts val="0"/>
                </a:spcAft>
                <a:tabLst>
                  <a:tab pos="203200" algn="l"/>
                </a:tabLst>
              </a:pPr>
              <a:r>
                <a:rPr lang="en-PH" sz="800" dirty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 </a:t>
              </a:r>
              <a:endParaRPr lang="en-US" sz="1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35" name="Group 34">
            <a:extLst>
              <a:ext uri="{FF2B5EF4-FFF2-40B4-BE49-F238E27FC236}">
                <a16:creationId xmlns:a16="http://schemas.microsoft.com/office/drawing/2014/main" id="{E13FAC53-19F5-91F3-29D3-4457E9CCB297}"/>
              </a:ext>
            </a:extLst>
          </p:cNvPr>
          <p:cNvGrpSpPr/>
          <p:nvPr/>
        </p:nvGrpSpPr>
        <p:grpSpPr>
          <a:xfrm>
            <a:off x="6502322" y="4062925"/>
            <a:ext cx="2930525" cy="723900"/>
            <a:chOff x="0" y="0"/>
            <a:chExt cx="2930978" cy="723900"/>
          </a:xfrm>
        </p:grpSpPr>
        <p:grpSp>
          <p:nvGrpSpPr>
            <p:cNvPr id="36" name="Group 35">
              <a:extLst>
                <a:ext uri="{FF2B5EF4-FFF2-40B4-BE49-F238E27FC236}">
                  <a16:creationId xmlns:a16="http://schemas.microsoft.com/office/drawing/2014/main" id="{F19CDB6A-63B8-D89E-CA10-9377887D6766}"/>
                </a:ext>
              </a:extLst>
            </p:cNvPr>
            <p:cNvGrpSpPr/>
            <p:nvPr/>
          </p:nvGrpSpPr>
          <p:grpSpPr>
            <a:xfrm>
              <a:off x="0" y="419100"/>
              <a:ext cx="952500" cy="304800"/>
              <a:chOff x="523874" y="28575"/>
              <a:chExt cx="952500" cy="304800"/>
            </a:xfrm>
          </p:grpSpPr>
          <p:sp>
            <p:nvSpPr>
              <p:cNvPr id="41" name="Rectangle 40">
                <a:extLst>
                  <a:ext uri="{FF2B5EF4-FFF2-40B4-BE49-F238E27FC236}">
                    <a16:creationId xmlns:a16="http://schemas.microsoft.com/office/drawing/2014/main" id="{D962304C-03FD-2611-404D-39CC9F74F264}"/>
                  </a:ext>
                </a:extLst>
              </p:cNvPr>
              <p:cNvSpPr/>
              <p:nvPr/>
            </p:nvSpPr>
            <p:spPr>
              <a:xfrm>
                <a:off x="523874" y="28575"/>
                <a:ext cx="275881" cy="304800"/>
              </a:xfrm>
              <a:prstGeom prst="rect">
                <a:avLst/>
              </a:prstGeom>
              <a:noFill/>
              <a:ln w="19050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en-US"/>
              </a:p>
            </p:txBody>
          </p:sp>
          <p:cxnSp>
            <p:nvCxnSpPr>
              <p:cNvPr id="42" name="Straight Arrow Connector 41">
                <a:extLst>
                  <a:ext uri="{FF2B5EF4-FFF2-40B4-BE49-F238E27FC236}">
                    <a16:creationId xmlns:a16="http://schemas.microsoft.com/office/drawing/2014/main" id="{E89779ED-E9E8-8A7F-6A1F-A8FC04288750}"/>
                  </a:ext>
                </a:extLst>
              </p:cNvPr>
              <p:cNvCxnSpPr/>
              <p:nvPr/>
            </p:nvCxnSpPr>
            <p:spPr>
              <a:xfrm>
                <a:off x="800100" y="133350"/>
                <a:ext cx="200025" cy="9525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43" name="Text Box 75">
                <a:extLst>
                  <a:ext uri="{FF2B5EF4-FFF2-40B4-BE49-F238E27FC236}">
                    <a16:creationId xmlns:a16="http://schemas.microsoft.com/office/drawing/2014/main" id="{4ED5D758-7EBF-E3BA-556C-C1F9CA900BD8}"/>
                  </a:ext>
                </a:extLst>
              </p:cNvPr>
              <p:cNvSpPr txBox="1"/>
              <p:nvPr/>
            </p:nvSpPr>
            <p:spPr>
              <a:xfrm>
                <a:off x="1009649" y="28575"/>
                <a:ext cx="466725" cy="247650"/>
              </a:xfrm>
              <a:prstGeom prst="rect">
                <a:avLst/>
              </a:prstGeom>
              <a:solidFill>
                <a:srgbClr val="FFFF00"/>
              </a:solidFill>
              <a:ln w="6350">
                <a:solidFill>
                  <a:prstClr val="black"/>
                </a:solidFill>
              </a:ln>
              <a:effectLst/>
            </p:spPr>
            <p:style>
              <a:lnRef idx="0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 rot="0" spcFirstLastPara="0" vert="horz" wrap="squar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algn="ctr">
                  <a:lnSpc>
                    <a:spcPct val="107000"/>
                  </a:lnSpc>
                  <a:spcBef>
                    <a:spcPts val="0"/>
                  </a:spcBef>
                  <a:spcAft>
                    <a:spcPts val="800"/>
                  </a:spcAft>
                </a:pPr>
                <a:r>
                  <a:rPr lang="en-US" sz="1100">
                    <a:effectLst/>
                    <a:ea typeface="Calibri" panose="020F0502020204030204" pitchFamily="34" charset="0"/>
                    <a:cs typeface="Times New Roman" panose="02020603050405020304" pitchFamily="18" charset="0"/>
                  </a:rPr>
                  <a:t>1.2.</a:t>
                </a:r>
              </a:p>
            </p:txBody>
          </p:sp>
        </p:grpSp>
        <p:grpSp>
          <p:nvGrpSpPr>
            <p:cNvPr id="37" name="Group 36">
              <a:extLst>
                <a:ext uri="{FF2B5EF4-FFF2-40B4-BE49-F238E27FC236}">
                  <a16:creationId xmlns:a16="http://schemas.microsoft.com/office/drawing/2014/main" id="{467E916A-09EB-81CD-A07E-3D06B5EFA6B5}"/>
                </a:ext>
              </a:extLst>
            </p:cNvPr>
            <p:cNvGrpSpPr/>
            <p:nvPr/>
          </p:nvGrpSpPr>
          <p:grpSpPr>
            <a:xfrm>
              <a:off x="1845128" y="0"/>
              <a:ext cx="1085850" cy="304800"/>
              <a:chOff x="228600" y="28575"/>
              <a:chExt cx="1085850" cy="304800"/>
            </a:xfrm>
          </p:grpSpPr>
          <p:sp>
            <p:nvSpPr>
              <p:cNvPr id="38" name="Rectangle 37">
                <a:extLst>
                  <a:ext uri="{FF2B5EF4-FFF2-40B4-BE49-F238E27FC236}">
                    <a16:creationId xmlns:a16="http://schemas.microsoft.com/office/drawing/2014/main" id="{4AC530D6-304F-EEAE-0C6E-126192627630}"/>
                  </a:ext>
                </a:extLst>
              </p:cNvPr>
              <p:cNvSpPr/>
              <p:nvPr/>
            </p:nvSpPr>
            <p:spPr>
              <a:xfrm>
                <a:off x="228600" y="28575"/>
                <a:ext cx="571156" cy="304800"/>
              </a:xfrm>
              <a:prstGeom prst="rect">
                <a:avLst/>
              </a:prstGeom>
              <a:noFill/>
              <a:ln w="19050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en-US"/>
              </a:p>
            </p:txBody>
          </p:sp>
          <p:cxnSp>
            <p:nvCxnSpPr>
              <p:cNvPr id="39" name="Straight Arrow Connector 38">
                <a:extLst>
                  <a:ext uri="{FF2B5EF4-FFF2-40B4-BE49-F238E27FC236}">
                    <a16:creationId xmlns:a16="http://schemas.microsoft.com/office/drawing/2014/main" id="{09986EB3-3A5A-BDAC-CEAB-252BAC485371}"/>
                  </a:ext>
                </a:extLst>
              </p:cNvPr>
              <p:cNvCxnSpPr/>
              <p:nvPr/>
            </p:nvCxnSpPr>
            <p:spPr>
              <a:xfrm>
                <a:off x="800100" y="133350"/>
                <a:ext cx="200025" cy="9525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40" name="Text Box 79">
                <a:extLst>
                  <a:ext uri="{FF2B5EF4-FFF2-40B4-BE49-F238E27FC236}">
                    <a16:creationId xmlns:a16="http://schemas.microsoft.com/office/drawing/2014/main" id="{68D37402-129C-B75A-9CBB-30B2D414547E}"/>
                  </a:ext>
                </a:extLst>
              </p:cNvPr>
              <p:cNvSpPr txBox="1"/>
              <p:nvPr/>
            </p:nvSpPr>
            <p:spPr>
              <a:xfrm>
                <a:off x="1009650" y="28575"/>
                <a:ext cx="304800" cy="247650"/>
              </a:xfrm>
              <a:prstGeom prst="rect">
                <a:avLst/>
              </a:prstGeom>
              <a:solidFill>
                <a:srgbClr val="FFFF00"/>
              </a:solidFill>
              <a:ln w="6350">
                <a:solidFill>
                  <a:prstClr val="black"/>
                </a:solidFill>
              </a:ln>
              <a:effectLst/>
            </p:spPr>
            <p:style>
              <a:lnRef idx="0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 rot="0" spcFirstLastPara="0" vert="horz" wrap="squar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algn="ctr">
                  <a:lnSpc>
                    <a:spcPct val="107000"/>
                  </a:lnSpc>
                  <a:spcBef>
                    <a:spcPts val="0"/>
                  </a:spcBef>
                  <a:spcAft>
                    <a:spcPts val="800"/>
                  </a:spcAft>
                </a:pPr>
                <a:r>
                  <a:rPr lang="en-US" sz="1100">
                    <a:effectLst/>
                    <a:ea typeface="Calibri" panose="020F0502020204030204" pitchFamily="34" charset="0"/>
                    <a:cs typeface="Times New Roman" panose="02020603050405020304" pitchFamily="18" charset="0"/>
                  </a:rPr>
                  <a:t>2.</a:t>
                </a:r>
              </a:p>
            </p:txBody>
          </p:sp>
        </p:grpSp>
      </p:grpSp>
      <p:sp>
        <p:nvSpPr>
          <p:cNvPr id="2" name="Slide Number Placeholder 9">
            <a:extLst>
              <a:ext uri="{FF2B5EF4-FFF2-40B4-BE49-F238E27FC236}">
                <a16:creationId xmlns:a16="http://schemas.microsoft.com/office/drawing/2014/main" id="{F976B5EF-FB5B-9C5C-CB95-74975C77D05A}"/>
              </a:ext>
            </a:extLst>
          </p:cNvPr>
          <p:cNvSpPr>
            <a:spLocks noGrp="1"/>
          </p:cNvSpPr>
          <p:nvPr/>
        </p:nvSpPr>
        <p:spPr>
          <a:xfrm>
            <a:off x="93608" y="6391410"/>
            <a:ext cx="54091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16086AB-602C-49A8-AF1B-7C398AACFC06}" type="slidenum">
              <a:rPr kumimoji="0" lang="en-US" sz="1600" b="0" i="0" u="none" strike="noStrike" kern="1200" cap="none" spc="0" normalizeH="0" baseline="0" noProof="0" smtClean="0">
                <a:ln>
                  <a:noFill/>
                </a:ln>
                <a:solidFill>
                  <a:srgbClr val="00863D"/>
                </a:solidFill>
                <a:effectLst/>
                <a:uLnTx/>
                <a:uFillTx/>
                <a:latin typeface="Animosa Extra Bold" panose="00000900000000000000" pitchFamily="50" charset="0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00863D"/>
              </a:solidFill>
              <a:effectLst/>
              <a:uLnTx/>
              <a:uFillTx/>
              <a:latin typeface="Animosa Extra Bold" panose="00000900000000000000" pitchFamily="50" charset="0"/>
              <a:ea typeface="+mn-ea"/>
              <a:cs typeface="+mn-cs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2221693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Text Box 6">
            <a:extLst>
              <a:ext uri="{FF2B5EF4-FFF2-40B4-BE49-F238E27FC236}">
                <a16:creationId xmlns:a16="http://schemas.microsoft.com/office/drawing/2014/main" id="{54861942-378E-F979-6642-00E02D67C1A4}"/>
              </a:ext>
            </a:extLst>
          </p:cNvPr>
          <p:cNvSpPr txBox="1"/>
          <p:nvPr/>
        </p:nvSpPr>
        <p:spPr>
          <a:xfrm>
            <a:off x="0" y="-11307"/>
            <a:ext cx="5106907" cy="653359"/>
          </a:xfrm>
          <a:prstGeom prst="rect">
            <a:avLst/>
          </a:prstGeom>
          <a:solidFill>
            <a:srgbClr val="00863D"/>
          </a:solidFill>
          <a:ln w="6350">
            <a:noFill/>
          </a:ln>
          <a:effectLst>
            <a:outerShdw blurRad="50800" dist="38100" dir="2700000" sx="73000" sy="73000" algn="tl" rotWithShape="0">
              <a:prstClr val="black">
                <a:alpha val="5000"/>
              </a:prstClr>
            </a:outerShdw>
          </a:effectLst>
        </p:spPr>
        <p:txBody>
          <a:bodyPr rot="0" spcFirstLastPara="0" vert="horz" wrap="square" lIns="91440" tIns="91440" rIns="91440" bIns="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algn="ctr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endParaRPr lang="en-US" sz="1400" dirty="0">
              <a:solidFill>
                <a:srgbClr val="007434"/>
              </a:solidFill>
              <a:effectLst/>
              <a:ea typeface="Open Sans" panose="020B0606030504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C7E240B-5C00-D259-7CC9-8482319B9C8B}"/>
              </a:ext>
            </a:extLst>
          </p:cNvPr>
          <p:cNvSpPr txBox="1"/>
          <p:nvPr/>
        </p:nvSpPr>
        <p:spPr>
          <a:xfrm>
            <a:off x="805110" y="123167"/>
            <a:ext cx="4187020" cy="707886"/>
          </a:xfrm>
          <a:prstGeom prst="rect">
            <a:avLst/>
          </a:prstGeom>
          <a:noFill/>
          <a:effectLst>
            <a:glow rad="228600">
              <a:schemeClr val="accent6">
                <a:lumMod val="20000"/>
                <a:lumOff val="80000"/>
                <a:alpha val="40000"/>
              </a:schemeClr>
            </a:glow>
            <a:outerShdw blurRad="50800" dist="38100" dir="2700000" algn="tl" rotWithShape="0">
              <a:srgbClr val="00863D">
                <a:alpha val="10000"/>
              </a:srgbClr>
            </a:outerShdw>
          </a:effectLst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chemeClr val="accent6">
                    <a:lumMod val="20000"/>
                    <a:lumOff val="80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Masterfile </a:t>
            </a:r>
            <a:r>
              <a:rPr lang="en-US" sz="2000" dirty="0">
                <a:solidFill>
                  <a:schemeClr val="accent6">
                    <a:lumMod val="20000"/>
                    <a:lumOff val="80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/ Customer Ledger</a:t>
            </a:r>
            <a:r>
              <a:rPr lang="en-US" sz="2000" dirty="0">
                <a:solidFill>
                  <a:schemeClr val="accent6">
                    <a:lumMod val="20000"/>
                    <a:lumOff val="80000"/>
                  </a:schemeClr>
                </a:solidFill>
                <a:latin typeface="Bahnschrift Condensed" panose="020B0502040204020203" pitchFamily="34" charset="0"/>
              </a:rPr>
              <a:t> </a:t>
            </a:r>
            <a:r>
              <a:rPr lang="en-US" sz="1900" dirty="0">
                <a:solidFill>
                  <a:schemeClr val="accent6">
                    <a:lumMod val="20000"/>
                    <a:lumOff val="80000"/>
                  </a:schemeClr>
                </a:solidFill>
                <a:latin typeface="+mj-lt"/>
              </a:rPr>
              <a:t>- Module</a:t>
            </a:r>
          </a:p>
          <a:p>
            <a:endParaRPr lang="en-US" sz="2000" dirty="0">
              <a:solidFill>
                <a:srgbClr val="007434"/>
              </a:solidFill>
              <a:latin typeface="Century Gothic" panose="020B0502020202020204" pitchFamily="34" charset="0"/>
            </a:endParaRPr>
          </a:p>
        </p:txBody>
      </p:sp>
      <p:pic>
        <p:nvPicPr>
          <p:cNvPr id="28" name="Picture 27">
            <a:extLst>
              <a:ext uri="{FF2B5EF4-FFF2-40B4-BE49-F238E27FC236}">
                <a16:creationId xmlns:a16="http://schemas.microsoft.com/office/drawing/2014/main" id="{CB5C160F-C04C-EA95-C39F-2B967C6BCB5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80479" y="6391410"/>
            <a:ext cx="1047454" cy="267619"/>
          </a:xfrm>
          <a:prstGeom prst="rect">
            <a:avLst/>
          </a:prstGeom>
          <a:effectLst/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CBE13CC3-0EBB-4997-FCE7-B09A824D1CEB}"/>
              </a:ext>
            </a:extLst>
          </p:cNvPr>
          <p:cNvSpPr txBox="1"/>
          <p:nvPr/>
        </p:nvSpPr>
        <p:spPr>
          <a:xfrm>
            <a:off x="805110" y="1053547"/>
            <a:ext cx="3852819" cy="337392"/>
          </a:xfrm>
          <a:prstGeom prst="rect">
            <a:avLst/>
          </a:prstGeom>
          <a:solidFill>
            <a:srgbClr val="00B050"/>
          </a:solidFill>
          <a:effectLst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Other Information</a:t>
            </a:r>
            <a:endParaRPr lang="en-US" sz="2000" dirty="0">
              <a:solidFill>
                <a:srgbClr val="007434"/>
              </a:solidFill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E7777D04-D73F-74AB-C30B-7D3C9397264F}"/>
              </a:ext>
            </a:extLst>
          </p:cNvPr>
          <p:cNvSpPr txBox="1"/>
          <p:nvPr/>
        </p:nvSpPr>
        <p:spPr>
          <a:xfrm>
            <a:off x="805109" y="4516141"/>
            <a:ext cx="3852819" cy="337392"/>
          </a:xfrm>
          <a:prstGeom prst="rect">
            <a:avLst/>
          </a:prstGeom>
          <a:solidFill>
            <a:srgbClr val="00B050"/>
          </a:solidFill>
          <a:effectLst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Other Buttons</a:t>
            </a:r>
            <a:endParaRPr lang="en-US" sz="2000" dirty="0">
              <a:solidFill>
                <a:srgbClr val="007434"/>
              </a:solidFill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sp>
        <p:nvSpPr>
          <p:cNvPr id="8" name="Text Box 102">
            <a:extLst>
              <a:ext uri="{FF2B5EF4-FFF2-40B4-BE49-F238E27FC236}">
                <a16:creationId xmlns:a16="http://schemas.microsoft.com/office/drawing/2014/main" id="{9C27B11D-33B2-DB7D-A894-E01425B3F550}"/>
              </a:ext>
            </a:extLst>
          </p:cNvPr>
          <p:cNvSpPr txBox="1"/>
          <p:nvPr/>
        </p:nvSpPr>
        <p:spPr>
          <a:xfrm>
            <a:off x="805109" y="1589414"/>
            <a:ext cx="3852820" cy="1913613"/>
          </a:xfrm>
          <a:prstGeom prst="rect">
            <a:avLst/>
          </a:prstGeom>
          <a:noFill/>
          <a:ln w="6350">
            <a:solidFill>
              <a:srgbClr val="E7E6E6">
                <a:lumMod val="90000"/>
              </a:srgbClr>
            </a:solidFill>
          </a:ln>
          <a:effectLst/>
        </p:spPr>
        <p:txBody>
          <a:bodyPr rot="0" spcFirstLastPara="0" vert="horz" wrap="square" lIns="91440" tIns="91440" rIns="91440" bIns="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227330">
              <a:lnSpc>
                <a:spcPct val="107000"/>
              </a:lnSpc>
              <a:spcBef>
                <a:spcPts val="190"/>
              </a:spcBef>
              <a:spcAft>
                <a:spcPts val="800"/>
              </a:spcAft>
            </a:pPr>
            <a:r>
              <a:rPr lang="en-PH" sz="12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When you click the arrow parallel to the main form on the upper right, the customer ledger – main form will minimize and the other information will be displayed as shown in the photo below.</a:t>
            </a:r>
            <a:endParaRPr lang="en-US" sz="1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227330">
              <a:lnSpc>
                <a:spcPct val="107000"/>
              </a:lnSpc>
              <a:spcBef>
                <a:spcPts val="190"/>
              </a:spcBef>
              <a:spcAft>
                <a:spcPts val="800"/>
              </a:spcAft>
            </a:pPr>
            <a:r>
              <a:rPr lang="en-PH" sz="12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Click the arrow parallel to what information you want to open and provide the necessary filter to generate the data you want to display.</a:t>
            </a:r>
            <a:endParaRPr lang="en-US" sz="1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R="227330">
              <a:lnSpc>
                <a:spcPct val="107000"/>
              </a:lnSpc>
              <a:spcBef>
                <a:spcPts val="190"/>
              </a:spcBef>
              <a:spcAft>
                <a:spcPts val="800"/>
              </a:spcAft>
            </a:pPr>
            <a:endParaRPr lang="en-US" sz="1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6153D96-2360-B19A-7E8F-9C43CD7DF8A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98634" y="1053547"/>
            <a:ext cx="6189345" cy="2063115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52F213EB-3EFE-7C97-417F-9C7C642DEE0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52909" y="3676021"/>
            <a:ext cx="6280794" cy="2494159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13A6E795-A8E7-8B40-C067-8F8DE35F49ED}"/>
              </a:ext>
            </a:extLst>
          </p:cNvPr>
          <p:cNvSpPr txBox="1"/>
          <p:nvPr/>
        </p:nvSpPr>
        <p:spPr>
          <a:xfrm>
            <a:off x="7256349" y="3079431"/>
            <a:ext cx="2552700" cy="2812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ctr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PH" sz="12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  Customer Ledger – Main </a:t>
            </a:r>
            <a:r>
              <a:rPr lang="en-PH" sz="12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form</a:t>
            </a:r>
            <a:endParaRPr lang="en-US" sz="1200" b="1" dirty="0"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" name="Slide Number Placeholder 9">
            <a:extLst>
              <a:ext uri="{FF2B5EF4-FFF2-40B4-BE49-F238E27FC236}">
                <a16:creationId xmlns:a16="http://schemas.microsoft.com/office/drawing/2014/main" id="{B9AE3E47-9B90-9572-9EF2-725D5EDFCD3E}"/>
              </a:ext>
            </a:extLst>
          </p:cNvPr>
          <p:cNvSpPr>
            <a:spLocks noGrp="1"/>
          </p:cNvSpPr>
          <p:nvPr/>
        </p:nvSpPr>
        <p:spPr>
          <a:xfrm>
            <a:off x="93608" y="6391410"/>
            <a:ext cx="54091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16086AB-602C-49A8-AF1B-7C398AACFC06}" type="slidenum">
              <a:rPr kumimoji="0" lang="en-US" sz="1600" b="0" i="0" u="none" strike="noStrike" kern="1200" cap="none" spc="0" normalizeH="0" baseline="0" noProof="0" smtClean="0">
                <a:ln>
                  <a:noFill/>
                </a:ln>
                <a:solidFill>
                  <a:srgbClr val="00863D"/>
                </a:solidFill>
                <a:effectLst/>
                <a:uLnTx/>
                <a:uFillTx/>
                <a:latin typeface="Animosa Extra Bold" panose="00000900000000000000" pitchFamily="50" charset="0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00863D"/>
              </a:solidFill>
              <a:effectLst/>
              <a:uLnTx/>
              <a:uFillTx/>
              <a:latin typeface="Animosa Extra Bold" panose="00000900000000000000" pitchFamily="50" charset="0"/>
              <a:ea typeface="+mn-ea"/>
              <a:cs typeface="+mn-cs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2279075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564</Words>
  <Application>Microsoft Office PowerPoint</Application>
  <PresentationFormat>Widescreen</PresentationFormat>
  <Paragraphs>87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7" baseType="lpstr">
      <vt:lpstr>Animosa Extra Bold</vt:lpstr>
      <vt:lpstr>Arial</vt:lpstr>
      <vt:lpstr>Bahnschrift Condensed</vt:lpstr>
      <vt:lpstr>Bodoni MT Condensed</vt:lpstr>
      <vt:lpstr>Calibri</vt:lpstr>
      <vt:lpstr>Calibri Light</vt:lpstr>
      <vt:lpstr>Century Gothic</vt:lpstr>
      <vt:lpstr>Chivo Light</vt:lpstr>
      <vt:lpstr>Verdana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Janine Calawod</dc:creator>
  <cp:lastModifiedBy>Janine Calawod</cp:lastModifiedBy>
  <cp:revision>1</cp:revision>
  <dcterms:created xsi:type="dcterms:W3CDTF">2023-01-10T03:27:14Z</dcterms:created>
  <dcterms:modified xsi:type="dcterms:W3CDTF">2023-01-10T03:27:30Z</dcterms:modified>
</cp:coreProperties>
</file>