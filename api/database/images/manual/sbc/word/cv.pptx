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4" r:id="rId2"/>
    <p:sldId id="325" r:id="rId3"/>
    <p:sldId id="326" r:id="rId4"/>
    <p:sldId id="327" r:id="rId5"/>
    <p:sldId id="334" r:id="rId6"/>
    <p:sldId id="335" r:id="rId7"/>
    <p:sldId id="336" r:id="rId8"/>
    <p:sldId id="331" r:id="rId9"/>
    <p:sldId id="337" r:id="rId10"/>
    <p:sldId id="333" r:id="rId11"/>
    <p:sldId id="34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96A7-D424-02BE-FAA9-143FCCF2F9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EB4EAC15-2C44-AD67-0D82-11FC033C8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DBD3989-AB3F-4D39-2A43-B6A08E60F0BD}"/>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ABF61208-AF64-6D77-5A64-7AC4597AF69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F23A661-26A7-90AE-396E-50C9F7CE81A5}"/>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2198056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6A5CC-23C5-3423-CFC1-24E8CC9AF35A}"/>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B3A51B18-F315-0946-D1E6-493C3C854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4C58145-015A-930C-AAF3-E26EB2873243}"/>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C27AA612-230F-ED0D-855E-E880108A8DB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1866E88-710B-E25B-6EA6-D9F6F31B577D}"/>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3949700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16C7B-6F12-BF2A-21C9-2CB9215FAD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60C7DABF-BAE5-A64E-9689-2BA06E34BA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DEED21-1E38-22C8-DB23-03F62DB421EC}"/>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BC894D9D-69DF-83A7-0076-BA4BA4867A7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524B7DF-D00E-470F-9C0B-B3010465A14C}"/>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3227805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101B-4820-F4BE-DD8F-58E7B8D7A93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E946C55-ADBC-01DB-FF38-A04F0A5C5C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7F38C973-B855-AC47-AC79-296E12BB6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A3926D4E-3986-AF81-D583-CA91C1466A96}"/>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6" name="Footer Placeholder 5">
            <a:extLst>
              <a:ext uri="{FF2B5EF4-FFF2-40B4-BE49-F238E27FC236}">
                <a16:creationId xmlns:a16="http://schemas.microsoft.com/office/drawing/2014/main" id="{7520CE5B-2E15-37B1-CFDC-F47C63D261C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89C3279-9E08-A994-731C-A6F743D35B8C}"/>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1396926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3A913-130A-4D91-BAF8-6ED3509305F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E9402A5D-F7B7-21DF-84FA-9BF4E4B54E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EF5A61-65FB-6C44-CA7F-7626BE882C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961F3B0-55C6-2A2C-9FAA-490D048BA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AD4BA7-3F74-34A8-B1FF-63C757B411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60255FE9-C6B7-4DA7-5455-6A35B8312E12}"/>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8" name="Footer Placeholder 7">
            <a:extLst>
              <a:ext uri="{FF2B5EF4-FFF2-40B4-BE49-F238E27FC236}">
                <a16:creationId xmlns:a16="http://schemas.microsoft.com/office/drawing/2014/main" id="{F4CA2C64-D001-5CC8-8BD8-2667AF0E3AD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B45FA4D4-827D-9EAA-B851-197AACF648E9}"/>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3883882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6F850-E3C0-34AC-B238-7082041AE2D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6B1A5F7D-F4AC-068D-B64E-46CA8F0E8A17}"/>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4" name="Footer Placeholder 3">
            <a:extLst>
              <a:ext uri="{FF2B5EF4-FFF2-40B4-BE49-F238E27FC236}">
                <a16:creationId xmlns:a16="http://schemas.microsoft.com/office/drawing/2014/main" id="{F69EE520-1CCC-66DA-DF18-11502B450596}"/>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BEFBD356-01F6-0F71-522B-F13B9DCA1257}"/>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2070149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49617F-AC06-C434-0937-7B706D3B1EA1}"/>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3" name="Footer Placeholder 2">
            <a:extLst>
              <a:ext uri="{FF2B5EF4-FFF2-40B4-BE49-F238E27FC236}">
                <a16:creationId xmlns:a16="http://schemas.microsoft.com/office/drawing/2014/main" id="{09767B5E-F44E-E1A8-9803-0FE0D6456EA0}"/>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944EFCE4-6AD3-3CDB-AA0A-DE28137100B1}"/>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652531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FE58-8922-21B0-820B-BB3385CFB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35432443-40AC-FD86-3A3D-476E9CEA07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D5A93BD4-345F-2FD3-8534-38B54D0A1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80F850-86AF-494C-C6F2-D991249266D1}"/>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6" name="Footer Placeholder 5">
            <a:extLst>
              <a:ext uri="{FF2B5EF4-FFF2-40B4-BE49-F238E27FC236}">
                <a16:creationId xmlns:a16="http://schemas.microsoft.com/office/drawing/2014/main" id="{EBA365EC-71D0-F497-903E-29042B25E35E}"/>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42E9D1C2-6292-6FA5-9787-25352CCA7242}"/>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2111585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E6601-B4D1-351C-6494-2D8B3F18C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9395873-9011-4E40-F9F1-E9A978C6AE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7652347D-0DD7-16C2-1D00-7F3425E6CB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BDC32-9FC5-9278-E324-430B1032FD4B}"/>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6" name="Footer Placeholder 5">
            <a:extLst>
              <a:ext uri="{FF2B5EF4-FFF2-40B4-BE49-F238E27FC236}">
                <a16:creationId xmlns:a16="http://schemas.microsoft.com/office/drawing/2014/main" id="{DBB53370-5ED4-BF95-C9FE-400B48B23C47}"/>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1D9C1B5C-DAC9-D04D-B538-EC0047BD71ED}"/>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3653347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7896-71FE-F802-3FDE-A5F0D7255C30}"/>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230ECBE-6123-F9AB-09E4-9792BA0AF6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20BF339-5FD4-34E4-7027-A893721A8A05}"/>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5A51A92A-49AB-D1BF-B12F-F0A79E76C93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574F2EA-EAC0-751F-4F62-D0C7D8FC831F}"/>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3977834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E62734-5C91-4028-EFF8-9811F7A6F6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2D1F747B-6CE8-23E2-7EB8-550739A987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82B6A3B-E54A-BA02-3447-DA1FBD782FA3}"/>
              </a:ext>
            </a:extLst>
          </p:cNvPr>
          <p:cNvSpPr>
            <a:spLocks noGrp="1"/>
          </p:cNvSpPr>
          <p:nvPr>
            <p:ph type="dt" sz="half" idx="10"/>
          </p:nvPr>
        </p:nvSpPr>
        <p:spPr/>
        <p:txBody>
          <a:body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E0FD9EF0-BB18-84AC-4F22-25C968B3B71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E819555-D8A2-EE8B-A609-57D2E75D5C8D}"/>
              </a:ext>
            </a:extLst>
          </p:cNvPr>
          <p:cNvSpPr>
            <a:spLocks noGrp="1"/>
          </p:cNvSpPr>
          <p:nvPr>
            <p:ph type="sldNum" sz="quarter" idx="12"/>
          </p:nvPr>
        </p:nvSpPr>
        <p:spPr/>
        <p:txBody>
          <a:bodyPr/>
          <a:lstStyle/>
          <a:p>
            <a:fld id="{C13298BF-C748-4836-958F-7C7EDCAC1F4D}" type="slidenum">
              <a:rPr lang="en-PH" smtClean="0"/>
              <a:t>‹#›</a:t>
            </a:fld>
            <a:endParaRPr lang="en-PH"/>
          </a:p>
        </p:txBody>
      </p:sp>
    </p:spTree>
    <p:extLst>
      <p:ext uri="{BB962C8B-B14F-4D97-AF65-F5344CB8AC3E}">
        <p14:creationId xmlns:p14="http://schemas.microsoft.com/office/powerpoint/2010/main" val="972636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1217D-FFE3-3BE8-0827-0560580160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2036943-9337-3F37-F011-1D9E8AF26B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95E56AA-14B7-D800-FC48-6D3B47948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6B910-9903-4109-832F-9A9A20AC692F}" type="datetimeFigureOut">
              <a:rPr lang="en-PH" smtClean="0"/>
              <a:t>01/03/2023</a:t>
            </a:fld>
            <a:endParaRPr lang="en-PH"/>
          </a:p>
        </p:txBody>
      </p:sp>
      <p:sp>
        <p:nvSpPr>
          <p:cNvPr id="5" name="Footer Placeholder 4">
            <a:extLst>
              <a:ext uri="{FF2B5EF4-FFF2-40B4-BE49-F238E27FC236}">
                <a16:creationId xmlns:a16="http://schemas.microsoft.com/office/drawing/2014/main" id="{E70A7A78-2843-9D49-CD0D-0BE42BE293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CC4EBA5E-1F5B-CEA2-C613-7F25A104F2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3298BF-C748-4836-958F-7C7EDCAC1F4D}" type="slidenum">
              <a:rPr lang="en-PH" smtClean="0"/>
              <a:t>‹#›</a:t>
            </a:fld>
            <a:endParaRPr lang="en-PH"/>
          </a:p>
        </p:txBody>
      </p:sp>
    </p:spTree>
    <p:extLst>
      <p:ext uri="{BB962C8B-B14F-4D97-AF65-F5344CB8AC3E}">
        <p14:creationId xmlns:p14="http://schemas.microsoft.com/office/powerpoint/2010/main" val="540661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Cash/Check Voucher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a typeface="Open Sans" panose="020B0606030504020204" pitchFamily="34" charset="0"/>
                <a:cs typeface="Times New Roman" panose="02020603050405020304" pitchFamily="18" charset="0"/>
              </a:rPr>
              <a:t>is where payment whether it is in cash or in check is recorded. It is where we also disburse the APV document we made in Accounts Payable Voucher.</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2820668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928BAB2-21AB-C7E0-FBAB-4699A1131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7545" y="2375033"/>
            <a:ext cx="6189345" cy="1477010"/>
          </a:xfrm>
          <a:prstGeom prst="rect">
            <a:avLst/>
          </a:prstGeom>
        </p:spPr>
      </p:pic>
      <p:grpSp>
        <p:nvGrpSpPr>
          <p:cNvPr id="19" name="Group 18">
            <a:extLst>
              <a:ext uri="{FF2B5EF4-FFF2-40B4-BE49-F238E27FC236}">
                <a16:creationId xmlns:a16="http://schemas.microsoft.com/office/drawing/2014/main" id="{9D76062A-3606-3826-FC3A-CCFD5BFE0226}"/>
              </a:ext>
            </a:extLst>
          </p:cNvPr>
          <p:cNvGrpSpPr/>
          <p:nvPr/>
        </p:nvGrpSpPr>
        <p:grpSpPr>
          <a:xfrm>
            <a:off x="5203534" y="3187661"/>
            <a:ext cx="6073776" cy="795020"/>
            <a:chOff x="0" y="0"/>
            <a:chExt cx="6073991" cy="795131"/>
          </a:xfrm>
        </p:grpSpPr>
        <p:sp>
          <p:nvSpPr>
            <p:cNvPr id="23" name="Rectangle 22">
              <a:extLst>
                <a:ext uri="{FF2B5EF4-FFF2-40B4-BE49-F238E27FC236}">
                  <a16:creationId xmlns:a16="http://schemas.microsoft.com/office/drawing/2014/main" id="{4D51E0C3-C21D-ABD1-C621-05DFC32669FF}"/>
                </a:ext>
              </a:extLst>
            </p:cNvPr>
            <p:cNvSpPr/>
            <p:nvPr/>
          </p:nvSpPr>
          <p:spPr>
            <a:xfrm>
              <a:off x="0" y="103415"/>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id="{E1D12ADA-09DE-BCA9-298D-A39203FC5963}"/>
                </a:ext>
              </a:extLst>
            </p:cNvPr>
            <p:cNvSpPr/>
            <p:nvPr/>
          </p:nvSpPr>
          <p:spPr>
            <a:xfrm>
              <a:off x="985157" y="0"/>
              <a:ext cx="5088834" cy="7951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07F71209-0BBC-AA1D-DC4A-A80F11B99EA0}"/>
                </a:ext>
              </a:extLst>
            </p:cNvPr>
            <p:cNvCxnSpPr/>
            <p:nvPr/>
          </p:nvCxnSpPr>
          <p:spPr>
            <a:xfrm flipV="1">
              <a:off x="843642" y="209550"/>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Cash/ Check Voucher module under Payables, Cash/ Check Voucher transactions list will display based on filtered date and status in the Cash/ Check Voucher - main window.</a:t>
            </a:r>
          </a:p>
          <a:p>
            <a:pPr marL="0" lvl="2">
              <a:lnSpc>
                <a:spcPct val="107000"/>
              </a:lnSpc>
            </a:pP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50646" y="413962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44B03976-42B6-3E62-1139-397490894F46}"/>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7326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4D9180-56C4-0089-97FD-3FBA70301431}"/>
              </a:ext>
            </a:extLst>
          </p:cNvPr>
          <p:cNvPicPr>
            <a:picLocks noChangeAspect="1"/>
          </p:cNvPicPr>
          <p:nvPr/>
        </p:nvPicPr>
        <p:blipFill>
          <a:blip r:embed="rId2"/>
          <a:stretch>
            <a:fillRect/>
          </a:stretch>
        </p:blipFill>
        <p:spPr>
          <a:xfrm>
            <a:off x="5168513" y="2579547"/>
            <a:ext cx="6972397" cy="2794182"/>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636434" y="1446709"/>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954141"/>
            <a:ext cx="4179346" cy="293530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Window, you will notice a create button in the upper left of the window. Click the create button and you will be redirect in cash/check voucher – main form.</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payees. Search and select a payee.</a:t>
            </a:r>
          </a:p>
          <a:p>
            <a:pPr marL="457200" marR="0" indent="-228600">
              <a:lnSpc>
                <a:spcPct val="115000"/>
              </a:lnSpc>
              <a:spcBef>
                <a:spcPts val="0"/>
              </a:spcBef>
              <a:spcAft>
                <a:spcPts val="0"/>
              </a:spcAft>
              <a:buAutoNum type="arabicPeriod" startAt="2"/>
            </a:pPr>
            <a:endParaRPr lang="en-US" sz="1200" dirty="0">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3.  </a:t>
            </a:r>
            <a:r>
              <a:rPr lang="en-US" sz="1200" dirty="0">
                <a:effectLst/>
                <a:latin typeface="Chivo Light" panose="020B0303030202020804" pitchFamily="34" charset="0"/>
                <a:ea typeface="Calibri" panose="020F0502020204030204" pitchFamily="34" charset="0"/>
                <a:cs typeface="Times New Roman" panose="02020603050405020304" pitchFamily="18" charset="0"/>
              </a:rPr>
              <a:t>After you select a payee, you will be redirect in cash/check voucher – main form where you will encode the other necessary information of the transaction and record the CV transaction</a:t>
            </a:r>
          </a:p>
          <a:p>
            <a:pPr marL="228600" marR="0" indent="-228600">
              <a:lnSpc>
                <a:spcPct val="107000"/>
              </a:lnSpc>
              <a:spcBef>
                <a:spcPts val="0"/>
              </a:spcBef>
              <a:spcAft>
                <a:spcPts val="800"/>
              </a:spcAft>
              <a:buAutoNum type="arabicPeriod" startAt="2"/>
            </a:pPr>
            <a:endParaRPr lang="en-US" sz="1200" cap="all" dirty="0">
              <a:solidFill>
                <a:srgbClr val="4472C4"/>
              </a:solidFill>
              <a:latin typeface="Chivo Light" panose="020B0303030202020804" pitchFamily="34" charset="0"/>
              <a:ea typeface="Calibri" panose="020F0502020204030204" pitchFamily="34" charset="0"/>
              <a:cs typeface="Times New Roman" panose="02020603050405020304" pitchFamily="18" charset="0"/>
            </a:endParaRPr>
          </a:p>
          <a:p>
            <a:pPr marL="228600" marR="0" indent="-228600">
              <a:lnSpc>
                <a:spcPct val="107000"/>
              </a:lnSpc>
              <a:spcBef>
                <a:spcPts val="0"/>
              </a:spcBef>
              <a:spcAft>
                <a:spcPts val="800"/>
              </a:spcAft>
              <a:buAutoNum type="arabicPeriod" startAt="2"/>
            </a:pPr>
            <a:endParaRPr lang="en-US" sz="1200" cap="all" dirty="0">
              <a:solidFill>
                <a:srgbClr val="4472C4"/>
              </a:solidFill>
              <a:effectLst/>
              <a:latin typeface="Chivo Light" panose="020B03030302020208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89" name="Group 88">
            <a:extLst>
              <a:ext uri="{FF2B5EF4-FFF2-40B4-BE49-F238E27FC236}">
                <a16:creationId xmlns:a16="http://schemas.microsoft.com/office/drawing/2014/main" id="{7C2C8010-1044-1855-0435-FE93E103FA40}"/>
              </a:ext>
            </a:extLst>
          </p:cNvPr>
          <p:cNvGrpSpPr/>
          <p:nvPr/>
        </p:nvGrpSpPr>
        <p:grpSpPr>
          <a:xfrm>
            <a:off x="5168513" y="1415418"/>
            <a:ext cx="6189345" cy="889000"/>
            <a:chOff x="5168513" y="953197"/>
            <a:chExt cx="6189345" cy="889000"/>
          </a:xfrm>
        </p:grpSpPr>
        <p:pic>
          <p:nvPicPr>
            <p:cNvPr id="32" name="Picture 31">
              <a:extLst>
                <a:ext uri="{FF2B5EF4-FFF2-40B4-BE49-F238E27FC236}">
                  <a16:creationId xmlns:a16="http://schemas.microsoft.com/office/drawing/2014/main" id="{5C01974F-CA3E-528C-178C-1FA20BBE8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513" y="953197"/>
              <a:ext cx="6189345" cy="889000"/>
            </a:xfrm>
            <a:prstGeom prst="rect">
              <a:avLst/>
            </a:prstGeom>
          </p:spPr>
        </p:pic>
        <p:grpSp>
          <p:nvGrpSpPr>
            <p:cNvPr id="47" name="Group 46">
              <a:extLst>
                <a:ext uri="{FF2B5EF4-FFF2-40B4-BE49-F238E27FC236}">
                  <a16:creationId xmlns:a16="http://schemas.microsoft.com/office/drawing/2014/main" id="{87D0EED9-B4C4-C35E-9530-B813065FDCAA}"/>
                </a:ext>
              </a:extLst>
            </p:cNvPr>
            <p:cNvGrpSpPr/>
            <p:nvPr/>
          </p:nvGrpSpPr>
          <p:grpSpPr>
            <a:xfrm>
              <a:off x="5171053" y="1194760"/>
              <a:ext cx="1209675" cy="276225"/>
              <a:chOff x="-320109" y="-2096128"/>
              <a:chExt cx="1209675" cy="276225"/>
            </a:xfrm>
          </p:grpSpPr>
          <p:sp>
            <p:nvSpPr>
              <p:cNvPr id="48" name="Rectangle 47">
                <a:extLst>
                  <a:ext uri="{FF2B5EF4-FFF2-40B4-BE49-F238E27FC236}">
                    <a16:creationId xmlns:a16="http://schemas.microsoft.com/office/drawing/2014/main" id="{F512AE0A-6464-5F9B-513C-1936AA6D6A5A}"/>
                  </a:ext>
                </a:extLst>
              </p:cNvPr>
              <p:cNvSpPr/>
              <p:nvPr/>
            </p:nvSpPr>
            <p:spPr>
              <a:xfrm>
                <a:off x="-320109" y="-2096128"/>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9" name="Straight Arrow Connector 48">
                <a:extLst>
                  <a:ext uri="{FF2B5EF4-FFF2-40B4-BE49-F238E27FC236}">
                    <a16:creationId xmlns:a16="http://schemas.microsoft.com/office/drawing/2014/main" id="{CC7E11E0-B1D8-EB4B-4A94-5AA82C0D0A4A}"/>
                  </a:ext>
                </a:extLst>
              </p:cNvPr>
              <p:cNvCxnSpPr/>
              <p:nvPr/>
            </p:nvCxnSpPr>
            <p:spPr>
              <a:xfrm>
                <a:off x="479991" y="-196277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606">
                <a:extLst>
                  <a:ext uri="{FF2B5EF4-FFF2-40B4-BE49-F238E27FC236}">
                    <a16:creationId xmlns:a16="http://schemas.microsoft.com/office/drawing/2014/main" id="{E32A1F01-50F7-1E68-5808-6AAFBDC69517}"/>
                  </a:ext>
                </a:extLst>
              </p:cNvPr>
              <p:cNvSpPr txBox="1"/>
              <p:nvPr/>
            </p:nvSpPr>
            <p:spPr>
              <a:xfrm>
                <a:off x="689541" y="-206755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a:t>
                </a:r>
              </a:p>
            </p:txBody>
          </p:sp>
        </p:grpSp>
      </p:grpSp>
      <p:sp>
        <p:nvSpPr>
          <p:cNvPr id="84" name="Rectangle 83">
            <a:extLst>
              <a:ext uri="{FF2B5EF4-FFF2-40B4-BE49-F238E27FC236}">
                <a16:creationId xmlns:a16="http://schemas.microsoft.com/office/drawing/2014/main" id="{9DF68BF9-B122-6CEF-A552-E25F7AF213E3}"/>
              </a:ext>
            </a:extLst>
          </p:cNvPr>
          <p:cNvSpPr/>
          <p:nvPr/>
        </p:nvSpPr>
        <p:spPr>
          <a:xfrm>
            <a:off x="5688844" y="3661779"/>
            <a:ext cx="4974059" cy="3148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5" name="Straight Arrow Connector 84">
            <a:extLst>
              <a:ext uri="{FF2B5EF4-FFF2-40B4-BE49-F238E27FC236}">
                <a16:creationId xmlns:a16="http://schemas.microsoft.com/office/drawing/2014/main" id="{D9D65E32-5522-3CC7-3693-7E9A625E6CF9}"/>
              </a:ext>
            </a:extLst>
          </p:cNvPr>
          <p:cNvCxnSpPr/>
          <p:nvPr/>
        </p:nvCxnSpPr>
        <p:spPr>
          <a:xfrm>
            <a:off x="10674778" y="3609415"/>
            <a:ext cx="193355" cy="82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Text Box 1034">
            <a:extLst>
              <a:ext uri="{FF2B5EF4-FFF2-40B4-BE49-F238E27FC236}">
                <a16:creationId xmlns:a16="http://schemas.microsoft.com/office/drawing/2014/main" id="{3367A903-EB94-4C12-B5FE-374A854FC82C}"/>
              </a:ext>
            </a:extLst>
          </p:cNvPr>
          <p:cNvSpPr txBox="1"/>
          <p:nvPr/>
        </p:nvSpPr>
        <p:spPr>
          <a:xfrm>
            <a:off x="10876028" y="3488971"/>
            <a:ext cx="230422" cy="287599"/>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sp>
        <p:nvSpPr>
          <p:cNvPr id="76" name="Text Box 241">
            <a:extLst>
              <a:ext uri="{FF2B5EF4-FFF2-40B4-BE49-F238E27FC236}">
                <a16:creationId xmlns:a16="http://schemas.microsoft.com/office/drawing/2014/main" id="{7F81C00B-1D62-F91D-E263-AC8CA0920167}"/>
              </a:ext>
            </a:extLst>
          </p:cNvPr>
          <p:cNvSpPr txBox="1">
            <a:spLocks noChangeArrowheads="1"/>
          </p:cNvSpPr>
          <p:nvPr/>
        </p:nvSpPr>
        <p:spPr bwMode="auto">
          <a:xfrm>
            <a:off x="6235294" y="3829537"/>
            <a:ext cx="4018934" cy="9756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supplier?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supplier name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supplier.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7" name="Group 76">
            <a:extLst>
              <a:ext uri="{FF2B5EF4-FFF2-40B4-BE49-F238E27FC236}">
                <a16:creationId xmlns:a16="http://schemas.microsoft.com/office/drawing/2014/main" id="{D2791512-80D7-B1EE-BD3D-F63B8920DA18}"/>
              </a:ext>
            </a:extLst>
          </p:cNvPr>
          <p:cNvGrpSpPr/>
          <p:nvPr/>
        </p:nvGrpSpPr>
        <p:grpSpPr>
          <a:xfrm>
            <a:off x="6280715" y="2769645"/>
            <a:ext cx="746474" cy="276169"/>
            <a:chOff x="553951" y="-453310"/>
            <a:chExt cx="746536" cy="276226"/>
          </a:xfrm>
        </p:grpSpPr>
        <p:sp>
          <p:nvSpPr>
            <p:cNvPr id="78" name="Rectangle 77">
              <a:extLst>
                <a:ext uri="{FF2B5EF4-FFF2-40B4-BE49-F238E27FC236}">
                  <a16:creationId xmlns:a16="http://schemas.microsoft.com/office/drawing/2014/main" id="{AC000786-9E28-300E-6422-D292E4568330}"/>
                </a:ext>
              </a:extLst>
            </p:cNvPr>
            <p:cNvSpPr/>
            <p:nvPr/>
          </p:nvSpPr>
          <p:spPr>
            <a:xfrm>
              <a:off x="553951" y="-453310"/>
              <a:ext cx="336962"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0" name="Straight Arrow Connector 79">
              <a:extLst>
                <a:ext uri="{FF2B5EF4-FFF2-40B4-BE49-F238E27FC236}">
                  <a16:creationId xmlns:a16="http://schemas.microsoft.com/office/drawing/2014/main" id="{E5792AF7-F187-54D6-467F-E5FE7AF55867}"/>
                </a:ext>
              </a:extLst>
            </p:cNvPr>
            <p:cNvCxnSpPr/>
            <p:nvPr/>
          </p:nvCxnSpPr>
          <p:spPr>
            <a:xfrm>
              <a:off x="890912" y="-31996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Text Box 1028">
              <a:extLst>
                <a:ext uri="{FF2B5EF4-FFF2-40B4-BE49-F238E27FC236}">
                  <a16:creationId xmlns:a16="http://schemas.microsoft.com/office/drawing/2014/main" id="{5B6DFA3C-A3EC-9866-1ED8-F7437E3440B7}"/>
                </a:ext>
              </a:extLst>
            </p:cNvPr>
            <p:cNvSpPr txBox="1"/>
            <p:nvPr/>
          </p:nvSpPr>
          <p:spPr>
            <a:xfrm>
              <a:off x="1100462" y="-424734"/>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3</a:t>
              </a:r>
            </a:p>
          </p:txBody>
        </p:sp>
      </p:grpSp>
      <p:pic>
        <p:nvPicPr>
          <p:cNvPr id="90" name="Picture 89">
            <a:extLst>
              <a:ext uri="{FF2B5EF4-FFF2-40B4-BE49-F238E27FC236}">
                <a16:creationId xmlns:a16="http://schemas.microsoft.com/office/drawing/2014/main" id="{4BCA308E-6D2C-38F9-05AD-0BD1C987A2B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AE9A54AF-617F-7175-3160-0825E2377115}"/>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65107A70-4FFB-0E11-29D2-6261AD614C48}"/>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585678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994299" y="634916"/>
            <a:ext cx="4380589" cy="351285"/>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46789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EWT rate if there’s any, click the lookup button and select its respective EWT rate.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4.2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disbursement date.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4.3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payable or expense account that you will record. If the payment is from APV or receiving report transaction, click unpaid button to view all the unpaid payables of the supplier and select it by ticking the check box.</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21" name="Group 20">
            <a:extLst>
              <a:ext uri="{FF2B5EF4-FFF2-40B4-BE49-F238E27FC236}">
                <a16:creationId xmlns:a16="http://schemas.microsoft.com/office/drawing/2014/main" id="{8FB9C075-0180-748B-507D-3F693990F106}"/>
              </a:ext>
            </a:extLst>
          </p:cNvPr>
          <p:cNvGrpSpPr/>
          <p:nvPr/>
        </p:nvGrpSpPr>
        <p:grpSpPr>
          <a:xfrm>
            <a:off x="4962352" y="633380"/>
            <a:ext cx="6689060" cy="2824480"/>
            <a:chOff x="4962352" y="633380"/>
            <a:chExt cx="6689060" cy="2824480"/>
          </a:xfrm>
        </p:grpSpPr>
        <p:pic>
          <p:nvPicPr>
            <p:cNvPr id="5" name="Picture 4">
              <a:extLst>
                <a:ext uri="{FF2B5EF4-FFF2-40B4-BE49-F238E27FC236}">
                  <a16:creationId xmlns:a16="http://schemas.microsoft.com/office/drawing/2014/main" id="{36C7BF9F-D0ED-EF04-E5A5-8062C5A95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357" y="633380"/>
              <a:ext cx="5901055" cy="2824480"/>
            </a:xfrm>
            <a:prstGeom prst="rect">
              <a:avLst/>
            </a:prstGeom>
          </p:spPr>
        </p:pic>
        <p:grpSp>
          <p:nvGrpSpPr>
            <p:cNvPr id="7" name="Group 6">
              <a:extLst>
                <a:ext uri="{FF2B5EF4-FFF2-40B4-BE49-F238E27FC236}">
                  <a16:creationId xmlns:a16="http://schemas.microsoft.com/office/drawing/2014/main" id="{F8CDE7E4-805D-7A74-188F-4ECB9BD5517E}"/>
                </a:ext>
              </a:extLst>
            </p:cNvPr>
            <p:cNvGrpSpPr/>
            <p:nvPr/>
          </p:nvGrpSpPr>
          <p:grpSpPr>
            <a:xfrm>
              <a:off x="4962352" y="986201"/>
              <a:ext cx="6382389" cy="2430143"/>
              <a:chOff x="0" y="0"/>
              <a:chExt cx="6382476" cy="2430236"/>
            </a:xfrm>
          </p:grpSpPr>
          <p:sp>
            <p:nvSpPr>
              <p:cNvPr id="8" name="Text Box 1047">
                <a:extLst>
                  <a:ext uri="{FF2B5EF4-FFF2-40B4-BE49-F238E27FC236}">
                    <a16:creationId xmlns:a16="http://schemas.microsoft.com/office/drawing/2014/main" id="{31B45390-AF67-7965-39AE-C9EFCB6B2047}"/>
                  </a:ext>
                </a:extLst>
              </p:cNvPr>
              <p:cNvSpPr txBox="1"/>
              <p:nvPr/>
            </p:nvSpPr>
            <p:spPr>
              <a:xfrm>
                <a:off x="27214" y="214448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Detail</a:t>
                </a:r>
              </a:p>
            </p:txBody>
          </p:sp>
          <p:sp>
            <p:nvSpPr>
              <p:cNvPr id="9" name="Text Box 1041">
                <a:extLst>
                  <a:ext uri="{FF2B5EF4-FFF2-40B4-BE49-F238E27FC236}">
                    <a16:creationId xmlns:a16="http://schemas.microsoft.com/office/drawing/2014/main" id="{302B9F8A-7895-4E81-3993-9E26CC89026D}"/>
                  </a:ext>
                </a:extLst>
              </p:cNvPr>
              <p:cNvSpPr txBox="1"/>
              <p:nvPr/>
            </p:nvSpPr>
            <p:spPr>
              <a:xfrm>
                <a:off x="0" y="37011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10" name="Rectangle 9">
                <a:extLst>
                  <a:ext uri="{FF2B5EF4-FFF2-40B4-BE49-F238E27FC236}">
                    <a16:creationId xmlns:a16="http://schemas.microsoft.com/office/drawing/2014/main" id="{1BD4F5D9-93FD-B45E-ACA2-67EB312A6E1F}"/>
                  </a:ext>
                </a:extLst>
              </p:cNvPr>
              <p:cNvSpPr/>
              <p:nvPr/>
            </p:nvSpPr>
            <p:spPr>
              <a:xfrm>
                <a:off x="5252357" y="108857"/>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FF870EA2-151D-565E-4D34-8CF37D3EFE5D}"/>
                  </a:ext>
                </a:extLst>
              </p:cNvPr>
              <p:cNvCxnSpPr/>
              <p:nvPr/>
            </p:nvCxnSpPr>
            <p:spPr>
              <a:xfrm>
                <a:off x="5644243" y="11702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038">
                <a:extLst>
                  <a:ext uri="{FF2B5EF4-FFF2-40B4-BE49-F238E27FC236}">
                    <a16:creationId xmlns:a16="http://schemas.microsoft.com/office/drawing/2014/main" id="{CA510F5F-028E-8911-2F69-49504B5128AB}"/>
                  </a:ext>
                </a:extLst>
              </p:cNvPr>
              <p:cNvSpPr txBox="1"/>
              <p:nvPr/>
            </p:nvSpPr>
            <p:spPr>
              <a:xfrm>
                <a:off x="58456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4.4</a:t>
                </a:r>
              </a:p>
            </p:txBody>
          </p:sp>
          <p:sp>
            <p:nvSpPr>
              <p:cNvPr id="14" name="Rectangle 13">
                <a:extLst>
                  <a:ext uri="{FF2B5EF4-FFF2-40B4-BE49-F238E27FC236}">
                    <a16:creationId xmlns:a16="http://schemas.microsoft.com/office/drawing/2014/main" id="{3E3BC9D1-9480-8106-44A2-630358EDD804}"/>
                  </a:ext>
                </a:extLst>
              </p:cNvPr>
              <p:cNvSpPr/>
              <p:nvPr/>
            </p:nvSpPr>
            <p:spPr>
              <a:xfrm>
                <a:off x="2846614" y="1143000"/>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75BCB78C-6F64-85B7-C626-D1952B8B1844}"/>
                  </a:ext>
                </a:extLst>
              </p:cNvPr>
              <p:cNvCxnSpPr/>
              <p:nvPr/>
            </p:nvCxnSpPr>
            <p:spPr>
              <a:xfrm>
                <a:off x="2868386" y="1311728"/>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1045">
                <a:extLst>
                  <a:ext uri="{FF2B5EF4-FFF2-40B4-BE49-F238E27FC236}">
                    <a16:creationId xmlns:a16="http://schemas.microsoft.com/office/drawing/2014/main" id="{9D66C5C4-2374-8EF6-2696-8E01E40AFDB9}"/>
                  </a:ext>
                </a:extLst>
              </p:cNvPr>
              <p:cNvSpPr txBox="1"/>
              <p:nvPr/>
            </p:nvSpPr>
            <p:spPr>
              <a:xfrm>
                <a:off x="2813957" y="14532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a:t>
                </a:r>
              </a:p>
            </p:txBody>
          </p:sp>
          <p:sp>
            <p:nvSpPr>
              <p:cNvPr id="17" name="Text Box 1042">
                <a:extLst>
                  <a:ext uri="{FF2B5EF4-FFF2-40B4-BE49-F238E27FC236}">
                    <a16:creationId xmlns:a16="http://schemas.microsoft.com/office/drawing/2014/main" id="{CC28DF73-0CF6-BE26-8F7F-A9A6FEFFF0DD}"/>
                  </a:ext>
                </a:extLst>
              </p:cNvPr>
              <p:cNvSpPr txBox="1"/>
              <p:nvPr/>
            </p:nvSpPr>
            <p:spPr>
              <a:xfrm>
                <a:off x="5421086" y="702128"/>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4.1 to 4.3</a:t>
                </a:r>
              </a:p>
            </p:txBody>
          </p:sp>
        </p:grpSp>
        <p:grpSp>
          <p:nvGrpSpPr>
            <p:cNvPr id="20" name="Group 19">
              <a:extLst>
                <a:ext uri="{FF2B5EF4-FFF2-40B4-BE49-F238E27FC236}">
                  <a16:creationId xmlns:a16="http://schemas.microsoft.com/office/drawing/2014/main" id="{EB20B66A-5EBA-3A43-5C80-2C60DE2D2283}"/>
                </a:ext>
              </a:extLst>
            </p:cNvPr>
            <p:cNvGrpSpPr/>
            <p:nvPr/>
          </p:nvGrpSpPr>
          <p:grpSpPr>
            <a:xfrm>
              <a:off x="5787037" y="1289720"/>
              <a:ext cx="5862955" cy="2025650"/>
              <a:chOff x="3164522" y="2416175"/>
              <a:chExt cx="5862955" cy="2025650"/>
            </a:xfrm>
          </p:grpSpPr>
          <p:sp>
            <p:nvSpPr>
              <p:cNvPr id="18" name="Rectangle 17">
                <a:extLst>
                  <a:ext uri="{FF2B5EF4-FFF2-40B4-BE49-F238E27FC236}">
                    <a16:creationId xmlns:a16="http://schemas.microsoft.com/office/drawing/2014/main" id="{4EF50E43-44A7-9B78-1A41-C9718F7210CC}"/>
                  </a:ext>
                </a:extLst>
              </p:cNvPr>
              <p:cNvSpPr/>
              <p:nvPr/>
            </p:nvSpPr>
            <p:spPr>
              <a:xfrm>
                <a:off x="3164522" y="2416175"/>
                <a:ext cx="5822950" cy="7594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id="{32D4A180-A52F-54BE-ABEC-141D6C7EB267}"/>
                  </a:ext>
                </a:extLst>
              </p:cNvPr>
              <p:cNvSpPr/>
              <p:nvPr/>
            </p:nvSpPr>
            <p:spPr>
              <a:xfrm>
                <a:off x="3204527" y="3451225"/>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22" name="Picture 21">
            <a:extLst>
              <a:ext uri="{FF2B5EF4-FFF2-40B4-BE49-F238E27FC236}">
                <a16:creationId xmlns:a16="http://schemas.microsoft.com/office/drawing/2014/main" id="{22858CD3-A53C-46BF-6D3C-0F3A0A17854C}"/>
              </a:ext>
            </a:extLst>
          </p:cNvPr>
          <p:cNvPicPr>
            <a:picLocks noChangeAspect="1"/>
          </p:cNvPicPr>
          <p:nvPr/>
        </p:nvPicPr>
        <p:blipFill>
          <a:blip r:embed="rId3"/>
          <a:stretch>
            <a:fillRect/>
          </a:stretch>
        </p:blipFill>
        <p:spPr>
          <a:xfrm>
            <a:off x="5482433" y="3777991"/>
            <a:ext cx="6189345" cy="2783205"/>
          </a:xfrm>
          <a:prstGeom prst="rect">
            <a:avLst/>
          </a:prstGeom>
        </p:spPr>
      </p:pic>
      <p:grpSp>
        <p:nvGrpSpPr>
          <p:cNvPr id="25" name="Group 24">
            <a:extLst>
              <a:ext uri="{FF2B5EF4-FFF2-40B4-BE49-F238E27FC236}">
                <a16:creationId xmlns:a16="http://schemas.microsoft.com/office/drawing/2014/main" id="{2D509CB6-F812-540F-3A3E-A8AF44D44F43}"/>
              </a:ext>
            </a:extLst>
          </p:cNvPr>
          <p:cNvGrpSpPr/>
          <p:nvPr/>
        </p:nvGrpSpPr>
        <p:grpSpPr>
          <a:xfrm>
            <a:off x="5550522" y="4721601"/>
            <a:ext cx="6565278" cy="1839596"/>
            <a:chOff x="0" y="0"/>
            <a:chExt cx="6565538" cy="1839951"/>
          </a:xfrm>
        </p:grpSpPr>
        <p:sp>
          <p:nvSpPr>
            <p:cNvPr id="33" name="Rectangle 32">
              <a:extLst>
                <a:ext uri="{FF2B5EF4-FFF2-40B4-BE49-F238E27FC236}">
                  <a16:creationId xmlns:a16="http://schemas.microsoft.com/office/drawing/2014/main" id="{E806A4B8-6AE4-35A5-5034-B9D6E079346A}"/>
                </a:ext>
              </a:extLst>
            </p:cNvPr>
            <p:cNvSpPr/>
            <p:nvPr/>
          </p:nvSpPr>
          <p:spPr>
            <a:xfrm>
              <a:off x="0" y="0"/>
              <a:ext cx="296331" cy="890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4" name="Straight Arrow Connector 33">
              <a:extLst>
                <a:ext uri="{FF2B5EF4-FFF2-40B4-BE49-F238E27FC236}">
                  <a16:creationId xmlns:a16="http://schemas.microsoft.com/office/drawing/2014/main" id="{AA789C1B-CA09-0A24-B9DC-E6F6ECC6687E}"/>
                </a:ext>
              </a:extLst>
            </p:cNvPr>
            <p:cNvCxnSpPr/>
            <p:nvPr/>
          </p:nvCxnSpPr>
          <p:spPr>
            <a:xfrm>
              <a:off x="337458" y="36739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1054">
              <a:extLst>
                <a:ext uri="{FF2B5EF4-FFF2-40B4-BE49-F238E27FC236}">
                  <a16:creationId xmlns:a16="http://schemas.microsoft.com/office/drawing/2014/main" id="{72A542C4-B7CB-6C85-9D12-E9BD6063B6E4}"/>
                </a:ext>
              </a:extLst>
            </p:cNvPr>
            <p:cNvSpPr txBox="1"/>
            <p:nvPr/>
          </p:nvSpPr>
          <p:spPr>
            <a:xfrm>
              <a:off x="533400" y="2068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5.1.</a:t>
              </a:r>
            </a:p>
          </p:txBody>
        </p:sp>
        <p:sp>
          <p:nvSpPr>
            <p:cNvPr id="36" name="Rectangle 35">
              <a:extLst>
                <a:ext uri="{FF2B5EF4-FFF2-40B4-BE49-F238E27FC236}">
                  <a16:creationId xmlns:a16="http://schemas.microsoft.com/office/drawing/2014/main" id="{6DB82EF6-6347-45BF-CCCB-5A72EF4BED5E}"/>
                </a:ext>
              </a:extLst>
            </p:cNvPr>
            <p:cNvSpPr/>
            <p:nvPr/>
          </p:nvSpPr>
          <p:spPr>
            <a:xfrm>
              <a:off x="5377543" y="1503310"/>
              <a:ext cx="624093" cy="3366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7" name="Straight Arrow Connector 36">
              <a:extLst>
                <a:ext uri="{FF2B5EF4-FFF2-40B4-BE49-F238E27FC236}">
                  <a16:creationId xmlns:a16="http://schemas.microsoft.com/office/drawing/2014/main" id="{BEAA3B4F-C486-4EEF-8D30-AB3831BEB1A6}"/>
                </a:ext>
              </a:extLst>
            </p:cNvPr>
            <p:cNvCxnSpPr/>
            <p:nvPr/>
          </p:nvCxnSpPr>
          <p:spPr>
            <a:xfrm>
              <a:off x="5894615" y="1684564"/>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053">
              <a:extLst>
                <a:ext uri="{FF2B5EF4-FFF2-40B4-BE49-F238E27FC236}">
                  <a16:creationId xmlns:a16="http://schemas.microsoft.com/office/drawing/2014/main" id="{0EED3762-40D2-ADF6-FCF7-1298843D5BEA}"/>
                </a:ext>
              </a:extLst>
            </p:cNvPr>
            <p:cNvSpPr txBox="1"/>
            <p:nvPr/>
          </p:nvSpPr>
          <p:spPr>
            <a:xfrm>
              <a:off x="6090558" y="146957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a:t>
              </a:r>
            </a:p>
          </p:txBody>
        </p:sp>
      </p:grpSp>
      <p:sp>
        <p:nvSpPr>
          <p:cNvPr id="4" name="TextBox 3">
            <a:extLst>
              <a:ext uri="{FF2B5EF4-FFF2-40B4-BE49-F238E27FC236}">
                <a16:creationId xmlns:a16="http://schemas.microsoft.com/office/drawing/2014/main" id="{BA03F906-9BF4-7478-4749-3033089AC53C}"/>
              </a:ext>
            </a:extLst>
          </p:cNvPr>
          <p:cNvSpPr txBox="1"/>
          <p:nvPr/>
        </p:nvSpPr>
        <p:spPr>
          <a:xfrm>
            <a:off x="997245" y="95923"/>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00362E40-0107-B1C3-16A7-72ED74934428}"/>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02406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056123"/>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unpaid account, you will be redirect in cash/check voucher – main window and the selected unpaid accounts will be displayed in cash/check voucher – detail.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a:t>
            </a: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add other payable and expense account that is not in the unpaid list, click add account and search the account you wish to add.</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8.  </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0C690E06-442B-E5E9-2FC7-3CE308055436}"/>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9" name="Group 8">
            <a:extLst>
              <a:ext uri="{FF2B5EF4-FFF2-40B4-BE49-F238E27FC236}">
                <a16:creationId xmlns:a16="http://schemas.microsoft.com/office/drawing/2014/main" id="{C7AE0AD4-63A3-FE76-E85A-36F2E266854B}"/>
              </a:ext>
            </a:extLst>
          </p:cNvPr>
          <p:cNvGrpSpPr/>
          <p:nvPr/>
        </p:nvGrpSpPr>
        <p:grpSpPr>
          <a:xfrm>
            <a:off x="5693728" y="1934210"/>
            <a:ext cx="5957684" cy="2989580"/>
            <a:chOff x="5693728" y="1934210"/>
            <a:chExt cx="5957684" cy="2989580"/>
          </a:xfrm>
        </p:grpSpPr>
        <p:grpSp>
          <p:nvGrpSpPr>
            <p:cNvPr id="4" name="Group 3">
              <a:extLst>
                <a:ext uri="{FF2B5EF4-FFF2-40B4-BE49-F238E27FC236}">
                  <a16:creationId xmlns:a16="http://schemas.microsoft.com/office/drawing/2014/main" id="{4FE4AE7B-3039-415E-BBF9-27E255FC6425}"/>
                </a:ext>
              </a:extLst>
            </p:cNvPr>
            <p:cNvGrpSpPr/>
            <p:nvPr/>
          </p:nvGrpSpPr>
          <p:grpSpPr>
            <a:xfrm>
              <a:off x="5693728" y="1934210"/>
              <a:ext cx="5957684" cy="2989580"/>
              <a:chOff x="5693728" y="1934210"/>
              <a:chExt cx="5957684" cy="2989580"/>
            </a:xfrm>
          </p:grpSpPr>
          <p:pic>
            <p:nvPicPr>
              <p:cNvPr id="18" name="Picture 17">
                <a:extLst>
                  <a:ext uri="{FF2B5EF4-FFF2-40B4-BE49-F238E27FC236}">
                    <a16:creationId xmlns:a16="http://schemas.microsoft.com/office/drawing/2014/main" id="{30FD0883-C715-A02F-192C-5853F94E3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8947" y="1934210"/>
                <a:ext cx="5752465" cy="2081530"/>
              </a:xfrm>
              <a:prstGeom prst="rect">
                <a:avLst/>
              </a:prstGeom>
            </p:spPr>
          </p:pic>
          <p:pic>
            <p:nvPicPr>
              <p:cNvPr id="19" name="Picture 18">
                <a:extLst>
                  <a:ext uri="{FF2B5EF4-FFF2-40B4-BE49-F238E27FC236}">
                    <a16:creationId xmlns:a16="http://schemas.microsoft.com/office/drawing/2014/main" id="{2AE4D8FA-B133-4D0A-AE29-8FF8F16DA0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5637" y="2946400"/>
                <a:ext cx="3716655" cy="1977390"/>
              </a:xfrm>
              <a:prstGeom prst="rect">
                <a:avLst/>
              </a:prstGeom>
            </p:spPr>
          </p:pic>
          <p:grpSp>
            <p:nvGrpSpPr>
              <p:cNvPr id="28" name="Group 27">
                <a:extLst>
                  <a:ext uri="{FF2B5EF4-FFF2-40B4-BE49-F238E27FC236}">
                    <a16:creationId xmlns:a16="http://schemas.microsoft.com/office/drawing/2014/main" id="{18789611-0598-2848-C467-773484813278}"/>
                  </a:ext>
                </a:extLst>
              </p:cNvPr>
              <p:cNvGrpSpPr/>
              <p:nvPr/>
            </p:nvGrpSpPr>
            <p:grpSpPr>
              <a:xfrm>
                <a:off x="5693728" y="2667318"/>
                <a:ext cx="4355466" cy="1873887"/>
                <a:chOff x="0" y="0"/>
                <a:chExt cx="4355737" cy="1873887"/>
              </a:xfrm>
            </p:grpSpPr>
            <p:sp>
              <p:nvSpPr>
                <p:cNvPr id="29" name="Rectangle 28">
                  <a:extLst>
                    <a:ext uri="{FF2B5EF4-FFF2-40B4-BE49-F238E27FC236}">
                      <a16:creationId xmlns:a16="http://schemas.microsoft.com/office/drawing/2014/main" id="{D5EBCD65-E322-C6C2-9671-5A0E8BB5F619}"/>
                    </a:ext>
                  </a:extLst>
                </p:cNvPr>
                <p:cNvSpPr/>
                <p:nvPr/>
              </p:nvSpPr>
              <p:spPr>
                <a:xfrm>
                  <a:off x="3135086" y="16329"/>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0" name="Straight Arrow Connector 29">
                  <a:extLst>
                    <a:ext uri="{FF2B5EF4-FFF2-40B4-BE49-F238E27FC236}">
                      <a16:creationId xmlns:a16="http://schemas.microsoft.com/office/drawing/2014/main" id="{C2A8D82C-2081-6C50-711E-BAE73DDABCE0}"/>
                    </a:ext>
                  </a:extLst>
                </p:cNvPr>
                <p:cNvCxnSpPr/>
                <p:nvPr/>
              </p:nvCxnSpPr>
              <p:spPr>
                <a:xfrm flipV="1">
                  <a:off x="3744686" y="87086"/>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1059">
                  <a:extLst>
                    <a:ext uri="{FF2B5EF4-FFF2-40B4-BE49-F238E27FC236}">
                      <a16:creationId xmlns:a16="http://schemas.microsoft.com/office/drawing/2014/main" id="{670A1FEE-25E4-F948-14B4-4E57DB7EAD06}"/>
                    </a:ext>
                  </a:extLst>
                </p:cNvPr>
                <p:cNvSpPr txBox="1"/>
                <p:nvPr/>
              </p:nvSpPr>
              <p:spPr>
                <a:xfrm>
                  <a:off x="3880757"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7</a:t>
                  </a:r>
                </a:p>
              </p:txBody>
            </p:sp>
            <p:sp>
              <p:nvSpPr>
                <p:cNvPr id="32" name="Curved Right Arrow 1060">
                  <a:extLst>
                    <a:ext uri="{FF2B5EF4-FFF2-40B4-BE49-F238E27FC236}">
                      <a16:creationId xmlns:a16="http://schemas.microsoft.com/office/drawing/2014/main" id="{18F36BD8-B1E7-E416-13C0-764D303A7DE8}"/>
                    </a:ext>
                  </a:extLst>
                </p:cNvPr>
                <p:cNvSpPr/>
                <p:nvPr/>
              </p:nvSpPr>
              <p:spPr>
                <a:xfrm>
                  <a:off x="2569029" y="87086"/>
                  <a:ext cx="546265" cy="54626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Text Box 241">
                  <a:extLst>
                    <a:ext uri="{FF2B5EF4-FFF2-40B4-BE49-F238E27FC236}">
                      <a16:creationId xmlns:a16="http://schemas.microsoft.com/office/drawing/2014/main" id="{264FD077-64C8-683D-8A9A-5F472724A36D}"/>
                    </a:ext>
                  </a:extLst>
                </p:cNvPr>
                <p:cNvSpPr txBox="1">
                  <a:spLocks noChangeArrowheads="1"/>
                </p:cNvSpPr>
                <p:nvPr/>
              </p:nvSpPr>
              <p:spPr bwMode="auto">
                <a:xfrm>
                  <a:off x="0" y="898072"/>
                  <a:ext cx="4019266"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an account?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15000"/>
                    </a:lnSpc>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ts val="975"/>
                    </a:lnSpc>
                    <a:spcBef>
                      <a:spcPts val="5"/>
                    </a:spcBef>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ts val="975"/>
                    </a:lnSpc>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account.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D247FC4A-E61A-5B7B-9A4F-C81393B6D6F2}"/>
                    </a:ext>
                  </a:extLst>
                </p:cNvPr>
                <p:cNvSpPr/>
                <p:nvPr/>
              </p:nvSpPr>
              <p:spPr>
                <a:xfrm>
                  <a:off x="500743" y="522515"/>
                  <a:ext cx="3550723" cy="3562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8" name="Picture 7">
              <a:extLst>
                <a:ext uri="{FF2B5EF4-FFF2-40B4-BE49-F238E27FC236}">
                  <a16:creationId xmlns:a16="http://schemas.microsoft.com/office/drawing/2014/main" id="{DC1D472B-4A4B-323A-AF55-40A167DC8452}"/>
                </a:ext>
              </a:extLst>
            </p:cNvPr>
            <p:cNvPicPr>
              <a:picLocks noChangeAspect="1"/>
            </p:cNvPicPr>
            <p:nvPr/>
          </p:nvPicPr>
          <p:blipFill>
            <a:blip r:embed="rId5"/>
            <a:stretch>
              <a:fillRect/>
            </a:stretch>
          </p:blipFill>
          <p:spPr>
            <a:xfrm>
              <a:off x="6619779" y="1954184"/>
              <a:ext cx="985841" cy="157163"/>
            </a:xfrm>
            <a:prstGeom prst="rect">
              <a:avLst/>
            </a:prstGeom>
          </p:spPr>
        </p:pic>
      </p:grpSp>
      <p:sp>
        <p:nvSpPr>
          <p:cNvPr id="5" name="Slide Number Placeholder 9">
            <a:extLst>
              <a:ext uri="{FF2B5EF4-FFF2-40B4-BE49-F238E27FC236}">
                <a16:creationId xmlns:a16="http://schemas.microsoft.com/office/drawing/2014/main" id="{5B2D1460-C104-05AA-21BB-42A89D05805D}"/>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72940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056123"/>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11.1 </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OR If you want to plot the selected account already in accounts payable voucher – detail, you may click add/ save button.      </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6"/>
            <a:ext cx="4179346"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27" name="Group 26">
            <a:extLst>
              <a:ext uri="{FF2B5EF4-FFF2-40B4-BE49-F238E27FC236}">
                <a16:creationId xmlns:a16="http://schemas.microsoft.com/office/drawing/2014/main" id="{119866E3-0549-52EB-E01C-BC65D598CBD3}"/>
              </a:ext>
            </a:extLst>
          </p:cNvPr>
          <p:cNvGrpSpPr/>
          <p:nvPr/>
        </p:nvGrpSpPr>
        <p:grpSpPr>
          <a:xfrm>
            <a:off x="5462067" y="642052"/>
            <a:ext cx="6189345" cy="3536951"/>
            <a:chOff x="5332527" y="1735137"/>
            <a:chExt cx="6189345" cy="3536951"/>
          </a:xfrm>
        </p:grpSpPr>
        <p:pic>
          <p:nvPicPr>
            <p:cNvPr id="5" name="Picture 4">
              <a:extLst>
                <a:ext uri="{FF2B5EF4-FFF2-40B4-BE49-F238E27FC236}">
                  <a16:creationId xmlns:a16="http://schemas.microsoft.com/office/drawing/2014/main" id="{E18579B6-1BF4-23BD-C725-7A9EE2F98669}"/>
                </a:ext>
              </a:extLst>
            </p:cNvPr>
            <p:cNvPicPr>
              <a:picLocks noChangeAspect="1"/>
            </p:cNvPicPr>
            <p:nvPr/>
          </p:nvPicPr>
          <p:blipFill>
            <a:blip r:embed="rId3"/>
            <a:stretch>
              <a:fillRect/>
            </a:stretch>
          </p:blipFill>
          <p:spPr>
            <a:xfrm>
              <a:off x="5332527" y="1735137"/>
              <a:ext cx="6189345" cy="3387725"/>
            </a:xfrm>
            <a:prstGeom prst="rect">
              <a:avLst/>
            </a:prstGeom>
          </p:spPr>
        </p:pic>
        <p:grpSp>
          <p:nvGrpSpPr>
            <p:cNvPr id="6" name="Group 5">
              <a:extLst>
                <a:ext uri="{FF2B5EF4-FFF2-40B4-BE49-F238E27FC236}">
                  <a16:creationId xmlns:a16="http://schemas.microsoft.com/office/drawing/2014/main" id="{0A439C47-80F1-995B-1506-FE8D1337783B}"/>
                </a:ext>
              </a:extLst>
            </p:cNvPr>
            <p:cNvGrpSpPr/>
            <p:nvPr/>
          </p:nvGrpSpPr>
          <p:grpSpPr>
            <a:xfrm>
              <a:off x="7051040" y="3506153"/>
              <a:ext cx="3180080" cy="1765935"/>
              <a:chOff x="0" y="0"/>
              <a:chExt cx="3180080" cy="1766207"/>
            </a:xfrm>
          </p:grpSpPr>
          <p:sp>
            <p:nvSpPr>
              <p:cNvPr id="7" name="Rectangle 6">
                <a:extLst>
                  <a:ext uri="{FF2B5EF4-FFF2-40B4-BE49-F238E27FC236}">
                    <a16:creationId xmlns:a16="http://schemas.microsoft.com/office/drawing/2014/main" id="{B22A1ADB-B83B-F3F6-EE8C-DFAAFFFD3E66}"/>
                  </a:ext>
                </a:extLst>
              </p:cNvPr>
              <p:cNvSpPr/>
              <p:nvPr/>
            </p:nvSpPr>
            <p:spPr>
              <a:xfrm>
                <a:off x="10885" y="0"/>
                <a:ext cx="2468311" cy="6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DBE1E45B-26FC-35F5-1E51-16816089D39F}"/>
                  </a:ext>
                </a:extLst>
              </p:cNvPr>
              <p:cNvCxnSpPr/>
              <p:nvPr/>
            </p:nvCxnSpPr>
            <p:spPr>
              <a:xfrm>
                <a:off x="2520043" y="33473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1076">
                <a:extLst>
                  <a:ext uri="{FF2B5EF4-FFF2-40B4-BE49-F238E27FC236}">
                    <a16:creationId xmlns:a16="http://schemas.microsoft.com/office/drawing/2014/main" id="{A4C06258-7B9A-03F4-FECB-1927023FB885}"/>
                  </a:ext>
                </a:extLst>
              </p:cNvPr>
              <p:cNvSpPr txBox="1"/>
              <p:nvPr/>
            </p:nvSpPr>
            <p:spPr>
              <a:xfrm>
                <a:off x="2705100" y="1578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10" name="Rectangle 9">
                <a:extLst>
                  <a:ext uri="{FF2B5EF4-FFF2-40B4-BE49-F238E27FC236}">
                    <a16:creationId xmlns:a16="http://schemas.microsoft.com/office/drawing/2014/main" id="{A4DC4D57-9667-C7C9-9A73-49CDFDAA4BFB}"/>
                  </a:ext>
                </a:extLst>
              </p:cNvPr>
              <p:cNvSpPr/>
              <p:nvPr/>
            </p:nvSpPr>
            <p:spPr>
              <a:xfrm>
                <a:off x="0" y="653143"/>
                <a:ext cx="2468245" cy="23750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1AB3152F-80C4-A9F8-EB56-653306174410}"/>
                  </a:ext>
                </a:extLst>
              </p:cNvPr>
              <p:cNvCxnSpPr/>
              <p:nvPr/>
            </p:nvCxnSpPr>
            <p:spPr>
              <a:xfrm>
                <a:off x="2503714" y="73750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075">
                <a:extLst>
                  <a:ext uri="{FF2B5EF4-FFF2-40B4-BE49-F238E27FC236}">
                    <a16:creationId xmlns:a16="http://schemas.microsoft.com/office/drawing/2014/main" id="{5F8E5A43-BFED-2569-A24A-ED2E0D08BF55}"/>
                  </a:ext>
                </a:extLst>
              </p:cNvPr>
              <p:cNvSpPr txBox="1"/>
              <p:nvPr/>
            </p:nvSpPr>
            <p:spPr>
              <a:xfrm>
                <a:off x="2688771" y="5007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10</a:t>
                </a:r>
              </a:p>
            </p:txBody>
          </p:sp>
          <p:sp>
            <p:nvSpPr>
              <p:cNvPr id="14" name="Rectangle 13">
                <a:extLst>
                  <a:ext uri="{FF2B5EF4-FFF2-40B4-BE49-F238E27FC236}">
                    <a16:creationId xmlns:a16="http://schemas.microsoft.com/office/drawing/2014/main" id="{B7B622FD-0D28-8A34-E030-0C7CCA71E3A8}"/>
                  </a:ext>
                </a:extLst>
              </p:cNvPr>
              <p:cNvSpPr/>
              <p:nvPr/>
            </p:nvSpPr>
            <p:spPr>
              <a:xfrm>
                <a:off x="1758043" y="1077686"/>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BCBF0281-2DB4-7999-2607-F29206BE7B76}"/>
                  </a:ext>
                </a:extLst>
              </p:cNvPr>
              <p:cNvCxnSpPr/>
              <p:nvPr/>
            </p:nvCxnSpPr>
            <p:spPr>
              <a:xfrm flipH="1">
                <a:off x="2563585" y="1279072"/>
                <a:ext cx="142504" cy="2493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070">
                <a:extLst>
                  <a:ext uri="{FF2B5EF4-FFF2-40B4-BE49-F238E27FC236}">
                    <a16:creationId xmlns:a16="http://schemas.microsoft.com/office/drawing/2014/main" id="{0572FD71-63C8-90ED-19D2-F83382EC6954}"/>
                  </a:ext>
                </a:extLst>
              </p:cNvPr>
              <p:cNvSpPr txBox="1"/>
              <p:nvPr/>
            </p:nvSpPr>
            <p:spPr>
              <a:xfrm>
                <a:off x="2046514" y="146957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21" name="Rectangle 20">
                <a:extLst>
                  <a:ext uri="{FF2B5EF4-FFF2-40B4-BE49-F238E27FC236}">
                    <a16:creationId xmlns:a16="http://schemas.microsoft.com/office/drawing/2014/main" id="{7C44F338-DD78-1F3E-6E0F-B660AE7DAE4A}"/>
                  </a:ext>
                </a:extLst>
              </p:cNvPr>
              <p:cNvSpPr/>
              <p:nvPr/>
            </p:nvSpPr>
            <p:spPr>
              <a:xfrm>
                <a:off x="1077685" y="1077686"/>
                <a:ext cx="604578"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2" name="Straight Arrow Connector 21">
                <a:extLst>
                  <a:ext uri="{FF2B5EF4-FFF2-40B4-BE49-F238E27FC236}">
                    <a16:creationId xmlns:a16="http://schemas.microsoft.com/office/drawing/2014/main" id="{A54D4108-E7FE-5CE2-F548-0415BBAC2B42}"/>
                  </a:ext>
                </a:extLst>
              </p:cNvPr>
              <p:cNvCxnSpPr/>
              <p:nvPr/>
            </p:nvCxnSpPr>
            <p:spPr>
              <a:xfrm flipH="1">
                <a:off x="1562100" y="1279072"/>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 Box 1068">
                <a:extLst>
                  <a:ext uri="{FF2B5EF4-FFF2-40B4-BE49-F238E27FC236}">
                    <a16:creationId xmlns:a16="http://schemas.microsoft.com/office/drawing/2014/main" id="{9EC30C04-43BC-AF89-40B8-01E904F019D3}"/>
                  </a:ext>
                </a:extLst>
              </p:cNvPr>
              <p:cNvSpPr txBox="1"/>
              <p:nvPr/>
            </p:nvSpPr>
            <p:spPr>
              <a:xfrm>
                <a:off x="1045028" y="146957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11.2</a:t>
                </a:r>
              </a:p>
            </p:txBody>
          </p:sp>
          <p:sp>
            <p:nvSpPr>
              <p:cNvPr id="24" name="Rectangle 23">
                <a:extLst>
                  <a:ext uri="{FF2B5EF4-FFF2-40B4-BE49-F238E27FC236}">
                    <a16:creationId xmlns:a16="http://schemas.microsoft.com/office/drawing/2014/main" id="{34D52569-35FA-3418-D859-20F3A2DEE798}"/>
                  </a:ext>
                </a:extLst>
              </p:cNvPr>
              <p:cNvSpPr/>
              <p:nvPr/>
            </p:nvSpPr>
            <p:spPr>
              <a:xfrm>
                <a:off x="332014" y="1088572"/>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B933FA48-88F5-AB71-47E6-8F7FE8366FA6}"/>
                  </a:ext>
                </a:extLst>
              </p:cNvPr>
              <p:cNvCxnSpPr/>
              <p:nvPr/>
            </p:nvCxnSpPr>
            <p:spPr>
              <a:xfrm flipH="1">
                <a:off x="892628" y="1289957"/>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066">
                <a:extLst>
                  <a:ext uri="{FF2B5EF4-FFF2-40B4-BE49-F238E27FC236}">
                    <a16:creationId xmlns:a16="http://schemas.microsoft.com/office/drawing/2014/main" id="{15F58CCA-28AD-0EA7-F53C-A758F74F1B99}"/>
                  </a:ext>
                </a:extLst>
              </p:cNvPr>
              <p:cNvSpPr txBox="1"/>
              <p:nvPr/>
            </p:nvSpPr>
            <p:spPr>
              <a:xfrm>
                <a:off x="375557" y="148045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11.1</a:t>
                </a:r>
              </a:p>
            </p:txBody>
          </p:sp>
        </p:grpSp>
      </p:grpSp>
      <p:grpSp>
        <p:nvGrpSpPr>
          <p:cNvPr id="41" name="Group 40">
            <a:extLst>
              <a:ext uri="{FF2B5EF4-FFF2-40B4-BE49-F238E27FC236}">
                <a16:creationId xmlns:a16="http://schemas.microsoft.com/office/drawing/2014/main" id="{4B53E440-37D6-41CB-9890-C19D117D7F32}"/>
              </a:ext>
            </a:extLst>
          </p:cNvPr>
          <p:cNvGrpSpPr/>
          <p:nvPr/>
        </p:nvGrpSpPr>
        <p:grpSpPr>
          <a:xfrm>
            <a:off x="5462066" y="4410702"/>
            <a:ext cx="6189345" cy="1628775"/>
            <a:chOff x="5459458" y="4303864"/>
            <a:chExt cx="6189345" cy="1628775"/>
          </a:xfrm>
        </p:grpSpPr>
        <p:pic>
          <p:nvPicPr>
            <p:cNvPr id="35" name="Picture 34">
              <a:extLst>
                <a:ext uri="{FF2B5EF4-FFF2-40B4-BE49-F238E27FC236}">
                  <a16:creationId xmlns:a16="http://schemas.microsoft.com/office/drawing/2014/main" id="{BE1CF393-3748-4025-C0F5-6D73BAFA3D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9458" y="4303864"/>
              <a:ext cx="6189345" cy="1508125"/>
            </a:xfrm>
            <a:prstGeom prst="rect">
              <a:avLst/>
            </a:prstGeom>
          </p:spPr>
        </p:pic>
        <p:grpSp>
          <p:nvGrpSpPr>
            <p:cNvPr id="36" name="Group 35">
              <a:extLst>
                <a:ext uri="{FF2B5EF4-FFF2-40B4-BE49-F238E27FC236}">
                  <a16:creationId xmlns:a16="http://schemas.microsoft.com/office/drawing/2014/main" id="{AB6AEF06-2B06-4BD1-F9E7-52B5F1E84BC5}"/>
                </a:ext>
              </a:extLst>
            </p:cNvPr>
            <p:cNvGrpSpPr/>
            <p:nvPr/>
          </p:nvGrpSpPr>
          <p:grpSpPr>
            <a:xfrm>
              <a:off x="5461363" y="4353394"/>
              <a:ext cx="5916930" cy="1579245"/>
              <a:chOff x="0" y="0"/>
              <a:chExt cx="5917111" cy="1579517"/>
            </a:xfrm>
          </p:grpSpPr>
          <p:sp>
            <p:nvSpPr>
              <p:cNvPr id="37" name="Text Box 241">
                <a:extLst>
                  <a:ext uri="{FF2B5EF4-FFF2-40B4-BE49-F238E27FC236}">
                    <a16:creationId xmlns:a16="http://schemas.microsoft.com/office/drawing/2014/main" id="{75A65830-79C0-0867-2DAF-2F059DB5F476}"/>
                  </a:ext>
                </a:extLst>
              </p:cNvPr>
              <p:cNvSpPr txBox="1">
                <a:spLocks noChangeArrowheads="1"/>
              </p:cNvSpPr>
              <p:nvPr/>
            </p:nvSpPr>
            <p:spPr bwMode="auto">
              <a:xfrm>
                <a:off x="0" y="604157"/>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voucher – detail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the cart icon.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0"/>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Then click the accept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72BC85DD-1A83-DF7A-0D99-D569A2CF6869}"/>
                  </a:ext>
                </a:extLst>
              </p:cNvPr>
              <p:cNvSpPr/>
              <p:nvPr/>
            </p:nvSpPr>
            <p:spPr>
              <a:xfrm>
                <a:off x="5453743" y="0"/>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9" name="Straight Arrow Connector 38">
                <a:extLst>
                  <a:ext uri="{FF2B5EF4-FFF2-40B4-BE49-F238E27FC236}">
                    <a16:creationId xmlns:a16="http://schemas.microsoft.com/office/drawing/2014/main" id="{1CF35B81-93EE-F5A3-9400-9CEDCE7DAE6E}"/>
                  </a:ext>
                </a:extLst>
              </p:cNvPr>
              <p:cNvCxnSpPr/>
              <p:nvPr/>
            </p:nvCxnSpPr>
            <p:spPr>
              <a:xfrm flipH="1">
                <a:off x="5774871" y="19594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083">
                <a:extLst>
                  <a:ext uri="{FF2B5EF4-FFF2-40B4-BE49-F238E27FC236}">
                    <a16:creationId xmlns:a16="http://schemas.microsoft.com/office/drawing/2014/main" id="{E5774ED2-8EFC-8ACD-93F0-832D48D57A61}"/>
                  </a:ext>
                </a:extLst>
              </p:cNvPr>
              <p:cNvSpPr txBox="1"/>
              <p:nvPr/>
            </p:nvSpPr>
            <p:spPr>
              <a:xfrm>
                <a:off x="5257800" y="3864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11.1</a:t>
                </a:r>
              </a:p>
            </p:txBody>
          </p:sp>
        </p:grpSp>
      </p:grpSp>
      <p:sp>
        <p:nvSpPr>
          <p:cNvPr id="4" name="TextBox 3">
            <a:extLst>
              <a:ext uri="{FF2B5EF4-FFF2-40B4-BE49-F238E27FC236}">
                <a16:creationId xmlns:a16="http://schemas.microsoft.com/office/drawing/2014/main" id="{864892BF-DF51-6372-C443-59636B724E7F}"/>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7" name="Slide Number Placeholder 9">
            <a:extLst>
              <a:ext uri="{FF2B5EF4-FFF2-40B4-BE49-F238E27FC236}">
                <a16:creationId xmlns:a16="http://schemas.microsoft.com/office/drawing/2014/main" id="{96BA165B-A996-040A-3B5B-576B40073932}"/>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14067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51890" y="2780023"/>
            <a:ext cx="4179346" cy="407797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8815E8C9-AD6C-6737-039D-3430CA9506FA}"/>
              </a:ext>
            </a:extLst>
          </p:cNvPr>
          <p:cNvSpPr txBox="1"/>
          <p:nvPr/>
        </p:nvSpPr>
        <p:spPr>
          <a:xfrm>
            <a:off x="1195543" y="634917"/>
            <a:ext cx="4179345" cy="341628"/>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Cash/Check Voucher Transaction?</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43" name="Group 42">
            <a:extLst>
              <a:ext uri="{FF2B5EF4-FFF2-40B4-BE49-F238E27FC236}">
                <a16:creationId xmlns:a16="http://schemas.microsoft.com/office/drawing/2014/main" id="{A46D58B4-FBB4-33B9-5087-2690A9156246}"/>
              </a:ext>
            </a:extLst>
          </p:cNvPr>
          <p:cNvGrpSpPr/>
          <p:nvPr/>
        </p:nvGrpSpPr>
        <p:grpSpPr>
          <a:xfrm>
            <a:off x="5345029" y="1967333"/>
            <a:ext cx="6306383" cy="3304795"/>
            <a:chOff x="5462066" y="965527"/>
            <a:chExt cx="6306383" cy="3304795"/>
          </a:xfrm>
        </p:grpSpPr>
        <p:pic>
          <p:nvPicPr>
            <p:cNvPr id="18" name="Picture 17">
              <a:extLst>
                <a:ext uri="{FF2B5EF4-FFF2-40B4-BE49-F238E27FC236}">
                  <a16:creationId xmlns:a16="http://schemas.microsoft.com/office/drawing/2014/main" id="{5147EB80-8A9F-2171-D094-27A9D840C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6" y="965527"/>
              <a:ext cx="6189345" cy="2425700"/>
            </a:xfrm>
            <a:prstGeom prst="rect">
              <a:avLst/>
            </a:prstGeom>
          </p:spPr>
        </p:pic>
        <p:grpSp>
          <p:nvGrpSpPr>
            <p:cNvPr id="19" name="Group 18">
              <a:extLst>
                <a:ext uri="{FF2B5EF4-FFF2-40B4-BE49-F238E27FC236}">
                  <a16:creationId xmlns:a16="http://schemas.microsoft.com/office/drawing/2014/main" id="{0504132E-2B4B-E79A-B232-A50C6C11E683}"/>
                </a:ext>
              </a:extLst>
            </p:cNvPr>
            <p:cNvGrpSpPr/>
            <p:nvPr/>
          </p:nvGrpSpPr>
          <p:grpSpPr>
            <a:xfrm>
              <a:off x="6096000" y="1332177"/>
              <a:ext cx="5672449" cy="2938145"/>
              <a:chOff x="0" y="0"/>
              <a:chExt cx="5672909" cy="2938326"/>
            </a:xfrm>
          </p:grpSpPr>
          <p:sp>
            <p:nvSpPr>
              <p:cNvPr id="28" name="Rectangle 27">
                <a:extLst>
                  <a:ext uri="{FF2B5EF4-FFF2-40B4-BE49-F238E27FC236}">
                    <a16:creationId xmlns:a16="http://schemas.microsoft.com/office/drawing/2014/main" id="{E60DE739-1CCA-5F13-FA50-2367151E1231}"/>
                  </a:ext>
                </a:extLst>
              </p:cNvPr>
              <p:cNvSpPr/>
              <p:nvPr/>
            </p:nvSpPr>
            <p:spPr>
              <a:xfrm>
                <a:off x="4773386" y="59871"/>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9" name="Straight Arrow Connector 28">
                <a:extLst>
                  <a:ext uri="{FF2B5EF4-FFF2-40B4-BE49-F238E27FC236}">
                    <a16:creationId xmlns:a16="http://schemas.microsoft.com/office/drawing/2014/main" id="{A0B876F2-5158-DE41-3AE8-37C872A2571A}"/>
                  </a:ext>
                </a:extLst>
              </p:cNvPr>
              <p:cNvCxnSpPr/>
              <p:nvPr/>
            </p:nvCxnSpPr>
            <p:spPr>
              <a:xfrm flipV="1">
                <a:off x="5072743" y="1360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1090">
                <a:extLst>
                  <a:ext uri="{FF2B5EF4-FFF2-40B4-BE49-F238E27FC236}">
                    <a16:creationId xmlns:a16="http://schemas.microsoft.com/office/drawing/2014/main" id="{0091A139-E362-3EDF-7839-6F8A1224E433}"/>
                  </a:ext>
                </a:extLst>
              </p:cNvPr>
              <p:cNvSpPr txBox="1"/>
              <p:nvPr/>
            </p:nvSpPr>
            <p:spPr>
              <a:xfrm>
                <a:off x="5197929"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pic>
            <p:nvPicPr>
              <p:cNvPr id="31" name="Picture 30">
                <a:extLst>
                  <a:ext uri="{FF2B5EF4-FFF2-40B4-BE49-F238E27FC236}">
                    <a16:creationId xmlns:a16="http://schemas.microsoft.com/office/drawing/2014/main" id="{B22198BA-5FE8-EA0F-BD8B-E2A04DB674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17071"/>
                <a:ext cx="4690745" cy="2421255"/>
              </a:xfrm>
              <a:prstGeom prst="rect">
                <a:avLst/>
              </a:prstGeom>
              <a:ln>
                <a:noFill/>
              </a:ln>
              <a:effectLst>
                <a:outerShdw blurRad="292100" dist="139700" dir="2700000" algn="tl" rotWithShape="0">
                  <a:srgbClr val="333333">
                    <a:alpha val="65000"/>
                  </a:srgbClr>
                </a:outerShdw>
              </a:effectLst>
            </p:spPr>
          </p:pic>
          <p:sp>
            <p:nvSpPr>
              <p:cNvPr id="32" name="Curved Right Arrow 1092">
                <a:extLst>
                  <a:ext uri="{FF2B5EF4-FFF2-40B4-BE49-F238E27FC236}">
                    <a16:creationId xmlns:a16="http://schemas.microsoft.com/office/drawing/2014/main" id="{DD97B13A-9276-CC57-80A6-50A0884A1214}"/>
                  </a:ext>
                </a:extLst>
              </p:cNvPr>
              <p:cNvSpPr/>
              <p:nvPr/>
            </p:nvSpPr>
            <p:spPr>
              <a:xfrm>
                <a:off x="4098471" y="283028"/>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Rectangle 32">
                <a:extLst>
                  <a:ext uri="{FF2B5EF4-FFF2-40B4-BE49-F238E27FC236}">
                    <a16:creationId xmlns:a16="http://schemas.microsoft.com/office/drawing/2014/main" id="{16F7ACDE-C7C7-E1FD-0D87-2C59F8EB1CFF}"/>
                  </a:ext>
                </a:extLst>
              </p:cNvPr>
              <p:cNvSpPr/>
              <p:nvPr/>
            </p:nvSpPr>
            <p:spPr>
              <a:xfrm>
                <a:off x="2596243" y="843642"/>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4" name="Straight Arrow Connector 33">
                <a:extLst>
                  <a:ext uri="{FF2B5EF4-FFF2-40B4-BE49-F238E27FC236}">
                    <a16:creationId xmlns:a16="http://schemas.microsoft.com/office/drawing/2014/main" id="{30E739D9-291E-5597-6DE7-E0357140BAC8}"/>
                  </a:ext>
                </a:extLst>
              </p:cNvPr>
              <p:cNvCxnSpPr/>
              <p:nvPr/>
            </p:nvCxnSpPr>
            <p:spPr>
              <a:xfrm flipV="1">
                <a:off x="2988129" y="8980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086">
                <a:extLst>
                  <a:ext uri="{FF2B5EF4-FFF2-40B4-BE49-F238E27FC236}">
                    <a16:creationId xmlns:a16="http://schemas.microsoft.com/office/drawing/2014/main" id="{3A37C15F-82E4-2936-58FE-4E37FC0FB6D5}"/>
                  </a:ext>
                </a:extLst>
              </p:cNvPr>
              <p:cNvSpPr txBox="1"/>
              <p:nvPr/>
            </p:nvSpPr>
            <p:spPr>
              <a:xfrm>
                <a:off x="3113314" y="7783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13</a:t>
                </a:r>
              </a:p>
            </p:txBody>
          </p:sp>
        </p:grpSp>
      </p:grpSp>
      <p:sp>
        <p:nvSpPr>
          <p:cNvPr id="4" name="TextBox 3">
            <a:extLst>
              <a:ext uri="{FF2B5EF4-FFF2-40B4-BE49-F238E27FC236}">
                <a16:creationId xmlns:a16="http://schemas.microsoft.com/office/drawing/2014/main" id="{EF258B98-A175-86D2-E069-EE5CD6E4ED59}"/>
              </a:ext>
            </a:extLst>
          </p:cNvPr>
          <p:cNvSpPr txBox="1"/>
          <p:nvPr/>
        </p:nvSpPr>
        <p:spPr>
          <a:xfrm>
            <a:off x="988873" y="9630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5" name="Slide Number Placeholder 9">
            <a:extLst>
              <a:ext uri="{FF2B5EF4-FFF2-40B4-BE49-F238E27FC236}">
                <a16:creationId xmlns:a16="http://schemas.microsoft.com/office/drawing/2014/main" id="{1151703E-07A9-CD30-4539-1E0C857EFBD0}"/>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24242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1802434"/>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cash/check voucher – main window, search the transaction you wish to edit its information in the search bar. Or,</a:t>
            </a:r>
          </a:p>
          <a:p>
            <a:pPr>
              <a:lnSpc>
                <a:spcPct val="115000"/>
              </a:lnSpc>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form, click the lookup button and select the transaction you wish to edit its information by typing the transaction number in the search bar.</a:t>
            </a: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Box 44">
            <a:extLst>
              <a:ext uri="{FF2B5EF4-FFF2-40B4-BE49-F238E27FC236}">
                <a16:creationId xmlns:a16="http://schemas.microsoft.com/office/drawing/2014/main" id="{4B14687C-52A3-56C7-BB62-1861435F0424}"/>
              </a:ext>
            </a:extLst>
          </p:cNvPr>
          <p:cNvSpPr txBox="1"/>
          <p:nvPr/>
        </p:nvSpPr>
        <p:spPr>
          <a:xfrm>
            <a:off x="7256349" y="5213725"/>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Main 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258C296-63A5-1455-F8AB-54834279C957}"/>
              </a:ext>
            </a:extLst>
          </p:cNvPr>
          <p:cNvSpPr txBox="1"/>
          <p:nvPr/>
        </p:nvSpPr>
        <p:spPr>
          <a:xfrm>
            <a:off x="7256349" y="268026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Cash/Check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3945547"/>
            <a:ext cx="3852820" cy="15126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CV transaction, if you wish to edit the header of the transaction click edit button.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CV header, click save button in the upper side of the header.</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4" name="Group 33">
            <a:extLst>
              <a:ext uri="{FF2B5EF4-FFF2-40B4-BE49-F238E27FC236}">
                <a16:creationId xmlns:a16="http://schemas.microsoft.com/office/drawing/2014/main" id="{92DC68C9-173A-A3DE-06FC-3D780B691833}"/>
              </a:ext>
            </a:extLst>
          </p:cNvPr>
          <p:cNvGrpSpPr/>
          <p:nvPr/>
        </p:nvGrpSpPr>
        <p:grpSpPr>
          <a:xfrm>
            <a:off x="5311026" y="1039534"/>
            <a:ext cx="6078855" cy="1713230"/>
            <a:chOff x="5311026" y="1039534"/>
            <a:chExt cx="6078855" cy="1713230"/>
          </a:xfrm>
        </p:grpSpPr>
        <p:pic>
          <p:nvPicPr>
            <p:cNvPr id="7" name="Picture 6">
              <a:extLst>
                <a:ext uri="{FF2B5EF4-FFF2-40B4-BE49-F238E27FC236}">
                  <a16:creationId xmlns:a16="http://schemas.microsoft.com/office/drawing/2014/main" id="{018B72A5-82CE-6A72-1C84-272659FD8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1026" y="1039534"/>
              <a:ext cx="6078855" cy="1713230"/>
            </a:xfrm>
            <a:prstGeom prst="rect">
              <a:avLst/>
            </a:prstGeom>
          </p:spPr>
        </p:pic>
        <p:grpSp>
          <p:nvGrpSpPr>
            <p:cNvPr id="30" name="Group 29">
              <a:extLst>
                <a:ext uri="{FF2B5EF4-FFF2-40B4-BE49-F238E27FC236}">
                  <a16:creationId xmlns:a16="http://schemas.microsoft.com/office/drawing/2014/main" id="{63CC9375-577D-7C4E-E126-E6425676F6F9}"/>
                </a:ext>
              </a:extLst>
            </p:cNvPr>
            <p:cNvGrpSpPr/>
            <p:nvPr/>
          </p:nvGrpSpPr>
          <p:grpSpPr>
            <a:xfrm>
              <a:off x="5358130" y="1869815"/>
              <a:ext cx="1475739" cy="333375"/>
              <a:chOff x="0" y="0"/>
              <a:chExt cx="1476374" cy="333375"/>
            </a:xfrm>
          </p:grpSpPr>
          <p:sp>
            <p:nvSpPr>
              <p:cNvPr id="31" name="Rectangle 30">
                <a:extLst>
                  <a:ext uri="{FF2B5EF4-FFF2-40B4-BE49-F238E27FC236}">
                    <a16:creationId xmlns:a16="http://schemas.microsoft.com/office/drawing/2014/main" id="{0845B7F8-1D57-1BBB-8618-86B4A2DB210D}"/>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2" name="Straight Arrow Connector 31">
                <a:extLst>
                  <a:ext uri="{FF2B5EF4-FFF2-40B4-BE49-F238E27FC236}">
                    <a16:creationId xmlns:a16="http://schemas.microsoft.com/office/drawing/2014/main" id="{E349D53C-B060-4B6D-7689-78A9F9022D7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888">
                <a:extLst>
                  <a:ext uri="{FF2B5EF4-FFF2-40B4-BE49-F238E27FC236}">
                    <a16:creationId xmlns:a16="http://schemas.microsoft.com/office/drawing/2014/main" id="{0A615823-9F75-61FF-9EF5-BFA625EFC1FB}"/>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a:t>
                </a:r>
              </a:p>
            </p:txBody>
          </p:sp>
        </p:grpSp>
      </p:grpSp>
      <p:grpSp>
        <p:nvGrpSpPr>
          <p:cNvPr id="9" name="Group 8">
            <a:extLst>
              <a:ext uri="{FF2B5EF4-FFF2-40B4-BE49-F238E27FC236}">
                <a16:creationId xmlns:a16="http://schemas.microsoft.com/office/drawing/2014/main" id="{DFD19F4A-79B9-9DDE-905B-C7089DFC01EF}"/>
              </a:ext>
            </a:extLst>
          </p:cNvPr>
          <p:cNvGrpSpPr/>
          <p:nvPr/>
        </p:nvGrpSpPr>
        <p:grpSpPr>
          <a:xfrm>
            <a:off x="4826604" y="3001888"/>
            <a:ext cx="6896071" cy="1640527"/>
            <a:chOff x="4826604" y="3001888"/>
            <a:chExt cx="6896071" cy="1640527"/>
          </a:xfrm>
        </p:grpSpPr>
        <p:pic>
          <p:nvPicPr>
            <p:cNvPr id="8" name="Picture 7">
              <a:extLst>
                <a:ext uri="{FF2B5EF4-FFF2-40B4-BE49-F238E27FC236}">
                  <a16:creationId xmlns:a16="http://schemas.microsoft.com/office/drawing/2014/main" id="{D40D18FF-EAC9-6D9B-84F2-DD127573EC34}"/>
                </a:ext>
              </a:extLst>
            </p:cNvPr>
            <p:cNvPicPr>
              <a:picLocks noChangeAspect="1"/>
            </p:cNvPicPr>
            <p:nvPr/>
          </p:nvPicPr>
          <p:blipFill>
            <a:blip r:embed="rId4"/>
            <a:stretch>
              <a:fillRect/>
            </a:stretch>
          </p:blipFill>
          <p:spPr>
            <a:xfrm>
              <a:off x="5364528" y="3201235"/>
              <a:ext cx="6358147" cy="1441180"/>
            </a:xfrm>
            <a:prstGeom prst="rect">
              <a:avLst/>
            </a:prstGeom>
          </p:spPr>
        </p:pic>
        <p:grpSp>
          <p:nvGrpSpPr>
            <p:cNvPr id="36" name="Group 35">
              <a:extLst>
                <a:ext uri="{FF2B5EF4-FFF2-40B4-BE49-F238E27FC236}">
                  <a16:creationId xmlns:a16="http://schemas.microsoft.com/office/drawing/2014/main" id="{77E697F5-CE37-595D-E7E8-F712BB41D05D}"/>
                </a:ext>
              </a:extLst>
            </p:cNvPr>
            <p:cNvGrpSpPr/>
            <p:nvPr/>
          </p:nvGrpSpPr>
          <p:grpSpPr>
            <a:xfrm>
              <a:off x="4826604" y="3001888"/>
              <a:ext cx="6106266" cy="1499871"/>
              <a:chOff x="0" y="0"/>
              <a:chExt cx="6106618" cy="1499960"/>
            </a:xfrm>
          </p:grpSpPr>
          <p:grpSp>
            <p:nvGrpSpPr>
              <p:cNvPr id="37" name="Group 36">
                <a:extLst>
                  <a:ext uri="{FF2B5EF4-FFF2-40B4-BE49-F238E27FC236}">
                    <a16:creationId xmlns:a16="http://schemas.microsoft.com/office/drawing/2014/main" id="{D9FEFDC5-98E8-9DD8-369B-6337EA445FC1}"/>
                  </a:ext>
                </a:extLst>
              </p:cNvPr>
              <p:cNvGrpSpPr/>
              <p:nvPr/>
            </p:nvGrpSpPr>
            <p:grpSpPr>
              <a:xfrm>
                <a:off x="1895131" y="451757"/>
                <a:ext cx="886169" cy="247650"/>
                <a:chOff x="590205" y="28575"/>
                <a:chExt cx="886169" cy="247650"/>
              </a:xfrm>
            </p:grpSpPr>
            <p:sp>
              <p:nvSpPr>
                <p:cNvPr id="49" name="Rectangle 48">
                  <a:extLst>
                    <a:ext uri="{FF2B5EF4-FFF2-40B4-BE49-F238E27FC236}">
                      <a16:creationId xmlns:a16="http://schemas.microsoft.com/office/drawing/2014/main" id="{A8CB76DE-19D3-3075-85F6-0346C05A7DDD}"/>
                    </a:ext>
                  </a:extLst>
                </p:cNvPr>
                <p:cNvSpPr/>
                <p:nvPr/>
              </p:nvSpPr>
              <p:spPr>
                <a:xfrm>
                  <a:off x="590205" y="61232"/>
                  <a:ext cx="200372" cy="2149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0" name="Straight Arrow Connector 49">
                  <a:extLst>
                    <a:ext uri="{FF2B5EF4-FFF2-40B4-BE49-F238E27FC236}">
                      <a16:creationId xmlns:a16="http://schemas.microsoft.com/office/drawing/2014/main" id="{9762E674-0528-5121-A1FF-146BB092BDC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896">
                  <a:extLst>
                    <a:ext uri="{FF2B5EF4-FFF2-40B4-BE49-F238E27FC236}">
                      <a16:creationId xmlns:a16="http://schemas.microsoft.com/office/drawing/2014/main" id="{9FFA5D3E-D000-2BA3-2C4E-CE072A8CFC6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38" name="Group 37">
                <a:extLst>
                  <a:ext uri="{FF2B5EF4-FFF2-40B4-BE49-F238E27FC236}">
                    <a16:creationId xmlns:a16="http://schemas.microsoft.com/office/drawing/2014/main" id="{BE560591-3DD2-1896-692D-87EC40B398EC}"/>
                  </a:ext>
                </a:extLst>
              </p:cNvPr>
              <p:cNvGrpSpPr/>
              <p:nvPr/>
            </p:nvGrpSpPr>
            <p:grpSpPr>
              <a:xfrm>
                <a:off x="5101835" y="216006"/>
                <a:ext cx="1004783" cy="304800"/>
                <a:chOff x="95766" y="64967"/>
                <a:chExt cx="1004783" cy="304800"/>
              </a:xfrm>
            </p:grpSpPr>
            <p:sp>
              <p:nvSpPr>
                <p:cNvPr id="43" name="Rectangle 42">
                  <a:extLst>
                    <a:ext uri="{FF2B5EF4-FFF2-40B4-BE49-F238E27FC236}">
                      <a16:creationId xmlns:a16="http://schemas.microsoft.com/office/drawing/2014/main" id="{EF0A0E3D-D4C6-EF2C-8CD0-F311E67DD243}"/>
                    </a:ext>
                  </a:extLst>
                </p:cNvPr>
                <p:cNvSpPr/>
                <p:nvPr/>
              </p:nvSpPr>
              <p:spPr>
                <a:xfrm>
                  <a:off x="95766" y="64967"/>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4" name="Straight Arrow Connector 43">
                  <a:extLst>
                    <a:ext uri="{FF2B5EF4-FFF2-40B4-BE49-F238E27FC236}">
                      <a16:creationId xmlns:a16="http://schemas.microsoft.com/office/drawing/2014/main" id="{0AC98C67-DC32-8462-874C-38782CE96FE7}"/>
                    </a:ext>
                  </a:extLst>
                </p:cNvPr>
                <p:cNvCxnSpPr/>
                <p:nvPr/>
              </p:nvCxnSpPr>
              <p:spPr>
                <a:xfrm>
                  <a:off x="561949" y="20763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900">
                  <a:extLst>
                    <a:ext uri="{FF2B5EF4-FFF2-40B4-BE49-F238E27FC236}">
                      <a16:creationId xmlns:a16="http://schemas.microsoft.com/office/drawing/2014/main" id="{B03DA62A-DA2E-B818-75E5-99BD49273215}"/>
                    </a:ext>
                  </a:extLst>
                </p:cNvPr>
                <p:cNvSpPr txBox="1"/>
                <p:nvPr/>
              </p:nvSpPr>
              <p:spPr>
                <a:xfrm>
                  <a:off x="795749" y="70241"/>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nvGrpSpPr>
              <p:cNvPr id="39" name="Group 38">
                <a:extLst>
                  <a:ext uri="{FF2B5EF4-FFF2-40B4-BE49-F238E27FC236}">
                    <a16:creationId xmlns:a16="http://schemas.microsoft.com/office/drawing/2014/main" id="{C29D8BB3-E203-3793-E0F6-95D481C49789}"/>
                  </a:ext>
                </a:extLst>
              </p:cNvPr>
              <p:cNvGrpSpPr>
                <a:grpSpLocks/>
              </p:cNvGrpSpPr>
              <p:nvPr/>
            </p:nvGrpSpPr>
            <p:grpSpPr bwMode="auto">
              <a:xfrm>
                <a:off x="2851422" y="620485"/>
                <a:ext cx="2301875" cy="879475"/>
                <a:chOff x="6116" y="177"/>
                <a:chExt cx="3625" cy="1385"/>
              </a:xfrm>
            </p:grpSpPr>
            <p:pic>
              <p:nvPicPr>
                <p:cNvPr id="41" name="Picture 40">
                  <a:extLst>
                    <a:ext uri="{FF2B5EF4-FFF2-40B4-BE49-F238E27FC236}">
                      <a16:creationId xmlns:a16="http://schemas.microsoft.com/office/drawing/2014/main" id="{18D98EC9-2BAC-111C-94AF-B6C03B7600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241">
                  <a:extLst>
                    <a:ext uri="{FF2B5EF4-FFF2-40B4-BE49-F238E27FC236}">
                      <a16:creationId xmlns:a16="http://schemas.microsoft.com/office/drawing/2014/main" id="{22418735-AF38-BA02-DF11-2FCD8EB2CD8E}"/>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CV transaction?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a:effectLst/>
                      <a:latin typeface="Calibri" panose="020F0502020204030204" pitchFamily="34" charset="0"/>
                      <a:ea typeface="Calibri" panose="020F0502020204030204" pitchFamily="34" charset="0"/>
                      <a:cs typeface="Times New Roman" panose="02020603050405020304" pitchFamily="18" charset="0"/>
                    </a:rPr>
                    <a:t> </a:t>
                  </a:r>
                  <a:r>
                    <a:rPr lang="en-US" sz="80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0" name="Text Box 901">
                <a:extLst>
                  <a:ext uri="{FF2B5EF4-FFF2-40B4-BE49-F238E27FC236}">
                    <a16:creationId xmlns:a16="http://schemas.microsoft.com/office/drawing/2014/main" id="{259171E8-2507-89FC-F31E-5A54415977E2}"/>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2" name="TextBox 1">
            <a:extLst>
              <a:ext uri="{FF2B5EF4-FFF2-40B4-BE49-F238E27FC236}">
                <a16:creationId xmlns:a16="http://schemas.microsoft.com/office/drawing/2014/main" id="{883F452C-25DF-A620-4F08-10378D6821BD}"/>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064B2E44-0072-0918-7804-FC42E3CF106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95050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1254088" y="62388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2386616"/>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R="0" lvl="0" algn="just">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EA94202C-C209-2D75-474F-DEB3CAF1812F}"/>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3FE4AC3F-C9F2-0BB9-A0BA-589F24C5D822}"/>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9" name="Group 18">
            <a:extLst>
              <a:ext uri="{FF2B5EF4-FFF2-40B4-BE49-F238E27FC236}">
                <a16:creationId xmlns:a16="http://schemas.microsoft.com/office/drawing/2014/main" id="{78F6BA4F-52B8-8913-E64C-6F9C22318FE5}"/>
              </a:ext>
            </a:extLst>
          </p:cNvPr>
          <p:cNvGrpSpPr/>
          <p:nvPr/>
        </p:nvGrpSpPr>
        <p:grpSpPr>
          <a:xfrm>
            <a:off x="5126663" y="2158545"/>
            <a:ext cx="6260227" cy="2277457"/>
            <a:chOff x="5126663" y="2158545"/>
            <a:chExt cx="6260227" cy="2277457"/>
          </a:xfrm>
        </p:grpSpPr>
        <p:grpSp>
          <p:nvGrpSpPr>
            <p:cNvPr id="20" name="Group 19">
              <a:extLst>
                <a:ext uri="{FF2B5EF4-FFF2-40B4-BE49-F238E27FC236}">
                  <a16:creationId xmlns:a16="http://schemas.microsoft.com/office/drawing/2014/main" id="{997D9AA4-1C1B-9CFC-2D40-E784E277422D}"/>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7A0A6F2A-2DC8-E786-9F4B-867298058DDC}"/>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4869F2D7-4A2B-5F7C-1599-6C25CA2D3010}"/>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89171FF8-34C3-76F8-BFBC-8AED4C815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CB587C38-E591-64EB-BD2C-3254CEC18327}"/>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8" name="Group 37">
                    <a:extLst>
                      <a:ext uri="{FF2B5EF4-FFF2-40B4-BE49-F238E27FC236}">
                        <a16:creationId xmlns:a16="http://schemas.microsoft.com/office/drawing/2014/main" id="{E217D68F-B54B-C3D7-9ED4-0EBA3BD0B8BB}"/>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E7AB1EDD-7C2F-BCC5-AF10-8021AA824921}"/>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9804C160-D440-4E71-0C27-3ED85F6F4F41}"/>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2C60C440-D235-C560-2058-8A95A96D3808}"/>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0B1F9AEB-2AB4-5A6B-F4B0-A2C25E7E04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C17BECBA-B38E-6C6D-42C8-5678AA237053}"/>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64B0007F-B678-CFAF-C365-2A89370199C9}"/>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6CB717C2-D87C-B75D-CCD8-6DB8E5381AB0}"/>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Text Box 98">
                  <a:extLst>
                    <a:ext uri="{FF2B5EF4-FFF2-40B4-BE49-F238E27FC236}">
                      <a16:creationId xmlns:a16="http://schemas.microsoft.com/office/drawing/2014/main" id="{97A4333C-C9A1-DA1B-E809-8E2C47C72C3D}"/>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22" name="Rectangle 21">
              <a:extLst>
                <a:ext uri="{FF2B5EF4-FFF2-40B4-BE49-F238E27FC236}">
                  <a16:creationId xmlns:a16="http://schemas.microsoft.com/office/drawing/2014/main" id="{6034604B-2BA8-0AEE-8428-43FA832567C0}"/>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3" name="Straight Arrow Connector 22">
              <a:extLst>
                <a:ext uri="{FF2B5EF4-FFF2-40B4-BE49-F238E27FC236}">
                  <a16:creationId xmlns:a16="http://schemas.microsoft.com/office/drawing/2014/main" id="{37C02E19-81AF-4796-B1DA-58308EE7C6D5}"/>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62">
              <a:extLst>
                <a:ext uri="{FF2B5EF4-FFF2-40B4-BE49-F238E27FC236}">
                  <a16:creationId xmlns:a16="http://schemas.microsoft.com/office/drawing/2014/main" id="{C4A963AF-4EBD-AE2E-D174-AFEF6DDCF193}"/>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a typeface="Calibri" panose="020F0502020204030204" pitchFamily="34" charset="0"/>
                  <a:cs typeface="Times New Roman" panose="02020603050405020304" pitchFamily="18" charset="0"/>
                </a:rPr>
                <a:t>6</a:t>
              </a:r>
              <a:endParaRPr lang="en-US" sz="1100" dirty="0">
                <a:effectLst/>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CC8D961E-7E8D-497C-9908-C67AE57E3868}"/>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6" name="Straight Arrow Connector 25">
              <a:extLst>
                <a:ext uri="{FF2B5EF4-FFF2-40B4-BE49-F238E27FC236}">
                  <a16:creationId xmlns:a16="http://schemas.microsoft.com/office/drawing/2014/main" id="{1282744C-66B9-D433-0FC6-726FAA6B8403}"/>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0E9CB4AF-CD16-5834-B777-ABDEECDC3DF5}"/>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742729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FDE407-0CFE-9A78-CFCB-CF79CD8B1F92}"/>
              </a:ext>
            </a:extLst>
          </p:cNvPr>
          <p:cNvPicPr>
            <a:picLocks noChangeAspect="1"/>
          </p:cNvPicPr>
          <p:nvPr/>
        </p:nvPicPr>
        <p:blipFill>
          <a:blip r:embed="rId2"/>
          <a:stretch>
            <a:fillRect/>
          </a:stretch>
        </p:blipFill>
        <p:spPr>
          <a:xfrm>
            <a:off x="5106907" y="3962370"/>
            <a:ext cx="6358147" cy="144118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45" name="TextBox 44">
            <a:extLst>
              <a:ext uri="{FF2B5EF4-FFF2-40B4-BE49-F238E27FC236}">
                <a16:creationId xmlns:a16="http://schemas.microsoft.com/office/drawing/2014/main" id="{4B14687C-52A3-56C7-BB62-1861435F0424}"/>
              </a:ext>
            </a:extLst>
          </p:cNvPr>
          <p:cNvSpPr txBox="1"/>
          <p:nvPr/>
        </p:nvSpPr>
        <p:spPr>
          <a:xfrm>
            <a:off x="7236820" y="5403915"/>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Cash/Check Voucher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form</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68" name="Text Box 854">
            <a:extLst>
              <a:ext uri="{FF2B5EF4-FFF2-40B4-BE49-F238E27FC236}">
                <a16:creationId xmlns:a16="http://schemas.microsoft.com/office/drawing/2014/main" id="{9845929A-47AB-7953-E946-C7A4D2E1538F}"/>
              </a:ext>
            </a:extLst>
          </p:cNvPr>
          <p:cNvSpPr txBox="1"/>
          <p:nvPr/>
        </p:nvSpPr>
        <p:spPr>
          <a:xfrm>
            <a:off x="708595" y="3526770"/>
            <a:ext cx="3852819" cy="40763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C278DA03-424D-142E-BB8A-D8491412C4DA}"/>
              </a:ext>
            </a:extLst>
          </p:cNvPr>
          <p:cNvSpPr txBox="1"/>
          <p:nvPr/>
        </p:nvSpPr>
        <p:spPr>
          <a:xfrm>
            <a:off x="805110" y="112232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CV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4" name="Text Box 65">
            <a:extLst>
              <a:ext uri="{FF2B5EF4-FFF2-40B4-BE49-F238E27FC236}">
                <a16:creationId xmlns:a16="http://schemas.microsoft.com/office/drawing/2014/main" id="{1E9EB7A6-9663-FDE2-5365-91A0C0AA96C8}"/>
              </a:ext>
            </a:extLst>
          </p:cNvPr>
          <p:cNvSpPr txBox="1"/>
          <p:nvPr/>
        </p:nvSpPr>
        <p:spPr>
          <a:xfrm>
            <a:off x="761672" y="1524783"/>
            <a:ext cx="3746666" cy="181991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gn="just"/>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cash/check voucher – main window, search the payable voucher transaction you wish to edit its information in the search bar. Or,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gn="just"/>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cash/check voucher – main form, click the lookup button and select the transaction you wish to edit its information by typing the transaction number in the search bar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25205F7-CDDA-E825-C98C-ADE17F977244}"/>
              </a:ext>
            </a:extLst>
          </p:cNvPr>
          <p:cNvSpPr txBox="1"/>
          <p:nvPr/>
        </p:nvSpPr>
        <p:spPr>
          <a:xfrm>
            <a:off x="7301081" y="2788742"/>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Cash/Check Voucher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Window</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pic>
        <p:nvPicPr>
          <p:cNvPr id="17" name="Picture 16">
            <a:extLst>
              <a:ext uri="{FF2B5EF4-FFF2-40B4-BE49-F238E27FC236}">
                <a16:creationId xmlns:a16="http://schemas.microsoft.com/office/drawing/2014/main" id="{582282AD-B112-FBA4-04B3-FD705CEDB9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8407" y="1131992"/>
            <a:ext cx="6078855" cy="1713230"/>
          </a:xfrm>
          <a:prstGeom prst="rect">
            <a:avLst/>
          </a:prstGeom>
        </p:spPr>
      </p:pic>
      <p:grpSp>
        <p:nvGrpSpPr>
          <p:cNvPr id="64" name="Group 63">
            <a:extLst>
              <a:ext uri="{FF2B5EF4-FFF2-40B4-BE49-F238E27FC236}">
                <a16:creationId xmlns:a16="http://schemas.microsoft.com/office/drawing/2014/main" id="{F961481B-E60E-9618-28CE-C421321FDB75}"/>
              </a:ext>
            </a:extLst>
          </p:cNvPr>
          <p:cNvGrpSpPr/>
          <p:nvPr/>
        </p:nvGrpSpPr>
        <p:grpSpPr>
          <a:xfrm>
            <a:off x="4657929" y="3825845"/>
            <a:ext cx="4007641" cy="701675"/>
            <a:chOff x="2936875" y="3049587"/>
            <a:chExt cx="4007641" cy="701675"/>
          </a:xfrm>
        </p:grpSpPr>
        <p:grpSp>
          <p:nvGrpSpPr>
            <p:cNvPr id="55" name="Group 54">
              <a:extLst>
                <a:ext uri="{FF2B5EF4-FFF2-40B4-BE49-F238E27FC236}">
                  <a16:creationId xmlns:a16="http://schemas.microsoft.com/office/drawing/2014/main" id="{2BE5CA6A-21DB-05BD-E8E5-7033F54ED804}"/>
                </a:ext>
              </a:extLst>
            </p:cNvPr>
            <p:cNvGrpSpPr/>
            <p:nvPr/>
          </p:nvGrpSpPr>
          <p:grpSpPr>
            <a:xfrm>
              <a:off x="4763136" y="3503612"/>
              <a:ext cx="952499" cy="247650"/>
              <a:chOff x="523875" y="28575"/>
              <a:chExt cx="952499" cy="247650"/>
            </a:xfrm>
          </p:grpSpPr>
          <p:sp>
            <p:nvSpPr>
              <p:cNvPr id="61" name="Rectangle 60">
                <a:extLst>
                  <a:ext uri="{FF2B5EF4-FFF2-40B4-BE49-F238E27FC236}">
                    <a16:creationId xmlns:a16="http://schemas.microsoft.com/office/drawing/2014/main" id="{23DDC517-5C0C-C1F5-6315-43F7FA046271}"/>
                  </a:ext>
                </a:extLst>
              </p:cNvPr>
              <p:cNvSpPr/>
              <p:nvPr/>
            </p:nvSpPr>
            <p:spPr>
              <a:xfrm>
                <a:off x="523875" y="28575"/>
                <a:ext cx="266702" cy="1671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2" name="Straight Arrow Connector 61">
                <a:extLst>
                  <a:ext uri="{FF2B5EF4-FFF2-40B4-BE49-F238E27FC236}">
                    <a16:creationId xmlns:a16="http://schemas.microsoft.com/office/drawing/2014/main" id="{D3D0A63E-E4E9-92CB-EAC3-898CEB25145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1110">
                <a:extLst>
                  <a:ext uri="{FF2B5EF4-FFF2-40B4-BE49-F238E27FC236}">
                    <a16:creationId xmlns:a16="http://schemas.microsoft.com/office/drawing/2014/main" id="{FE5538F9-B52F-E11B-9A5E-56502BF5B4D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56" name="Group 55">
              <a:extLst>
                <a:ext uri="{FF2B5EF4-FFF2-40B4-BE49-F238E27FC236}">
                  <a16:creationId xmlns:a16="http://schemas.microsoft.com/office/drawing/2014/main" id="{6CDE5674-BC33-DDC1-0533-8266948D4994}"/>
                </a:ext>
              </a:extLst>
            </p:cNvPr>
            <p:cNvGrpSpPr/>
            <p:nvPr/>
          </p:nvGrpSpPr>
          <p:grpSpPr>
            <a:xfrm>
              <a:off x="5934899" y="3186112"/>
              <a:ext cx="1009617" cy="304800"/>
              <a:chOff x="-2005777" y="-17145"/>
              <a:chExt cx="1009617" cy="304800"/>
            </a:xfrm>
          </p:grpSpPr>
          <p:sp>
            <p:nvSpPr>
              <p:cNvPr id="58" name="Rectangle 57">
                <a:extLst>
                  <a:ext uri="{FF2B5EF4-FFF2-40B4-BE49-F238E27FC236}">
                    <a16:creationId xmlns:a16="http://schemas.microsoft.com/office/drawing/2014/main" id="{8E882B2F-7961-A015-EEA4-53B4FA998B3A}"/>
                  </a:ext>
                </a:extLst>
              </p:cNvPr>
              <p:cNvSpPr/>
              <p:nvPr/>
            </p:nvSpPr>
            <p:spPr>
              <a:xfrm>
                <a:off x="-2005777" y="-1714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9" name="Straight Arrow Connector 58">
                <a:extLst>
                  <a:ext uri="{FF2B5EF4-FFF2-40B4-BE49-F238E27FC236}">
                    <a16:creationId xmlns:a16="http://schemas.microsoft.com/office/drawing/2014/main" id="{54C7F76E-F71F-4B3C-7697-AD52CC4C22E2}"/>
                  </a:ext>
                </a:extLst>
              </p:cNvPr>
              <p:cNvCxnSpPr/>
              <p:nvPr/>
            </p:nvCxnSpPr>
            <p:spPr>
              <a:xfrm>
                <a:off x="-1510510" y="14478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 Box 1114">
                <a:extLst>
                  <a:ext uri="{FF2B5EF4-FFF2-40B4-BE49-F238E27FC236}">
                    <a16:creationId xmlns:a16="http://schemas.microsoft.com/office/drawing/2014/main" id="{E5B9E7F6-F3D9-2DCC-E57A-1A2A0F7BBD92}"/>
                  </a:ext>
                </a:extLst>
              </p:cNvPr>
              <p:cNvSpPr txBox="1"/>
              <p:nvPr/>
            </p:nvSpPr>
            <p:spPr>
              <a:xfrm>
                <a:off x="-1300960" y="4000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grpSp>
        <p:sp>
          <p:nvSpPr>
            <p:cNvPr id="57" name="Text Box 1115">
              <a:extLst>
                <a:ext uri="{FF2B5EF4-FFF2-40B4-BE49-F238E27FC236}">
                  <a16:creationId xmlns:a16="http://schemas.microsoft.com/office/drawing/2014/main" id="{0F642E86-2F79-84DD-8BA7-B737273708A4}"/>
                </a:ext>
              </a:extLst>
            </p:cNvPr>
            <p:cNvSpPr txBox="1"/>
            <p:nvPr/>
          </p:nvSpPr>
          <p:spPr>
            <a:xfrm>
              <a:off x="2936875" y="304958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7854F284-6520-0EE0-BE55-259749F2F884}"/>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92DE4F60-6815-7186-DA7E-59F969FC8616}"/>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4147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EA37A5-DDD2-151A-3393-8545A760F55C}"/>
              </a:ext>
            </a:extLst>
          </p:cNvPr>
          <p:cNvPicPr>
            <a:picLocks noChangeAspect="1"/>
          </p:cNvPicPr>
          <p:nvPr/>
        </p:nvPicPr>
        <p:blipFill>
          <a:blip r:embed="rId2"/>
          <a:stretch>
            <a:fillRect/>
          </a:stretch>
        </p:blipFill>
        <p:spPr>
          <a:xfrm>
            <a:off x="5365747" y="875181"/>
            <a:ext cx="5938459" cy="1202681"/>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cash/ check voucher – main form will be minimize and the other information will be displayed as shown in the photo below.</a:t>
            </a:r>
          </a:p>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D2D8B425-9CD3-B0EF-BA90-C97A02A2FBAF}"/>
              </a:ext>
            </a:extLst>
          </p:cNvPr>
          <p:cNvSpPr txBox="1"/>
          <p:nvPr/>
        </p:nvSpPr>
        <p:spPr>
          <a:xfrm>
            <a:off x="5280813" y="2077862"/>
            <a:ext cx="6108326" cy="249364"/>
          </a:xfrm>
          <a:prstGeom prst="rect">
            <a:avLst/>
          </a:prstGeom>
          <a:noFill/>
        </p:spPr>
        <p:txBody>
          <a:bodyPr wrap="square">
            <a:spAutoFit/>
          </a:bodyPr>
          <a:lstStyle/>
          <a:p>
            <a:pPr marL="0" marR="0">
              <a:lnSpc>
                <a:spcPct val="107000"/>
              </a:lnSpc>
              <a:spcBef>
                <a:spcPts val="0"/>
              </a:spcBef>
              <a:spcAft>
                <a:spcPts val="800"/>
              </a:spcAft>
              <a:tabLst>
                <a:tab pos="1752600" algn="l"/>
              </a:tabLst>
            </a:pPr>
            <a:r>
              <a:rPr lang="en-PH" sz="1000" dirty="0">
                <a:effectLst/>
                <a:latin typeface="Chivo Light" panose="020B0303030202020804" pitchFamily="34" charset="0"/>
                <a:ea typeface="Calibri" panose="020F0502020204030204" pitchFamily="34" charset="0"/>
                <a:cs typeface="Times New Roman" panose="02020603050405020304" pitchFamily="18" charset="0"/>
              </a:rPr>
              <a:t>If you want to upload file attachment in image form, click the attachment and upload the file.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8DD6742-F6C7-238C-B640-0B57B9C8FD25}"/>
              </a:ext>
            </a:extLst>
          </p:cNvPr>
          <p:cNvSpPr txBox="1"/>
          <p:nvPr/>
        </p:nvSpPr>
        <p:spPr>
          <a:xfrm>
            <a:off x="805109" y="81080"/>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Cash/Check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788A7811-BADD-86B9-1AAF-B3E37500BF3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10" name="Picture 9">
            <a:extLst>
              <a:ext uri="{FF2B5EF4-FFF2-40B4-BE49-F238E27FC236}">
                <a16:creationId xmlns:a16="http://schemas.microsoft.com/office/drawing/2014/main" id="{E0AD5EC7-169E-E9F2-1B70-C739B7464B63}"/>
              </a:ext>
            </a:extLst>
          </p:cNvPr>
          <p:cNvPicPr>
            <a:picLocks noChangeAspect="1"/>
          </p:cNvPicPr>
          <p:nvPr/>
        </p:nvPicPr>
        <p:blipFill>
          <a:blip r:embed="rId4"/>
          <a:stretch>
            <a:fillRect/>
          </a:stretch>
        </p:blipFill>
        <p:spPr>
          <a:xfrm>
            <a:off x="5191124" y="2859130"/>
            <a:ext cx="6762750" cy="3000375"/>
          </a:xfrm>
          <a:prstGeom prst="rect">
            <a:avLst/>
          </a:prstGeom>
        </p:spPr>
      </p:pic>
    </p:spTree>
    <p:extLst>
      <p:ext uri="{BB962C8B-B14F-4D97-AF65-F5344CB8AC3E}">
        <p14:creationId xmlns:p14="http://schemas.microsoft.com/office/powerpoint/2010/main" val="1842437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1274</Words>
  <Application>Microsoft Office PowerPoint</Application>
  <PresentationFormat>Widescreen</PresentationFormat>
  <Paragraphs>163</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2023-01-03T08:51:57Z</dcterms:created>
  <dcterms:modified xsi:type="dcterms:W3CDTF">2023-01-03T08:52:09Z</dcterms:modified>
</cp:coreProperties>
</file>