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9" r:id="rId2"/>
    <p:sldId id="350" r:id="rId3"/>
    <p:sldId id="351" r:id="rId4"/>
    <p:sldId id="352" r:id="rId5"/>
    <p:sldId id="360" r:id="rId6"/>
    <p:sldId id="361" r:id="rId7"/>
    <p:sldId id="362" r:id="rId8"/>
    <p:sldId id="363" r:id="rId9"/>
    <p:sldId id="364" r:id="rId10"/>
    <p:sldId id="365" r:id="rId11"/>
    <p:sldId id="3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5T07:03:13.387"/>
    </inkml:context>
    <inkml:brush xml:id="br0">
      <inkml:brushProperty name="width" value="0.05" units="cm"/>
      <inkml:brushProperty name="height" value="0.05" units="cm"/>
    </inkml:brush>
  </inkml:definitions>
  <inkml:trace contextRef="#ctx0" brushRef="#br0">32 29 32767,'0'0'0,"0"7"0,-31-43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5T07:03:13.387"/>
    </inkml:context>
    <inkml:brush xml:id="br0">
      <inkml:brushProperty name="width" value="0.05" units="cm"/>
      <inkml:brushProperty name="height" value="0.05" units="cm"/>
    </inkml:brush>
  </inkml:definitions>
  <inkml:trace contextRef="#ctx0" brushRef="#br0">32 29 32767,'0'0'0,"0"7"0,-31-43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5T07:03:13.387"/>
    </inkml:context>
    <inkml:brush xml:id="br0">
      <inkml:brushProperty name="width" value="0.05" units="cm"/>
      <inkml:brushProperty name="height" value="0.05" units="cm"/>
    </inkml:brush>
  </inkml:definitions>
  <inkml:trace contextRef="#ctx0" brushRef="#br0">32 29 32767,'0'0'0,"0"7"0,-31-43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5T07:03:13.387"/>
    </inkml:context>
    <inkml:brush xml:id="br0">
      <inkml:brushProperty name="width" value="0.05" units="cm"/>
      <inkml:brushProperty name="height" value="0.05" units="cm"/>
    </inkml:brush>
  </inkml:definitions>
  <inkml:trace contextRef="#ctx0" brushRef="#br0">32 29 32767,'0'0'0,"0"7"0,-31-43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27150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64191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26421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5753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09968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5387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8946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28443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962424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217425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40494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2840796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40.pn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2.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3.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4.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539407" y="2055283"/>
            <a:ext cx="7113183" cy="1569660"/>
          </a:xfrm>
          <a:prstGeom prst="rect">
            <a:avLst/>
          </a:prstGeom>
          <a:noFill/>
          <a:effectLst/>
        </p:spPr>
        <p:txBody>
          <a:bodyPr wrap="square" rtlCol="0">
            <a:spAutoFit/>
          </a:bodyPr>
          <a:lstStyle/>
          <a:p>
            <a:pPr algn="ctr"/>
            <a:r>
              <a:rPr lang="en-US" sz="9600" b="1" dirty="0">
                <a:solidFill>
                  <a:srgbClr val="00B050"/>
                </a:solidFill>
                <a:latin typeface="Bodoni MT Condensed" panose="02070606080606020203" pitchFamily="18" charset="0"/>
              </a:rPr>
              <a:t>Debit Memo</a:t>
            </a:r>
            <a:endParaRPr lang="en-US" sz="96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chemeClr val="bg1"/>
              </a:solidFill>
              <a:ea typeface="Open Sans" panose="020B0606030504020204" pitchFamily="34" charset="0"/>
              <a:cs typeface="Times New Roman" panose="02020603050405020304" pitchFamily="18" charset="0"/>
            </a:endParaRPr>
          </a:p>
          <a:p>
            <a:pPr marL="0" marR="0" algn="ctr">
              <a:lnSpc>
                <a:spcPct val="107000"/>
              </a:lnSpc>
              <a:spcBef>
                <a:spcPts val="0"/>
              </a:spcBef>
              <a:spcAft>
                <a:spcPts val="800"/>
              </a:spcAft>
            </a:pPr>
            <a:r>
              <a:rPr lang="en-US" sz="1400" dirty="0">
                <a:solidFill>
                  <a:schemeClr val="bg1"/>
                </a:solidFill>
                <a:ea typeface="Open Sans" panose="020B0606030504020204" pitchFamily="34" charset="0"/>
                <a:cs typeface="Times New Roman" panose="02020603050405020304" pitchFamily="18" charset="0"/>
              </a:rPr>
              <a:t>Debit memo is a module where adjustments to increase receivables is recorded.</a:t>
            </a:r>
            <a:endParaRPr lang="en-US" sz="1400" dirty="0">
              <a:solidFill>
                <a:srgbClr val="007434"/>
              </a:solidFill>
              <a:effectLst/>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3927061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Debit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Main Window</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Debit Memo module under Accounting, Debit Memo transactions list will display based on filtered date and status in the debit memo - main window.</a:t>
            </a:r>
            <a:r>
              <a:rPr lang="en-PH" sz="1000" dirty="0">
                <a:effectLst/>
                <a:latin typeface="Chivo Light" panose="020B0303030202020804" pitchFamily="34" charset="0"/>
                <a:ea typeface="Times New Roman" panose="02020603050405020304" pitchFamily="18"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19936" y="4161900"/>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Debit Memo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34" name="Group 33">
            <a:extLst>
              <a:ext uri="{FF2B5EF4-FFF2-40B4-BE49-F238E27FC236}">
                <a16:creationId xmlns:a16="http://schemas.microsoft.com/office/drawing/2014/main" id="{B9C9AF87-2FCC-F181-2031-AA86A4DE991F}"/>
              </a:ext>
            </a:extLst>
          </p:cNvPr>
          <p:cNvGrpSpPr/>
          <p:nvPr/>
        </p:nvGrpSpPr>
        <p:grpSpPr>
          <a:xfrm>
            <a:off x="5169783" y="2111604"/>
            <a:ext cx="6189345" cy="1988185"/>
            <a:chOff x="3001327" y="2434907"/>
            <a:chExt cx="6189345" cy="1988185"/>
          </a:xfrm>
        </p:grpSpPr>
        <p:pic>
          <p:nvPicPr>
            <p:cNvPr id="30" name="Picture 29">
              <a:extLst>
                <a:ext uri="{FF2B5EF4-FFF2-40B4-BE49-F238E27FC236}">
                  <a16:creationId xmlns:a16="http://schemas.microsoft.com/office/drawing/2014/main" id="{D4F8252F-9405-E7BA-5E60-83FC9BBEE030}"/>
                </a:ext>
              </a:extLst>
            </p:cNvPr>
            <p:cNvPicPr>
              <a:picLocks noChangeAspect="1"/>
            </p:cNvPicPr>
            <p:nvPr/>
          </p:nvPicPr>
          <p:blipFill>
            <a:blip r:embed="rId3"/>
            <a:srcRect/>
            <a:stretch>
              <a:fillRect/>
            </a:stretch>
          </p:blipFill>
          <p:spPr bwMode="auto">
            <a:xfrm>
              <a:off x="3001327" y="2434907"/>
              <a:ext cx="6189345" cy="1988185"/>
            </a:xfrm>
            <a:prstGeom prst="rect">
              <a:avLst/>
            </a:prstGeom>
            <a:noFill/>
            <a:ln w="9525">
              <a:noFill/>
              <a:miter lim="800000"/>
              <a:headEnd/>
              <a:tailEnd/>
            </a:ln>
          </p:spPr>
        </p:pic>
        <p:grpSp>
          <p:nvGrpSpPr>
            <p:cNvPr id="31" name="Group 2">
              <a:extLst>
                <a:ext uri="{FF2B5EF4-FFF2-40B4-BE49-F238E27FC236}">
                  <a16:creationId xmlns:a16="http://schemas.microsoft.com/office/drawing/2014/main" id="{E7812367-1F28-752E-9B2F-B1C5F4C48D99}"/>
                </a:ext>
              </a:extLst>
            </p:cNvPr>
            <p:cNvGrpSpPr>
              <a:grpSpLocks/>
            </p:cNvGrpSpPr>
            <p:nvPr/>
          </p:nvGrpSpPr>
          <p:grpSpPr bwMode="auto">
            <a:xfrm>
              <a:off x="3087727" y="3543371"/>
              <a:ext cx="6064250" cy="563562"/>
              <a:chOff x="1290" y="7521"/>
              <a:chExt cx="9550" cy="887"/>
            </a:xfrm>
          </p:grpSpPr>
          <p:sp>
            <p:nvSpPr>
              <p:cNvPr id="32" name="Rectangle 3">
                <a:extLst>
                  <a:ext uri="{FF2B5EF4-FFF2-40B4-BE49-F238E27FC236}">
                    <a16:creationId xmlns:a16="http://schemas.microsoft.com/office/drawing/2014/main" id="{9050727C-2F93-AE5B-2A85-ABA6A74E1568}"/>
                  </a:ext>
                </a:extLst>
              </p:cNvPr>
              <p:cNvSpPr>
                <a:spLocks noChangeArrowheads="1"/>
              </p:cNvSpPr>
              <p:nvPr/>
            </p:nvSpPr>
            <p:spPr bwMode="auto">
              <a:xfrm>
                <a:off x="1290" y="7855"/>
                <a:ext cx="1521" cy="26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Rectangle 4">
                <a:extLst>
                  <a:ext uri="{FF2B5EF4-FFF2-40B4-BE49-F238E27FC236}">
                    <a16:creationId xmlns:a16="http://schemas.microsoft.com/office/drawing/2014/main" id="{5C604921-F6FC-2377-5814-58BC0ED19B55}"/>
                  </a:ext>
                </a:extLst>
              </p:cNvPr>
              <p:cNvSpPr>
                <a:spLocks noChangeArrowheads="1"/>
              </p:cNvSpPr>
              <p:nvPr/>
            </p:nvSpPr>
            <p:spPr bwMode="auto">
              <a:xfrm>
                <a:off x="3051" y="7521"/>
                <a:ext cx="7789" cy="8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1029" name="AutoShape 5">
                <a:extLst>
                  <a:ext uri="{FF2B5EF4-FFF2-40B4-BE49-F238E27FC236}">
                    <a16:creationId xmlns:a16="http://schemas.microsoft.com/office/drawing/2014/main" id="{9A757C5C-0BEE-9444-0519-8293E00F616E}"/>
                  </a:ext>
                </a:extLst>
              </p:cNvPr>
              <p:cNvCxnSpPr>
                <a:cxnSpLocks noChangeShapeType="1"/>
              </p:cNvCxnSpPr>
              <p:nvPr/>
            </p:nvCxnSpPr>
            <p:spPr bwMode="auto">
              <a:xfrm flipV="1">
                <a:off x="2811" y="7925"/>
                <a:ext cx="240" cy="6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grpSp>
    </p:spTree>
    <p:extLst>
      <p:ext uri="{BB962C8B-B14F-4D97-AF65-F5344CB8AC3E}">
        <p14:creationId xmlns:p14="http://schemas.microsoft.com/office/powerpoint/2010/main" val="3312757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Debit Notes?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19984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Debit Memo – Main Window, you will notice a create button in the upper left of the window. Click the create button and you will be redirect in debit memo – main form.</a:t>
            </a:r>
          </a:p>
          <a:p>
            <a:pPr marR="0" lvl="0"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a:t>
            </a: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a:t>
            </a:r>
            <a:r>
              <a:rPr lang="en-US" sz="11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a list of customer. Search and select a customer.</a:t>
            </a:r>
            <a:endParaRPr lang="en-US" sz="11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endParaRPr lang="en-US" sz="1100" dirty="0">
              <a:latin typeface="Chivo Light" panose="020B03030302020208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SzPts val="1200"/>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5" name="Text Box 1197">
            <a:extLst>
              <a:ext uri="{FF2B5EF4-FFF2-40B4-BE49-F238E27FC236}">
                <a16:creationId xmlns:a16="http://schemas.microsoft.com/office/drawing/2014/main" id="{43122292-BD35-48F3-6B03-509A04780B35}"/>
              </a:ext>
            </a:extLst>
          </p:cNvPr>
          <p:cNvSpPr txBox="1"/>
          <p:nvPr/>
        </p:nvSpPr>
        <p:spPr>
          <a:xfrm>
            <a:off x="805110" y="3944974"/>
            <a:ext cx="3914825" cy="126313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a:t>
            </a:r>
            <a:r>
              <a:rPr lang="en-US" sz="12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a customer, you will be redirect in debit memo – main form where you will encode other necessary information of the transaction and record the adjustment entry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7" name="TextBox 6">
            <a:extLst>
              <a:ext uri="{FF2B5EF4-FFF2-40B4-BE49-F238E27FC236}">
                <a16:creationId xmlns:a16="http://schemas.microsoft.com/office/drawing/2014/main" id="{8733CBB7-E478-1EA0-2E4D-6AF93FE3C883}"/>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Debit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20" name="Group 19">
            <a:extLst>
              <a:ext uri="{FF2B5EF4-FFF2-40B4-BE49-F238E27FC236}">
                <a16:creationId xmlns:a16="http://schemas.microsoft.com/office/drawing/2014/main" id="{0FCCE3AA-A556-6EC5-639A-F76FABF5754B}"/>
              </a:ext>
            </a:extLst>
          </p:cNvPr>
          <p:cNvGrpSpPr/>
          <p:nvPr/>
        </p:nvGrpSpPr>
        <p:grpSpPr>
          <a:xfrm>
            <a:off x="5707450" y="1222309"/>
            <a:ext cx="5679440" cy="1060450"/>
            <a:chOff x="5707450" y="1222309"/>
            <a:chExt cx="5679440" cy="1060450"/>
          </a:xfrm>
        </p:grpSpPr>
        <p:pic>
          <p:nvPicPr>
            <p:cNvPr id="14" name="Picture 13">
              <a:extLst>
                <a:ext uri="{FF2B5EF4-FFF2-40B4-BE49-F238E27FC236}">
                  <a16:creationId xmlns:a16="http://schemas.microsoft.com/office/drawing/2014/main" id="{30BC0802-08FF-8945-1BE5-52C2EA396007}"/>
                </a:ext>
              </a:extLst>
            </p:cNvPr>
            <p:cNvPicPr>
              <a:picLocks noChangeAspect="1"/>
            </p:cNvPicPr>
            <p:nvPr/>
          </p:nvPicPr>
          <p:blipFill>
            <a:blip r:embed="rId3"/>
            <a:stretch>
              <a:fillRect/>
            </a:stretch>
          </p:blipFill>
          <p:spPr>
            <a:xfrm>
              <a:off x="5707450" y="1222309"/>
              <a:ext cx="5679440" cy="1060450"/>
            </a:xfrm>
            <a:prstGeom prst="rect">
              <a:avLst/>
            </a:prstGeom>
          </p:spPr>
        </p:pic>
        <p:grpSp>
          <p:nvGrpSpPr>
            <p:cNvPr id="11" name="Group 2">
              <a:extLst>
                <a:ext uri="{FF2B5EF4-FFF2-40B4-BE49-F238E27FC236}">
                  <a16:creationId xmlns:a16="http://schemas.microsoft.com/office/drawing/2014/main" id="{D5D56CFF-C7CC-C9F7-8D93-304BBEB1EECB}"/>
                </a:ext>
              </a:extLst>
            </p:cNvPr>
            <p:cNvGrpSpPr>
              <a:grpSpLocks/>
            </p:cNvGrpSpPr>
            <p:nvPr/>
          </p:nvGrpSpPr>
          <p:grpSpPr bwMode="auto">
            <a:xfrm>
              <a:off x="5707450" y="1533620"/>
              <a:ext cx="1209675" cy="276225"/>
              <a:chOff x="0" y="0"/>
              <a:chExt cx="12096" cy="2762"/>
            </a:xfrm>
          </p:grpSpPr>
          <p:sp>
            <p:nvSpPr>
              <p:cNvPr id="12" name="Rectangle 1194">
                <a:extLst>
                  <a:ext uri="{FF2B5EF4-FFF2-40B4-BE49-F238E27FC236}">
                    <a16:creationId xmlns:a16="http://schemas.microsoft.com/office/drawing/2014/main" id="{4AA5195F-0404-A065-6B0F-974E3399108F}"/>
                  </a:ext>
                </a:extLst>
              </p:cNvPr>
              <p:cNvSpPr>
                <a:spLocks noChangeArrowheads="1"/>
              </p:cNvSpPr>
              <p:nvPr/>
            </p:nvSpPr>
            <p:spPr bwMode="auto">
              <a:xfrm>
                <a:off x="0" y="0"/>
                <a:ext cx="8001" cy="22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cxnSp>
            <p:nvCxnSpPr>
              <p:cNvPr id="1195" name="Straight Arrow Connector 1195">
                <a:extLst>
                  <a:ext uri="{FF2B5EF4-FFF2-40B4-BE49-F238E27FC236}">
                    <a16:creationId xmlns:a16="http://schemas.microsoft.com/office/drawing/2014/main" id="{A64CAB42-F7F6-CB4C-9F82-D3164F10A663}"/>
                  </a:ext>
                </a:extLst>
              </p:cNvPr>
              <p:cNvCxnSpPr>
                <a:cxnSpLocks noChangeShapeType="1"/>
              </p:cNvCxnSpPr>
              <p:nvPr/>
            </p:nvCxn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13" name="Text Box 1196">
                <a:extLst>
                  <a:ext uri="{FF2B5EF4-FFF2-40B4-BE49-F238E27FC236}">
                    <a16:creationId xmlns:a16="http://schemas.microsoft.com/office/drawing/2014/main" id="{2DF342C6-927A-5E6B-9975-69AC2F34E72C}"/>
                  </a:ext>
                </a:extLst>
              </p:cNvPr>
              <p:cNvSpPr txBox="1">
                <a:spLocks noChangeArrowheads="1"/>
              </p:cNvSpPr>
              <p:nvPr/>
            </p:nvSpPr>
            <p:spPr bwMode="auto">
              <a:xfrm>
                <a:off x="10096" y="285"/>
                <a:ext cx="2000"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grpSp>
        <p:nvGrpSpPr>
          <p:cNvPr id="1170" name="Group 1169">
            <a:extLst>
              <a:ext uri="{FF2B5EF4-FFF2-40B4-BE49-F238E27FC236}">
                <a16:creationId xmlns:a16="http://schemas.microsoft.com/office/drawing/2014/main" id="{03CE5ECA-D05B-FFA1-5375-40070888C430}"/>
              </a:ext>
            </a:extLst>
          </p:cNvPr>
          <p:cNvGrpSpPr/>
          <p:nvPr/>
        </p:nvGrpSpPr>
        <p:grpSpPr>
          <a:xfrm>
            <a:off x="5497265" y="2755805"/>
            <a:ext cx="6049645" cy="2568575"/>
            <a:chOff x="5497265" y="2755805"/>
            <a:chExt cx="6049645" cy="2568575"/>
          </a:xfrm>
        </p:grpSpPr>
        <p:pic>
          <p:nvPicPr>
            <p:cNvPr id="1162" name="Picture 1161">
              <a:extLst>
                <a:ext uri="{FF2B5EF4-FFF2-40B4-BE49-F238E27FC236}">
                  <a16:creationId xmlns:a16="http://schemas.microsoft.com/office/drawing/2014/main" id="{A0190177-DEE5-B746-4412-08072C7EF408}"/>
                </a:ext>
              </a:extLst>
            </p:cNvPr>
            <p:cNvPicPr>
              <a:picLocks noChangeAspect="1"/>
            </p:cNvPicPr>
            <p:nvPr/>
          </p:nvPicPr>
          <p:blipFill>
            <a:blip r:embed="rId4"/>
            <a:srcRect/>
            <a:stretch>
              <a:fillRect/>
            </a:stretch>
          </p:blipFill>
          <p:spPr bwMode="auto">
            <a:xfrm>
              <a:off x="5497265" y="2755805"/>
              <a:ext cx="5889625" cy="2568575"/>
            </a:xfrm>
            <a:prstGeom prst="rect">
              <a:avLst/>
            </a:prstGeom>
            <a:noFill/>
            <a:ln w="9525">
              <a:noFill/>
              <a:miter lim="800000"/>
              <a:headEnd/>
              <a:tailEnd/>
            </a:ln>
          </p:spPr>
        </p:pic>
        <p:grpSp>
          <p:nvGrpSpPr>
            <p:cNvPr id="1165" name="Group 28">
              <a:extLst>
                <a:ext uri="{FF2B5EF4-FFF2-40B4-BE49-F238E27FC236}">
                  <a16:creationId xmlns:a16="http://schemas.microsoft.com/office/drawing/2014/main" id="{1E454221-FCEF-E1D3-5F88-7EC187073CA5}"/>
                </a:ext>
              </a:extLst>
            </p:cNvPr>
            <p:cNvGrpSpPr>
              <a:grpSpLocks/>
            </p:cNvGrpSpPr>
            <p:nvPr/>
          </p:nvGrpSpPr>
          <p:grpSpPr bwMode="auto">
            <a:xfrm>
              <a:off x="5974784" y="3185318"/>
              <a:ext cx="5572126" cy="487363"/>
              <a:chOff x="-40224" y="1834"/>
              <a:chExt cx="56044" cy="5663"/>
            </a:xfrm>
          </p:grpSpPr>
          <p:sp>
            <p:nvSpPr>
              <p:cNvPr id="1166" name="Rectangle 29">
                <a:extLst>
                  <a:ext uri="{FF2B5EF4-FFF2-40B4-BE49-F238E27FC236}">
                    <a16:creationId xmlns:a16="http://schemas.microsoft.com/office/drawing/2014/main" id="{9C2D77CE-B5F7-BB88-946A-7DE9E73C62EC}"/>
                  </a:ext>
                </a:extLst>
              </p:cNvPr>
              <p:cNvSpPr>
                <a:spLocks noChangeArrowheads="1"/>
              </p:cNvSpPr>
              <p:nvPr/>
            </p:nvSpPr>
            <p:spPr bwMode="auto">
              <a:xfrm>
                <a:off x="-40224" y="3840"/>
                <a:ext cx="51455" cy="365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cxnSp>
            <p:nvCxnSpPr>
              <p:cNvPr id="1167" name="Straight Arrow Connector 30">
                <a:extLst>
                  <a:ext uri="{FF2B5EF4-FFF2-40B4-BE49-F238E27FC236}">
                    <a16:creationId xmlns:a16="http://schemas.microsoft.com/office/drawing/2014/main" id="{F6CDCDA2-C4CF-84B7-2F1F-A2EB41BBCAE4}"/>
                  </a:ext>
                </a:extLst>
              </p:cNvPr>
              <p:cNvCxnSpPr>
                <a:cxnSpLocks noChangeShapeType="1"/>
              </p:cNvCxnSpPr>
              <p:nvPr/>
            </p:nvCxnSpPr>
            <p:spPr bwMode="auto">
              <a:xfrm>
                <a:off x="11354" y="3232"/>
                <a:ext cx="2000" cy="96"/>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1168" name="Text Box 31">
                <a:extLst>
                  <a:ext uri="{FF2B5EF4-FFF2-40B4-BE49-F238E27FC236}">
                    <a16:creationId xmlns:a16="http://schemas.microsoft.com/office/drawing/2014/main" id="{2FDBB6A0-F8FF-AC7A-D6EA-EAF7CC5BF7DF}"/>
                  </a:ext>
                </a:extLst>
              </p:cNvPr>
              <p:cNvSpPr txBox="1">
                <a:spLocks noChangeArrowheads="1"/>
              </p:cNvSpPr>
              <p:nvPr/>
            </p:nvSpPr>
            <p:spPr bwMode="auto">
              <a:xfrm>
                <a:off x="13436" y="1834"/>
                <a:ext cx="2384" cy="3339"/>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t>2</a:t>
                </a:r>
              </a:p>
            </p:txBody>
          </p:sp>
        </p:grpSp>
        <p:sp>
          <p:nvSpPr>
            <p:cNvPr id="1169" name="Text Box 19">
              <a:extLst>
                <a:ext uri="{FF2B5EF4-FFF2-40B4-BE49-F238E27FC236}">
                  <a16:creationId xmlns:a16="http://schemas.microsoft.com/office/drawing/2014/main" id="{FCB2DE31-6DF2-B27F-6AC0-E49581AE4379}"/>
                </a:ext>
              </a:extLst>
            </p:cNvPr>
            <p:cNvSpPr txBox="1">
              <a:spLocks noChangeArrowheads="1"/>
            </p:cNvSpPr>
            <p:nvPr/>
          </p:nvSpPr>
          <p:spPr bwMode="auto">
            <a:xfrm>
              <a:off x="6537395" y="3718039"/>
              <a:ext cx="2920642" cy="807779"/>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lvl="1" eaLnBrk="0" fontAlgn="base" hangingPunct="0">
                <a:spcBef>
                  <a:spcPts val="438"/>
                </a:spcBef>
                <a:spcAft>
                  <a:spcPts val="800"/>
                </a:spcAft>
              </a:pPr>
              <a:r>
                <a:rPr kumimoji="0" lang="en-US" altLang="en-US" sz="1000" b="0" i="1" u="none" strike="noStrike" cap="none" normalizeH="0" baseline="0" dirty="0">
                  <a:ln>
                    <a:noFill/>
                  </a:ln>
                  <a:solidFill>
                    <a:srgbClr val="4F6128"/>
                  </a:solidFill>
                  <a:effectLst/>
                  <a:latin typeface="Calibri" panose="020F0502020204030204" pitchFamily="34" charset="0"/>
                </a:rPr>
                <a:t>How to search customer?</a:t>
              </a:r>
              <a:endParaRPr kumimoji="0" lang="en-US" altLang="en-US" sz="1000" b="0" i="1" u="none" strike="noStrike" cap="none" normalizeH="0" baseline="0" dirty="0">
                <a:ln>
                  <a:noFill/>
                </a:ln>
                <a:solidFill>
                  <a:schemeClr val="tx1"/>
                </a:solidFill>
                <a:effectLst/>
                <a:latin typeface="Times New Roman" panose="02020603050405020304" pitchFamily="18"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Type the customer name in the search bar.</a:t>
              </a:r>
              <a:endParaRPr kumimoji="0" lang="en-US" altLang="en-US" sz="1000" b="0" i="0" u="none" strike="noStrike" cap="none" normalizeH="0" baseline="0" dirty="0">
                <a:ln>
                  <a:noFill/>
                </a:ln>
                <a:solidFill>
                  <a:schemeClr val="tx1"/>
                </a:solidFill>
                <a:effectLst/>
              </a:endParaRPr>
            </a:p>
            <a:p>
              <a:pPr marL="685800" marR="0" lvl="1" indent="-228600"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And it will automatically sort out.</a:t>
              </a:r>
            </a:p>
            <a:p>
              <a:pPr marL="685800" marR="0" lvl="1" indent="-228600"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Then click the selected customer.</a:t>
              </a:r>
              <a:endParaRPr kumimoji="0" lang="en-US" altLang="en-US" sz="1800" b="0" i="0" u="none" strike="noStrike" cap="none" normalizeH="0" baseline="0" dirty="0">
                <a:ln>
                  <a:noFill/>
                </a:ln>
                <a:solidFill>
                  <a:schemeClr val="tx1"/>
                </a:solidFill>
                <a:effectLst/>
              </a:endParaRPr>
            </a:p>
          </p:txBody>
        </p:sp>
      </p:grpSp>
    </p:spTree>
    <p:extLst>
      <p:ext uri="{BB962C8B-B14F-4D97-AF65-F5344CB8AC3E}">
        <p14:creationId xmlns:p14="http://schemas.microsoft.com/office/powerpoint/2010/main" val="2158431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 Box 1209">
            <a:extLst>
              <a:ext uri="{FF2B5EF4-FFF2-40B4-BE49-F238E27FC236}">
                <a16:creationId xmlns:a16="http://schemas.microsoft.com/office/drawing/2014/main" id="{4F5C4C4B-FEE4-25C5-466D-F7C19DFEE41D}"/>
              </a:ext>
            </a:extLst>
          </p:cNvPr>
          <p:cNvSpPr txBox="1"/>
          <p:nvPr/>
        </p:nvSpPr>
        <p:spPr>
          <a:xfrm>
            <a:off x="532008" y="1242212"/>
            <a:ext cx="3914825" cy="206847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90170"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a:t>
            </a:r>
            <a:r>
              <a:rPr lang="en-US" sz="12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customer, current date is plotted automatically but if you wish to change the date – click the date picker and select its respective date. </a:t>
            </a:r>
          </a:p>
          <a:p>
            <a:pPr marL="90170" marR="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90170" marR="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there’s any. </a:t>
            </a:r>
          </a:p>
          <a:p>
            <a:pPr marL="90170" marR="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90170"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4.3</a:t>
            </a:r>
            <a:r>
              <a:rPr lang="en-US" sz="12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1210">
            <a:extLst>
              <a:ext uri="{FF2B5EF4-FFF2-40B4-BE49-F238E27FC236}">
                <a16:creationId xmlns:a16="http://schemas.microsoft.com/office/drawing/2014/main" id="{1CFF90FA-1377-7FA9-BD4C-5BD9C78BFC6F}"/>
              </a:ext>
            </a:extLst>
          </p:cNvPr>
          <p:cNvSpPr txBox="1"/>
          <p:nvPr/>
        </p:nvSpPr>
        <p:spPr>
          <a:xfrm>
            <a:off x="189467" y="3613117"/>
            <a:ext cx="4271904" cy="127627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1"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5.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saving the header, you may now record the adjusting entry.</a:t>
            </a:r>
          </a:p>
          <a:p>
            <a:pPr marR="0" lvl="1"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lvl="1"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6.1 </a:t>
            </a:r>
            <a:r>
              <a:rPr lang="en-US" sz="1200" b="1" i="1" dirty="0">
                <a:effectLst/>
                <a:latin typeface="Chivo Light" panose="020B0303030202020804" pitchFamily="34" charset="0"/>
                <a:ea typeface="Times New Roman" panose="02020603050405020304" pitchFamily="18" charset="0"/>
                <a:cs typeface="Times New Roman" panose="02020603050405020304" pitchFamily="18" charset="0"/>
              </a:rPr>
              <a:t>Unpaid</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 This is where unpaid receivables are floated.</a:t>
            </a:r>
            <a:endParaRPr lang="en-US" sz="1100" dirty="0">
              <a:latin typeface="Calibri" panose="020F0502020204030204" pitchFamily="34" charset="0"/>
              <a:ea typeface="Times New Roman" panose="02020603050405020304" pitchFamily="18" charset="0"/>
              <a:cs typeface="Times New Roman" panose="02020603050405020304" pitchFamily="18" charset="0"/>
            </a:endParaRPr>
          </a:p>
          <a:p>
            <a:pPr marR="0" lvl="1" algn="just">
              <a:lnSpc>
                <a:spcPct val="115000"/>
              </a:lnSpc>
              <a:spcBef>
                <a:spcPts val="0"/>
              </a:spcBef>
              <a:spcAft>
                <a:spcPts val="0"/>
              </a:spcAft>
            </a:pPr>
            <a:endParaRPr lang="en-US" sz="1100" b="1" dirty="0">
              <a:solidFill>
                <a:srgbClr val="00863D"/>
              </a:solidFill>
              <a:effectLst/>
              <a:latin typeface="Calibri" panose="020F0502020204030204" pitchFamily="34" charset="0"/>
              <a:ea typeface="Times New Roman" panose="02020603050405020304" pitchFamily="18" charset="0"/>
              <a:cs typeface="Times New Roman" panose="02020603050405020304" pitchFamily="18" charset="0"/>
            </a:endParaRPr>
          </a:p>
          <a:p>
            <a:pPr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3BC2A07-47A0-1365-7C1B-3F52494D221A}"/>
                  </a:ext>
                </a:extLst>
              </p14:cNvPr>
              <p14:cNvContentPartPr/>
              <p14:nvPr/>
            </p14:nvContentPartPr>
            <p14:xfrm>
              <a:off x="13443243" y="3058422"/>
              <a:ext cx="11880" cy="13320"/>
            </p14:xfrm>
          </p:contentPart>
        </mc:Choice>
        <mc:Fallback xmlns="">
          <p:pic>
            <p:nvPicPr>
              <p:cNvPr id="2" name="Ink 1">
                <a:extLst>
                  <a:ext uri="{FF2B5EF4-FFF2-40B4-BE49-F238E27FC236}">
                    <a16:creationId xmlns:a16="http://schemas.microsoft.com/office/drawing/2014/main" id="{03BC2A07-47A0-1365-7C1B-3F52494D221A}"/>
                  </a:ext>
                </a:extLst>
              </p:cNvPr>
              <p:cNvPicPr/>
              <p:nvPr/>
            </p:nvPicPr>
            <p:blipFill>
              <a:blip r:embed="rId6"/>
              <a:stretch>
                <a:fillRect/>
              </a:stretch>
            </p:blipFill>
            <p:spPr>
              <a:xfrm>
                <a:off x="13434603" y="3049422"/>
                <a:ext cx="29520" cy="30960"/>
              </a:xfrm>
              <a:prstGeom prst="rect">
                <a:avLst/>
              </a:prstGeom>
            </p:spPr>
          </p:pic>
        </mc:Fallback>
      </mc:AlternateContent>
      <p:sp>
        <p:nvSpPr>
          <p:cNvPr id="4" name="Slide Number Placeholder 9">
            <a:extLst>
              <a:ext uri="{FF2B5EF4-FFF2-40B4-BE49-F238E27FC236}">
                <a16:creationId xmlns:a16="http://schemas.microsoft.com/office/drawing/2014/main" id="{E4E2A4D2-E43C-008E-B31E-42862381E4B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17" name="TextBox 16">
            <a:extLst>
              <a:ext uri="{FF2B5EF4-FFF2-40B4-BE49-F238E27FC236}">
                <a16:creationId xmlns:a16="http://schemas.microsoft.com/office/drawing/2014/main" id="{B0D05CD5-C74A-40AB-2BA8-E59A05E9310D}"/>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Debit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3092" name="Group 3091">
            <a:extLst>
              <a:ext uri="{FF2B5EF4-FFF2-40B4-BE49-F238E27FC236}">
                <a16:creationId xmlns:a16="http://schemas.microsoft.com/office/drawing/2014/main" id="{ED369AED-15CA-7A02-ED52-6FDFB28EA342}"/>
              </a:ext>
            </a:extLst>
          </p:cNvPr>
          <p:cNvGrpSpPr/>
          <p:nvPr/>
        </p:nvGrpSpPr>
        <p:grpSpPr>
          <a:xfrm>
            <a:off x="5069300" y="1131397"/>
            <a:ext cx="12469812" cy="3779838"/>
            <a:chOff x="-277812" y="0"/>
            <a:chExt cx="12469812" cy="3779838"/>
          </a:xfrm>
        </p:grpSpPr>
        <p:pic>
          <p:nvPicPr>
            <p:cNvPr id="3110" name="Picture 10">
              <a:extLst>
                <a:ext uri="{FF2B5EF4-FFF2-40B4-BE49-F238E27FC236}">
                  <a16:creationId xmlns:a16="http://schemas.microsoft.com/office/drawing/2014/main" id="{DB131870-2C2A-22D2-094A-F4FC137902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457200"/>
              <a:ext cx="6183313" cy="3322638"/>
            </a:xfrm>
            <a:prstGeom prst="rect">
              <a:avLst/>
            </a:prstGeom>
            <a:noFill/>
            <a:extLst>
              <a:ext uri="{909E8E84-426E-40DD-AFC4-6F175D3DCCD1}">
                <a14:hiddenFill xmlns:a14="http://schemas.microsoft.com/office/drawing/2010/main">
                  <a:solidFill>
                    <a:srgbClr val="FFFFFF"/>
                  </a:solidFill>
                </a14:hiddenFill>
              </a:ext>
            </a:extLst>
          </p:spPr>
        </p:pic>
        <p:sp>
          <p:nvSpPr>
            <p:cNvPr id="59" name="Rectangle 39">
              <a:extLst>
                <a:ext uri="{FF2B5EF4-FFF2-40B4-BE49-F238E27FC236}">
                  <a16:creationId xmlns:a16="http://schemas.microsoft.com/office/drawing/2014/main" id="{3B041443-44BD-5836-B11A-EFE9CA5EE00A}"/>
                </a:ext>
              </a:extLst>
            </p:cNvPr>
            <p:cNvSpPr>
              <a:spLocks noChangeArrowheads="1"/>
            </p:cNvSpPr>
            <p:nvPr/>
          </p:nvSpPr>
          <p:spPr bwMode="auto">
            <a:xfrm>
              <a:off x="11113" y="1276350"/>
              <a:ext cx="6126162" cy="1179513"/>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60" name="Rectangle 57">
              <a:extLst>
                <a:ext uri="{FF2B5EF4-FFF2-40B4-BE49-F238E27FC236}">
                  <a16:creationId xmlns:a16="http://schemas.microsoft.com/office/drawing/2014/main" id="{215BDEC2-1245-96E6-C871-967B116F792A}"/>
                </a:ext>
              </a:extLst>
            </p:cNvPr>
            <p:cNvSpPr>
              <a:spLocks noChangeArrowheads="1"/>
            </p:cNvSpPr>
            <p:nvPr/>
          </p:nvSpPr>
          <p:spPr bwMode="auto">
            <a:xfrm>
              <a:off x="115888" y="2774950"/>
              <a:ext cx="6021387" cy="99060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61" name="Text Box 46">
              <a:extLst>
                <a:ext uri="{FF2B5EF4-FFF2-40B4-BE49-F238E27FC236}">
                  <a16:creationId xmlns:a16="http://schemas.microsoft.com/office/drawing/2014/main" id="{1561A7E7-F9B7-CFD9-2ADB-A9BCA144361B}"/>
                </a:ext>
              </a:extLst>
            </p:cNvPr>
            <p:cNvSpPr txBox="1">
              <a:spLocks noChangeArrowheads="1"/>
            </p:cNvSpPr>
            <p:nvPr/>
          </p:nvSpPr>
          <p:spPr bwMode="auto">
            <a:xfrm>
              <a:off x="-277812" y="2506663"/>
              <a:ext cx="7874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Detail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 name="Text Box 58">
              <a:extLst>
                <a:ext uri="{FF2B5EF4-FFF2-40B4-BE49-F238E27FC236}">
                  <a16:creationId xmlns:a16="http://schemas.microsoft.com/office/drawing/2014/main" id="{0713930A-A72C-2A5E-9BA4-F0C21D28DF43}"/>
                </a:ext>
              </a:extLst>
            </p:cNvPr>
            <p:cNvSpPr txBox="1">
              <a:spLocks noChangeArrowheads="1"/>
            </p:cNvSpPr>
            <p:nvPr/>
          </p:nvSpPr>
          <p:spPr bwMode="auto">
            <a:xfrm>
              <a:off x="-127326" y="319405"/>
              <a:ext cx="7874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3" name="Text Box 43">
              <a:extLst>
                <a:ext uri="{FF2B5EF4-FFF2-40B4-BE49-F238E27FC236}">
                  <a16:creationId xmlns:a16="http://schemas.microsoft.com/office/drawing/2014/main" id="{BAF1E708-07C9-5BF8-4053-808BA7C696A6}"/>
                </a:ext>
              </a:extLst>
            </p:cNvPr>
            <p:cNvSpPr txBox="1">
              <a:spLocks noChangeArrowheads="1"/>
            </p:cNvSpPr>
            <p:nvPr/>
          </p:nvSpPr>
          <p:spPr bwMode="auto">
            <a:xfrm>
              <a:off x="5064125" y="1404938"/>
              <a:ext cx="962025"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4.1 to 4.2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72" name="Rectangle 42">
              <a:extLst>
                <a:ext uri="{FF2B5EF4-FFF2-40B4-BE49-F238E27FC236}">
                  <a16:creationId xmlns:a16="http://schemas.microsoft.com/office/drawing/2014/main" id="{4365C840-BF4C-C009-460A-332BB6458EB8}"/>
                </a:ext>
              </a:extLst>
            </p:cNvPr>
            <p:cNvSpPr>
              <a:spLocks noChangeArrowheads="1"/>
            </p:cNvSpPr>
            <p:nvPr/>
          </p:nvSpPr>
          <p:spPr bwMode="auto">
            <a:xfrm>
              <a:off x="4600575" y="1017588"/>
              <a:ext cx="414338" cy="1666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073" name="AutoShape 41">
              <a:extLst>
                <a:ext uri="{FF2B5EF4-FFF2-40B4-BE49-F238E27FC236}">
                  <a16:creationId xmlns:a16="http://schemas.microsoft.com/office/drawing/2014/main" id="{E2BEB454-98D4-DED6-498A-C12B1E214520}"/>
                </a:ext>
              </a:extLst>
            </p:cNvPr>
            <p:cNvSpPr>
              <a:spLocks noChangeShapeType="1"/>
            </p:cNvSpPr>
            <p:nvPr/>
          </p:nvSpPr>
          <p:spPr bwMode="auto">
            <a:xfrm>
              <a:off x="4991100" y="1022350"/>
              <a:ext cx="193675" cy="79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74" name="Text Box 40">
              <a:extLst>
                <a:ext uri="{FF2B5EF4-FFF2-40B4-BE49-F238E27FC236}">
                  <a16:creationId xmlns:a16="http://schemas.microsoft.com/office/drawing/2014/main" id="{91213F4C-2337-2EC2-6475-42719499FE73}"/>
                </a:ext>
              </a:extLst>
            </p:cNvPr>
            <p:cNvSpPr txBox="1">
              <a:spLocks noChangeArrowheads="1"/>
            </p:cNvSpPr>
            <p:nvPr/>
          </p:nvSpPr>
          <p:spPr bwMode="auto">
            <a:xfrm>
              <a:off x="5194300" y="904875"/>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75" name="Rectangle 53">
              <a:extLst>
                <a:ext uri="{FF2B5EF4-FFF2-40B4-BE49-F238E27FC236}">
                  <a16:creationId xmlns:a16="http://schemas.microsoft.com/office/drawing/2014/main" id="{1F38F520-084E-4DEA-79AD-BCE25D63D0DB}"/>
                </a:ext>
              </a:extLst>
            </p:cNvPr>
            <p:cNvSpPr>
              <a:spLocks noChangeArrowheads="1"/>
            </p:cNvSpPr>
            <p:nvPr/>
          </p:nvSpPr>
          <p:spPr bwMode="auto">
            <a:xfrm>
              <a:off x="4378325" y="2498725"/>
              <a:ext cx="815975" cy="2571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076" name="AutoShape 54">
              <a:extLst>
                <a:ext uri="{FF2B5EF4-FFF2-40B4-BE49-F238E27FC236}">
                  <a16:creationId xmlns:a16="http://schemas.microsoft.com/office/drawing/2014/main" id="{A26914C6-2230-35ED-F5FE-3EC1C430EECB}"/>
                </a:ext>
              </a:extLst>
            </p:cNvPr>
            <p:cNvSpPr>
              <a:spLocks noChangeShapeType="1"/>
            </p:cNvSpPr>
            <p:nvPr/>
          </p:nvSpPr>
          <p:spPr bwMode="auto">
            <a:xfrm>
              <a:off x="4600575" y="2774950"/>
              <a:ext cx="95250" cy="11906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78" name="Text Box 55">
              <a:extLst>
                <a:ext uri="{FF2B5EF4-FFF2-40B4-BE49-F238E27FC236}">
                  <a16:creationId xmlns:a16="http://schemas.microsoft.com/office/drawing/2014/main" id="{5F94EF47-274F-1BE8-696D-5743B8377C64}"/>
                </a:ext>
              </a:extLst>
            </p:cNvPr>
            <p:cNvSpPr txBox="1">
              <a:spLocks noChangeArrowheads="1"/>
            </p:cNvSpPr>
            <p:nvPr/>
          </p:nvSpPr>
          <p:spPr bwMode="auto">
            <a:xfrm>
              <a:off x="4516438" y="2894013"/>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79" name="Rectangle 47">
              <a:extLst>
                <a:ext uri="{FF2B5EF4-FFF2-40B4-BE49-F238E27FC236}">
                  <a16:creationId xmlns:a16="http://schemas.microsoft.com/office/drawing/2014/main" id="{FA125372-1E24-CF1B-D31B-A70D707A6903}"/>
                </a:ext>
              </a:extLst>
            </p:cNvPr>
            <p:cNvSpPr>
              <a:spLocks noChangeArrowheads="1"/>
            </p:cNvSpPr>
            <p:nvPr/>
          </p:nvSpPr>
          <p:spPr bwMode="auto">
            <a:xfrm>
              <a:off x="2976563" y="2498725"/>
              <a:ext cx="581025" cy="252413"/>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080" name="Text Box 49">
              <a:extLst>
                <a:ext uri="{FF2B5EF4-FFF2-40B4-BE49-F238E27FC236}">
                  <a16:creationId xmlns:a16="http://schemas.microsoft.com/office/drawing/2014/main" id="{8B18784D-9BED-E6C7-EC3F-DA89EB20FEC3}"/>
                </a:ext>
              </a:extLst>
            </p:cNvPr>
            <p:cNvSpPr txBox="1">
              <a:spLocks noChangeArrowheads="1"/>
            </p:cNvSpPr>
            <p:nvPr/>
          </p:nvSpPr>
          <p:spPr bwMode="auto">
            <a:xfrm>
              <a:off x="3081338" y="2863850"/>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81" name="AutoShape 48">
              <a:extLst>
                <a:ext uri="{FF2B5EF4-FFF2-40B4-BE49-F238E27FC236}">
                  <a16:creationId xmlns:a16="http://schemas.microsoft.com/office/drawing/2014/main" id="{7CC06F51-375C-72E1-2B65-E12DACD224A5}"/>
                </a:ext>
              </a:extLst>
            </p:cNvPr>
            <p:cNvSpPr>
              <a:spLocks noChangeShapeType="1"/>
            </p:cNvSpPr>
            <p:nvPr/>
          </p:nvSpPr>
          <p:spPr bwMode="auto">
            <a:xfrm>
              <a:off x="3136900" y="2752725"/>
              <a:ext cx="95250" cy="11906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82" name="Rectangle 50">
              <a:extLst>
                <a:ext uri="{FF2B5EF4-FFF2-40B4-BE49-F238E27FC236}">
                  <a16:creationId xmlns:a16="http://schemas.microsoft.com/office/drawing/2014/main" id="{3048C7FF-EB22-7AAA-E2A4-92B0BB0E2BC3}"/>
                </a:ext>
              </a:extLst>
            </p:cNvPr>
            <p:cNvSpPr>
              <a:spLocks noChangeArrowheads="1"/>
            </p:cNvSpPr>
            <p:nvPr/>
          </p:nvSpPr>
          <p:spPr bwMode="auto">
            <a:xfrm>
              <a:off x="3556000" y="2525713"/>
              <a:ext cx="722313" cy="2190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083" name="Text Box 52">
              <a:extLst>
                <a:ext uri="{FF2B5EF4-FFF2-40B4-BE49-F238E27FC236}">
                  <a16:creationId xmlns:a16="http://schemas.microsoft.com/office/drawing/2014/main" id="{FCEC41A8-FAB8-3E01-80D7-DEDCBE7807EA}"/>
                </a:ext>
              </a:extLst>
            </p:cNvPr>
            <p:cNvSpPr txBox="1">
              <a:spLocks noChangeArrowheads="1"/>
            </p:cNvSpPr>
            <p:nvPr/>
          </p:nvSpPr>
          <p:spPr bwMode="auto">
            <a:xfrm>
              <a:off x="3806825" y="2863850"/>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84" name="AutoShape 51">
              <a:extLst>
                <a:ext uri="{FF2B5EF4-FFF2-40B4-BE49-F238E27FC236}">
                  <a16:creationId xmlns:a16="http://schemas.microsoft.com/office/drawing/2014/main" id="{33ED3367-8E8A-6A32-4C0D-DED731B7AF4B}"/>
                </a:ext>
              </a:extLst>
            </p:cNvPr>
            <p:cNvSpPr>
              <a:spLocks noChangeShapeType="1"/>
            </p:cNvSpPr>
            <p:nvPr/>
          </p:nvSpPr>
          <p:spPr bwMode="auto">
            <a:xfrm>
              <a:off x="3713163" y="2744788"/>
              <a:ext cx="95250" cy="11906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85" name="Rectangle 56">
              <a:extLst>
                <a:ext uri="{FF2B5EF4-FFF2-40B4-BE49-F238E27FC236}">
                  <a16:creationId xmlns:a16="http://schemas.microsoft.com/office/drawing/2014/main" id="{753BE38B-8CAB-A511-24BA-CC5DA1808394}"/>
                </a:ext>
              </a:extLst>
            </p:cNvPr>
            <p:cNvSpPr>
              <a:spLocks noChangeArrowheads="1"/>
            </p:cNvSpPr>
            <p:nvPr/>
          </p:nvSpPr>
          <p:spPr bwMode="auto">
            <a:xfrm>
              <a:off x="5278438" y="2455863"/>
              <a:ext cx="860425" cy="28416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086" name="AutoShape 44">
              <a:extLst>
                <a:ext uri="{FF2B5EF4-FFF2-40B4-BE49-F238E27FC236}">
                  <a16:creationId xmlns:a16="http://schemas.microsoft.com/office/drawing/2014/main" id="{7D1BCA61-022B-1941-A7CC-64E4A4321BF7}"/>
                </a:ext>
              </a:extLst>
            </p:cNvPr>
            <p:cNvSpPr>
              <a:spLocks noChangeShapeType="1"/>
            </p:cNvSpPr>
            <p:nvPr/>
          </p:nvSpPr>
          <p:spPr bwMode="auto">
            <a:xfrm>
              <a:off x="5430838" y="2744788"/>
              <a:ext cx="95250" cy="11906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87" name="Text Box 45">
              <a:extLst>
                <a:ext uri="{FF2B5EF4-FFF2-40B4-BE49-F238E27FC236}">
                  <a16:creationId xmlns:a16="http://schemas.microsoft.com/office/drawing/2014/main" id="{C91B19D1-23AB-4724-8E12-0403F762EDC2}"/>
                </a:ext>
              </a:extLst>
            </p:cNvPr>
            <p:cNvSpPr txBox="1">
              <a:spLocks noChangeArrowheads="1"/>
            </p:cNvSpPr>
            <p:nvPr/>
          </p:nvSpPr>
          <p:spPr bwMode="auto">
            <a:xfrm>
              <a:off x="5378450" y="2882900"/>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88" name="Rectangle 59">
              <a:extLst>
                <a:ext uri="{FF2B5EF4-FFF2-40B4-BE49-F238E27FC236}">
                  <a16:creationId xmlns:a16="http://schemas.microsoft.com/office/drawing/2014/main" id="{0F50FEC3-630E-34C9-18AF-AF7E4FBD3B0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584" tIns="914112" rIns="685584" bIns="990288" numCol="1" anchor="ctr" anchorCtr="0" compatLnSpc="1">
              <a:prstTxWarp prst="textNoShape">
                <a:avLst/>
              </a:prstTxWarp>
              <a:spAutoFit/>
            </a:bodyPr>
            <a:lstStyle/>
            <a:p>
              <a:endParaRPr lang="en-US"/>
            </a:p>
          </p:txBody>
        </p:sp>
        <p:sp>
          <p:nvSpPr>
            <p:cNvPr id="3089" name="Rectangle 61">
              <a:extLst>
                <a:ext uri="{FF2B5EF4-FFF2-40B4-BE49-F238E27FC236}">
                  <a16:creationId xmlns:a16="http://schemas.microsoft.com/office/drawing/2014/main" id="{59A40805-24F5-60C8-3971-209F1D91317B}"/>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90" name="Rectangle 69">
              <a:extLst>
                <a:ext uri="{FF2B5EF4-FFF2-40B4-BE49-F238E27FC236}">
                  <a16:creationId xmlns:a16="http://schemas.microsoft.com/office/drawing/2014/main" id="{DBA346EE-DC17-3B98-93CD-91CEDDC31665}"/>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091" name="Rectangle 70">
              <a:extLst>
                <a:ext uri="{FF2B5EF4-FFF2-40B4-BE49-F238E27FC236}">
                  <a16:creationId xmlns:a16="http://schemas.microsoft.com/office/drawing/2014/main" id="{F9A617C3-3E33-52E7-DBFC-0B46532EC1D7}"/>
                </a:ext>
              </a:extLst>
            </p:cNvPr>
            <p:cNvSpPr>
              <a:spLocks noChangeArrowheads="1"/>
            </p:cNvSpPr>
            <p:nvPr/>
          </p:nvSpPr>
          <p:spPr bwMode="auto">
            <a:xfrm>
              <a:off x="0" y="37798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PH" altLang="en-US" sz="900" b="0" i="0" u="none" strike="noStrike" cap="none" normalizeH="0" baseline="0">
                  <a:ln>
                    <a:noFill/>
                  </a:ln>
                  <a:solidFill>
                    <a:schemeClr val="tx1"/>
                  </a:solidFill>
                  <a:effectLst/>
                  <a:latin typeface="Chivo Light" panose="020B0303030202020804" pitchFamily="34" charset="0"/>
                  <a:ea typeface="Calibri" panose="020F0502020204030204" pitchFamily="34" charset="0"/>
                  <a:cs typeface="Times New Roman" panose="02020603050405020304" pitchFamily="18" charset="0"/>
                </a:rPr>
              </a:br>
              <a:endParaRPr kumimoji="0" lang="en-PH" altLang="en-US" sz="1800" b="0" i="0" u="none" strike="noStrike" cap="none" normalizeH="0" baseline="0">
                <a:ln>
                  <a:noFill/>
                </a:ln>
                <a:solidFill>
                  <a:schemeClr val="tx1"/>
                </a:solidFill>
                <a:effectLst/>
                <a:latin typeface="Arial" panose="020B0604020202020204" pitchFamily="34" charset="0"/>
              </a:endParaRPr>
            </a:p>
          </p:txBody>
        </p:sp>
      </p:grpSp>
      <p:sp>
        <p:nvSpPr>
          <p:cNvPr id="3093" name="TextBox 3092">
            <a:extLst>
              <a:ext uri="{FF2B5EF4-FFF2-40B4-BE49-F238E27FC236}">
                <a16:creationId xmlns:a16="http://schemas.microsoft.com/office/drawing/2014/main" id="{1DA6BD19-3C83-4489-F7C3-5965479B808C}"/>
              </a:ext>
            </a:extLst>
          </p:cNvPr>
          <p:cNvSpPr txBox="1"/>
          <p:nvPr/>
        </p:nvSpPr>
        <p:spPr>
          <a:xfrm>
            <a:off x="1254088" y="635220"/>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Debit Notes?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E28300FB-0229-1F28-7156-2F21CD55A4B2}"/>
              </a:ext>
            </a:extLst>
          </p:cNvPr>
          <p:cNvSpPr txBox="1"/>
          <p:nvPr/>
        </p:nvSpPr>
        <p:spPr>
          <a:xfrm>
            <a:off x="7197343" y="5016681"/>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Debit Memo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2422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5" name="Text Box 1209">
            <a:extLst>
              <a:ext uri="{FF2B5EF4-FFF2-40B4-BE49-F238E27FC236}">
                <a16:creationId xmlns:a16="http://schemas.microsoft.com/office/drawing/2014/main" id="{4F5C4C4B-FEE4-25C5-466D-F7C19DFEE41D}"/>
              </a:ext>
            </a:extLst>
          </p:cNvPr>
          <p:cNvSpPr txBox="1"/>
          <p:nvPr/>
        </p:nvSpPr>
        <p:spPr>
          <a:xfrm>
            <a:off x="805110" y="2521146"/>
            <a:ext cx="3914825" cy="190626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90170" algn="just">
              <a:lnSpc>
                <a:spcPct val="115000"/>
              </a:lnSpc>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6.2 </a:t>
            </a:r>
            <a:r>
              <a:rPr lang="en-US" sz="1200" b="1" i="1" dirty="0">
                <a:effectLst/>
                <a:latin typeface="Chivo Light" panose="020B0303030202020804" pitchFamily="34" charset="0"/>
                <a:ea typeface="Times New Roman" panose="02020603050405020304" pitchFamily="18" charset="0"/>
                <a:cs typeface="Times New Roman" panose="02020603050405020304" pitchFamily="18" charset="0"/>
              </a:rPr>
              <a:t>Add Account</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 Click this to select other account. By clicking add new account, add the necessary details by following the instructions below.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90170" marR="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90170" marR="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an account, a dialog box will prompt. Enter the details of the account.</a:t>
            </a:r>
          </a:p>
          <a:p>
            <a:pPr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3BC2A07-47A0-1365-7C1B-3F52494D221A}"/>
                  </a:ext>
                </a:extLst>
              </p14:cNvPr>
              <p14:cNvContentPartPr/>
              <p14:nvPr/>
            </p14:nvContentPartPr>
            <p14:xfrm>
              <a:off x="13443243" y="3058422"/>
              <a:ext cx="11880" cy="13320"/>
            </p14:xfrm>
          </p:contentPart>
        </mc:Choice>
        <mc:Fallback xmlns="">
          <p:pic>
            <p:nvPicPr>
              <p:cNvPr id="2" name="Ink 1">
                <a:extLst>
                  <a:ext uri="{FF2B5EF4-FFF2-40B4-BE49-F238E27FC236}">
                    <a16:creationId xmlns:a16="http://schemas.microsoft.com/office/drawing/2014/main" id="{03BC2A07-47A0-1365-7C1B-3F52494D221A}"/>
                  </a:ext>
                </a:extLst>
              </p:cNvPr>
              <p:cNvPicPr/>
              <p:nvPr/>
            </p:nvPicPr>
            <p:blipFill>
              <a:blip r:embed="rId3"/>
              <a:stretch>
                <a:fillRect/>
              </a:stretch>
            </p:blipFill>
            <p:spPr>
              <a:xfrm>
                <a:off x="13433962" y="3049422"/>
                <a:ext cx="30071" cy="30960"/>
              </a:xfrm>
              <a:prstGeom prst="rect">
                <a:avLst/>
              </a:prstGeom>
            </p:spPr>
          </p:pic>
        </mc:Fallback>
      </mc:AlternateContent>
      <p:sp>
        <p:nvSpPr>
          <p:cNvPr id="4" name="Slide Number Placeholder 9">
            <a:extLst>
              <a:ext uri="{FF2B5EF4-FFF2-40B4-BE49-F238E27FC236}">
                <a16:creationId xmlns:a16="http://schemas.microsoft.com/office/drawing/2014/main" id="{E4E2A4D2-E43C-008E-B31E-42862381E4B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17" name="TextBox 16">
            <a:extLst>
              <a:ext uri="{FF2B5EF4-FFF2-40B4-BE49-F238E27FC236}">
                <a16:creationId xmlns:a16="http://schemas.microsoft.com/office/drawing/2014/main" id="{B0D05CD5-C74A-40AB-2BA8-E59A05E9310D}"/>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Debit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3093" name="TextBox 3092">
            <a:extLst>
              <a:ext uri="{FF2B5EF4-FFF2-40B4-BE49-F238E27FC236}">
                <a16:creationId xmlns:a16="http://schemas.microsoft.com/office/drawing/2014/main" id="{1DA6BD19-3C83-4489-F7C3-5965479B808C}"/>
              </a:ext>
            </a:extLst>
          </p:cNvPr>
          <p:cNvSpPr txBox="1"/>
          <p:nvPr/>
        </p:nvSpPr>
        <p:spPr>
          <a:xfrm>
            <a:off x="1254088" y="635220"/>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Debit Notes?</a:t>
            </a:r>
            <a:endParaRPr lang="en-US" sz="2000" dirty="0">
              <a:solidFill>
                <a:srgbClr val="007434"/>
              </a:solidFill>
              <a:latin typeface="Calibri Light" panose="020F0302020204030204" pitchFamily="34" charset="0"/>
              <a:cs typeface="Calibri Light" panose="020F0302020204030204" pitchFamily="34" charset="0"/>
            </a:endParaRPr>
          </a:p>
        </p:txBody>
      </p:sp>
      <p:grpSp>
        <p:nvGrpSpPr>
          <p:cNvPr id="14" name="Group 13">
            <a:extLst>
              <a:ext uri="{FF2B5EF4-FFF2-40B4-BE49-F238E27FC236}">
                <a16:creationId xmlns:a16="http://schemas.microsoft.com/office/drawing/2014/main" id="{3BADD704-8982-0636-E484-AE7F1B5F4BB1}"/>
              </a:ext>
            </a:extLst>
          </p:cNvPr>
          <p:cNvGrpSpPr/>
          <p:nvPr/>
        </p:nvGrpSpPr>
        <p:grpSpPr>
          <a:xfrm>
            <a:off x="5660136" y="-523442"/>
            <a:ext cx="12192000" cy="3748088"/>
            <a:chOff x="0" y="0"/>
            <a:chExt cx="12192000" cy="3748088"/>
          </a:xfrm>
        </p:grpSpPr>
        <p:pic>
          <p:nvPicPr>
            <p:cNvPr id="5128" name="Picture 1300">
              <a:extLst>
                <a:ext uri="{FF2B5EF4-FFF2-40B4-BE49-F238E27FC236}">
                  <a16:creationId xmlns:a16="http://schemas.microsoft.com/office/drawing/2014/main" id="{D0E692AB-B037-9B0B-C5A6-1DDC54FA92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25" y="663575"/>
              <a:ext cx="5986463" cy="2184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7">
              <a:extLst>
                <a:ext uri="{FF2B5EF4-FFF2-40B4-BE49-F238E27FC236}">
                  <a16:creationId xmlns:a16="http://schemas.microsoft.com/office/drawing/2014/main" id="{698350F0-1273-EEDC-AFF3-05CC6C09C981}"/>
                </a:ext>
              </a:extLst>
            </p:cNvPr>
            <p:cNvSpPr>
              <a:spLocks noChangeArrowheads="1"/>
            </p:cNvSpPr>
            <p:nvPr/>
          </p:nvSpPr>
          <p:spPr bwMode="auto">
            <a:xfrm>
              <a:off x="3566527" y="1472005"/>
              <a:ext cx="714566" cy="2254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pic>
          <p:nvPicPr>
            <p:cNvPr id="5124" name="Picture 1301">
              <a:extLst>
                <a:ext uri="{FF2B5EF4-FFF2-40B4-BE49-F238E27FC236}">
                  <a16:creationId xmlns:a16="http://schemas.microsoft.com/office/drawing/2014/main" id="{2216BEB3-EC29-7129-D895-826BB8F5E2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400" y="1770063"/>
              <a:ext cx="3717925" cy="1978025"/>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3">
              <a:extLst>
                <a:ext uri="{FF2B5EF4-FFF2-40B4-BE49-F238E27FC236}">
                  <a16:creationId xmlns:a16="http://schemas.microsoft.com/office/drawing/2014/main" id="{E3B684EC-2706-CAB4-4B1B-A8A1EEF6FC56}"/>
                </a:ext>
              </a:extLst>
            </p:cNvPr>
            <p:cNvSpPr>
              <a:spLocks noChangeArrowheads="1"/>
            </p:cNvSpPr>
            <p:nvPr/>
          </p:nvSpPr>
          <p:spPr bwMode="auto">
            <a:xfrm>
              <a:off x="3017838" y="1525588"/>
              <a:ext cx="546100" cy="546100"/>
            </a:xfrm>
            <a:prstGeom prst="curvedRightArrow">
              <a:avLst>
                <a:gd name="adj1" fmla="val 25000"/>
                <a:gd name="adj2" fmla="val 50000"/>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0" name="Text Box 2">
              <a:extLst>
                <a:ext uri="{FF2B5EF4-FFF2-40B4-BE49-F238E27FC236}">
                  <a16:creationId xmlns:a16="http://schemas.microsoft.com/office/drawing/2014/main" id="{9D7C9CF4-F455-F195-CB5A-832C248F2E94}"/>
                </a:ext>
              </a:extLst>
            </p:cNvPr>
            <p:cNvSpPr txBox="1">
              <a:spLocks noChangeArrowheads="1"/>
            </p:cNvSpPr>
            <p:nvPr/>
          </p:nvSpPr>
          <p:spPr bwMode="auto">
            <a:xfrm>
              <a:off x="840634" y="2378075"/>
              <a:ext cx="2816225" cy="666513"/>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R="0" lvl="0" indent="179388" algn="l" defTabSz="914400" rtl="0" eaLnBrk="0" fontAlgn="base" latinLnBrk="0" hangingPunct="0">
                <a:lnSpc>
                  <a:spcPct val="100000"/>
                </a:lnSpc>
                <a:spcBef>
                  <a:spcPct val="0"/>
                </a:spcBef>
                <a:spcAft>
                  <a:spcPct val="0"/>
                </a:spcAft>
                <a:buClrTx/>
                <a:buSzTx/>
                <a:buFontTx/>
                <a:buNone/>
                <a:tabLst>
                  <a:tab pos="203200" algn="l"/>
                </a:tabLst>
              </a:pPr>
              <a:r>
                <a:rPr kumimoji="0" lang="en-PH" altLang="en-US" sz="1000" b="0" i="1" u="none" strike="noStrike" cap="none" normalizeH="0" baseline="0" dirty="0">
                  <a:ln>
                    <a:noFill/>
                  </a:ln>
                  <a:solidFill>
                    <a:srgbClr val="4F6128"/>
                  </a:solidFill>
                  <a:effectLst/>
                  <a:latin typeface="+mn-lt"/>
                  <a:ea typeface="Calibri" panose="020F0502020204030204" pitchFamily="34" charset="0"/>
                  <a:cs typeface="Times New Roman" panose="02020603050405020304" pitchFamily="18" charset="0"/>
                </a:rPr>
                <a:t>How to search an account?		</a:t>
              </a:r>
              <a:endParaRPr kumimoji="0" lang="en-PH" altLang="en-US" sz="400" b="0" i="0" u="none" strike="noStrike" cap="none" normalizeH="0" baseline="0" dirty="0">
                <a:ln>
                  <a:noFill/>
                </a:ln>
                <a:solidFill>
                  <a:schemeClr val="tx1"/>
                </a:solidFill>
                <a:effectLst/>
                <a:latin typeface="+mn-lt"/>
              </a:endParaRPr>
            </a:p>
            <a:p>
              <a:pPr marL="536575"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Type the account name in the search bar.</a:t>
              </a:r>
              <a:endParaRPr kumimoji="0" lang="en-PH" altLang="en-US" sz="400" b="0" i="0" u="none" strike="noStrike" cap="none" normalizeH="0" baseline="0" dirty="0">
                <a:ln>
                  <a:noFill/>
                </a:ln>
                <a:solidFill>
                  <a:schemeClr val="tx1"/>
                </a:solidFill>
                <a:effectLst/>
                <a:latin typeface="+mn-lt"/>
              </a:endParaRPr>
            </a:p>
            <a:p>
              <a:pPr marL="536575"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And it will automatically sort out.</a:t>
              </a:r>
              <a:endParaRPr kumimoji="0" lang="en-PH" altLang="en-US" sz="400" b="0" i="0" u="none" strike="noStrike" cap="none" normalizeH="0" baseline="0" dirty="0">
                <a:ln>
                  <a:noFill/>
                </a:ln>
                <a:solidFill>
                  <a:schemeClr val="tx1"/>
                </a:solidFill>
                <a:effectLst/>
                <a:latin typeface="+mn-lt"/>
              </a:endParaRPr>
            </a:p>
            <a:p>
              <a:pPr marL="536575"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Then click the selected account.</a:t>
              </a:r>
              <a:endParaRPr kumimoji="0" lang="en-PH" altLang="en-US" sz="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tab pos="203200" algn="l"/>
                </a:tabLst>
              </a:pPr>
              <a:endParaRPr kumimoji="0" lang="en-PH" altLang="en-US" sz="1800" b="0" i="0" u="none" strike="noStrike" cap="none" normalizeH="0" baseline="0" dirty="0">
                <a:ln>
                  <a:noFill/>
                </a:ln>
                <a:solidFill>
                  <a:schemeClr val="tx1"/>
                </a:solidFill>
                <a:effectLst/>
                <a:latin typeface="+mn-lt"/>
              </a:endParaRPr>
            </a:p>
          </p:txBody>
        </p:sp>
        <p:sp>
          <p:nvSpPr>
            <p:cNvPr id="11" name="Rectangle 1">
              <a:extLst>
                <a:ext uri="{FF2B5EF4-FFF2-40B4-BE49-F238E27FC236}">
                  <a16:creationId xmlns:a16="http://schemas.microsoft.com/office/drawing/2014/main" id="{924BC9EA-7D1B-8826-00CA-02C7F74D2228}"/>
                </a:ext>
              </a:extLst>
            </p:cNvPr>
            <p:cNvSpPr>
              <a:spLocks noChangeArrowheads="1"/>
            </p:cNvSpPr>
            <p:nvPr/>
          </p:nvSpPr>
          <p:spPr bwMode="auto">
            <a:xfrm>
              <a:off x="501650" y="1971675"/>
              <a:ext cx="3551238" cy="3556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12" name="Rectangle 9">
              <a:extLst>
                <a:ext uri="{FF2B5EF4-FFF2-40B4-BE49-F238E27FC236}">
                  <a16:creationId xmlns:a16="http://schemas.microsoft.com/office/drawing/2014/main" id="{24256550-9DB9-1F1E-7E7A-4794E4043EE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12">
              <a:extLst>
                <a:ext uri="{FF2B5EF4-FFF2-40B4-BE49-F238E27FC236}">
                  <a16:creationId xmlns:a16="http://schemas.microsoft.com/office/drawing/2014/main" id="{3DBA93B9-4B3E-3E8A-A424-93844BC80C85}"/>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grpSp>
        <p:nvGrpSpPr>
          <p:cNvPr id="15" name="Group 14">
            <a:extLst>
              <a:ext uri="{FF2B5EF4-FFF2-40B4-BE49-F238E27FC236}">
                <a16:creationId xmlns:a16="http://schemas.microsoft.com/office/drawing/2014/main" id="{30B4AE33-8F46-389E-41B1-CC33D26A12A1}"/>
              </a:ext>
            </a:extLst>
          </p:cNvPr>
          <p:cNvGrpSpPr/>
          <p:nvPr/>
        </p:nvGrpSpPr>
        <p:grpSpPr>
          <a:xfrm>
            <a:off x="5660136" y="3138683"/>
            <a:ext cx="12192000" cy="3497263"/>
            <a:chOff x="0" y="0"/>
            <a:chExt cx="12192000" cy="3497263"/>
          </a:xfrm>
        </p:grpSpPr>
        <p:pic>
          <p:nvPicPr>
            <p:cNvPr id="16" name="Picture 1302">
              <a:extLst>
                <a:ext uri="{FF2B5EF4-FFF2-40B4-BE49-F238E27FC236}">
                  <a16:creationId xmlns:a16="http://schemas.microsoft.com/office/drawing/2014/main" id="{93F21480-1D0B-CF37-19B2-C97AB0EE70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266" y="219075"/>
              <a:ext cx="5911850" cy="3278188"/>
            </a:xfrm>
            <a:prstGeom prst="rect">
              <a:avLst/>
            </a:prstGeom>
            <a:noFill/>
            <a:extLst>
              <a:ext uri="{909E8E84-426E-40DD-AFC4-6F175D3DCCD1}">
                <a14:hiddenFill xmlns:a14="http://schemas.microsoft.com/office/drawing/2010/main">
                  <a:solidFill>
                    <a:srgbClr val="FFFFFF"/>
                  </a:solidFill>
                </a14:hiddenFill>
              </a:ext>
            </a:extLst>
          </p:spPr>
        </p:pic>
        <p:sp>
          <p:nvSpPr>
            <p:cNvPr id="18" name="AutoShape 17">
              <a:extLst>
                <a:ext uri="{FF2B5EF4-FFF2-40B4-BE49-F238E27FC236}">
                  <a16:creationId xmlns:a16="http://schemas.microsoft.com/office/drawing/2014/main" id="{F3D0155D-1134-6548-6285-83D69F10971B}"/>
                </a:ext>
              </a:extLst>
            </p:cNvPr>
            <p:cNvSpPr>
              <a:spLocks noChangeShapeType="1"/>
            </p:cNvSpPr>
            <p:nvPr/>
          </p:nvSpPr>
          <p:spPr bwMode="auto">
            <a:xfrm>
              <a:off x="3330509" y="2430462"/>
              <a:ext cx="193675" cy="79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Text Box 20">
              <a:extLst>
                <a:ext uri="{FF2B5EF4-FFF2-40B4-BE49-F238E27FC236}">
                  <a16:creationId xmlns:a16="http://schemas.microsoft.com/office/drawing/2014/main" id="{13FC3379-AE24-3BA4-0D6E-87692D3EEDB7}"/>
                </a:ext>
              </a:extLst>
            </p:cNvPr>
            <p:cNvSpPr txBox="1">
              <a:spLocks noChangeArrowheads="1"/>
            </p:cNvSpPr>
            <p:nvPr/>
          </p:nvSpPr>
          <p:spPr bwMode="auto">
            <a:xfrm>
              <a:off x="4070667" y="955919"/>
              <a:ext cx="1935566" cy="1862138"/>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179388" marR="0" lvl="0" algn="l" defTabSz="914400" rtl="0" eaLnBrk="0" fontAlgn="base" latinLnBrk="0" hangingPunct="0">
                <a:lnSpc>
                  <a:spcPct val="100000"/>
                </a:lnSpc>
                <a:spcBef>
                  <a:spcPct val="0"/>
                </a:spcBef>
                <a:spcAft>
                  <a:spcPct val="0"/>
                </a:spcAft>
                <a:buClrTx/>
                <a:buSzTx/>
                <a:buFontTx/>
                <a:buNone/>
                <a:tabLst>
                  <a:tab pos="203200" algn="l"/>
                </a:tabLst>
              </a:pPr>
              <a:r>
                <a:rPr kumimoji="0" lang="en-PH" altLang="en-US" sz="1000" b="0" i="1" u="none" strike="noStrike" cap="none" normalizeH="0" baseline="0" dirty="0">
                  <a:ln>
                    <a:noFill/>
                  </a:ln>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add details per account?		</a:t>
              </a:r>
              <a:endParaRPr kumimoji="0" lang="en-PH" altLang="en-US" sz="400" b="0" i="0" u="none" strike="noStrike" cap="none" normalizeH="0" baseline="0" dirty="0">
                <a:ln>
                  <a:noFill/>
                </a:ln>
                <a:solidFill>
                  <a:schemeClr val="tx1"/>
                </a:solidFill>
                <a:effectLst/>
              </a:endParaRPr>
            </a:p>
            <a:p>
              <a:pPr marL="228600" marR="0" lvl="0" indent="34925" algn="l" defTabSz="914400" rtl="0" eaLnBrk="0" fontAlgn="base" latinLnBrk="0" hangingPunct="0">
                <a:lnSpc>
                  <a:spcPct val="100000"/>
                </a:lnSpc>
                <a:spcBef>
                  <a:spcPct val="0"/>
                </a:spcBef>
                <a:spcAft>
                  <a:spcPct val="0"/>
                </a:spcAft>
                <a:buClrTx/>
                <a:buSzTx/>
                <a:buFont typeface="+mj-lt"/>
                <a:buAutoNum type="arabicPeriod"/>
                <a:tabLst>
                  <a:tab pos="442913" algn="l"/>
                </a:tabLst>
              </a:pPr>
              <a:r>
                <a:rPr kumimoji="0" lang="en-PH" altLang="en-US" sz="800" b="0"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Click the date picker if you want to change the date.</a:t>
              </a:r>
              <a:endParaRPr lang="en-PH" altLang="en-US" sz="400" dirty="0">
                <a:latin typeface="+mn-lt"/>
              </a:endParaRPr>
            </a:p>
            <a:p>
              <a:pPr marL="228600" marR="0" lvl="0" indent="34925" algn="l" defTabSz="914400" rtl="0" eaLnBrk="0" fontAlgn="base" latinLnBrk="0" hangingPunct="0">
                <a:lnSpc>
                  <a:spcPct val="100000"/>
                </a:lnSpc>
                <a:spcBef>
                  <a:spcPct val="0"/>
                </a:spcBef>
                <a:spcAft>
                  <a:spcPct val="0"/>
                </a:spcAft>
                <a:buClrTx/>
                <a:buSzTx/>
                <a:buFont typeface="+mj-lt"/>
                <a:buAutoNum type="arabicPeriod"/>
                <a:tabLst>
                  <a:tab pos="442913" algn="l"/>
                </a:tabLst>
              </a:pPr>
              <a:r>
                <a:rPr kumimoji="0" lang="en-PH" altLang="en-US" sz="800" b="0"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Add amount in debit or credit field or </a:t>
              </a:r>
              <a:endParaRPr lang="en-PH" altLang="en-US" sz="400" dirty="0">
                <a:latin typeface="+mn-lt"/>
              </a:endParaRPr>
            </a:p>
            <a:p>
              <a:pPr marL="228600" marR="0" lvl="0" indent="34925" algn="l" defTabSz="914400" rtl="0" eaLnBrk="0" fontAlgn="base" latinLnBrk="0" hangingPunct="0">
                <a:lnSpc>
                  <a:spcPct val="100000"/>
                </a:lnSpc>
                <a:spcBef>
                  <a:spcPct val="0"/>
                </a:spcBef>
                <a:spcAft>
                  <a:spcPct val="0"/>
                </a:spcAft>
                <a:buClrTx/>
                <a:buSzTx/>
                <a:buFont typeface="+mj-lt"/>
                <a:buAutoNum type="arabicPeriod"/>
                <a:tabLst>
                  <a:tab pos="442913" algn="l"/>
                </a:tabLst>
              </a:pPr>
              <a:r>
                <a:rPr kumimoji="0" lang="en-PH" altLang="en-US" sz="800" b="0"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If you want to automatically copy the total amount of accounts plotted in the main form, click balance button.</a:t>
              </a:r>
              <a:endParaRPr kumimoji="0" lang="en-PH" altLang="en-US" sz="400" b="0" i="0" u="none" strike="noStrike" cap="none" normalizeH="0" baseline="0" dirty="0">
                <a:ln>
                  <a:noFill/>
                </a:ln>
                <a:solidFill>
                  <a:schemeClr val="tx1"/>
                </a:solidFill>
                <a:effectLst/>
                <a:latin typeface="+mn-lt"/>
              </a:endParaRPr>
            </a:p>
            <a:p>
              <a:pPr marL="228600" marR="0" lvl="0" indent="34925" algn="l" defTabSz="914400" rtl="0" eaLnBrk="0" fontAlgn="base" latinLnBrk="0" hangingPunct="0">
                <a:lnSpc>
                  <a:spcPct val="100000"/>
                </a:lnSpc>
                <a:spcBef>
                  <a:spcPct val="0"/>
                </a:spcBef>
                <a:spcAft>
                  <a:spcPct val="0"/>
                </a:spcAft>
                <a:buClrTx/>
                <a:buSzTx/>
                <a:buFont typeface="+mj-lt"/>
                <a:buAutoNum type="arabicPeriod"/>
                <a:tabLst>
                  <a:tab pos="442913" algn="l"/>
                </a:tabLst>
              </a:pPr>
              <a:r>
                <a:rPr kumimoji="0" lang="en-PH" altLang="en-US" sz="800" b="0"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Add notes, if there’s any</a:t>
              </a:r>
              <a:endParaRPr kumimoji="0" lang="en-PH" altLang="en-US" sz="400" b="0" i="0" u="none" strike="noStrike" cap="none" normalizeH="0" baseline="0" dirty="0">
                <a:ln>
                  <a:noFill/>
                </a:ln>
                <a:solidFill>
                  <a:schemeClr val="tx1"/>
                </a:solidFill>
                <a:effectLst/>
                <a:latin typeface="+mn-lt"/>
              </a:endParaRPr>
            </a:p>
            <a:p>
              <a:pPr marL="228600" marR="0" lvl="0" indent="34925" algn="l" defTabSz="914400" rtl="0" eaLnBrk="0" fontAlgn="base" latinLnBrk="0" hangingPunct="0">
                <a:lnSpc>
                  <a:spcPct val="100000"/>
                </a:lnSpc>
                <a:spcBef>
                  <a:spcPct val="0"/>
                </a:spcBef>
                <a:spcAft>
                  <a:spcPct val="0"/>
                </a:spcAft>
                <a:buClrTx/>
                <a:buSzTx/>
                <a:buFont typeface="+mj-lt"/>
                <a:buAutoNum type="arabicPeriod"/>
                <a:tabLst>
                  <a:tab pos="442913" algn="l"/>
                </a:tabLst>
              </a:pPr>
              <a:r>
                <a:rPr kumimoji="0" lang="en-PH" altLang="en-US" sz="800" b="0"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Once done, click add to cart or add/save button.</a:t>
              </a:r>
              <a:endParaRPr kumimoji="0" lang="en-PH" altLang="en-US" sz="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tab pos="203200" algn="l"/>
                </a:tabLst>
              </a:pP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19">
              <a:extLst>
                <a:ext uri="{FF2B5EF4-FFF2-40B4-BE49-F238E27FC236}">
                  <a16:creationId xmlns:a16="http://schemas.microsoft.com/office/drawing/2014/main" id="{F2E214CC-231B-0EE0-077A-2107B1913927}"/>
                </a:ext>
              </a:extLst>
            </p:cNvPr>
            <p:cNvSpPr>
              <a:spLocks noChangeArrowheads="1"/>
            </p:cNvSpPr>
            <p:nvPr/>
          </p:nvSpPr>
          <p:spPr bwMode="auto">
            <a:xfrm>
              <a:off x="1629523" y="1301513"/>
              <a:ext cx="1687513" cy="2381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23" name="Text Box 5">
              <a:extLst>
                <a:ext uri="{FF2B5EF4-FFF2-40B4-BE49-F238E27FC236}">
                  <a16:creationId xmlns:a16="http://schemas.microsoft.com/office/drawing/2014/main" id="{ABAC195C-F74E-2CE3-0C28-A4675F879649}"/>
                </a:ext>
              </a:extLst>
            </p:cNvPr>
            <p:cNvSpPr txBox="1">
              <a:spLocks noChangeArrowheads="1"/>
            </p:cNvSpPr>
            <p:nvPr/>
          </p:nvSpPr>
          <p:spPr bwMode="auto">
            <a:xfrm>
              <a:off x="3499915" y="1194062"/>
              <a:ext cx="474663"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Rectangle 16">
              <a:extLst>
                <a:ext uri="{FF2B5EF4-FFF2-40B4-BE49-F238E27FC236}">
                  <a16:creationId xmlns:a16="http://schemas.microsoft.com/office/drawing/2014/main" id="{681B9EB7-A920-D30D-BB7E-46E763DB9050}"/>
                </a:ext>
              </a:extLst>
            </p:cNvPr>
            <p:cNvSpPr>
              <a:spLocks noChangeArrowheads="1"/>
            </p:cNvSpPr>
            <p:nvPr/>
          </p:nvSpPr>
          <p:spPr bwMode="auto">
            <a:xfrm>
              <a:off x="1979632" y="2677784"/>
              <a:ext cx="495300" cy="1905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25" name="AutoShape 15">
              <a:extLst>
                <a:ext uri="{FF2B5EF4-FFF2-40B4-BE49-F238E27FC236}">
                  <a16:creationId xmlns:a16="http://schemas.microsoft.com/office/drawing/2014/main" id="{AF123834-44AF-FAC8-BBD6-C6BD2DC729B0}"/>
                </a:ext>
              </a:extLst>
            </p:cNvPr>
            <p:cNvSpPr>
              <a:spLocks noChangeShapeType="1"/>
            </p:cNvSpPr>
            <p:nvPr/>
          </p:nvSpPr>
          <p:spPr bwMode="auto">
            <a:xfrm rot="5400000">
              <a:off x="2280258" y="2909559"/>
              <a:ext cx="57150" cy="0"/>
            </a:xfrm>
            <a:prstGeom prst="bentConnector3">
              <a:avLst>
                <a:gd name="adj1" fmla="val 49449"/>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Text Box 14">
              <a:extLst>
                <a:ext uri="{FF2B5EF4-FFF2-40B4-BE49-F238E27FC236}">
                  <a16:creationId xmlns:a16="http://schemas.microsoft.com/office/drawing/2014/main" id="{7334C659-8C3B-CA6A-D3C0-3EEDF61FE13C}"/>
                </a:ext>
              </a:extLst>
            </p:cNvPr>
            <p:cNvSpPr txBox="1">
              <a:spLocks noChangeArrowheads="1"/>
            </p:cNvSpPr>
            <p:nvPr/>
          </p:nvSpPr>
          <p:spPr bwMode="auto">
            <a:xfrm>
              <a:off x="2000270" y="2939721"/>
              <a:ext cx="474662"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3">
              <a:extLst>
                <a:ext uri="{FF2B5EF4-FFF2-40B4-BE49-F238E27FC236}">
                  <a16:creationId xmlns:a16="http://schemas.microsoft.com/office/drawing/2014/main" id="{40B3F19B-A2D4-E56B-C68D-C7ECD61F9CBB}"/>
                </a:ext>
              </a:extLst>
            </p:cNvPr>
            <p:cNvSpPr>
              <a:spLocks noChangeArrowheads="1"/>
            </p:cNvSpPr>
            <p:nvPr/>
          </p:nvSpPr>
          <p:spPr bwMode="auto">
            <a:xfrm>
              <a:off x="1626578" y="2330221"/>
              <a:ext cx="1714500" cy="2063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29" name="AutoShape 3">
              <a:extLst>
                <a:ext uri="{FF2B5EF4-FFF2-40B4-BE49-F238E27FC236}">
                  <a16:creationId xmlns:a16="http://schemas.microsoft.com/office/drawing/2014/main" id="{B98473DB-758E-F77C-495B-862357102A0F}"/>
                </a:ext>
              </a:extLst>
            </p:cNvPr>
            <p:cNvSpPr>
              <a:spLocks noChangeShapeType="1"/>
            </p:cNvSpPr>
            <p:nvPr/>
          </p:nvSpPr>
          <p:spPr bwMode="auto">
            <a:xfrm>
              <a:off x="3312450" y="2120900"/>
              <a:ext cx="193675" cy="79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Text Box 2">
              <a:extLst>
                <a:ext uri="{FF2B5EF4-FFF2-40B4-BE49-F238E27FC236}">
                  <a16:creationId xmlns:a16="http://schemas.microsoft.com/office/drawing/2014/main" id="{00126EFE-C786-D8F1-DAA8-B208508772B4}"/>
                </a:ext>
              </a:extLst>
            </p:cNvPr>
            <p:cNvSpPr txBox="1">
              <a:spLocks noChangeArrowheads="1"/>
            </p:cNvSpPr>
            <p:nvPr/>
          </p:nvSpPr>
          <p:spPr bwMode="auto">
            <a:xfrm>
              <a:off x="3506125" y="1963738"/>
              <a:ext cx="474663"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 name="Rectangle 18">
              <a:extLst>
                <a:ext uri="{FF2B5EF4-FFF2-40B4-BE49-F238E27FC236}">
                  <a16:creationId xmlns:a16="http://schemas.microsoft.com/office/drawing/2014/main" id="{1AB186BE-C41D-F40B-22B6-2FFF69EFD6E3}"/>
                </a:ext>
              </a:extLst>
            </p:cNvPr>
            <p:cNvSpPr>
              <a:spLocks noChangeArrowheads="1"/>
            </p:cNvSpPr>
            <p:nvPr/>
          </p:nvSpPr>
          <p:spPr bwMode="auto">
            <a:xfrm>
              <a:off x="1629607" y="1912938"/>
              <a:ext cx="1697037" cy="3968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2" name="AutoShape 4">
              <a:extLst>
                <a:ext uri="{FF2B5EF4-FFF2-40B4-BE49-F238E27FC236}">
                  <a16:creationId xmlns:a16="http://schemas.microsoft.com/office/drawing/2014/main" id="{5920D6EE-F70C-8E77-3DD7-7EB879C36B58}"/>
                </a:ext>
              </a:extLst>
            </p:cNvPr>
            <p:cNvSpPr>
              <a:spLocks noChangeShapeType="1"/>
            </p:cNvSpPr>
            <p:nvPr/>
          </p:nvSpPr>
          <p:spPr bwMode="auto">
            <a:xfrm>
              <a:off x="3314178" y="1375037"/>
              <a:ext cx="193675" cy="793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Text Box 12">
              <a:extLst>
                <a:ext uri="{FF2B5EF4-FFF2-40B4-BE49-F238E27FC236}">
                  <a16:creationId xmlns:a16="http://schemas.microsoft.com/office/drawing/2014/main" id="{9BBDF4CC-27E2-7365-A46B-371ED22687E3}"/>
                </a:ext>
              </a:extLst>
            </p:cNvPr>
            <p:cNvSpPr txBox="1">
              <a:spLocks noChangeArrowheads="1"/>
            </p:cNvSpPr>
            <p:nvPr/>
          </p:nvSpPr>
          <p:spPr bwMode="auto">
            <a:xfrm>
              <a:off x="3516246" y="2336800"/>
              <a:ext cx="474663"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4" name="Rectangle 11">
              <a:extLst>
                <a:ext uri="{FF2B5EF4-FFF2-40B4-BE49-F238E27FC236}">
                  <a16:creationId xmlns:a16="http://schemas.microsoft.com/office/drawing/2014/main" id="{F1676B0C-CF89-360F-4D17-42BAAA99D72D}"/>
                </a:ext>
              </a:extLst>
            </p:cNvPr>
            <p:cNvSpPr>
              <a:spLocks noChangeArrowheads="1"/>
            </p:cNvSpPr>
            <p:nvPr/>
          </p:nvSpPr>
          <p:spPr bwMode="auto">
            <a:xfrm>
              <a:off x="2483906" y="2677784"/>
              <a:ext cx="431511" cy="2032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5" name="AutoShape 10">
              <a:extLst>
                <a:ext uri="{FF2B5EF4-FFF2-40B4-BE49-F238E27FC236}">
                  <a16:creationId xmlns:a16="http://schemas.microsoft.com/office/drawing/2014/main" id="{87682D56-66A8-5E29-A582-F6E1252EAB2C}"/>
                </a:ext>
              </a:extLst>
            </p:cNvPr>
            <p:cNvSpPr>
              <a:spLocks noChangeShapeType="1"/>
            </p:cNvSpPr>
            <p:nvPr/>
          </p:nvSpPr>
          <p:spPr bwMode="auto">
            <a:xfrm rot="5400000">
              <a:off x="2742514" y="2911146"/>
              <a:ext cx="57150" cy="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Text Box 9">
              <a:extLst>
                <a:ext uri="{FF2B5EF4-FFF2-40B4-BE49-F238E27FC236}">
                  <a16:creationId xmlns:a16="http://schemas.microsoft.com/office/drawing/2014/main" id="{B07DD3A2-F8DC-0FC7-643E-184CF33F8061}"/>
                </a:ext>
              </a:extLst>
            </p:cNvPr>
            <p:cNvSpPr txBox="1">
              <a:spLocks noChangeArrowheads="1"/>
            </p:cNvSpPr>
            <p:nvPr/>
          </p:nvSpPr>
          <p:spPr bwMode="auto">
            <a:xfrm>
              <a:off x="2492395" y="2939721"/>
              <a:ext cx="474662"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7" name="Rectangle 8">
              <a:extLst>
                <a:ext uri="{FF2B5EF4-FFF2-40B4-BE49-F238E27FC236}">
                  <a16:creationId xmlns:a16="http://schemas.microsoft.com/office/drawing/2014/main" id="{F4A06CD3-244F-54BE-F27E-135353369375}"/>
                </a:ext>
              </a:extLst>
            </p:cNvPr>
            <p:cNvSpPr>
              <a:spLocks noChangeArrowheads="1"/>
            </p:cNvSpPr>
            <p:nvPr/>
          </p:nvSpPr>
          <p:spPr bwMode="auto">
            <a:xfrm>
              <a:off x="2933205" y="2677784"/>
              <a:ext cx="450273" cy="1905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8" name="AutoShape 7">
              <a:extLst>
                <a:ext uri="{FF2B5EF4-FFF2-40B4-BE49-F238E27FC236}">
                  <a16:creationId xmlns:a16="http://schemas.microsoft.com/office/drawing/2014/main" id="{A954AFC8-CE10-5753-6E9E-6EA910222018}"/>
                </a:ext>
              </a:extLst>
            </p:cNvPr>
            <p:cNvSpPr>
              <a:spLocks noChangeShapeType="1"/>
            </p:cNvSpPr>
            <p:nvPr/>
          </p:nvSpPr>
          <p:spPr bwMode="auto">
            <a:xfrm rot="5400000">
              <a:off x="3164185" y="2911146"/>
              <a:ext cx="57150" cy="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Text Box 6">
              <a:extLst>
                <a:ext uri="{FF2B5EF4-FFF2-40B4-BE49-F238E27FC236}">
                  <a16:creationId xmlns:a16="http://schemas.microsoft.com/office/drawing/2014/main" id="{F17AAFFF-3CE3-0E55-1DA3-89A978334BF7}"/>
                </a:ext>
              </a:extLst>
            </p:cNvPr>
            <p:cNvSpPr txBox="1">
              <a:spLocks noChangeArrowheads="1"/>
            </p:cNvSpPr>
            <p:nvPr/>
          </p:nvSpPr>
          <p:spPr bwMode="auto">
            <a:xfrm>
              <a:off x="3008332" y="2939721"/>
              <a:ext cx="474663"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0" name="Rectangle 22">
              <a:extLst>
                <a:ext uri="{FF2B5EF4-FFF2-40B4-BE49-F238E27FC236}">
                  <a16:creationId xmlns:a16="http://schemas.microsoft.com/office/drawing/2014/main" id="{ABDA161D-45B8-B24E-EE17-8EAA4F9AC19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1" name="Rectangle 30">
              <a:extLst>
                <a:ext uri="{FF2B5EF4-FFF2-40B4-BE49-F238E27FC236}">
                  <a16:creationId xmlns:a16="http://schemas.microsoft.com/office/drawing/2014/main" id="{A58C97A3-7F28-8A81-2D29-D31242E9220E}"/>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spTree>
    <p:extLst>
      <p:ext uri="{BB962C8B-B14F-4D97-AF65-F5344CB8AC3E}">
        <p14:creationId xmlns:p14="http://schemas.microsoft.com/office/powerpoint/2010/main" val="3055924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5" name="Text Box 1209">
            <a:extLst>
              <a:ext uri="{FF2B5EF4-FFF2-40B4-BE49-F238E27FC236}">
                <a16:creationId xmlns:a16="http://schemas.microsoft.com/office/drawing/2014/main" id="{4F5C4C4B-FEE4-25C5-466D-F7C19DFEE41D}"/>
              </a:ext>
            </a:extLst>
          </p:cNvPr>
          <p:cNvSpPr txBox="1"/>
          <p:nvPr/>
        </p:nvSpPr>
        <p:spPr>
          <a:xfrm>
            <a:off x="626163" y="2343771"/>
            <a:ext cx="3914825" cy="206847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save account button. </a:t>
            </a:r>
          </a:p>
          <a:p>
            <a:pPr marR="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algn="just">
              <a:lnSpc>
                <a:spcPct val="115000"/>
              </a:lnSpc>
              <a:spcBef>
                <a:spcPts val="0"/>
              </a:spcBef>
              <a:spcAft>
                <a:spcPts val="0"/>
              </a:spcAft>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8</a:t>
            </a: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100" dirty="0">
                <a:effectLst/>
                <a:latin typeface="Chivo Light" panose="020B0303030202020804" pitchFamily="34" charset="0"/>
                <a:ea typeface="Times New Roman" panose="02020603050405020304" pitchFamily="18" charset="0"/>
                <a:cs typeface="Times New Roman" panose="02020603050405020304" pitchFamily="18" charset="0"/>
              </a:rPr>
              <a:t>Click the arrow maximize the header.</a:t>
            </a: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algn="just">
              <a:lnSpc>
                <a:spcPct val="115000"/>
              </a:lnSpc>
              <a:spcBef>
                <a:spcPts val="0"/>
              </a:spcBef>
              <a:spcAft>
                <a:spcPts val="0"/>
              </a:spcAft>
            </a:pPr>
            <a:endPar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endParaRPr>
          </a:p>
          <a:p>
            <a:pPr marR="0" algn="just">
              <a:lnSpc>
                <a:spcPct val="115000"/>
              </a:lnSpc>
              <a:spcBef>
                <a:spcPts val="0"/>
              </a:spcBef>
              <a:spcAft>
                <a:spcPts val="0"/>
              </a:spcAft>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9</a:t>
            </a: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100" dirty="0">
                <a:effectLst/>
                <a:latin typeface="Chivo Light" panose="020B0303030202020804" pitchFamily="34" charset="0"/>
                <a:ea typeface="Times New Roman" panose="02020603050405020304" pitchFamily="18" charset="0"/>
                <a:cs typeface="Times New Roman" panose="02020603050405020304" pitchFamily="18" charset="0"/>
              </a:rPr>
              <a:t>To finalize, click post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3BC2A07-47A0-1365-7C1B-3F52494D221A}"/>
                  </a:ext>
                </a:extLst>
              </p14:cNvPr>
              <p14:cNvContentPartPr/>
              <p14:nvPr/>
            </p14:nvContentPartPr>
            <p14:xfrm>
              <a:off x="13443243" y="3058422"/>
              <a:ext cx="11880" cy="13320"/>
            </p14:xfrm>
          </p:contentPart>
        </mc:Choice>
        <mc:Fallback xmlns="">
          <p:pic>
            <p:nvPicPr>
              <p:cNvPr id="2" name="Ink 1">
                <a:extLst>
                  <a:ext uri="{FF2B5EF4-FFF2-40B4-BE49-F238E27FC236}">
                    <a16:creationId xmlns:a16="http://schemas.microsoft.com/office/drawing/2014/main" id="{03BC2A07-47A0-1365-7C1B-3F52494D221A}"/>
                  </a:ext>
                </a:extLst>
              </p:cNvPr>
              <p:cNvPicPr/>
              <p:nvPr/>
            </p:nvPicPr>
            <p:blipFill>
              <a:blip r:embed="rId3"/>
              <a:stretch>
                <a:fillRect/>
              </a:stretch>
            </p:blipFill>
            <p:spPr>
              <a:xfrm>
                <a:off x="13433962" y="3049422"/>
                <a:ext cx="30071" cy="30960"/>
              </a:xfrm>
              <a:prstGeom prst="rect">
                <a:avLst/>
              </a:prstGeom>
            </p:spPr>
          </p:pic>
        </mc:Fallback>
      </mc:AlternateContent>
      <p:sp>
        <p:nvSpPr>
          <p:cNvPr id="4" name="Slide Number Placeholder 9">
            <a:extLst>
              <a:ext uri="{FF2B5EF4-FFF2-40B4-BE49-F238E27FC236}">
                <a16:creationId xmlns:a16="http://schemas.microsoft.com/office/drawing/2014/main" id="{E4E2A4D2-E43C-008E-B31E-42862381E4B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17" name="TextBox 16">
            <a:extLst>
              <a:ext uri="{FF2B5EF4-FFF2-40B4-BE49-F238E27FC236}">
                <a16:creationId xmlns:a16="http://schemas.microsoft.com/office/drawing/2014/main" id="{B0D05CD5-C74A-40AB-2BA8-E59A05E9310D}"/>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Debit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3093" name="TextBox 3092">
            <a:extLst>
              <a:ext uri="{FF2B5EF4-FFF2-40B4-BE49-F238E27FC236}">
                <a16:creationId xmlns:a16="http://schemas.microsoft.com/office/drawing/2014/main" id="{1DA6BD19-3C83-4489-F7C3-5965479B808C}"/>
              </a:ext>
            </a:extLst>
          </p:cNvPr>
          <p:cNvSpPr txBox="1"/>
          <p:nvPr/>
        </p:nvSpPr>
        <p:spPr>
          <a:xfrm>
            <a:off x="1254088" y="635220"/>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Debit Notes?</a:t>
            </a:r>
            <a:endParaRPr lang="en-US" sz="2000" dirty="0">
              <a:solidFill>
                <a:srgbClr val="007434"/>
              </a:solidFill>
              <a:latin typeface="Calibri Light" panose="020F0302020204030204" pitchFamily="34" charset="0"/>
              <a:cs typeface="Calibri Light" panose="020F0302020204030204" pitchFamily="34" charset="0"/>
            </a:endParaRPr>
          </a:p>
        </p:txBody>
      </p:sp>
      <p:grpSp>
        <p:nvGrpSpPr>
          <p:cNvPr id="51" name="Group 50">
            <a:extLst>
              <a:ext uri="{FF2B5EF4-FFF2-40B4-BE49-F238E27FC236}">
                <a16:creationId xmlns:a16="http://schemas.microsoft.com/office/drawing/2014/main" id="{3ED38085-612C-67A0-B757-4D020EC93C0A}"/>
              </a:ext>
            </a:extLst>
          </p:cNvPr>
          <p:cNvGrpSpPr/>
          <p:nvPr/>
        </p:nvGrpSpPr>
        <p:grpSpPr>
          <a:xfrm>
            <a:off x="5106907" y="1484665"/>
            <a:ext cx="12192000" cy="2697163"/>
            <a:chOff x="0" y="0"/>
            <a:chExt cx="12192000" cy="2697163"/>
          </a:xfrm>
        </p:grpSpPr>
        <p:sp>
          <p:nvSpPr>
            <p:cNvPr id="48" name="Rectangle 40">
              <a:extLst>
                <a:ext uri="{FF2B5EF4-FFF2-40B4-BE49-F238E27FC236}">
                  <a16:creationId xmlns:a16="http://schemas.microsoft.com/office/drawing/2014/main" id="{AC8967C9-C41C-1DC7-4221-A24B3053923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9" name="Rectangle 43">
              <a:extLst>
                <a:ext uri="{FF2B5EF4-FFF2-40B4-BE49-F238E27FC236}">
                  <a16:creationId xmlns:a16="http://schemas.microsoft.com/office/drawing/2014/main" id="{F8CAD38A-95B3-3D6B-ED6A-A57F82EEE47E}"/>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0" name="Rectangle 44">
              <a:extLst>
                <a:ext uri="{FF2B5EF4-FFF2-40B4-BE49-F238E27FC236}">
                  <a16:creationId xmlns:a16="http://schemas.microsoft.com/office/drawing/2014/main" id="{8BA1216C-BB9A-734A-7DD0-54CA11C83BE8}"/>
                </a:ext>
              </a:extLst>
            </p:cNvPr>
            <p:cNvSpPr>
              <a:spLocks noChangeArrowheads="1"/>
            </p:cNvSpPr>
            <p:nvPr/>
          </p:nvSpPr>
          <p:spPr bwMode="auto">
            <a:xfrm>
              <a:off x="0" y="2697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grpSp>
        <p:nvGrpSpPr>
          <p:cNvPr id="19" name="Group 18">
            <a:extLst>
              <a:ext uri="{FF2B5EF4-FFF2-40B4-BE49-F238E27FC236}">
                <a16:creationId xmlns:a16="http://schemas.microsoft.com/office/drawing/2014/main" id="{B0FE04D5-45D9-6301-1D09-6320EE16F9EF}"/>
              </a:ext>
            </a:extLst>
          </p:cNvPr>
          <p:cNvGrpSpPr/>
          <p:nvPr/>
        </p:nvGrpSpPr>
        <p:grpSpPr>
          <a:xfrm>
            <a:off x="5106907" y="2138168"/>
            <a:ext cx="6297613" cy="2308233"/>
            <a:chOff x="5106907" y="1941865"/>
            <a:chExt cx="6297613" cy="2308233"/>
          </a:xfrm>
        </p:grpSpPr>
        <p:pic>
          <p:nvPicPr>
            <p:cNvPr id="9" name="Picture 1305">
              <a:extLst>
                <a:ext uri="{FF2B5EF4-FFF2-40B4-BE49-F238E27FC236}">
                  <a16:creationId xmlns:a16="http://schemas.microsoft.com/office/drawing/2014/main" id="{72DB75BC-8299-E244-8881-7369D67E39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6907" y="1941865"/>
              <a:ext cx="6297613" cy="22399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37">
              <a:extLst>
                <a:ext uri="{FF2B5EF4-FFF2-40B4-BE49-F238E27FC236}">
                  <a16:creationId xmlns:a16="http://schemas.microsoft.com/office/drawing/2014/main" id="{E318F044-EAF9-1110-C184-B40DEBCE4840}"/>
                </a:ext>
              </a:extLst>
            </p:cNvPr>
            <p:cNvSpPr>
              <a:spLocks noChangeArrowheads="1"/>
            </p:cNvSpPr>
            <p:nvPr/>
          </p:nvSpPr>
          <p:spPr bwMode="auto">
            <a:xfrm>
              <a:off x="10607595" y="2387953"/>
              <a:ext cx="180975" cy="2301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11" name="AutoShape 33">
              <a:extLst>
                <a:ext uri="{FF2B5EF4-FFF2-40B4-BE49-F238E27FC236}">
                  <a16:creationId xmlns:a16="http://schemas.microsoft.com/office/drawing/2014/main" id="{90CA2DD9-EFE4-7980-E5E6-5CA5FE20F572}"/>
                </a:ext>
              </a:extLst>
            </p:cNvPr>
            <p:cNvSpPr>
              <a:spLocks noChangeShapeType="1"/>
            </p:cNvSpPr>
            <p:nvPr/>
          </p:nvSpPr>
          <p:spPr bwMode="auto">
            <a:xfrm flipV="1">
              <a:off x="10786982" y="2460978"/>
              <a:ext cx="142875" cy="7143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 Box 32">
              <a:extLst>
                <a:ext uri="{FF2B5EF4-FFF2-40B4-BE49-F238E27FC236}">
                  <a16:creationId xmlns:a16="http://schemas.microsoft.com/office/drawing/2014/main" id="{0B8F802A-B68D-8767-2B13-F54ABBAF1B93}"/>
                </a:ext>
              </a:extLst>
            </p:cNvPr>
            <p:cNvSpPr txBox="1">
              <a:spLocks noChangeArrowheads="1"/>
            </p:cNvSpPr>
            <p:nvPr/>
          </p:nvSpPr>
          <p:spPr bwMode="auto">
            <a:xfrm>
              <a:off x="10913982" y="2327628"/>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900468F4-54AD-31BF-4802-09C8D9CD43CC}"/>
                </a:ext>
              </a:extLst>
            </p:cNvPr>
            <p:cNvPicPr>
              <a:picLocks noChangeAspect="1"/>
            </p:cNvPicPr>
            <p:nvPr/>
          </p:nvPicPr>
          <p:blipFill>
            <a:blip r:embed="rId5"/>
            <a:stretch>
              <a:fillRect/>
            </a:stretch>
          </p:blipFill>
          <p:spPr>
            <a:xfrm>
              <a:off x="6138733" y="2816268"/>
              <a:ext cx="4653280" cy="1433830"/>
            </a:xfrm>
            <a:prstGeom prst="rect">
              <a:avLst/>
            </a:prstGeom>
            <a:ln>
              <a:noFill/>
            </a:ln>
            <a:effectLst>
              <a:outerShdw blurRad="292100" dist="139700" dir="2700000" algn="tl" rotWithShape="0">
                <a:srgbClr val="333333">
                  <a:alpha val="65000"/>
                </a:srgbClr>
              </a:outerShdw>
            </a:effectLst>
          </p:spPr>
        </p:pic>
        <p:sp>
          <p:nvSpPr>
            <p:cNvPr id="14" name="AutoShape 38">
              <a:extLst>
                <a:ext uri="{FF2B5EF4-FFF2-40B4-BE49-F238E27FC236}">
                  <a16:creationId xmlns:a16="http://schemas.microsoft.com/office/drawing/2014/main" id="{99424D13-7426-88C5-BA32-9CE109E053CD}"/>
                </a:ext>
              </a:extLst>
            </p:cNvPr>
            <p:cNvSpPr>
              <a:spLocks noChangeArrowheads="1"/>
            </p:cNvSpPr>
            <p:nvPr/>
          </p:nvSpPr>
          <p:spPr bwMode="auto">
            <a:xfrm>
              <a:off x="10153570" y="2484790"/>
              <a:ext cx="439737" cy="450850"/>
            </a:xfrm>
            <a:prstGeom prst="curvedRightArrow">
              <a:avLst>
                <a:gd name="adj1" fmla="val 24958"/>
                <a:gd name="adj2" fmla="val 49916"/>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5" name="Rectangle 34">
              <a:extLst>
                <a:ext uri="{FF2B5EF4-FFF2-40B4-BE49-F238E27FC236}">
                  <a16:creationId xmlns:a16="http://schemas.microsoft.com/office/drawing/2014/main" id="{D6F8396F-AA15-67B2-D986-1A823B2DC31A}"/>
                </a:ext>
              </a:extLst>
            </p:cNvPr>
            <p:cNvSpPr>
              <a:spLocks noChangeArrowheads="1"/>
            </p:cNvSpPr>
            <p:nvPr/>
          </p:nvSpPr>
          <p:spPr bwMode="auto">
            <a:xfrm>
              <a:off x="8456909" y="3181703"/>
              <a:ext cx="352425" cy="2492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16" name="AutoShape 35">
              <a:extLst>
                <a:ext uri="{FF2B5EF4-FFF2-40B4-BE49-F238E27FC236}">
                  <a16:creationId xmlns:a16="http://schemas.microsoft.com/office/drawing/2014/main" id="{1B3BCBEC-3254-583C-EAEF-6CC25108D9EA}"/>
                </a:ext>
              </a:extLst>
            </p:cNvPr>
            <p:cNvSpPr>
              <a:spLocks noChangeShapeType="1"/>
            </p:cNvSpPr>
            <p:nvPr/>
          </p:nvSpPr>
          <p:spPr bwMode="auto">
            <a:xfrm flipV="1">
              <a:off x="8850609" y="3235678"/>
              <a:ext cx="142875" cy="714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Text Box 36">
              <a:extLst>
                <a:ext uri="{FF2B5EF4-FFF2-40B4-BE49-F238E27FC236}">
                  <a16:creationId xmlns:a16="http://schemas.microsoft.com/office/drawing/2014/main" id="{7AE7E936-98B7-0708-B56D-420568AF6065}"/>
                </a:ext>
              </a:extLst>
            </p:cNvPr>
            <p:cNvSpPr txBox="1">
              <a:spLocks noChangeArrowheads="1"/>
            </p:cNvSpPr>
            <p:nvPr/>
          </p:nvSpPr>
          <p:spPr bwMode="auto">
            <a:xfrm>
              <a:off x="8976021" y="3115028"/>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2570753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Edit Debit Notes?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19984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the debit memo – main window, search the debit memo you wish to edit its information in the search bar. Or,</a:t>
            </a:r>
          </a:p>
          <a:p>
            <a:pPr marR="0" lvl="0"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a:t>
            </a: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a:t>
            </a:r>
            <a:r>
              <a:rPr lang="en-US" sz="11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debit memo – main form, click the lookup button and select the transaction you wish to edit its information by typing its transaction number in the search bar.</a:t>
            </a:r>
            <a:endParaRPr lang="en-US" sz="11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endParaRPr lang="en-US" sz="1100" dirty="0">
              <a:latin typeface="Chivo Light" panose="020B03030302020208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SzPts val="1200"/>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5" name="Text Box 1197">
            <a:extLst>
              <a:ext uri="{FF2B5EF4-FFF2-40B4-BE49-F238E27FC236}">
                <a16:creationId xmlns:a16="http://schemas.microsoft.com/office/drawing/2014/main" id="{43122292-BD35-48F3-6B03-509A04780B35}"/>
              </a:ext>
            </a:extLst>
          </p:cNvPr>
          <p:cNvSpPr txBox="1"/>
          <p:nvPr/>
        </p:nvSpPr>
        <p:spPr>
          <a:xfrm>
            <a:off x="805110" y="3944974"/>
            <a:ext cx="3914825" cy="154157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gn="just">
              <a:lnSpc>
                <a:spcPct val="115000"/>
              </a:lnSpc>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After you select the debit memo transaction, click edit button and change the information you want to alter. </a:t>
            </a:r>
          </a:p>
          <a:p>
            <a:pPr algn="just">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gn="just">
              <a:lnSpc>
                <a:spcPct val="115000"/>
              </a:lnSpc>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are done editing the debit memo header, click save button in the upper side of the header.</a:t>
            </a: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7" name="TextBox 6">
            <a:extLst>
              <a:ext uri="{FF2B5EF4-FFF2-40B4-BE49-F238E27FC236}">
                <a16:creationId xmlns:a16="http://schemas.microsoft.com/office/drawing/2014/main" id="{8733CBB7-E478-1EA0-2E4D-6AF93FE3C883}"/>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Debit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19" name="TextBox 18">
            <a:extLst>
              <a:ext uri="{FF2B5EF4-FFF2-40B4-BE49-F238E27FC236}">
                <a16:creationId xmlns:a16="http://schemas.microsoft.com/office/drawing/2014/main" id="{44BC7580-2449-9463-9161-11A3033C10FB}"/>
              </a:ext>
            </a:extLst>
          </p:cNvPr>
          <p:cNvSpPr txBox="1"/>
          <p:nvPr/>
        </p:nvSpPr>
        <p:spPr>
          <a:xfrm>
            <a:off x="7352510" y="3051079"/>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Debit Memo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13815985-E326-C9C5-5B52-220FD1E49FAE}"/>
              </a:ext>
            </a:extLst>
          </p:cNvPr>
          <p:cNvSpPr txBox="1"/>
          <p:nvPr/>
        </p:nvSpPr>
        <p:spPr>
          <a:xfrm>
            <a:off x="7352510" y="5705021"/>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Debit Memo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42" name="Group 41">
            <a:extLst>
              <a:ext uri="{FF2B5EF4-FFF2-40B4-BE49-F238E27FC236}">
                <a16:creationId xmlns:a16="http://schemas.microsoft.com/office/drawing/2014/main" id="{CDC66BDB-32EB-8B2F-30A8-95C030FE3F09}"/>
              </a:ext>
            </a:extLst>
          </p:cNvPr>
          <p:cNvGrpSpPr/>
          <p:nvPr/>
        </p:nvGrpSpPr>
        <p:grpSpPr>
          <a:xfrm>
            <a:off x="5499847" y="1001616"/>
            <a:ext cx="6030913" cy="2049463"/>
            <a:chOff x="5409859" y="401589"/>
            <a:chExt cx="6030913" cy="2049463"/>
          </a:xfrm>
        </p:grpSpPr>
        <p:pic>
          <p:nvPicPr>
            <p:cNvPr id="12" name="Picture 1306">
              <a:extLst>
                <a:ext uri="{FF2B5EF4-FFF2-40B4-BE49-F238E27FC236}">
                  <a16:creationId xmlns:a16="http://schemas.microsoft.com/office/drawing/2014/main" id="{9D44CA3B-B785-D462-F3F3-E59E82CFAB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9859" y="401589"/>
              <a:ext cx="6030913" cy="20494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63">
              <a:extLst>
                <a:ext uri="{FF2B5EF4-FFF2-40B4-BE49-F238E27FC236}">
                  <a16:creationId xmlns:a16="http://schemas.microsoft.com/office/drawing/2014/main" id="{CB080195-514C-8199-82EE-602B5C1A1F76}"/>
                </a:ext>
              </a:extLst>
            </p:cNvPr>
            <p:cNvSpPr>
              <a:spLocks noChangeArrowheads="1"/>
            </p:cNvSpPr>
            <p:nvPr/>
          </p:nvSpPr>
          <p:spPr bwMode="auto">
            <a:xfrm>
              <a:off x="5519436" y="1383851"/>
              <a:ext cx="973153" cy="2477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dirty="0"/>
            </a:p>
          </p:txBody>
        </p:sp>
        <p:sp>
          <p:nvSpPr>
            <p:cNvPr id="14" name="Straight Arrow Connector 1264">
              <a:extLst>
                <a:ext uri="{FF2B5EF4-FFF2-40B4-BE49-F238E27FC236}">
                  <a16:creationId xmlns:a16="http://schemas.microsoft.com/office/drawing/2014/main" id="{0139ECC0-529C-1150-498B-0D62098A4510}"/>
                </a:ext>
              </a:extLst>
            </p:cNvPr>
            <p:cNvSpPr>
              <a:spLocks noChangeShapeType="1"/>
            </p:cNvSpPr>
            <p:nvPr/>
          </p:nvSpPr>
          <p:spPr bwMode="auto">
            <a:xfrm>
              <a:off x="6492589" y="1431876"/>
              <a:ext cx="200010" cy="950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Text Box 1265">
              <a:extLst>
                <a:ext uri="{FF2B5EF4-FFF2-40B4-BE49-F238E27FC236}">
                  <a16:creationId xmlns:a16="http://schemas.microsoft.com/office/drawing/2014/main" id="{F4D9479B-7D4C-95E2-DFD5-831E3B4F91CD}"/>
                </a:ext>
              </a:extLst>
            </p:cNvPr>
            <p:cNvSpPr txBox="1">
              <a:spLocks noChangeArrowheads="1"/>
            </p:cNvSpPr>
            <p:nvPr/>
          </p:nvSpPr>
          <p:spPr bwMode="auto">
            <a:xfrm>
              <a:off x="6702099" y="1327052"/>
              <a:ext cx="466724" cy="247756"/>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nvGrpSpPr>
          <p:cNvPr id="52" name="Group 51">
            <a:extLst>
              <a:ext uri="{FF2B5EF4-FFF2-40B4-BE49-F238E27FC236}">
                <a16:creationId xmlns:a16="http://schemas.microsoft.com/office/drawing/2014/main" id="{8616D0EC-C6D9-5027-9187-2057192E273D}"/>
              </a:ext>
            </a:extLst>
          </p:cNvPr>
          <p:cNvGrpSpPr/>
          <p:nvPr/>
        </p:nvGrpSpPr>
        <p:grpSpPr>
          <a:xfrm>
            <a:off x="5354311" y="3608539"/>
            <a:ext cx="5949895" cy="1878013"/>
            <a:chOff x="5276065" y="3450007"/>
            <a:chExt cx="5949895" cy="1878013"/>
          </a:xfrm>
        </p:grpSpPr>
        <p:pic>
          <p:nvPicPr>
            <p:cNvPr id="43" name="Picture 1307">
              <a:extLst>
                <a:ext uri="{FF2B5EF4-FFF2-40B4-BE49-F238E27FC236}">
                  <a16:creationId xmlns:a16="http://schemas.microsoft.com/office/drawing/2014/main" id="{D56477E6-D176-0167-082C-34BFD9774F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9847" y="3450007"/>
              <a:ext cx="5726113" cy="1878013"/>
            </a:xfrm>
            <a:prstGeom prst="rect">
              <a:avLst/>
            </a:prstGeom>
            <a:noFill/>
            <a:extLst>
              <a:ext uri="{909E8E84-426E-40DD-AFC4-6F175D3DCCD1}">
                <a14:hiddenFill xmlns:a14="http://schemas.microsoft.com/office/drawing/2010/main">
                  <a:solidFill>
                    <a:srgbClr val="FFFFFF"/>
                  </a:solidFill>
                </a14:hiddenFill>
              </a:ext>
            </a:extLst>
          </p:spPr>
        </p:pic>
        <p:sp>
          <p:nvSpPr>
            <p:cNvPr id="44" name="Rectangle 1270">
              <a:extLst>
                <a:ext uri="{FF2B5EF4-FFF2-40B4-BE49-F238E27FC236}">
                  <a16:creationId xmlns:a16="http://schemas.microsoft.com/office/drawing/2014/main" id="{C79372F4-B433-2C95-5FA7-407DDF0760D7}"/>
                </a:ext>
              </a:extLst>
            </p:cNvPr>
            <p:cNvSpPr>
              <a:spLocks noChangeArrowheads="1"/>
            </p:cNvSpPr>
            <p:nvPr/>
          </p:nvSpPr>
          <p:spPr bwMode="auto">
            <a:xfrm>
              <a:off x="6668610" y="4221032"/>
              <a:ext cx="275900" cy="3048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45" name="Straight Arrow Connector 1271">
              <a:extLst>
                <a:ext uri="{FF2B5EF4-FFF2-40B4-BE49-F238E27FC236}">
                  <a16:creationId xmlns:a16="http://schemas.microsoft.com/office/drawing/2014/main" id="{B85EE3B5-FA96-966E-EFE9-9A0330E59496}"/>
                </a:ext>
              </a:extLst>
            </p:cNvPr>
            <p:cNvSpPr>
              <a:spLocks noChangeShapeType="1"/>
            </p:cNvSpPr>
            <p:nvPr/>
          </p:nvSpPr>
          <p:spPr bwMode="auto">
            <a:xfrm>
              <a:off x="6944910" y="4325832"/>
              <a:ext cx="200000" cy="95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Text Box 1272">
              <a:extLst>
                <a:ext uri="{FF2B5EF4-FFF2-40B4-BE49-F238E27FC236}">
                  <a16:creationId xmlns:a16="http://schemas.microsoft.com/office/drawing/2014/main" id="{F6E4E7AC-8690-533B-7BD7-AA89DC9E2EDD}"/>
                </a:ext>
              </a:extLst>
            </p:cNvPr>
            <p:cNvSpPr txBox="1">
              <a:spLocks noChangeArrowheads="1"/>
            </p:cNvSpPr>
            <p:nvPr/>
          </p:nvSpPr>
          <p:spPr bwMode="auto">
            <a:xfrm>
              <a:off x="7154410" y="4221032"/>
              <a:ext cx="466700" cy="24770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7" name="Rectangle 1274">
              <a:extLst>
                <a:ext uri="{FF2B5EF4-FFF2-40B4-BE49-F238E27FC236}">
                  <a16:creationId xmlns:a16="http://schemas.microsoft.com/office/drawing/2014/main" id="{110BDED6-609F-5526-E64C-64F82E77DD65}"/>
                </a:ext>
              </a:extLst>
            </p:cNvPr>
            <p:cNvSpPr>
              <a:spLocks noChangeArrowheads="1"/>
            </p:cNvSpPr>
            <p:nvPr/>
          </p:nvSpPr>
          <p:spPr bwMode="auto">
            <a:xfrm>
              <a:off x="9754402" y="3939632"/>
              <a:ext cx="466436" cy="3048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48" name="Straight Arrow Connector 1275">
              <a:extLst>
                <a:ext uri="{FF2B5EF4-FFF2-40B4-BE49-F238E27FC236}">
                  <a16:creationId xmlns:a16="http://schemas.microsoft.com/office/drawing/2014/main" id="{EC0BB98B-2133-89BC-145D-63A431E51BA0}"/>
                </a:ext>
              </a:extLst>
            </p:cNvPr>
            <p:cNvSpPr>
              <a:spLocks noChangeShapeType="1"/>
            </p:cNvSpPr>
            <p:nvPr/>
          </p:nvSpPr>
          <p:spPr bwMode="auto">
            <a:xfrm>
              <a:off x="10221238" y="4044432"/>
              <a:ext cx="200015" cy="95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Text Box 1276">
              <a:extLst>
                <a:ext uri="{FF2B5EF4-FFF2-40B4-BE49-F238E27FC236}">
                  <a16:creationId xmlns:a16="http://schemas.microsoft.com/office/drawing/2014/main" id="{25441DC4-569A-4BB1-01E8-8AA51458421B}"/>
                </a:ext>
              </a:extLst>
            </p:cNvPr>
            <p:cNvSpPr txBox="1">
              <a:spLocks noChangeArrowheads="1"/>
            </p:cNvSpPr>
            <p:nvPr/>
          </p:nvSpPr>
          <p:spPr bwMode="auto">
            <a:xfrm>
              <a:off x="10430754" y="3939632"/>
              <a:ext cx="304823" cy="24770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100" dirty="0">
                  <a:latin typeface="Calibri" panose="020F0502020204030204" pitchFamily="34" charset="0"/>
                  <a:cs typeface="Times New Roman" panose="02020603050405020304" pitchFamily="18" charset="0"/>
                </a:rPr>
                <a:t>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0" name="Text Box 17">
              <a:extLst>
                <a:ext uri="{FF2B5EF4-FFF2-40B4-BE49-F238E27FC236}">
                  <a16:creationId xmlns:a16="http://schemas.microsoft.com/office/drawing/2014/main" id="{2763EDCE-E5DD-2099-1D35-55374D100EE2}"/>
                </a:ext>
              </a:extLst>
            </p:cNvPr>
            <p:cNvSpPr txBox="1">
              <a:spLocks noChangeArrowheads="1"/>
            </p:cNvSpPr>
            <p:nvPr/>
          </p:nvSpPr>
          <p:spPr bwMode="auto">
            <a:xfrm>
              <a:off x="7478190" y="4593960"/>
              <a:ext cx="2301875" cy="643255"/>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R="0" lvl="0" indent="84138" algn="l" defTabSz="914400" rtl="0" eaLnBrk="0" fontAlgn="base" latinLnBrk="0" hangingPunct="0">
                <a:lnSpc>
                  <a:spcPct val="100000"/>
                </a:lnSpc>
                <a:spcBef>
                  <a:spcPct val="0"/>
                </a:spcBef>
                <a:spcAft>
                  <a:spcPct val="0"/>
                </a:spcAft>
                <a:buClrTx/>
                <a:buSzTx/>
                <a:buFontTx/>
                <a:buNone/>
                <a:tabLst>
                  <a:tab pos="203200" algn="l"/>
                </a:tabLst>
              </a:pPr>
              <a:r>
                <a:rPr kumimoji="0" lang="en-PH" altLang="en-US" sz="1000" b="0" i="1" u="none" strike="noStrike" cap="none" normalizeH="0" baseline="0" dirty="0">
                  <a:ln>
                    <a:noFill/>
                  </a:ln>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debit memo transaction?</a:t>
              </a:r>
              <a:endParaRPr kumimoji="0" lang="en-PH" altLang="en-US" sz="400" b="0" i="0" u="none" strike="noStrike" cap="none" normalizeH="0" baseline="0" dirty="0">
                <a:ln>
                  <a:noFill/>
                </a:ln>
                <a:solidFill>
                  <a:schemeClr val="tx1"/>
                </a:solidFill>
                <a:effectLst/>
              </a:endParaRPr>
            </a:p>
            <a:p>
              <a:pPr marL="263525" marR="0" lvl="0" indent="-84138" algn="l" defTabSz="914400" rtl="0" eaLnBrk="0" fontAlgn="base" latinLnBrk="0" hangingPunct="0">
                <a:lnSpc>
                  <a:spcPct val="100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PH" altLang="en-US" sz="400" b="0" i="0" u="none" strike="noStrike" cap="none" normalizeH="0" baseline="0" dirty="0">
                <a:ln>
                  <a:noFill/>
                </a:ln>
                <a:solidFill>
                  <a:schemeClr val="tx1"/>
                </a:solidFill>
                <a:effectLst/>
              </a:endParaRPr>
            </a:p>
            <a:p>
              <a:pPr marL="263525" marR="0" lvl="0" indent="-84138" algn="l" defTabSz="914400" rtl="0" eaLnBrk="0" fontAlgn="base" latinLnBrk="0" hangingPunct="0">
                <a:lnSpc>
                  <a:spcPct val="100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Click ‘enter’ in the keyboard to search.</a:t>
              </a:r>
              <a:endParaRPr kumimoji="0" lang="en-PH" altLang="en-US" sz="400" b="0" i="0" u="none" strike="noStrike" cap="none" normalizeH="0" baseline="0" dirty="0">
                <a:ln>
                  <a:noFill/>
                </a:ln>
                <a:solidFill>
                  <a:schemeClr val="tx1"/>
                </a:solidFill>
                <a:effectLst/>
              </a:endParaRPr>
            </a:p>
            <a:p>
              <a:pPr marL="263525" marR="0" lvl="0" indent="-84138" algn="l" defTabSz="914400" rtl="0" eaLnBrk="0" fontAlgn="base" latinLnBrk="0" hangingPunct="0">
                <a:lnSpc>
                  <a:spcPct val="100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sp>
          <p:nvSpPr>
            <p:cNvPr id="51" name="Text Box 11">
              <a:extLst>
                <a:ext uri="{FF2B5EF4-FFF2-40B4-BE49-F238E27FC236}">
                  <a16:creationId xmlns:a16="http://schemas.microsoft.com/office/drawing/2014/main" id="{48546F10-51C4-A0CE-1DDD-59110AC53197}"/>
                </a:ext>
              </a:extLst>
            </p:cNvPr>
            <p:cNvSpPr txBox="1">
              <a:spLocks noChangeArrowheads="1"/>
            </p:cNvSpPr>
            <p:nvPr/>
          </p:nvSpPr>
          <p:spPr bwMode="auto">
            <a:xfrm>
              <a:off x="5276065" y="3678065"/>
              <a:ext cx="1306512" cy="2730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650513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5" name="Text Box 1209">
            <a:extLst>
              <a:ext uri="{FF2B5EF4-FFF2-40B4-BE49-F238E27FC236}">
                <a16:creationId xmlns:a16="http://schemas.microsoft.com/office/drawing/2014/main" id="{4F5C4C4B-FEE4-25C5-466D-F7C19DFEE41D}"/>
              </a:ext>
            </a:extLst>
          </p:cNvPr>
          <p:cNvSpPr txBox="1"/>
          <p:nvPr/>
        </p:nvSpPr>
        <p:spPr>
          <a:xfrm>
            <a:off x="634525" y="2505868"/>
            <a:ext cx="3914825" cy="177821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p>
          <a:p>
            <a:pPr marR="0"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algn="just">
              <a:lnSpc>
                <a:spcPct val="115000"/>
              </a:lnSpc>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3BC2A07-47A0-1365-7C1B-3F52494D221A}"/>
                  </a:ext>
                </a:extLst>
              </p14:cNvPr>
              <p14:cNvContentPartPr/>
              <p14:nvPr/>
            </p14:nvContentPartPr>
            <p14:xfrm>
              <a:off x="13443243" y="3058422"/>
              <a:ext cx="11880" cy="13320"/>
            </p14:xfrm>
          </p:contentPart>
        </mc:Choice>
        <mc:Fallback xmlns="">
          <p:pic>
            <p:nvPicPr>
              <p:cNvPr id="2" name="Ink 1">
                <a:extLst>
                  <a:ext uri="{FF2B5EF4-FFF2-40B4-BE49-F238E27FC236}">
                    <a16:creationId xmlns:a16="http://schemas.microsoft.com/office/drawing/2014/main" id="{03BC2A07-47A0-1365-7C1B-3F52494D221A}"/>
                  </a:ext>
                </a:extLst>
              </p:cNvPr>
              <p:cNvPicPr/>
              <p:nvPr/>
            </p:nvPicPr>
            <p:blipFill>
              <a:blip r:embed="rId3"/>
              <a:stretch>
                <a:fillRect/>
              </a:stretch>
            </p:blipFill>
            <p:spPr>
              <a:xfrm>
                <a:off x="13433962" y="3049422"/>
                <a:ext cx="30071" cy="30960"/>
              </a:xfrm>
              <a:prstGeom prst="rect">
                <a:avLst/>
              </a:prstGeom>
            </p:spPr>
          </p:pic>
        </mc:Fallback>
      </mc:AlternateContent>
      <p:sp>
        <p:nvSpPr>
          <p:cNvPr id="4" name="Slide Number Placeholder 9">
            <a:extLst>
              <a:ext uri="{FF2B5EF4-FFF2-40B4-BE49-F238E27FC236}">
                <a16:creationId xmlns:a16="http://schemas.microsoft.com/office/drawing/2014/main" id="{E4E2A4D2-E43C-008E-B31E-42862381E4B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17" name="TextBox 16">
            <a:extLst>
              <a:ext uri="{FF2B5EF4-FFF2-40B4-BE49-F238E27FC236}">
                <a16:creationId xmlns:a16="http://schemas.microsoft.com/office/drawing/2014/main" id="{B0D05CD5-C74A-40AB-2BA8-E59A05E9310D}"/>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Debit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3093" name="TextBox 3092">
            <a:extLst>
              <a:ext uri="{FF2B5EF4-FFF2-40B4-BE49-F238E27FC236}">
                <a16:creationId xmlns:a16="http://schemas.microsoft.com/office/drawing/2014/main" id="{1DA6BD19-3C83-4489-F7C3-5965479B808C}"/>
              </a:ext>
            </a:extLst>
          </p:cNvPr>
          <p:cNvSpPr txBox="1"/>
          <p:nvPr/>
        </p:nvSpPr>
        <p:spPr>
          <a:xfrm>
            <a:off x="1254088" y="635220"/>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Edit Debit Notes?</a:t>
            </a:r>
            <a:endParaRPr lang="en-US" sz="2000" dirty="0">
              <a:solidFill>
                <a:srgbClr val="007434"/>
              </a:solidFill>
              <a:latin typeface="Calibri Light" panose="020F0302020204030204" pitchFamily="34" charset="0"/>
              <a:cs typeface="Calibri Light" panose="020F0302020204030204" pitchFamily="34" charset="0"/>
            </a:endParaRPr>
          </a:p>
        </p:txBody>
      </p:sp>
      <p:grpSp>
        <p:nvGrpSpPr>
          <p:cNvPr id="13" name="Group 12">
            <a:extLst>
              <a:ext uri="{FF2B5EF4-FFF2-40B4-BE49-F238E27FC236}">
                <a16:creationId xmlns:a16="http://schemas.microsoft.com/office/drawing/2014/main" id="{ED90959D-946A-89CF-C239-4249F01259E5}"/>
              </a:ext>
            </a:extLst>
          </p:cNvPr>
          <p:cNvGrpSpPr/>
          <p:nvPr/>
        </p:nvGrpSpPr>
        <p:grpSpPr>
          <a:xfrm>
            <a:off x="5106907" y="2229622"/>
            <a:ext cx="6342063" cy="2041150"/>
            <a:chOff x="5299274" y="1804749"/>
            <a:chExt cx="6342063" cy="2041150"/>
          </a:xfrm>
        </p:grpSpPr>
        <p:pic>
          <p:nvPicPr>
            <p:cNvPr id="3" name="Picture 1">
              <a:extLst>
                <a:ext uri="{FF2B5EF4-FFF2-40B4-BE49-F238E27FC236}">
                  <a16:creationId xmlns:a16="http://schemas.microsoft.com/office/drawing/2014/main" id="{DB1BBE66-6DA6-DF0E-81C7-FBA55F617A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1674" y="1957149"/>
              <a:ext cx="6189663" cy="1544637"/>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77">
              <a:extLst>
                <a:ext uri="{FF2B5EF4-FFF2-40B4-BE49-F238E27FC236}">
                  <a16:creationId xmlns:a16="http://schemas.microsoft.com/office/drawing/2014/main" id="{BB186236-1F7F-EFC5-276E-2DC41FFB90EF}"/>
                </a:ext>
              </a:extLst>
            </p:cNvPr>
            <p:cNvSpPr txBox="1">
              <a:spLocks noChangeArrowheads="1"/>
            </p:cNvSpPr>
            <p:nvPr/>
          </p:nvSpPr>
          <p:spPr bwMode="auto">
            <a:xfrm>
              <a:off x="5299274" y="1804749"/>
              <a:ext cx="914401"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DETAIL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76">
              <a:extLst>
                <a:ext uri="{FF2B5EF4-FFF2-40B4-BE49-F238E27FC236}">
                  <a16:creationId xmlns:a16="http://schemas.microsoft.com/office/drawing/2014/main" id="{47E04A9D-092E-F039-9B21-E116B31686AB}"/>
                </a:ext>
              </a:extLst>
            </p:cNvPr>
            <p:cNvSpPr>
              <a:spLocks noChangeArrowheads="1"/>
            </p:cNvSpPr>
            <p:nvPr/>
          </p:nvSpPr>
          <p:spPr bwMode="auto">
            <a:xfrm>
              <a:off x="5588200" y="3055699"/>
              <a:ext cx="6000750" cy="5984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8" name="Rectangle 1285">
              <a:extLst>
                <a:ext uri="{FF2B5EF4-FFF2-40B4-BE49-F238E27FC236}">
                  <a16:creationId xmlns:a16="http://schemas.microsoft.com/office/drawing/2014/main" id="{05077D8F-945A-E261-9122-99CDB52A94FF}"/>
                </a:ext>
              </a:extLst>
            </p:cNvPr>
            <p:cNvSpPr>
              <a:spLocks noChangeArrowheads="1"/>
            </p:cNvSpPr>
            <p:nvPr/>
          </p:nvSpPr>
          <p:spPr bwMode="auto">
            <a:xfrm>
              <a:off x="9907382" y="1957174"/>
              <a:ext cx="730958" cy="2857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9" name="Straight Arrow Connector 1286">
              <a:extLst>
                <a:ext uri="{FF2B5EF4-FFF2-40B4-BE49-F238E27FC236}">
                  <a16:creationId xmlns:a16="http://schemas.microsoft.com/office/drawing/2014/main" id="{43F318EF-ADA3-56F4-66C3-C153B7217823}"/>
                </a:ext>
              </a:extLst>
            </p:cNvPr>
            <p:cNvSpPr>
              <a:spLocks noChangeShapeType="1"/>
            </p:cNvSpPr>
            <p:nvPr/>
          </p:nvSpPr>
          <p:spPr bwMode="auto">
            <a:xfrm>
              <a:off x="10714545" y="2128604"/>
              <a:ext cx="200016" cy="950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 Box 1287">
              <a:extLst>
                <a:ext uri="{FF2B5EF4-FFF2-40B4-BE49-F238E27FC236}">
                  <a16:creationId xmlns:a16="http://schemas.microsoft.com/office/drawing/2014/main" id="{60FC2823-A0E3-C638-5AA8-8554F6EC3C36}"/>
                </a:ext>
              </a:extLst>
            </p:cNvPr>
            <p:cNvSpPr txBox="1">
              <a:spLocks noChangeArrowheads="1"/>
            </p:cNvSpPr>
            <p:nvPr/>
          </p:nvSpPr>
          <p:spPr bwMode="auto">
            <a:xfrm>
              <a:off x="10924062" y="1957174"/>
              <a:ext cx="200016" cy="247643"/>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93E52300-6ABD-282A-76A3-A4656D523C44}"/>
                </a:ext>
              </a:extLst>
            </p:cNvPr>
            <p:cNvPicPr>
              <a:picLocks noChangeAspect="1"/>
            </p:cNvPicPr>
            <p:nvPr/>
          </p:nvPicPr>
          <p:blipFill>
            <a:blip r:embed="rId5"/>
            <a:srcRect/>
            <a:stretch>
              <a:fillRect/>
            </a:stretch>
          </p:blipFill>
          <p:spPr bwMode="auto">
            <a:xfrm>
              <a:off x="5588200" y="3363299"/>
              <a:ext cx="4000500" cy="482600"/>
            </a:xfrm>
            <a:prstGeom prst="rect">
              <a:avLst/>
            </a:prstGeom>
            <a:ln>
              <a:noFill/>
            </a:ln>
            <a:effectLst>
              <a:outerShdw blurRad="292100" dist="139700" dir="2700000" algn="tl" rotWithShape="0">
                <a:srgbClr val="333333">
                  <a:alpha val="65000"/>
                </a:srgbClr>
              </a:outerShdw>
            </a:effectLst>
          </p:spPr>
        </p:pic>
        <p:sp>
          <p:nvSpPr>
            <p:cNvPr id="12" name="AutoShape 74">
              <a:extLst>
                <a:ext uri="{FF2B5EF4-FFF2-40B4-BE49-F238E27FC236}">
                  <a16:creationId xmlns:a16="http://schemas.microsoft.com/office/drawing/2014/main" id="{D5F0F452-F348-F0AA-BFDB-E61F9E45D4E2}"/>
                </a:ext>
              </a:extLst>
            </p:cNvPr>
            <p:cNvSpPr>
              <a:spLocks noChangeArrowheads="1"/>
            </p:cNvSpPr>
            <p:nvPr/>
          </p:nvSpPr>
          <p:spPr bwMode="auto">
            <a:xfrm>
              <a:off x="9344225" y="3147399"/>
              <a:ext cx="396875" cy="457200"/>
            </a:xfrm>
            <a:prstGeom prst="curvedLeftArrow">
              <a:avLst>
                <a:gd name="adj1" fmla="val 23040"/>
                <a:gd name="adj2" fmla="val 46080"/>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037108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Delete Debit Notes?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19984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the debit memo – main window, search the entry you wish to edit its information in the search bar. Or,</a:t>
            </a:r>
          </a:p>
          <a:p>
            <a:pPr marR="0" lvl="0"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US" sz="11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debit memo – main form, click the lookup button and select the transaction you wish to edit its information by typing its transaction number in the search bar.</a:t>
            </a:r>
          </a:p>
          <a:p>
            <a:pPr marR="0" lvl="0" algn="just">
              <a:lnSpc>
                <a:spcPct val="115000"/>
              </a:lnSpc>
              <a:spcBef>
                <a:spcPts val="0"/>
              </a:spcBef>
              <a:spcAft>
                <a:spcPts val="0"/>
              </a:spcAft>
              <a:buSzPts val="1200"/>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endParaRPr lang="en-US" sz="11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endParaRPr lang="en-US" sz="1100" dirty="0">
              <a:latin typeface="Chivo Light" panose="020B03030302020208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SzPts val="1200"/>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5" name="Text Box 1197">
            <a:extLst>
              <a:ext uri="{FF2B5EF4-FFF2-40B4-BE49-F238E27FC236}">
                <a16:creationId xmlns:a16="http://schemas.microsoft.com/office/drawing/2014/main" id="{43122292-BD35-48F3-6B03-509A04780B35}"/>
              </a:ext>
            </a:extLst>
          </p:cNvPr>
          <p:cNvSpPr txBox="1"/>
          <p:nvPr/>
        </p:nvSpPr>
        <p:spPr>
          <a:xfrm>
            <a:off x="805110" y="3944974"/>
            <a:ext cx="3914825" cy="48615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a:t>
            </a:r>
            <a:r>
              <a:rPr lang="en-US" sz="12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If done, click delete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7" name="TextBox 6">
            <a:extLst>
              <a:ext uri="{FF2B5EF4-FFF2-40B4-BE49-F238E27FC236}">
                <a16:creationId xmlns:a16="http://schemas.microsoft.com/office/drawing/2014/main" id="{8733CBB7-E478-1EA0-2E4D-6AF93FE3C883}"/>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Debit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1" name="TextBox 40">
            <a:extLst>
              <a:ext uri="{FF2B5EF4-FFF2-40B4-BE49-F238E27FC236}">
                <a16:creationId xmlns:a16="http://schemas.microsoft.com/office/drawing/2014/main" id="{13815985-E326-C9C5-5B52-220FD1E49FAE}"/>
              </a:ext>
            </a:extLst>
          </p:cNvPr>
          <p:cNvSpPr txBox="1"/>
          <p:nvPr/>
        </p:nvSpPr>
        <p:spPr>
          <a:xfrm>
            <a:off x="7528270" y="5754418"/>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Debit Memo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24" name="Group 23">
            <a:extLst>
              <a:ext uri="{FF2B5EF4-FFF2-40B4-BE49-F238E27FC236}">
                <a16:creationId xmlns:a16="http://schemas.microsoft.com/office/drawing/2014/main" id="{841D6DE2-9428-5A31-40A4-5CA06094CBBB}"/>
              </a:ext>
            </a:extLst>
          </p:cNvPr>
          <p:cNvGrpSpPr/>
          <p:nvPr/>
        </p:nvGrpSpPr>
        <p:grpSpPr>
          <a:xfrm>
            <a:off x="5655406" y="3773474"/>
            <a:ext cx="5908675" cy="1889125"/>
            <a:chOff x="5655406" y="3944790"/>
            <a:chExt cx="5908675" cy="1889125"/>
          </a:xfrm>
        </p:grpSpPr>
        <p:pic>
          <p:nvPicPr>
            <p:cNvPr id="6" name="Picture 1353">
              <a:extLst>
                <a:ext uri="{FF2B5EF4-FFF2-40B4-BE49-F238E27FC236}">
                  <a16:creationId xmlns:a16="http://schemas.microsoft.com/office/drawing/2014/main" id="{5C0BCB07-A9FF-5197-6A13-CE07399F67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5406" y="3944790"/>
              <a:ext cx="5908675" cy="188912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344">
              <a:extLst>
                <a:ext uri="{FF2B5EF4-FFF2-40B4-BE49-F238E27FC236}">
                  <a16:creationId xmlns:a16="http://schemas.microsoft.com/office/drawing/2014/main" id="{904EF6B6-C593-5E93-73F9-C01043A48836}"/>
                </a:ext>
              </a:extLst>
            </p:cNvPr>
            <p:cNvSpPr>
              <a:spLocks noChangeArrowheads="1"/>
            </p:cNvSpPr>
            <p:nvPr/>
          </p:nvSpPr>
          <p:spPr bwMode="auto">
            <a:xfrm>
              <a:off x="6852219" y="4726678"/>
              <a:ext cx="275900" cy="2000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9" name="Straight Arrow Connector 1345">
              <a:extLst>
                <a:ext uri="{FF2B5EF4-FFF2-40B4-BE49-F238E27FC236}">
                  <a16:creationId xmlns:a16="http://schemas.microsoft.com/office/drawing/2014/main" id="{4C94744B-D1BD-D133-4CEE-2B1491C28F3D}"/>
                </a:ext>
              </a:extLst>
            </p:cNvPr>
            <p:cNvSpPr>
              <a:spLocks noChangeShapeType="1"/>
            </p:cNvSpPr>
            <p:nvPr/>
          </p:nvSpPr>
          <p:spPr bwMode="auto">
            <a:xfrm>
              <a:off x="7128519" y="4726678"/>
              <a:ext cx="200000" cy="95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 Box 1346">
              <a:extLst>
                <a:ext uri="{FF2B5EF4-FFF2-40B4-BE49-F238E27FC236}">
                  <a16:creationId xmlns:a16="http://schemas.microsoft.com/office/drawing/2014/main" id="{D68B9C60-72F6-5FB2-C2F7-4079AA02B7B5}"/>
                </a:ext>
              </a:extLst>
            </p:cNvPr>
            <p:cNvSpPr txBox="1">
              <a:spLocks noChangeArrowheads="1"/>
            </p:cNvSpPr>
            <p:nvPr/>
          </p:nvSpPr>
          <p:spPr bwMode="auto">
            <a:xfrm>
              <a:off x="7338019" y="4621878"/>
              <a:ext cx="466700" cy="24770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1348">
              <a:extLst>
                <a:ext uri="{FF2B5EF4-FFF2-40B4-BE49-F238E27FC236}">
                  <a16:creationId xmlns:a16="http://schemas.microsoft.com/office/drawing/2014/main" id="{ED17ECC0-CE81-15FA-B641-02D6C515F0A9}"/>
                </a:ext>
              </a:extLst>
            </p:cNvPr>
            <p:cNvSpPr>
              <a:spLocks noChangeArrowheads="1"/>
            </p:cNvSpPr>
            <p:nvPr/>
          </p:nvSpPr>
          <p:spPr bwMode="auto">
            <a:xfrm>
              <a:off x="7528270" y="4411478"/>
              <a:ext cx="466436" cy="2104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16" name="Straight Arrow Connector 1349">
              <a:extLst>
                <a:ext uri="{FF2B5EF4-FFF2-40B4-BE49-F238E27FC236}">
                  <a16:creationId xmlns:a16="http://schemas.microsoft.com/office/drawing/2014/main" id="{55B832F7-05C8-48E1-DA47-8A0D5D6B3536}"/>
                </a:ext>
              </a:extLst>
            </p:cNvPr>
            <p:cNvSpPr>
              <a:spLocks noChangeShapeType="1"/>
            </p:cNvSpPr>
            <p:nvPr/>
          </p:nvSpPr>
          <p:spPr bwMode="auto">
            <a:xfrm>
              <a:off x="7994706" y="4493478"/>
              <a:ext cx="200015" cy="95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Text Box 1350">
              <a:extLst>
                <a:ext uri="{FF2B5EF4-FFF2-40B4-BE49-F238E27FC236}">
                  <a16:creationId xmlns:a16="http://schemas.microsoft.com/office/drawing/2014/main" id="{B8137987-5287-7746-70F2-169FD50D3AD0}"/>
                </a:ext>
              </a:extLst>
            </p:cNvPr>
            <p:cNvSpPr txBox="1">
              <a:spLocks noChangeArrowheads="1"/>
            </p:cNvSpPr>
            <p:nvPr/>
          </p:nvSpPr>
          <p:spPr bwMode="auto">
            <a:xfrm>
              <a:off x="8208622" y="4401978"/>
              <a:ext cx="304823" cy="24770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 name="Text Box 7">
              <a:extLst>
                <a:ext uri="{FF2B5EF4-FFF2-40B4-BE49-F238E27FC236}">
                  <a16:creationId xmlns:a16="http://schemas.microsoft.com/office/drawing/2014/main" id="{C9BAF1A0-6D9E-9E03-756F-AE6429C1C01F}"/>
                </a:ext>
              </a:extLst>
            </p:cNvPr>
            <p:cNvSpPr txBox="1">
              <a:spLocks noChangeArrowheads="1"/>
            </p:cNvSpPr>
            <p:nvPr/>
          </p:nvSpPr>
          <p:spPr bwMode="auto">
            <a:xfrm>
              <a:off x="7985221" y="4814740"/>
              <a:ext cx="2301875" cy="676910"/>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84138" marR="0" lvl="0" algn="l" defTabSz="914400" rtl="0" eaLnBrk="0" fontAlgn="base" latinLnBrk="0" hangingPunct="0">
                <a:lnSpc>
                  <a:spcPct val="100000"/>
                </a:lnSpc>
                <a:spcBef>
                  <a:spcPct val="0"/>
                </a:spcBef>
                <a:spcAft>
                  <a:spcPct val="0"/>
                </a:spcAft>
                <a:buClrTx/>
                <a:buSzTx/>
                <a:buFontTx/>
                <a:buNone/>
                <a:tabLst>
                  <a:tab pos="203200" algn="l"/>
                </a:tabLst>
              </a:pPr>
              <a:r>
                <a:rPr kumimoji="0" lang="en-PH" altLang="en-US" sz="1000" b="0" i="1" u="none" strike="noStrike" cap="none" normalizeH="0" baseline="0" dirty="0">
                  <a:ln>
                    <a:noFill/>
                  </a:ln>
                  <a:solidFill>
                    <a:srgbClr val="4F6128"/>
                  </a:solidFill>
                  <a:effectLst/>
                  <a:latin typeface="+mn-lt"/>
                  <a:ea typeface="Calibri" panose="020F0502020204030204" pitchFamily="34" charset="0"/>
                  <a:cs typeface="Times New Roman" panose="02020603050405020304" pitchFamily="18" charset="0"/>
                </a:rPr>
                <a:t>How to search debit notes?</a:t>
              </a:r>
              <a:endParaRPr kumimoji="0" lang="en-PH" altLang="en-US" sz="400" b="0" i="0" u="none" strike="noStrike" cap="none" normalizeH="0" baseline="0" dirty="0">
                <a:ln>
                  <a:noFill/>
                </a:ln>
                <a:solidFill>
                  <a:schemeClr val="tx1"/>
                </a:solidFill>
                <a:effectLst/>
                <a:latin typeface="+mn-lt"/>
              </a:endParaRPr>
            </a:p>
            <a:p>
              <a:pPr marL="228600" marR="0" lvl="0" indent="-49213" algn="l" defTabSz="914400" rtl="0" eaLnBrk="0" fontAlgn="base" latinLnBrk="0" hangingPunct="0">
                <a:lnSpc>
                  <a:spcPct val="100000"/>
                </a:lnSpc>
                <a:spcBef>
                  <a:spcPct val="0"/>
                </a:spcBef>
                <a:spcAft>
                  <a:spcPct val="0"/>
                </a:spcAft>
                <a:buClrTx/>
                <a:buSzTx/>
                <a:buFont typeface="+mj-lt"/>
                <a:buAutoNum type="arabicPeriod"/>
                <a:tabLst>
                  <a:tab pos="203200" algn="l"/>
                </a:tabLst>
              </a:pPr>
              <a:r>
                <a:rPr kumimoji="0" lang="en-PH" altLang="en-US" sz="800" b="0"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Type the transaction number in the search bar.</a:t>
              </a:r>
              <a:endParaRPr kumimoji="0" lang="en-PH" altLang="en-US" sz="400" b="0" i="0" u="none" strike="noStrike" cap="none" normalizeH="0" baseline="0" dirty="0">
                <a:ln>
                  <a:noFill/>
                </a:ln>
                <a:solidFill>
                  <a:schemeClr val="tx1"/>
                </a:solidFill>
                <a:effectLst/>
                <a:latin typeface="+mn-lt"/>
              </a:endParaRPr>
            </a:p>
            <a:p>
              <a:pPr marL="228600" marR="0" lvl="0" indent="-49213" algn="l" defTabSz="914400" rtl="0" eaLnBrk="0" fontAlgn="base" latinLnBrk="0" hangingPunct="0">
                <a:lnSpc>
                  <a:spcPct val="100000"/>
                </a:lnSpc>
                <a:spcBef>
                  <a:spcPct val="0"/>
                </a:spcBef>
                <a:spcAft>
                  <a:spcPct val="0"/>
                </a:spcAft>
                <a:buClrTx/>
                <a:buSzTx/>
                <a:buFont typeface="+mj-lt"/>
                <a:buAutoNum type="arabicPeriod"/>
                <a:tabLst>
                  <a:tab pos="203200" algn="l"/>
                </a:tabLst>
              </a:pPr>
              <a:r>
                <a:rPr kumimoji="0" lang="en-PH" altLang="en-US" sz="800" b="0"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Click ‘enter’ in the keyboard to search.</a:t>
              </a:r>
              <a:endParaRPr kumimoji="0" lang="en-PH" altLang="en-US" sz="400" b="0" i="0" u="none" strike="noStrike" cap="none" normalizeH="0" baseline="0" dirty="0">
                <a:ln>
                  <a:noFill/>
                </a:ln>
                <a:solidFill>
                  <a:schemeClr val="tx1"/>
                </a:solidFill>
                <a:effectLst/>
                <a:latin typeface="+mn-lt"/>
              </a:endParaRPr>
            </a:p>
            <a:p>
              <a:pPr marL="228600" marR="0" lvl="0" indent="-49213" algn="l" defTabSz="914400" rtl="0" eaLnBrk="0" fontAlgn="base" latinLnBrk="0" hangingPunct="0">
                <a:lnSpc>
                  <a:spcPct val="100000"/>
                </a:lnSpc>
                <a:spcBef>
                  <a:spcPct val="0"/>
                </a:spcBef>
                <a:spcAft>
                  <a:spcPct val="0"/>
                </a:spcAft>
                <a:buClrTx/>
                <a:buSzTx/>
                <a:buFont typeface="+mj-lt"/>
                <a:buAutoNum type="arabicPeriod"/>
                <a:tabLst>
                  <a:tab pos="203200" algn="l"/>
                </a:tabLst>
              </a:pPr>
              <a:r>
                <a:rPr kumimoji="0" lang="en-PH" altLang="en-US" sz="800" b="0"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Click to select the transaction you want to edit</a:t>
              </a:r>
              <a:endParaRPr kumimoji="0" lang="en-PH" altLang="en-US" sz="1800" b="0" i="0" u="none" strike="noStrike" cap="none" normalizeH="0" baseline="0" dirty="0">
                <a:ln>
                  <a:noFill/>
                </a:ln>
                <a:solidFill>
                  <a:schemeClr val="tx1"/>
                </a:solidFill>
                <a:effectLst/>
                <a:latin typeface="+mn-lt"/>
              </a:endParaRPr>
            </a:p>
          </p:txBody>
        </p:sp>
        <p:sp>
          <p:nvSpPr>
            <p:cNvPr id="22" name="Text Box 9">
              <a:extLst>
                <a:ext uri="{FF2B5EF4-FFF2-40B4-BE49-F238E27FC236}">
                  <a16:creationId xmlns:a16="http://schemas.microsoft.com/office/drawing/2014/main" id="{6786050F-D886-8C60-227F-8FE94EF1C27E}"/>
                </a:ext>
              </a:extLst>
            </p:cNvPr>
            <p:cNvSpPr txBox="1">
              <a:spLocks noChangeArrowheads="1"/>
            </p:cNvSpPr>
            <p:nvPr/>
          </p:nvSpPr>
          <p:spPr bwMode="auto">
            <a:xfrm>
              <a:off x="5822094" y="4067028"/>
              <a:ext cx="1306512" cy="2730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25" name="Group 24">
            <a:extLst>
              <a:ext uri="{FF2B5EF4-FFF2-40B4-BE49-F238E27FC236}">
                <a16:creationId xmlns:a16="http://schemas.microsoft.com/office/drawing/2014/main" id="{10CD37E2-B013-782F-00CB-679860C0E431}"/>
              </a:ext>
            </a:extLst>
          </p:cNvPr>
          <p:cNvGrpSpPr/>
          <p:nvPr/>
        </p:nvGrpSpPr>
        <p:grpSpPr>
          <a:xfrm>
            <a:off x="5499847" y="1001616"/>
            <a:ext cx="6030913" cy="2049463"/>
            <a:chOff x="5409859" y="401589"/>
            <a:chExt cx="6030913" cy="2049463"/>
          </a:xfrm>
        </p:grpSpPr>
        <p:pic>
          <p:nvPicPr>
            <p:cNvPr id="26" name="Picture 1306">
              <a:extLst>
                <a:ext uri="{FF2B5EF4-FFF2-40B4-BE49-F238E27FC236}">
                  <a16:creationId xmlns:a16="http://schemas.microsoft.com/office/drawing/2014/main" id="{857E1309-69F5-311C-7A8C-A8485FAD9D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9859" y="401589"/>
              <a:ext cx="6030913" cy="2049463"/>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1263">
              <a:extLst>
                <a:ext uri="{FF2B5EF4-FFF2-40B4-BE49-F238E27FC236}">
                  <a16:creationId xmlns:a16="http://schemas.microsoft.com/office/drawing/2014/main" id="{C0E7F100-F48F-A4C4-4257-88CD140DC69E}"/>
                </a:ext>
              </a:extLst>
            </p:cNvPr>
            <p:cNvSpPr>
              <a:spLocks noChangeArrowheads="1"/>
            </p:cNvSpPr>
            <p:nvPr/>
          </p:nvSpPr>
          <p:spPr bwMode="auto">
            <a:xfrm>
              <a:off x="5519436" y="1383851"/>
              <a:ext cx="973153" cy="2477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dirty="0"/>
            </a:p>
          </p:txBody>
        </p:sp>
        <p:sp>
          <p:nvSpPr>
            <p:cNvPr id="29" name="Straight Arrow Connector 1264">
              <a:extLst>
                <a:ext uri="{FF2B5EF4-FFF2-40B4-BE49-F238E27FC236}">
                  <a16:creationId xmlns:a16="http://schemas.microsoft.com/office/drawing/2014/main" id="{677B565B-9FE3-519C-E262-0738E5F3B2C8}"/>
                </a:ext>
              </a:extLst>
            </p:cNvPr>
            <p:cNvSpPr>
              <a:spLocks noChangeShapeType="1"/>
            </p:cNvSpPr>
            <p:nvPr/>
          </p:nvSpPr>
          <p:spPr bwMode="auto">
            <a:xfrm>
              <a:off x="6492589" y="1431876"/>
              <a:ext cx="200010" cy="950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Text Box 1265">
              <a:extLst>
                <a:ext uri="{FF2B5EF4-FFF2-40B4-BE49-F238E27FC236}">
                  <a16:creationId xmlns:a16="http://schemas.microsoft.com/office/drawing/2014/main" id="{367C84CB-906F-B5AA-DE5C-F2FB63AF8061}"/>
                </a:ext>
              </a:extLst>
            </p:cNvPr>
            <p:cNvSpPr txBox="1">
              <a:spLocks noChangeArrowheads="1"/>
            </p:cNvSpPr>
            <p:nvPr/>
          </p:nvSpPr>
          <p:spPr bwMode="auto">
            <a:xfrm>
              <a:off x="6702099" y="1327052"/>
              <a:ext cx="466724" cy="247756"/>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
        <p:nvSpPr>
          <p:cNvPr id="31" name="TextBox 30">
            <a:extLst>
              <a:ext uri="{FF2B5EF4-FFF2-40B4-BE49-F238E27FC236}">
                <a16:creationId xmlns:a16="http://schemas.microsoft.com/office/drawing/2014/main" id="{21A5F38F-EF5D-6432-46B6-642DF0E23248}"/>
              </a:ext>
            </a:extLst>
          </p:cNvPr>
          <p:cNvSpPr txBox="1"/>
          <p:nvPr/>
        </p:nvSpPr>
        <p:spPr>
          <a:xfrm>
            <a:off x="7571369" y="2993149"/>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Debit Memo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72183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053690"/>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Information</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3" name="Text Box 1294">
            <a:extLst>
              <a:ext uri="{FF2B5EF4-FFF2-40B4-BE49-F238E27FC236}">
                <a16:creationId xmlns:a16="http://schemas.microsoft.com/office/drawing/2014/main" id="{DDD4D16F-99A7-A220-B785-6EEF1E7FA204}"/>
              </a:ext>
            </a:extLst>
          </p:cNvPr>
          <p:cNvSpPr txBox="1"/>
          <p:nvPr/>
        </p:nvSpPr>
        <p:spPr>
          <a:xfrm>
            <a:off x="805110" y="1611682"/>
            <a:ext cx="3887062" cy="4610003"/>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227330">
              <a:lnSpc>
                <a:spcPct val="107000"/>
              </a:lnSpc>
              <a:spcBef>
                <a:spcPts val="19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When you click the arrow icon parallel in the main form on the upper right, the debit memo – main form will be minimize and the other tabs will be visible.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0" marR="227330">
              <a:lnSpc>
                <a:spcPct val="107000"/>
              </a:lnSpc>
              <a:spcBef>
                <a:spcPts val="190"/>
              </a:spcBef>
              <a:spcAft>
                <a:spcPts val="800"/>
              </a:spcAft>
            </a:pPr>
            <a:r>
              <a:rPr lang="en-US" sz="1100" b="1" dirty="0">
                <a:effectLst/>
                <a:ea typeface="Times New Roman" panose="02020603050405020304" pitchFamily="18" charset="0"/>
                <a:cs typeface="Times New Roman" panose="02020603050405020304" pitchFamily="18" charset="0"/>
              </a:rPr>
              <a:t>Particular tab</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100" dirty="0">
                <a:effectLst/>
                <a:ea typeface="Times New Roman" panose="02020603050405020304" pitchFamily="18" charset="0"/>
                <a:cs typeface="Times New Roman" panose="02020603050405020304" pitchFamily="18" charset="0"/>
              </a:rPr>
              <a:t>Click maximize arrow to view the Particular tab</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100" dirty="0">
                <a:effectLst/>
                <a:ea typeface="Times New Roman" panose="02020603050405020304" pitchFamily="18" charset="0"/>
                <a:cs typeface="Times New Roman" panose="02020603050405020304" pitchFamily="18" charset="0"/>
              </a:rPr>
              <a:t>Provide the necessary details in their fields</a:t>
            </a:r>
            <a:endParaRPr lang="en-PH" sz="1100" dirty="0">
              <a:effectLst/>
              <a:ea typeface="Calibri" panose="020F0502020204030204" pitchFamily="34" charset="0"/>
              <a:cs typeface="Times New Roman" panose="02020603050405020304" pitchFamily="18" charset="0"/>
            </a:endParaRPr>
          </a:p>
          <a:p>
            <a:pPr lvl="1" algn="just">
              <a:lnSpc>
                <a:spcPct val="115000"/>
              </a:lnSpc>
            </a:pPr>
            <a:r>
              <a:rPr lang="en-US" sz="1100" dirty="0">
                <a:effectLst/>
                <a:ea typeface="Times New Roman" panose="02020603050405020304" pitchFamily="18" charset="0"/>
                <a:cs typeface="Times New Roman" panose="02020603050405020304" pitchFamily="18" charset="0"/>
              </a:rPr>
              <a:t>2.1. Click Add button to add new row</a:t>
            </a:r>
          </a:p>
          <a:p>
            <a:pPr lvl="1" algn="just">
              <a:lnSpc>
                <a:spcPct val="115000"/>
              </a:lnSpc>
            </a:pPr>
            <a:r>
              <a:rPr lang="en-US" sz="1100" dirty="0">
                <a:ea typeface="Times New Roman" panose="02020603050405020304" pitchFamily="18" charset="0"/>
                <a:cs typeface="Times New Roman" panose="02020603050405020304" pitchFamily="18" charset="0"/>
              </a:rPr>
              <a:t>2.2. </a:t>
            </a:r>
            <a:r>
              <a:rPr lang="en-US" sz="1100" dirty="0">
                <a:effectLst/>
                <a:ea typeface="Times New Roman" panose="02020603050405020304" pitchFamily="18" charset="0"/>
                <a:cs typeface="Times New Roman" panose="02020603050405020304" pitchFamily="18" charset="0"/>
              </a:rPr>
              <a:t>Type particular and amount if there’s any</a:t>
            </a:r>
            <a:endParaRPr lang="en-PH" sz="1100" dirty="0">
              <a:effectLst/>
              <a:ea typeface="Calibri" panose="020F0502020204030204" pitchFamily="34" charset="0"/>
              <a:cs typeface="Times New Roman" panose="02020603050405020304" pitchFamily="18" charset="0"/>
            </a:endParaRPr>
          </a:p>
          <a:p>
            <a:pPr lvl="1" algn="just">
              <a:lnSpc>
                <a:spcPct val="115000"/>
              </a:lnSpc>
            </a:pPr>
            <a:r>
              <a:rPr lang="en-US" sz="1100" dirty="0">
                <a:effectLst/>
                <a:ea typeface="Times New Roman" panose="02020603050405020304" pitchFamily="18" charset="0"/>
                <a:cs typeface="Times New Roman" panose="02020603050405020304" pitchFamily="18" charset="0"/>
              </a:rPr>
              <a:t>2.3. If done, click save all button</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mj-lt"/>
              <a:buAutoNum type="arabicPeriod"/>
            </a:pPr>
            <a:r>
              <a:rPr lang="en-US" sz="1100" dirty="0">
                <a:effectLst/>
                <a:ea typeface="Times New Roman" panose="02020603050405020304" pitchFamily="18" charset="0"/>
                <a:cs typeface="Times New Roman" panose="02020603050405020304" pitchFamily="18" charset="0"/>
              </a:rPr>
              <a:t>Click save button once done</a:t>
            </a:r>
          </a:p>
          <a:p>
            <a:pPr lvl="0" algn="just">
              <a:lnSpc>
                <a:spcPct val="115000"/>
              </a:lnSpc>
              <a:spcAft>
                <a:spcPts val="100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Attachment tab</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1. Click maximize arrow to view the attachment tab</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2. Click add document button</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a:lnSpc>
                <a:spcPct val="107000"/>
              </a:lnSpc>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A80F8A8F-41EE-08D3-5188-D2453A268D69}"/>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Debit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3" name="Slide Number Placeholder 9">
            <a:extLst>
              <a:ext uri="{FF2B5EF4-FFF2-40B4-BE49-F238E27FC236}">
                <a16:creationId xmlns:a16="http://schemas.microsoft.com/office/drawing/2014/main" id="{44896A8F-EB21-52B9-2BBE-E0C04BFEDE3D}"/>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4" name="Group 3">
            <a:extLst>
              <a:ext uri="{FF2B5EF4-FFF2-40B4-BE49-F238E27FC236}">
                <a16:creationId xmlns:a16="http://schemas.microsoft.com/office/drawing/2014/main" id="{BCF9C0CA-615F-37C0-2164-AC4FADC24F73}"/>
              </a:ext>
            </a:extLst>
          </p:cNvPr>
          <p:cNvGrpSpPr/>
          <p:nvPr/>
        </p:nvGrpSpPr>
        <p:grpSpPr>
          <a:xfrm>
            <a:off x="5551969" y="1584953"/>
            <a:ext cx="5470901" cy="1430421"/>
            <a:chOff x="6430729" y="1985714"/>
            <a:chExt cx="4349750" cy="1137285"/>
          </a:xfrm>
        </p:grpSpPr>
        <p:pic>
          <p:nvPicPr>
            <p:cNvPr id="7" name="Picture 6">
              <a:extLst>
                <a:ext uri="{FF2B5EF4-FFF2-40B4-BE49-F238E27FC236}">
                  <a16:creationId xmlns:a16="http://schemas.microsoft.com/office/drawing/2014/main" id="{4ADBDCBA-996C-1B94-5970-AA485424CBA1}"/>
                </a:ext>
              </a:extLst>
            </p:cNvPr>
            <p:cNvPicPr>
              <a:picLocks noChangeAspect="1"/>
            </p:cNvPicPr>
            <p:nvPr/>
          </p:nvPicPr>
          <p:blipFill>
            <a:blip r:embed="rId3"/>
            <a:stretch>
              <a:fillRect/>
            </a:stretch>
          </p:blipFill>
          <p:spPr bwMode="auto">
            <a:xfrm>
              <a:off x="6430729" y="1985714"/>
              <a:ext cx="4349750" cy="1137285"/>
            </a:xfrm>
            <a:prstGeom prst="rect">
              <a:avLst/>
            </a:prstGeom>
            <a:ln>
              <a:noFill/>
            </a:ln>
            <a:effectLst>
              <a:outerShdw blurRad="292100" dist="139700" dir="2700000" algn="tl" rotWithShape="0">
                <a:srgbClr val="333333">
                  <a:alpha val="65000"/>
                </a:srgbClr>
              </a:outerShdw>
            </a:effectLst>
          </p:spPr>
        </p:pic>
        <p:sp>
          <p:nvSpPr>
            <p:cNvPr id="8" name="Rectangle 898">
              <a:extLst>
                <a:ext uri="{FF2B5EF4-FFF2-40B4-BE49-F238E27FC236}">
                  <a16:creationId xmlns:a16="http://schemas.microsoft.com/office/drawing/2014/main" id="{3DF39ACF-7130-F2D8-06C8-29F696378BD2}"/>
                </a:ext>
              </a:extLst>
            </p:cNvPr>
            <p:cNvSpPr>
              <a:spLocks noChangeArrowheads="1"/>
            </p:cNvSpPr>
            <p:nvPr/>
          </p:nvSpPr>
          <p:spPr bwMode="auto">
            <a:xfrm>
              <a:off x="9682055" y="2490260"/>
              <a:ext cx="378936"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9" name="Text Box 900">
              <a:extLst>
                <a:ext uri="{FF2B5EF4-FFF2-40B4-BE49-F238E27FC236}">
                  <a16:creationId xmlns:a16="http://schemas.microsoft.com/office/drawing/2014/main" id="{DF4F2F18-AD0E-C86E-C270-9B07C1EDA3DA}"/>
                </a:ext>
              </a:extLst>
            </p:cNvPr>
            <p:cNvSpPr txBox="1">
              <a:spLocks noChangeArrowheads="1"/>
            </p:cNvSpPr>
            <p:nvPr/>
          </p:nvSpPr>
          <p:spPr bwMode="auto">
            <a:xfrm>
              <a:off x="9464632" y="2105381"/>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rPr>
                <a:t>2.1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4">
              <a:extLst>
                <a:ext uri="{FF2B5EF4-FFF2-40B4-BE49-F238E27FC236}">
                  <a16:creationId xmlns:a16="http://schemas.microsoft.com/office/drawing/2014/main" id="{31D23A27-35E3-A674-1DFD-8B43803178BA}"/>
                </a:ext>
              </a:extLst>
            </p:cNvPr>
            <p:cNvSpPr>
              <a:spLocks noChangeArrowheads="1"/>
            </p:cNvSpPr>
            <p:nvPr/>
          </p:nvSpPr>
          <p:spPr bwMode="auto">
            <a:xfrm>
              <a:off x="10140019" y="2493987"/>
              <a:ext cx="506689"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pic>
          <p:nvPicPr>
            <p:cNvPr id="11" name="Picture 10">
              <a:extLst>
                <a:ext uri="{FF2B5EF4-FFF2-40B4-BE49-F238E27FC236}">
                  <a16:creationId xmlns:a16="http://schemas.microsoft.com/office/drawing/2014/main" id="{E0463A98-9E3C-2BBC-F908-D1942939B2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93339" y="2110567"/>
              <a:ext cx="504762" cy="314286"/>
            </a:xfrm>
            <a:prstGeom prst="rect">
              <a:avLst/>
            </a:prstGeom>
          </p:spPr>
        </p:pic>
        <p:cxnSp>
          <p:nvCxnSpPr>
            <p:cNvPr id="12" name="AutoShape 6">
              <a:extLst>
                <a:ext uri="{FF2B5EF4-FFF2-40B4-BE49-F238E27FC236}">
                  <a16:creationId xmlns:a16="http://schemas.microsoft.com/office/drawing/2014/main" id="{EB586A74-50E6-599D-09BE-85FC0B0F331D}"/>
                </a:ext>
              </a:extLst>
            </p:cNvPr>
            <p:cNvCxnSpPr>
              <a:cxnSpLocks noChangeShapeType="1"/>
            </p:cNvCxnSpPr>
            <p:nvPr/>
          </p:nvCxnSpPr>
          <p:spPr bwMode="auto">
            <a:xfrm flipH="1" flipV="1">
              <a:off x="9767424" y="2359447"/>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4" name="AutoShape 6">
              <a:extLst>
                <a:ext uri="{FF2B5EF4-FFF2-40B4-BE49-F238E27FC236}">
                  <a16:creationId xmlns:a16="http://schemas.microsoft.com/office/drawing/2014/main" id="{EDD93AF8-DBA5-7E97-5255-C9AC2484A94B}"/>
                </a:ext>
              </a:extLst>
            </p:cNvPr>
            <p:cNvCxnSpPr>
              <a:cxnSpLocks noChangeShapeType="1"/>
            </p:cNvCxnSpPr>
            <p:nvPr/>
          </p:nvCxnSpPr>
          <p:spPr bwMode="auto">
            <a:xfrm flipH="1" flipV="1">
              <a:off x="10343891" y="2339565"/>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grpSp>
      <p:grpSp>
        <p:nvGrpSpPr>
          <p:cNvPr id="15" name="Group 14">
            <a:extLst>
              <a:ext uri="{FF2B5EF4-FFF2-40B4-BE49-F238E27FC236}">
                <a16:creationId xmlns:a16="http://schemas.microsoft.com/office/drawing/2014/main" id="{8884DA69-9510-BF39-F362-20146A4555F6}"/>
              </a:ext>
            </a:extLst>
          </p:cNvPr>
          <p:cNvGrpSpPr/>
          <p:nvPr/>
        </p:nvGrpSpPr>
        <p:grpSpPr>
          <a:xfrm>
            <a:off x="5551969" y="4122292"/>
            <a:ext cx="5662254" cy="1853632"/>
            <a:chOff x="6261610" y="3735002"/>
            <a:chExt cx="5138532" cy="1682183"/>
          </a:xfrm>
        </p:grpSpPr>
        <p:pic>
          <p:nvPicPr>
            <p:cNvPr id="16" name="Picture 15">
              <a:extLst>
                <a:ext uri="{FF2B5EF4-FFF2-40B4-BE49-F238E27FC236}">
                  <a16:creationId xmlns:a16="http://schemas.microsoft.com/office/drawing/2014/main" id="{C2814103-F1D3-BF1C-6D09-DE17B8889449}"/>
                </a:ext>
              </a:extLst>
            </p:cNvPr>
            <p:cNvPicPr>
              <a:picLocks noChangeAspect="1"/>
            </p:cNvPicPr>
            <p:nvPr/>
          </p:nvPicPr>
          <p:blipFill>
            <a:blip r:embed="rId5"/>
            <a:srcRect/>
            <a:stretch>
              <a:fillRect/>
            </a:stretch>
          </p:blipFill>
          <p:spPr bwMode="auto">
            <a:xfrm>
              <a:off x="6261610" y="3735002"/>
              <a:ext cx="4890135" cy="1358900"/>
            </a:xfrm>
            <a:prstGeom prst="rect">
              <a:avLst/>
            </a:prstGeom>
            <a:ln>
              <a:noFill/>
            </a:ln>
            <a:effectLst>
              <a:outerShdw blurRad="292100" dist="139700" dir="2700000" algn="tl" rotWithShape="0">
                <a:srgbClr val="333333">
                  <a:alpha val="65000"/>
                </a:srgbClr>
              </a:outerShdw>
            </a:effectLst>
          </p:spPr>
        </p:pic>
        <p:sp>
          <p:nvSpPr>
            <p:cNvPr id="17" name="Text Box 7">
              <a:extLst>
                <a:ext uri="{FF2B5EF4-FFF2-40B4-BE49-F238E27FC236}">
                  <a16:creationId xmlns:a16="http://schemas.microsoft.com/office/drawing/2014/main" id="{9F404228-AA3D-C6E2-CE05-903902455C12}"/>
                </a:ext>
              </a:extLst>
            </p:cNvPr>
            <p:cNvSpPr txBox="1">
              <a:spLocks noChangeArrowheads="1"/>
            </p:cNvSpPr>
            <p:nvPr/>
          </p:nvSpPr>
          <p:spPr bwMode="auto">
            <a:xfrm>
              <a:off x="6261610" y="4158615"/>
              <a:ext cx="2241146" cy="1013749"/>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algn="l" defTabSz="914400" rtl="0" eaLnBrk="0" fontAlgn="base" latinLnBrk="0" hangingPunct="0">
                <a:lnSpc>
                  <a:spcPct val="100000"/>
                </a:lnSpc>
                <a:spcBef>
                  <a:spcPts val="438"/>
                </a:spcBef>
                <a:spcAft>
                  <a:spcPts val="800"/>
                </a:spcAft>
                <a:buClrTx/>
                <a:buSzTx/>
                <a:buFontTx/>
                <a:buNone/>
                <a:tabLst/>
              </a:pPr>
              <a:r>
                <a:rPr kumimoji="0" lang="en-PH" altLang="en-US" sz="1000" b="0" i="1" u="none" strike="noStrike" cap="none" normalizeH="0" baseline="0" dirty="0">
                  <a:ln>
                    <a:noFill/>
                  </a:ln>
                  <a:solidFill>
                    <a:srgbClr val="4F6128"/>
                  </a:solidFill>
                  <a:effectLst/>
                  <a:latin typeface="Calibri" panose="020F0502020204030204" pitchFamily="34" charset="0"/>
                </a:rPr>
                <a:t>How to upload document?</a:t>
              </a:r>
              <a:endParaRPr kumimoji="0" lang="en-PH" altLang="en-US" sz="1000" b="0" i="1" u="none" strike="noStrike" cap="none" normalizeH="0" baseline="0" dirty="0">
                <a:ln>
                  <a:noFill/>
                </a:ln>
                <a:solidFill>
                  <a:schemeClr val="tx1"/>
                </a:solidFill>
                <a:effectLst/>
                <a:latin typeface="Times New Roman" panose="02020603050405020304" pitchFamily="18" charset="0"/>
              </a:endParaRPr>
            </a:p>
            <a:p>
              <a:pPr marL="268288" marR="0" lvl="1" indent="-92075"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Type the title of the document.</a:t>
              </a:r>
              <a:endParaRPr kumimoji="0" lang="en-US" altLang="en-US" sz="1000" b="0" i="0" u="none" strike="noStrike" cap="none" normalizeH="0" baseline="0" dirty="0">
                <a:ln>
                  <a:noFill/>
                </a:ln>
                <a:solidFill>
                  <a:schemeClr val="tx1"/>
                </a:solidFill>
                <a:effectLst/>
              </a:endParaRP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Click add button to add the chosen document to upload</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Then click upload button.</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If you want to add more document, click add document button and repeat steps 1 to #3</a:t>
              </a:r>
              <a:endParaRPr kumimoji="0" lang="en-US" altLang="en-US" sz="1800" b="0" i="0" u="none" strike="noStrike" cap="none" normalizeH="0" baseline="0" dirty="0">
                <a:ln>
                  <a:noFill/>
                </a:ln>
                <a:solidFill>
                  <a:schemeClr val="tx1"/>
                </a:solidFill>
                <a:effectLst/>
              </a:endParaRPr>
            </a:p>
          </p:txBody>
        </p:sp>
        <p:pic>
          <p:nvPicPr>
            <p:cNvPr id="18" name="Picture 17">
              <a:extLst>
                <a:ext uri="{FF2B5EF4-FFF2-40B4-BE49-F238E27FC236}">
                  <a16:creationId xmlns:a16="http://schemas.microsoft.com/office/drawing/2014/main" id="{A5526959-2A1E-F26F-209E-8F58AB6C1EF6}"/>
                </a:ext>
              </a:extLst>
            </p:cNvPr>
            <p:cNvPicPr>
              <a:picLocks noChangeAspect="1"/>
            </p:cNvPicPr>
            <p:nvPr/>
          </p:nvPicPr>
          <p:blipFill>
            <a:blip r:embed="rId6"/>
            <a:srcRect/>
            <a:stretch>
              <a:fillRect/>
            </a:stretch>
          </p:blipFill>
          <p:spPr bwMode="auto">
            <a:xfrm>
              <a:off x="8565789" y="4158615"/>
              <a:ext cx="1797685" cy="1258570"/>
            </a:xfrm>
            <a:prstGeom prst="rect">
              <a:avLst/>
            </a:prstGeom>
            <a:noFill/>
            <a:ln w="9525">
              <a:noFill/>
              <a:miter lim="800000"/>
              <a:headEnd/>
              <a:tailEnd/>
            </a:ln>
          </p:spPr>
        </p:pic>
        <p:sp>
          <p:nvSpPr>
            <p:cNvPr id="19" name="Rectangle 8">
              <a:extLst>
                <a:ext uri="{FF2B5EF4-FFF2-40B4-BE49-F238E27FC236}">
                  <a16:creationId xmlns:a16="http://schemas.microsoft.com/office/drawing/2014/main" id="{07DD7FED-85AD-4F9A-4B7C-D315AA8787FA}"/>
                </a:ext>
              </a:extLst>
            </p:cNvPr>
            <p:cNvSpPr>
              <a:spLocks noChangeArrowheads="1"/>
            </p:cNvSpPr>
            <p:nvPr/>
          </p:nvSpPr>
          <p:spPr bwMode="auto">
            <a:xfrm>
              <a:off x="10426507" y="4163850"/>
              <a:ext cx="714216" cy="17637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20" name="AutoShape 9">
              <a:extLst>
                <a:ext uri="{FF2B5EF4-FFF2-40B4-BE49-F238E27FC236}">
                  <a16:creationId xmlns:a16="http://schemas.microsoft.com/office/drawing/2014/main" id="{542FBC19-F9B2-4EF5-96E3-429A4FD5D299}"/>
                </a:ext>
              </a:extLst>
            </p:cNvPr>
            <p:cNvSpPr>
              <a:spLocks noChangeArrowheads="1"/>
            </p:cNvSpPr>
            <p:nvPr/>
          </p:nvSpPr>
          <p:spPr bwMode="auto">
            <a:xfrm rot="832617" flipH="1">
              <a:off x="10252303" y="4359558"/>
              <a:ext cx="233363" cy="92075"/>
            </a:xfrm>
            <a:prstGeom prst="curvedUpArrow">
              <a:avLst>
                <a:gd name="adj1" fmla="val 29827"/>
                <a:gd name="adj2" fmla="val 5963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PH"/>
            </a:p>
          </p:txBody>
        </p:sp>
        <p:sp>
          <p:nvSpPr>
            <p:cNvPr id="22" name="Text Box 10">
              <a:extLst>
                <a:ext uri="{FF2B5EF4-FFF2-40B4-BE49-F238E27FC236}">
                  <a16:creationId xmlns:a16="http://schemas.microsoft.com/office/drawing/2014/main" id="{C1A3378C-DDD1-1BEC-514B-66F4C2188F42}"/>
                </a:ext>
              </a:extLst>
            </p:cNvPr>
            <p:cNvSpPr txBox="1">
              <a:spLocks noChangeArrowheads="1"/>
            </p:cNvSpPr>
            <p:nvPr/>
          </p:nvSpPr>
          <p:spPr bwMode="auto">
            <a:xfrm>
              <a:off x="10925480" y="3848814"/>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24" name="TextBox 23">
            <a:extLst>
              <a:ext uri="{FF2B5EF4-FFF2-40B4-BE49-F238E27FC236}">
                <a16:creationId xmlns:a16="http://schemas.microsoft.com/office/drawing/2014/main" id="{6384DA11-C5A8-2601-CC7F-AC523E2916D4}"/>
              </a:ext>
            </a:extLst>
          </p:cNvPr>
          <p:cNvSpPr txBox="1"/>
          <p:nvPr/>
        </p:nvSpPr>
        <p:spPr>
          <a:xfrm>
            <a:off x="5468834" y="1158389"/>
            <a:ext cx="2552700" cy="281231"/>
          </a:xfrm>
          <a:prstGeom prst="rect">
            <a:avLst/>
          </a:prstGeom>
          <a:noFill/>
        </p:spPr>
        <p:txBody>
          <a:bodyPr wrap="square">
            <a:spAutoFit/>
          </a:bodyPr>
          <a:lstStyle/>
          <a:p>
            <a:pPr marL="0" marR="0">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Particular Tab</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11A16B3F-9581-4CDF-D706-A19EBB7F3FA1}"/>
              </a:ext>
            </a:extLst>
          </p:cNvPr>
          <p:cNvSpPr txBox="1"/>
          <p:nvPr/>
        </p:nvSpPr>
        <p:spPr>
          <a:xfrm>
            <a:off x="5468834" y="3780310"/>
            <a:ext cx="2552700" cy="281231"/>
          </a:xfrm>
          <a:prstGeom prst="rect">
            <a:avLst/>
          </a:prstGeom>
          <a:noFill/>
        </p:spPr>
        <p:txBody>
          <a:bodyPr wrap="square">
            <a:spAutoFit/>
          </a:bodyPr>
          <a:lstStyle/>
          <a:p>
            <a:pPr marL="0" marR="0">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Attachment Tab</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9496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C13FD5-5EA9-094F-0EB1-BD7D4E3ADBBE}"/>
              </a:ext>
            </a:extLst>
          </p:cNvPr>
          <p:cNvSpPr txBox="1"/>
          <p:nvPr/>
        </p:nvSpPr>
        <p:spPr>
          <a:xfrm>
            <a:off x="1906681" y="1410143"/>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Buttons</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8" name="Picture 7">
            <a:extLst>
              <a:ext uri="{FF2B5EF4-FFF2-40B4-BE49-F238E27FC236}">
                <a16:creationId xmlns:a16="http://schemas.microsoft.com/office/drawing/2014/main" id="{85E66A33-1BD7-B7AD-0BDB-0D3E61A9CEEB}"/>
              </a:ext>
            </a:extLst>
          </p:cNvPr>
          <p:cNvPicPr>
            <a:picLocks noChangeAspect="1"/>
          </p:cNvPicPr>
          <p:nvPr/>
        </p:nvPicPr>
        <p:blipFill>
          <a:blip r:embed="rId2"/>
          <a:stretch>
            <a:fillRect/>
          </a:stretch>
        </p:blipFill>
        <p:spPr>
          <a:xfrm>
            <a:off x="2787773" y="1978194"/>
            <a:ext cx="6616454" cy="2901611"/>
          </a:xfrm>
          <a:prstGeom prst="rect">
            <a:avLst/>
          </a:prstGeom>
        </p:spPr>
      </p:pic>
      <p:sp>
        <p:nvSpPr>
          <p:cNvPr id="2" name="Text Box 6">
            <a:extLst>
              <a:ext uri="{FF2B5EF4-FFF2-40B4-BE49-F238E27FC236}">
                <a16:creationId xmlns:a16="http://schemas.microsoft.com/office/drawing/2014/main" id="{372A9B47-7B99-6E3F-B8E6-5115626A759E}"/>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FD997A9-985F-1CF1-7594-A2241AD538EA}"/>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Debit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Tree>
    <p:extLst>
      <p:ext uri="{BB962C8B-B14F-4D97-AF65-F5344CB8AC3E}">
        <p14:creationId xmlns:p14="http://schemas.microsoft.com/office/powerpoint/2010/main" val="82889404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1103</Words>
  <Application>Microsoft Office PowerPoint</Application>
  <PresentationFormat>Widescreen</PresentationFormat>
  <Paragraphs>180</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Animosa Extra Bold</vt:lpstr>
      <vt:lpstr>Arial</vt:lpstr>
      <vt:lpstr>Bodoni MT Condensed</vt:lpstr>
      <vt:lpstr>Calibri</vt:lpstr>
      <vt:lpstr>Calibri Light</vt:lpstr>
      <vt:lpstr>Century Gothic</vt:lpstr>
      <vt:lpstr>Chivo Light</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2</cp:revision>
  <dcterms:created xsi:type="dcterms:W3CDTF">2023-01-12T11:31:24Z</dcterms:created>
  <dcterms:modified xsi:type="dcterms:W3CDTF">2023-01-12T11:32:15Z</dcterms:modified>
</cp:coreProperties>
</file>