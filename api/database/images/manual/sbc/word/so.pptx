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9" r:id="rId2"/>
    <p:sldId id="263" r:id="rId3"/>
    <p:sldId id="291" r:id="rId4"/>
    <p:sldId id="349" r:id="rId5"/>
    <p:sldId id="393" r:id="rId6"/>
    <p:sldId id="395" r:id="rId7"/>
    <p:sldId id="355" r:id="rId8"/>
    <p:sldId id="356" r:id="rId9"/>
    <p:sldId id="357" r:id="rId10"/>
    <p:sldId id="29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63D"/>
    <a:srgbClr val="007434"/>
    <a:srgbClr val="F8F8F8"/>
    <a:srgbClr val="00EA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3" autoAdjust="0"/>
    <p:restoredTop sz="94242" autoAdjust="0"/>
  </p:normalViewPr>
  <p:slideViewPr>
    <p:cSldViewPr snapToGrid="0">
      <p:cViewPr varScale="1">
        <p:scale>
          <a:sx n="111" d="100"/>
          <a:sy n="111" d="100"/>
        </p:scale>
        <p:origin x="39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FA592B-446F-4BD5-8670-BEFC722346BA}" type="datetimeFigureOut">
              <a:rPr lang="en-US" smtClean="0"/>
              <a:t>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2F21F4-0DD8-4E57-96CC-71F82AA39ADC}" type="slidenum">
              <a:rPr lang="en-US" smtClean="0"/>
              <a:t>‹#›</a:t>
            </a:fld>
            <a:endParaRPr lang="en-US"/>
          </a:p>
        </p:txBody>
      </p:sp>
    </p:spTree>
    <p:extLst>
      <p:ext uri="{BB962C8B-B14F-4D97-AF65-F5344CB8AC3E}">
        <p14:creationId xmlns:p14="http://schemas.microsoft.com/office/powerpoint/2010/main" val="1511227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F8F5D17A-142B-4705-ADE1-A3098ECE97EC}" type="datetime1">
              <a:rPr lang="en-US" smtClean="0"/>
              <a:t>1/3/2023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dirty="0"/>
          </a:p>
        </p:txBody>
      </p:sp>
    </p:spTree>
    <p:extLst>
      <p:ext uri="{BB962C8B-B14F-4D97-AF65-F5344CB8AC3E}">
        <p14:creationId xmlns:p14="http://schemas.microsoft.com/office/powerpoint/2010/main" val="3764355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F94770F1-593C-41E5-9DDC-A7DDE7DA3A0C}" type="datetime1">
              <a:rPr lang="en-US" smtClean="0"/>
              <a:t>1/3/2023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143828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8EBBA4C9-61EB-4E89-89EA-F649D387A885}" type="datetime1">
              <a:rPr lang="en-US" smtClean="0"/>
              <a:t>1/3/2023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73317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DA50626-E323-4146-837D-79DA438855EF}" type="datetime1">
              <a:rPr lang="en-US" smtClean="0"/>
              <a:t>1/3/2023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049840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AC2F3B27-06CD-4A16-84A3-AF5F748FC93B}" type="datetime1">
              <a:rPr lang="en-US" smtClean="0"/>
              <a:t>1/3/2023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37824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FB68157D-198D-4A55-A6AF-F9A96DD09084}" type="datetime1">
              <a:rPr lang="en-US" smtClean="0"/>
              <a:t>1/3/2023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3787" y="6361105"/>
            <a:ext cx="495813"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648619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F1FA7D0-D9E5-4981-8E91-F86A007EC8E4}" type="datetime1">
              <a:rPr lang="en-US" smtClean="0"/>
              <a:t>1/3/2023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433755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9A855C73-8B4C-45CE-9F74-EC399096C6A5}" type="datetime1">
              <a:rPr lang="en-US" smtClean="0"/>
              <a:t>1/3/2023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258855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58469AC3-3FEF-4BD8-8E00-675B95488D0A}" type="datetime1">
              <a:rPr lang="en-US" smtClean="0"/>
              <a:t>1/3/2023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189031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4712B63B-3CDB-4958-B2A2-640C52D819C0}" type="datetime1">
              <a:rPr lang="en-US" smtClean="0"/>
              <a:t>1/3/2023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317568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5397D481-5643-4F4C-B901-C5733B76A666}" type="datetime1">
              <a:rPr lang="en-US" smtClean="0"/>
              <a:t>1/3/2023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779370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6D66-831C-4C42-918D-32B4B0271D98}" type="datetime1">
              <a:rPr lang="en-US" smtClean="0"/>
              <a:t>1/3/2023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133194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algn="ctr"/>
            <a:r>
              <a:rPr lang="en-US" sz="8000" b="1" dirty="0">
                <a:solidFill>
                  <a:srgbClr val="00B050"/>
                </a:solidFill>
                <a:latin typeface="Bodoni MT Condensed" panose="02070606080606020203" pitchFamily="18" charset="0"/>
              </a:rPr>
              <a:t>Sales Order</a:t>
            </a:r>
            <a:endParaRPr lang="en-US" sz="80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spcBef>
                <a:spcPts val="0"/>
              </a:spcBef>
            </a:pPr>
            <a:endParaRPr lang="en-PH" sz="14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PH" sz="1400" dirty="0">
                <a:solidFill>
                  <a:schemeClr val="bg1"/>
                </a:solidFill>
                <a:ea typeface="Open Sans" panose="020B0606030504020204" pitchFamily="34" charset="0"/>
                <a:cs typeface="Times New Roman" panose="02020603050405020304" pitchFamily="18" charset="0"/>
              </a:rPr>
              <a:t>Sales Order it is where order of customers are recorded. It is also where ordered versus served quantity per sales order transaction are viewed.</a:t>
            </a: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EB57B14-7614-4E70-88B7-2ADECFEBE0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35769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Order</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mj-lt"/>
              </a:rPr>
              <a:t>Main Window</a:t>
            </a:r>
            <a:endParaRPr lang="en-US" sz="2000" dirty="0">
              <a:solidFill>
                <a:srgbClr val="007434"/>
              </a:solidFill>
              <a:latin typeface="+mj-lt"/>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3"/>
            <a:ext cx="3887062" cy="171138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227330">
              <a:lnSpc>
                <a:spcPct val="107000"/>
              </a:lnSpc>
              <a:spcBef>
                <a:spcPts val="190"/>
              </a:spcBef>
              <a:spcAft>
                <a:spcPts val="800"/>
              </a:spcAft>
            </a:pPr>
            <a:r>
              <a:rPr lang="en-PH" sz="1800" dirty="0">
                <a:effectLst/>
                <a:latin typeface="Calibri" panose="020F0502020204030204" pitchFamily="34" charset="0"/>
                <a:ea typeface="Calibri" panose="020F0502020204030204" pitchFamily="34" charset="0"/>
                <a:cs typeface="Times New Roman" panose="02020603050405020304" pitchFamily="18" charset="0"/>
              </a:rPr>
              <a:t>When you click the Sales Order module under Sales, Sales Order transactions list will display based on filtered date and status in the sales order main window.</a:t>
            </a: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5022961"/>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Order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03F2D80E-F855-4557-83B2-A9B101D048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8573" y="1996757"/>
            <a:ext cx="5984240" cy="2864485"/>
          </a:xfrm>
          <a:prstGeom prst="rect">
            <a:avLst/>
          </a:prstGeom>
        </p:spPr>
      </p:pic>
      <p:grpSp>
        <p:nvGrpSpPr>
          <p:cNvPr id="3" name="Group 2">
            <a:extLst>
              <a:ext uri="{FF2B5EF4-FFF2-40B4-BE49-F238E27FC236}">
                <a16:creationId xmlns:a16="http://schemas.microsoft.com/office/drawing/2014/main" id="{D2CC6CC6-0612-42F1-9890-2BC012FA9A69}"/>
              </a:ext>
            </a:extLst>
          </p:cNvPr>
          <p:cNvGrpSpPr/>
          <p:nvPr/>
        </p:nvGrpSpPr>
        <p:grpSpPr>
          <a:xfrm>
            <a:off x="5568573" y="3106622"/>
            <a:ext cx="5735320" cy="1151255"/>
            <a:chOff x="3228340" y="2853373"/>
            <a:chExt cx="5735320" cy="1151255"/>
          </a:xfrm>
        </p:grpSpPr>
        <p:sp>
          <p:nvSpPr>
            <p:cNvPr id="23" name="Rectangle 22">
              <a:extLst>
                <a:ext uri="{FF2B5EF4-FFF2-40B4-BE49-F238E27FC236}">
                  <a16:creationId xmlns:a16="http://schemas.microsoft.com/office/drawing/2014/main" id="{4F3AA3C9-CAD7-4872-B4AF-5DDDCA895680}"/>
                </a:ext>
              </a:extLst>
            </p:cNvPr>
            <p:cNvSpPr/>
            <p:nvPr/>
          </p:nvSpPr>
          <p:spPr>
            <a:xfrm>
              <a:off x="3228340" y="3038158"/>
              <a:ext cx="9906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sp>
          <p:nvSpPr>
            <p:cNvPr id="24" name="Rectangle 23">
              <a:extLst>
                <a:ext uri="{FF2B5EF4-FFF2-40B4-BE49-F238E27FC236}">
                  <a16:creationId xmlns:a16="http://schemas.microsoft.com/office/drawing/2014/main" id="{93338AD5-203F-489A-BDAC-B727D8DE4376}"/>
                </a:ext>
              </a:extLst>
            </p:cNvPr>
            <p:cNvSpPr/>
            <p:nvPr/>
          </p:nvSpPr>
          <p:spPr>
            <a:xfrm>
              <a:off x="4412615" y="2853373"/>
              <a:ext cx="4551045" cy="11512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25" name="Straight Arrow Connector 24">
              <a:extLst>
                <a:ext uri="{FF2B5EF4-FFF2-40B4-BE49-F238E27FC236}">
                  <a16:creationId xmlns:a16="http://schemas.microsoft.com/office/drawing/2014/main" id="{21F21A8F-F307-4DFE-AFE4-861A3878748D}"/>
                </a:ext>
              </a:extLst>
            </p:cNvPr>
            <p:cNvCxnSpPr/>
            <p:nvPr/>
          </p:nvCxnSpPr>
          <p:spPr>
            <a:xfrm>
              <a:off x="4217670" y="3118803"/>
              <a:ext cx="257175" cy="19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5" name="Slide Number Placeholder 4">
            <a:extLst>
              <a:ext uri="{FF2B5EF4-FFF2-40B4-BE49-F238E27FC236}">
                <a16:creationId xmlns:a16="http://schemas.microsoft.com/office/drawing/2014/main" id="{0AFBE123-B3AE-AE6C-F2C0-CDF5DEE40E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357125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Order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251892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In Sales Order – Main Window, you will notice a create button in the upper left of the window. Click the create button and you will be redirect in sales order – main form.</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customer. Search and select a customer.</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2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09600" y="3801227"/>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a customer, you will be redirected in sales order – main form where you will encode the other necessary information of the transaction and record the items’ ordered.</a:t>
            </a:r>
          </a:p>
          <a:p>
            <a:pPr marL="114300" marR="0" algn="just">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114300" marR="0" algn="just">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37" name="Picture 36">
            <a:extLst>
              <a:ext uri="{FF2B5EF4-FFF2-40B4-BE49-F238E27FC236}">
                <a16:creationId xmlns:a16="http://schemas.microsoft.com/office/drawing/2014/main" id="{6741E019-9F9B-2ACF-7F83-816276885DD5}"/>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1" name="TextBox 20">
            <a:extLst>
              <a:ext uri="{FF2B5EF4-FFF2-40B4-BE49-F238E27FC236}">
                <a16:creationId xmlns:a16="http://schemas.microsoft.com/office/drawing/2014/main" id="{1A42DF79-C68A-4D0B-BBFA-61A8F3F71897}"/>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Order</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2" name="Group 1">
            <a:extLst>
              <a:ext uri="{FF2B5EF4-FFF2-40B4-BE49-F238E27FC236}">
                <a16:creationId xmlns:a16="http://schemas.microsoft.com/office/drawing/2014/main" id="{6492CDDA-8266-4842-9629-22D97734CB9C}"/>
              </a:ext>
            </a:extLst>
          </p:cNvPr>
          <p:cNvGrpSpPr/>
          <p:nvPr/>
        </p:nvGrpSpPr>
        <p:grpSpPr>
          <a:xfrm>
            <a:off x="5191125" y="961262"/>
            <a:ext cx="6189345" cy="1163320"/>
            <a:chOff x="5191125" y="961262"/>
            <a:chExt cx="6189345" cy="1163320"/>
          </a:xfrm>
        </p:grpSpPr>
        <p:pic>
          <p:nvPicPr>
            <p:cNvPr id="40" name="Picture 39">
              <a:extLst>
                <a:ext uri="{FF2B5EF4-FFF2-40B4-BE49-F238E27FC236}">
                  <a16:creationId xmlns:a16="http://schemas.microsoft.com/office/drawing/2014/main" id="{379FB52F-E9E9-4719-ADC5-97B5F3A060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1125" y="961262"/>
              <a:ext cx="6189345" cy="1163320"/>
            </a:xfrm>
            <a:prstGeom prst="rect">
              <a:avLst/>
            </a:prstGeom>
          </p:spPr>
        </p:pic>
        <p:grpSp>
          <p:nvGrpSpPr>
            <p:cNvPr id="38" name="Group 37">
              <a:extLst>
                <a:ext uri="{FF2B5EF4-FFF2-40B4-BE49-F238E27FC236}">
                  <a16:creationId xmlns:a16="http://schemas.microsoft.com/office/drawing/2014/main" id="{3EEC58EB-30AF-4050-874C-69874824438C}"/>
                </a:ext>
              </a:extLst>
            </p:cNvPr>
            <p:cNvGrpSpPr/>
            <p:nvPr/>
          </p:nvGrpSpPr>
          <p:grpSpPr>
            <a:xfrm>
              <a:off x="5365750" y="1204467"/>
              <a:ext cx="1209675" cy="333375"/>
              <a:chOff x="0" y="0"/>
              <a:chExt cx="1209675" cy="333375"/>
            </a:xfrm>
          </p:grpSpPr>
          <p:sp>
            <p:nvSpPr>
              <p:cNvPr id="41" name="Rectangle 40">
                <a:extLst>
                  <a:ext uri="{FF2B5EF4-FFF2-40B4-BE49-F238E27FC236}">
                    <a16:creationId xmlns:a16="http://schemas.microsoft.com/office/drawing/2014/main" id="{2727BD0F-5F8D-4E80-B7A8-2029E55EDC77}"/>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42" name="Straight Arrow Connector 41">
                <a:extLst>
                  <a:ext uri="{FF2B5EF4-FFF2-40B4-BE49-F238E27FC236}">
                    <a16:creationId xmlns:a16="http://schemas.microsoft.com/office/drawing/2014/main" id="{F62FD56E-5BAE-47A4-8C34-DEC3489F58D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Text Box 22">
                <a:extLst>
                  <a:ext uri="{FF2B5EF4-FFF2-40B4-BE49-F238E27FC236}">
                    <a16:creationId xmlns:a16="http://schemas.microsoft.com/office/drawing/2014/main" id="{9994CF76-CFA7-4528-9634-74FDFCA84CCC}"/>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dirty="0">
                    <a:effectLst/>
                    <a:ea typeface="Calibri" panose="020F0502020204030204" pitchFamily="34" charset="0"/>
                    <a:cs typeface="Times New Roman" panose="02020603050405020304" pitchFamily="18" charset="0"/>
                  </a:rPr>
                  <a:t>1</a:t>
                </a:r>
                <a:endParaRPr lang="en-PH" sz="1100" dirty="0">
                  <a:effectLst/>
                  <a:ea typeface="Calibri" panose="020F0502020204030204" pitchFamily="34" charset="0"/>
                  <a:cs typeface="Times New Roman" panose="02020603050405020304" pitchFamily="18" charset="0"/>
                </a:endParaRPr>
              </a:p>
            </p:txBody>
          </p:sp>
        </p:grpSp>
      </p:grpSp>
      <p:grpSp>
        <p:nvGrpSpPr>
          <p:cNvPr id="49" name="Group 48">
            <a:extLst>
              <a:ext uri="{FF2B5EF4-FFF2-40B4-BE49-F238E27FC236}">
                <a16:creationId xmlns:a16="http://schemas.microsoft.com/office/drawing/2014/main" id="{F2B3E466-4203-49F5-9817-CEE3C4D1C844}"/>
              </a:ext>
            </a:extLst>
          </p:cNvPr>
          <p:cNvGrpSpPr/>
          <p:nvPr/>
        </p:nvGrpSpPr>
        <p:grpSpPr>
          <a:xfrm>
            <a:off x="5365750" y="2751380"/>
            <a:ext cx="5982970" cy="2613025"/>
            <a:chOff x="88710" y="8223"/>
            <a:chExt cx="6189345" cy="3053287"/>
          </a:xfrm>
        </p:grpSpPr>
        <p:pic>
          <p:nvPicPr>
            <p:cNvPr id="50" name="Picture 49">
              <a:extLst>
                <a:ext uri="{FF2B5EF4-FFF2-40B4-BE49-F238E27FC236}">
                  <a16:creationId xmlns:a16="http://schemas.microsoft.com/office/drawing/2014/main" id="{E81EBCCE-33A7-4C74-82AA-C533634D76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10" y="8223"/>
              <a:ext cx="6189345" cy="3053287"/>
            </a:xfrm>
            <a:prstGeom prst="rect">
              <a:avLst/>
            </a:prstGeom>
          </p:spPr>
        </p:pic>
        <p:grpSp>
          <p:nvGrpSpPr>
            <p:cNvPr id="51" name="Group 50">
              <a:extLst>
                <a:ext uri="{FF2B5EF4-FFF2-40B4-BE49-F238E27FC236}">
                  <a16:creationId xmlns:a16="http://schemas.microsoft.com/office/drawing/2014/main" id="{9447948A-6DD5-42CD-8847-B0037F8AC4FC}"/>
                </a:ext>
              </a:extLst>
            </p:cNvPr>
            <p:cNvGrpSpPr/>
            <p:nvPr/>
          </p:nvGrpSpPr>
          <p:grpSpPr>
            <a:xfrm>
              <a:off x="609458" y="672573"/>
              <a:ext cx="5592194" cy="365643"/>
              <a:chOff x="-4010167" y="177273"/>
              <a:chExt cx="5592194" cy="365643"/>
            </a:xfrm>
          </p:grpSpPr>
          <p:sp>
            <p:nvSpPr>
              <p:cNvPr id="52" name="Rectangle 51">
                <a:extLst>
                  <a:ext uri="{FF2B5EF4-FFF2-40B4-BE49-F238E27FC236}">
                    <a16:creationId xmlns:a16="http://schemas.microsoft.com/office/drawing/2014/main" id="{CCE00508-681B-49CE-AE9C-74A72AC764BC}"/>
                  </a:ext>
                </a:extLst>
              </p:cNvPr>
              <p:cNvSpPr/>
              <p:nvPr/>
            </p:nvSpPr>
            <p:spPr>
              <a:xfrm>
                <a:off x="-4010167" y="177273"/>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53" name="Straight Arrow Connector 52">
                <a:extLst>
                  <a:ext uri="{FF2B5EF4-FFF2-40B4-BE49-F238E27FC236}">
                    <a16:creationId xmlns:a16="http://schemas.microsoft.com/office/drawing/2014/main" id="{776EC14E-3C43-41BA-AE54-227A8A177251}"/>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Text Box 31">
                <a:extLst>
                  <a:ext uri="{FF2B5EF4-FFF2-40B4-BE49-F238E27FC236}">
                    <a16:creationId xmlns:a16="http://schemas.microsoft.com/office/drawing/2014/main" id="{029353D0-350E-4692-9BDE-C518CA51F280}"/>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2</a:t>
                </a:r>
                <a:endParaRPr lang="en-PH" sz="1100">
                  <a:effectLst/>
                  <a:ea typeface="Calibri" panose="020F0502020204030204" pitchFamily="34" charset="0"/>
                  <a:cs typeface="Times New Roman" panose="02020603050405020304" pitchFamily="18" charset="0"/>
                </a:endParaRPr>
              </a:p>
            </p:txBody>
          </p:sp>
        </p:grpSp>
      </p:grpSp>
      <p:sp>
        <p:nvSpPr>
          <p:cNvPr id="61" name="Text Box 241">
            <a:extLst>
              <a:ext uri="{FF2B5EF4-FFF2-40B4-BE49-F238E27FC236}">
                <a16:creationId xmlns:a16="http://schemas.microsoft.com/office/drawing/2014/main" id="{3F68C177-B770-449C-B20C-E3075BABC2EF}"/>
              </a:ext>
            </a:extLst>
          </p:cNvPr>
          <p:cNvSpPr txBox="1">
            <a:spLocks noChangeArrowheads="1"/>
          </p:cNvSpPr>
          <p:nvPr/>
        </p:nvSpPr>
        <p:spPr bwMode="auto">
          <a:xfrm>
            <a:off x="6358673" y="3658678"/>
            <a:ext cx="4018915"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customer?</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lvl="1" indent="-228600">
              <a:lnSpc>
                <a:spcPct val="115000"/>
              </a:lnSpc>
              <a:buSzPts val="800"/>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customer name in the search bar.</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lvl="1" indent="-228600">
              <a:lnSpc>
                <a:spcPts val="975"/>
              </a:lnSpc>
              <a:spcBef>
                <a:spcPts val="5"/>
              </a:spcBef>
              <a:spcAft>
                <a:spcPts val="1000"/>
              </a:spcAft>
              <a:buSzPts val="800"/>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lvl="1" indent="-228600">
              <a:lnSpc>
                <a:spcPts val="975"/>
              </a:lnSpc>
              <a:spcAft>
                <a:spcPts val="800"/>
              </a:spcAft>
              <a:buSzPts val="800"/>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Then click the selected customer.</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38BD86-337E-52C3-0DDB-6E7A9CA08DE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878416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805111" y="1379386"/>
            <a:ext cx="3792290" cy="519726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nSpc>
                <a:spcPct val="115000"/>
              </a:lnSpc>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customer, some details such as address, terms are automatically plotted in their respective field. If you wish to change the term, click the lookup button and select its respective term.</a:t>
            </a:r>
          </a:p>
          <a:p>
            <a:pPr>
              <a:lnSpc>
                <a:spcPct val="115000"/>
              </a:lnSpc>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4.2.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In header, current date and default warehouse is also plotted automatically but if you wish to change the date – click the date picker and select its respective ordered date. And if you want to change the warehouse, click the lookup button and select the warehouse.</a:t>
            </a:r>
          </a:p>
          <a:p>
            <a:pPr>
              <a:lnSpc>
                <a:spcPct val="115000"/>
              </a:lnSpc>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4.3</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In header, add the necessary information if necessary. </a:t>
            </a:r>
          </a:p>
          <a:p>
            <a:pPr>
              <a:lnSpc>
                <a:spcPct val="115000"/>
              </a:lnSpc>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4.4.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a:lnSpc>
                <a:spcPct val="115000"/>
              </a:lnSpc>
            </a:pPr>
            <a:endParaRPr lang="en-US" sz="1200" b="1" dirty="0">
              <a:solidFill>
                <a:srgbClr val="00863D"/>
              </a:solidFill>
              <a:latin typeface="Chivo Light" panose="020B0303030202020804" pitchFamily="34" charset="0"/>
              <a:ea typeface="Calibri" panose="020F0502020204030204" pitchFamily="34" charset="0"/>
              <a:cs typeface="Times New Roman" panose="02020603050405020304" pitchFamily="18" charset="0"/>
            </a:endParaRPr>
          </a:p>
          <a:p>
            <a:pPr>
              <a:lnSpc>
                <a:spcPct val="115000"/>
              </a:lnSpc>
            </a:pPr>
            <a:r>
              <a:rPr lang="en-US" sz="1200" b="1" dirty="0">
                <a:solidFill>
                  <a:srgbClr val="00863D"/>
                </a:solidFill>
                <a:effectLst/>
                <a:latin typeface="Chivo Light" panose="020B0303030202020804" pitchFamily="34" charset="0"/>
                <a:ea typeface="Calibri" panose="020F0502020204030204" pitchFamily="34" charset="0"/>
                <a:cs typeface="Times New Roman" panose="02020603050405020304" pitchFamily="18" charset="0"/>
              </a:rPr>
              <a:t>5.1. </a:t>
            </a:r>
            <a:r>
              <a:rPr lang="en-PH"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After saving the header, you may now add the ordered item in the stock by clicking add button. </a:t>
            </a:r>
          </a:p>
          <a:p>
            <a:pPr>
              <a:lnSpc>
                <a:spcPct val="115000"/>
              </a:lnSpc>
            </a:pPr>
            <a:endParaRPr lang="en-PH"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a:lnSpc>
                <a:spcPct val="115000"/>
              </a:lnSpc>
            </a:pPr>
            <a:r>
              <a:rPr lang="en-PH" sz="1200" b="1" dirty="0">
                <a:solidFill>
                  <a:srgbClr val="00863D"/>
                </a:solidFill>
                <a:effectLst/>
                <a:latin typeface="Chivo Light" panose="020B0303030202020804" pitchFamily="34" charset="0"/>
                <a:ea typeface="Calibri" panose="020F0502020204030204" pitchFamily="34" charset="0"/>
                <a:cs typeface="Times New Roman" panose="02020603050405020304" pitchFamily="18" charset="0"/>
              </a:rPr>
              <a:t>5.2</a:t>
            </a:r>
            <a:r>
              <a:rPr lang="en-PH"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 After you click the add button, a dialog box with item list pop out, search and select the order item</a:t>
            </a: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6C5DBDA1-743E-42BB-B885-150ADF90B60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Order</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0" name="TextBox 29">
            <a:extLst>
              <a:ext uri="{FF2B5EF4-FFF2-40B4-BE49-F238E27FC236}">
                <a16:creationId xmlns:a16="http://schemas.microsoft.com/office/drawing/2014/main" id="{79C23719-FF9F-41AF-8971-7F1300CCAB95}"/>
              </a:ext>
            </a:extLst>
          </p:cNvPr>
          <p:cNvSpPr txBox="1"/>
          <p:nvPr/>
        </p:nvSpPr>
        <p:spPr>
          <a:xfrm>
            <a:off x="1517830" y="62810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Order Transaction?</a:t>
            </a:r>
            <a:endParaRPr lang="en-US" sz="2000" dirty="0">
              <a:solidFill>
                <a:srgbClr val="007434"/>
              </a:solidFill>
              <a:latin typeface="+mj-lt"/>
            </a:endParaRPr>
          </a:p>
        </p:txBody>
      </p:sp>
      <p:grpSp>
        <p:nvGrpSpPr>
          <p:cNvPr id="32" name="Group 31">
            <a:extLst>
              <a:ext uri="{FF2B5EF4-FFF2-40B4-BE49-F238E27FC236}">
                <a16:creationId xmlns:a16="http://schemas.microsoft.com/office/drawing/2014/main" id="{3242F9D6-7F86-4BF7-A46C-9C9FF333A798}"/>
              </a:ext>
            </a:extLst>
          </p:cNvPr>
          <p:cNvGrpSpPr/>
          <p:nvPr/>
        </p:nvGrpSpPr>
        <p:grpSpPr>
          <a:xfrm>
            <a:off x="5149068" y="315372"/>
            <a:ext cx="6692266" cy="3583305"/>
            <a:chOff x="0" y="0"/>
            <a:chExt cx="6692625" cy="3583674"/>
          </a:xfrm>
        </p:grpSpPr>
        <p:pic>
          <p:nvPicPr>
            <p:cNvPr id="33" name="Picture 32">
              <a:extLst>
                <a:ext uri="{FF2B5EF4-FFF2-40B4-BE49-F238E27FC236}">
                  <a16:creationId xmlns:a16="http://schemas.microsoft.com/office/drawing/2014/main" id="{2306A21E-3A88-46DC-98FC-950FD7A63A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570" y="0"/>
              <a:ext cx="5901055" cy="3218180"/>
            </a:xfrm>
            <a:prstGeom prst="rect">
              <a:avLst/>
            </a:prstGeom>
          </p:spPr>
        </p:pic>
        <p:sp>
          <p:nvSpPr>
            <p:cNvPr id="34" name="Rectangle 33">
              <a:extLst>
                <a:ext uri="{FF2B5EF4-FFF2-40B4-BE49-F238E27FC236}">
                  <a16:creationId xmlns:a16="http://schemas.microsoft.com/office/drawing/2014/main" id="{46D10B55-D5D5-4FA1-805D-0067F76ACB23}"/>
                </a:ext>
              </a:extLst>
            </p:cNvPr>
            <p:cNvSpPr/>
            <p:nvPr/>
          </p:nvSpPr>
          <p:spPr>
            <a:xfrm>
              <a:off x="846161" y="2593074"/>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sp>
          <p:nvSpPr>
            <p:cNvPr id="35" name="Text Box 465">
              <a:extLst>
                <a:ext uri="{FF2B5EF4-FFF2-40B4-BE49-F238E27FC236}">
                  <a16:creationId xmlns:a16="http://schemas.microsoft.com/office/drawing/2014/main" id="{D0F95B39-8D6E-4FA1-9B10-F8079F9DD1BB}"/>
                </a:ext>
              </a:extLst>
            </p:cNvPr>
            <p:cNvSpPr txBox="1"/>
            <p:nvPr/>
          </p:nvSpPr>
          <p:spPr>
            <a:xfrm>
              <a:off x="27295" y="2593074"/>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Stock</a:t>
              </a:r>
              <a:endParaRPr lang="en-PH" sz="1100">
                <a:effectLst/>
                <a:ea typeface="Calibri" panose="020F0502020204030204" pitchFamily="34" charset="0"/>
                <a:cs typeface="Times New Roman" panose="02020603050405020304" pitchFamily="18" charset="0"/>
              </a:endParaRPr>
            </a:p>
          </p:txBody>
        </p:sp>
        <p:sp>
          <p:nvSpPr>
            <p:cNvPr id="36" name="Text Box 487">
              <a:extLst>
                <a:ext uri="{FF2B5EF4-FFF2-40B4-BE49-F238E27FC236}">
                  <a16:creationId xmlns:a16="http://schemas.microsoft.com/office/drawing/2014/main" id="{C61E0BF8-9405-4DA5-BB8B-EF492871ED03}"/>
                </a:ext>
              </a:extLst>
            </p:cNvPr>
            <p:cNvSpPr txBox="1"/>
            <p:nvPr/>
          </p:nvSpPr>
          <p:spPr>
            <a:xfrm>
              <a:off x="0" y="818866"/>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Header</a:t>
              </a:r>
              <a:endParaRPr lang="en-PH" sz="1100">
                <a:effectLst/>
                <a:ea typeface="Calibri" panose="020F0502020204030204" pitchFamily="34" charset="0"/>
                <a:cs typeface="Times New Roman" panose="02020603050405020304" pitchFamily="18" charset="0"/>
              </a:endParaRPr>
            </a:p>
          </p:txBody>
        </p:sp>
        <p:sp>
          <p:nvSpPr>
            <p:cNvPr id="37" name="Text Box 9">
              <a:extLst>
                <a:ext uri="{FF2B5EF4-FFF2-40B4-BE49-F238E27FC236}">
                  <a16:creationId xmlns:a16="http://schemas.microsoft.com/office/drawing/2014/main" id="{AAFB9EF5-73C2-4355-8B60-7B221A84F606}"/>
                </a:ext>
              </a:extLst>
            </p:cNvPr>
            <p:cNvSpPr txBox="1"/>
            <p:nvPr/>
          </p:nvSpPr>
          <p:spPr>
            <a:xfrm>
              <a:off x="5431809" y="1392071"/>
              <a:ext cx="961902" cy="28582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4.1 to 4.3</a:t>
              </a:r>
              <a:endParaRPr lang="en-PH" sz="1100">
                <a:effectLst/>
                <a:ea typeface="Calibri" panose="020F0502020204030204" pitchFamily="34" charset="0"/>
                <a:cs typeface="Times New Roman" panose="02020603050405020304" pitchFamily="18" charset="0"/>
              </a:endParaRPr>
            </a:p>
          </p:txBody>
        </p:sp>
        <p:sp>
          <p:nvSpPr>
            <p:cNvPr id="38" name="Rectangle 37">
              <a:extLst>
                <a:ext uri="{FF2B5EF4-FFF2-40B4-BE49-F238E27FC236}">
                  <a16:creationId xmlns:a16="http://schemas.microsoft.com/office/drawing/2014/main" id="{7BD45677-3EF7-42DD-82F8-05A35403EDCB}"/>
                </a:ext>
              </a:extLst>
            </p:cNvPr>
            <p:cNvSpPr/>
            <p:nvPr/>
          </p:nvSpPr>
          <p:spPr>
            <a:xfrm>
              <a:off x="4735773" y="532263"/>
              <a:ext cx="675088" cy="2174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44" name="Straight Arrow Connector 43">
              <a:extLst>
                <a:ext uri="{FF2B5EF4-FFF2-40B4-BE49-F238E27FC236}">
                  <a16:creationId xmlns:a16="http://schemas.microsoft.com/office/drawing/2014/main" id="{61F0D5FF-A54F-419D-81B8-BF845BF633AF}"/>
                </a:ext>
              </a:extLst>
            </p:cNvPr>
            <p:cNvCxnSpPr/>
            <p:nvPr/>
          </p:nvCxnSpPr>
          <p:spPr>
            <a:xfrm>
              <a:off x="5390866" y="548469"/>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16">
              <a:extLst>
                <a:ext uri="{FF2B5EF4-FFF2-40B4-BE49-F238E27FC236}">
                  <a16:creationId xmlns:a16="http://schemas.microsoft.com/office/drawing/2014/main" id="{0A255890-F6AA-4BAB-90AC-EFEC85A30A05}"/>
                </a:ext>
              </a:extLst>
            </p:cNvPr>
            <p:cNvSpPr txBox="1"/>
            <p:nvPr/>
          </p:nvSpPr>
          <p:spPr>
            <a:xfrm>
              <a:off x="5595582" y="423080"/>
              <a:ext cx="475013"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4.4</a:t>
              </a:r>
              <a:endParaRPr lang="en-PH" sz="1100">
                <a:effectLst/>
                <a:ea typeface="Calibri" panose="020F0502020204030204" pitchFamily="34" charset="0"/>
                <a:cs typeface="Times New Roman" panose="02020603050405020304" pitchFamily="18" charset="0"/>
              </a:endParaRPr>
            </a:p>
          </p:txBody>
        </p:sp>
        <p:sp>
          <p:nvSpPr>
            <p:cNvPr id="46" name="Rectangle 45">
              <a:extLst>
                <a:ext uri="{FF2B5EF4-FFF2-40B4-BE49-F238E27FC236}">
                  <a16:creationId xmlns:a16="http://schemas.microsoft.com/office/drawing/2014/main" id="{F600E895-0CC1-4C65-93F6-CCCD8BCA1CA1}"/>
                </a:ext>
              </a:extLst>
            </p:cNvPr>
            <p:cNvSpPr/>
            <p:nvPr/>
          </p:nvSpPr>
          <p:spPr>
            <a:xfrm>
              <a:off x="3589361" y="1856095"/>
              <a:ext cx="675005" cy="2171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47" name="Straight Arrow Connector 46">
              <a:extLst>
                <a:ext uri="{FF2B5EF4-FFF2-40B4-BE49-F238E27FC236}">
                  <a16:creationId xmlns:a16="http://schemas.microsoft.com/office/drawing/2014/main" id="{E6C56D0F-504A-48D8-A01B-4F47FD125C81}"/>
                </a:ext>
              </a:extLst>
            </p:cNvPr>
            <p:cNvCxnSpPr/>
            <p:nvPr/>
          </p:nvCxnSpPr>
          <p:spPr>
            <a:xfrm>
              <a:off x="4244454" y="191324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 Box 454">
              <a:extLst>
                <a:ext uri="{FF2B5EF4-FFF2-40B4-BE49-F238E27FC236}">
                  <a16:creationId xmlns:a16="http://schemas.microsoft.com/office/drawing/2014/main" id="{C332CAFD-7D5D-4B4B-9EA2-69A3543F2C87}"/>
                </a:ext>
              </a:extLst>
            </p:cNvPr>
            <p:cNvSpPr txBox="1"/>
            <p:nvPr/>
          </p:nvSpPr>
          <p:spPr>
            <a:xfrm>
              <a:off x="4449170" y="174691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5.1</a:t>
              </a:r>
              <a:endParaRPr lang="en-PH" sz="1100">
                <a:effectLst/>
                <a:ea typeface="Calibri" panose="020F0502020204030204" pitchFamily="34" charset="0"/>
                <a:cs typeface="Times New Roman" panose="02020603050405020304" pitchFamily="18" charset="0"/>
              </a:endParaRPr>
            </a:p>
          </p:txBody>
        </p:sp>
      </p:grpSp>
      <p:grpSp>
        <p:nvGrpSpPr>
          <p:cNvPr id="49" name="Group 48">
            <a:extLst>
              <a:ext uri="{FF2B5EF4-FFF2-40B4-BE49-F238E27FC236}">
                <a16:creationId xmlns:a16="http://schemas.microsoft.com/office/drawing/2014/main" id="{CAC43E76-2A39-4331-A0C2-835E4E55A1E4}"/>
              </a:ext>
            </a:extLst>
          </p:cNvPr>
          <p:cNvGrpSpPr/>
          <p:nvPr/>
        </p:nvGrpSpPr>
        <p:grpSpPr>
          <a:xfrm>
            <a:off x="5628477" y="4301472"/>
            <a:ext cx="6189345" cy="1583690"/>
            <a:chOff x="0" y="0"/>
            <a:chExt cx="6189345" cy="1583690"/>
          </a:xfrm>
        </p:grpSpPr>
        <p:pic>
          <p:nvPicPr>
            <p:cNvPr id="54" name="Picture 53">
              <a:extLst>
                <a:ext uri="{FF2B5EF4-FFF2-40B4-BE49-F238E27FC236}">
                  <a16:creationId xmlns:a16="http://schemas.microsoft.com/office/drawing/2014/main" id="{9333035A-D963-46EC-BFF4-F82E39A456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89345" cy="1583690"/>
            </a:xfrm>
            <a:prstGeom prst="rect">
              <a:avLst/>
            </a:prstGeom>
          </p:spPr>
        </p:pic>
        <p:sp>
          <p:nvSpPr>
            <p:cNvPr id="57" name="Rectangle 56">
              <a:extLst>
                <a:ext uri="{FF2B5EF4-FFF2-40B4-BE49-F238E27FC236}">
                  <a16:creationId xmlns:a16="http://schemas.microsoft.com/office/drawing/2014/main" id="{1AEC0646-46B0-432E-BB39-B52D754653D4}"/>
                </a:ext>
              </a:extLst>
            </p:cNvPr>
            <p:cNvSpPr/>
            <p:nvPr/>
          </p:nvSpPr>
          <p:spPr>
            <a:xfrm>
              <a:off x="245660" y="436728"/>
              <a:ext cx="1482280" cy="379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58" name="Straight Arrow Connector 57">
              <a:extLst>
                <a:ext uri="{FF2B5EF4-FFF2-40B4-BE49-F238E27FC236}">
                  <a16:creationId xmlns:a16="http://schemas.microsoft.com/office/drawing/2014/main" id="{B524F997-50B0-45B5-9883-93F5ACD6731F}"/>
                </a:ext>
              </a:extLst>
            </p:cNvPr>
            <p:cNvCxnSpPr/>
            <p:nvPr/>
          </p:nvCxnSpPr>
          <p:spPr>
            <a:xfrm>
              <a:off x="1705970" y="739538"/>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9" name="Text Box 545">
              <a:extLst>
                <a:ext uri="{FF2B5EF4-FFF2-40B4-BE49-F238E27FC236}">
                  <a16:creationId xmlns:a16="http://schemas.microsoft.com/office/drawing/2014/main" id="{9138D608-1698-49F6-8E4C-DF07ECD425EA}"/>
                </a:ext>
              </a:extLst>
            </p:cNvPr>
            <p:cNvSpPr txBox="1"/>
            <p:nvPr/>
          </p:nvSpPr>
          <p:spPr>
            <a:xfrm>
              <a:off x="1897039" y="50496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5.2</a:t>
              </a:r>
              <a:endParaRPr lang="en-PH" sz="1100">
                <a:effectLst/>
                <a:ea typeface="Calibri" panose="020F0502020204030204" pitchFamily="34" charset="0"/>
                <a:cs typeface="Times New Roman" panose="02020603050405020304" pitchFamily="18" charset="0"/>
              </a:endParaRPr>
            </a:p>
          </p:txBody>
        </p:sp>
        <p:sp>
          <p:nvSpPr>
            <p:cNvPr id="60" name="Rectangle 59">
              <a:extLst>
                <a:ext uri="{FF2B5EF4-FFF2-40B4-BE49-F238E27FC236}">
                  <a16:creationId xmlns:a16="http://schemas.microsoft.com/office/drawing/2014/main" id="{202145D3-6440-4CFE-93BC-4897F99C9136}"/>
                </a:ext>
              </a:extLst>
            </p:cNvPr>
            <p:cNvSpPr/>
            <p:nvPr/>
          </p:nvSpPr>
          <p:spPr>
            <a:xfrm>
              <a:off x="191069" y="1064525"/>
              <a:ext cx="3916531" cy="20096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61" name="Straight Arrow Connector 60">
              <a:extLst>
                <a:ext uri="{FF2B5EF4-FFF2-40B4-BE49-F238E27FC236}">
                  <a16:creationId xmlns:a16="http://schemas.microsoft.com/office/drawing/2014/main" id="{EAF88BD9-9EB6-4691-AFA7-96915A482202}"/>
                </a:ext>
              </a:extLst>
            </p:cNvPr>
            <p:cNvCxnSpPr/>
            <p:nvPr/>
          </p:nvCxnSpPr>
          <p:spPr>
            <a:xfrm>
              <a:off x="4067033" y="124450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2" name="Text Box 548">
              <a:extLst>
                <a:ext uri="{FF2B5EF4-FFF2-40B4-BE49-F238E27FC236}">
                  <a16:creationId xmlns:a16="http://schemas.microsoft.com/office/drawing/2014/main" id="{1CF907FE-31E8-4820-9610-0F2CA12CC23E}"/>
                </a:ext>
              </a:extLst>
            </p:cNvPr>
            <p:cNvSpPr txBox="1"/>
            <p:nvPr/>
          </p:nvSpPr>
          <p:spPr>
            <a:xfrm>
              <a:off x="4271749" y="102358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5.2</a:t>
              </a:r>
              <a:endParaRPr lang="en-PH" sz="1100">
                <a:effectLst/>
                <a:ea typeface="Calibri" panose="020F0502020204030204" pitchFamily="34" charset="0"/>
                <a:cs typeface="Times New Roman" panose="02020603050405020304" pitchFamily="18" charset="0"/>
              </a:endParaRPr>
            </a:p>
          </p:txBody>
        </p:sp>
      </p:grpSp>
      <p:sp>
        <p:nvSpPr>
          <p:cNvPr id="5" name="Slide Number Placeholder 4">
            <a:extLst>
              <a:ext uri="{FF2B5EF4-FFF2-40B4-BE49-F238E27FC236}">
                <a16:creationId xmlns:a16="http://schemas.microsoft.com/office/drawing/2014/main" id="{CBB94C42-3D8D-EC52-57B8-392BD64524D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125384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805111" y="2030663"/>
            <a:ext cx="3792290" cy="419686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5.4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item, a dialog box where item details will be encoded will pop out.</a:t>
            </a:r>
          </a:p>
          <a:p>
            <a:pPr>
              <a:lnSpc>
                <a:spcPct val="115000"/>
              </a:lnSpc>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5.5</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Enter the necessary quantity, change the amount, </a:t>
            </a:r>
            <a:r>
              <a:rPr lang="en-PH" sz="1200" dirty="0" err="1">
                <a:effectLst/>
                <a:latin typeface="Chivo Light" panose="020B0303030202020804" pitchFamily="34" charset="0"/>
                <a:ea typeface="Times New Roman" panose="02020603050405020304" pitchFamily="18" charset="0"/>
                <a:cs typeface="Times New Roman" panose="02020603050405020304" pitchFamily="18" charset="0"/>
              </a:rPr>
              <a:t>uom</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warehouse and add sales discount if there’s any.</a:t>
            </a:r>
          </a:p>
          <a:p>
            <a:pPr>
              <a:lnSpc>
                <a:spcPct val="115000"/>
              </a:lnSpc>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5.6</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If done, click add to cart button.</a:t>
            </a:r>
          </a:p>
          <a:p>
            <a:pPr>
              <a:lnSpc>
                <a:spcPct val="115000"/>
              </a:lnSpc>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5.7</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After you click the add to cart button, you will notice in the upper right of item list an icon of add to cart. Click that, then click accept button to plot the order items in the stock.</a:t>
            </a:r>
          </a:p>
          <a:p>
            <a:pPr>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6C5DBDA1-743E-42BB-B885-150ADF90B60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Order</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0" name="TextBox 29">
            <a:extLst>
              <a:ext uri="{FF2B5EF4-FFF2-40B4-BE49-F238E27FC236}">
                <a16:creationId xmlns:a16="http://schemas.microsoft.com/office/drawing/2014/main" id="{79C23719-FF9F-41AF-8971-7F1300CCAB95}"/>
              </a:ext>
            </a:extLst>
          </p:cNvPr>
          <p:cNvSpPr txBox="1"/>
          <p:nvPr/>
        </p:nvSpPr>
        <p:spPr>
          <a:xfrm>
            <a:off x="1517830" y="62810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Order Transaction?</a:t>
            </a:r>
            <a:endParaRPr lang="en-US" sz="2000" dirty="0">
              <a:solidFill>
                <a:srgbClr val="007434"/>
              </a:solidFill>
              <a:latin typeface="+mj-lt"/>
            </a:endParaRPr>
          </a:p>
        </p:txBody>
      </p:sp>
      <p:grpSp>
        <p:nvGrpSpPr>
          <p:cNvPr id="66" name="Group 65">
            <a:extLst>
              <a:ext uri="{FF2B5EF4-FFF2-40B4-BE49-F238E27FC236}">
                <a16:creationId xmlns:a16="http://schemas.microsoft.com/office/drawing/2014/main" id="{C7DB76FC-3F99-4568-9A3B-0A28A972A618}"/>
              </a:ext>
            </a:extLst>
          </p:cNvPr>
          <p:cNvGrpSpPr/>
          <p:nvPr/>
        </p:nvGrpSpPr>
        <p:grpSpPr>
          <a:xfrm>
            <a:off x="5767973" y="253107"/>
            <a:ext cx="6189345" cy="4335145"/>
            <a:chOff x="5685912" y="315372"/>
            <a:chExt cx="6189345" cy="4335145"/>
          </a:xfrm>
        </p:grpSpPr>
        <p:pic>
          <p:nvPicPr>
            <p:cNvPr id="67" name="Picture 66">
              <a:extLst>
                <a:ext uri="{FF2B5EF4-FFF2-40B4-BE49-F238E27FC236}">
                  <a16:creationId xmlns:a16="http://schemas.microsoft.com/office/drawing/2014/main" id="{2515B24F-BEF3-4263-A3ED-9168FC9DE8B5}"/>
                </a:ext>
              </a:extLst>
            </p:cNvPr>
            <p:cNvPicPr>
              <a:picLocks noChangeAspect="1"/>
            </p:cNvPicPr>
            <p:nvPr/>
          </p:nvPicPr>
          <p:blipFill>
            <a:blip r:embed="rId2"/>
            <a:stretch>
              <a:fillRect/>
            </a:stretch>
          </p:blipFill>
          <p:spPr>
            <a:xfrm>
              <a:off x="5685912" y="315372"/>
              <a:ext cx="6189345" cy="4335145"/>
            </a:xfrm>
            <a:prstGeom prst="rect">
              <a:avLst/>
            </a:prstGeom>
          </p:spPr>
        </p:pic>
        <p:grpSp>
          <p:nvGrpSpPr>
            <p:cNvPr id="68" name="Group 67">
              <a:extLst>
                <a:ext uri="{FF2B5EF4-FFF2-40B4-BE49-F238E27FC236}">
                  <a16:creationId xmlns:a16="http://schemas.microsoft.com/office/drawing/2014/main" id="{0B6A1728-45E1-4CB7-9F29-21868495C1BC}"/>
                </a:ext>
              </a:extLst>
            </p:cNvPr>
            <p:cNvGrpSpPr/>
            <p:nvPr/>
          </p:nvGrpSpPr>
          <p:grpSpPr>
            <a:xfrm>
              <a:off x="5685912" y="1584789"/>
              <a:ext cx="5688331" cy="2938145"/>
              <a:chOff x="0" y="0"/>
              <a:chExt cx="5688425" cy="2938316"/>
            </a:xfrm>
          </p:grpSpPr>
          <p:sp>
            <p:nvSpPr>
              <p:cNvPr id="69" name="Rectangle 68">
                <a:extLst>
                  <a:ext uri="{FF2B5EF4-FFF2-40B4-BE49-F238E27FC236}">
                    <a16:creationId xmlns:a16="http://schemas.microsoft.com/office/drawing/2014/main" id="{C873DB25-7075-489A-BE70-D760ACF254D7}"/>
                  </a:ext>
                </a:extLst>
              </p:cNvPr>
              <p:cNvSpPr/>
              <p:nvPr/>
            </p:nvSpPr>
            <p:spPr>
              <a:xfrm>
                <a:off x="0" y="0"/>
                <a:ext cx="3120885" cy="24929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70" name="Straight Arrow Connector 69">
                <a:extLst>
                  <a:ext uri="{FF2B5EF4-FFF2-40B4-BE49-F238E27FC236}">
                    <a16:creationId xmlns:a16="http://schemas.microsoft.com/office/drawing/2014/main" id="{5327897C-5749-4524-8FEA-5216718F7A36}"/>
                  </a:ext>
                </a:extLst>
              </p:cNvPr>
              <p:cNvCxnSpPr/>
              <p:nvPr/>
            </p:nvCxnSpPr>
            <p:spPr>
              <a:xfrm flipV="1">
                <a:off x="3111690" y="2385515"/>
                <a:ext cx="201881" cy="593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 name="Text Box 562">
                <a:extLst>
                  <a:ext uri="{FF2B5EF4-FFF2-40B4-BE49-F238E27FC236}">
                    <a16:creationId xmlns:a16="http://schemas.microsoft.com/office/drawing/2014/main" id="{0D9B1B00-EA7F-462F-9C0C-8AB3D9019A52}"/>
                  </a:ext>
                </a:extLst>
              </p:cNvPr>
              <p:cNvSpPr txBox="1"/>
              <p:nvPr/>
            </p:nvSpPr>
            <p:spPr>
              <a:xfrm>
                <a:off x="3316406" y="2156346"/>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5.4.</a:t>
                </a:r>
                <a:endParaRPr lang="en-PH" sz="1100">
                  <a:effectLst/>
                  <a:ea typeface="Calibri" panose="020F0502020204030204" pitchFamily="34" charset="0"/>
                  <a:cs typeface="Times New Roman" panose="02020603050405020304" pitchFamily="18" charset="0"/>
                </a:endParaRPr>
              </a:p>
            </p:txBody>
          </p:sp>
          <p:sp>
            <p:nvSpPr>
              <p:cNvPr id="72" name="Rectangle 71">
                <a:extLst>
                  <a:ext uri="{FF2B5EF4-FFF2-40B4-BE49-F238E27FC236}">
                    <a16:creationId xmlns:a16="http://schemas.microsoft.com/office/drawing/2014/main" id="{2ECDBFF9-B3D7-4886-AC5A-B1CCDF9B01C1}"/>
                  </a:ext>
                </a:extLst>
              </p:cNvPr>
              <p:cNvSpPr/>
              <p:nvPr/>
            </p:nvSpPr>
            <p:spPr>
              <a:xfrm>
                <a:off x="3875964" y="2606722"/>
                <a:ext cx="1161457" cy="33159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73" name="Straight Arrow Connector 72">
                <a:extLst>
                  <a:ext uri="{FF2B5EF4-FFF2-40B4-BE49-F238E27FC236}">
                    <a16:creationId xmlns:a16="http://schemas.microsoft.com/office/drawing/2014/main" id="{486801DC-9C98-4C94-BBA8-38BEBCAC7D2E}"/>
                  </a:ext>
                </a:extLst>
              </p:cNvPr>
              <p:cNvCxnSpPr/>
              <p:nvPr/>
            </p:nvCxnSpPr>
            <p:spPr>
              <a:xfrm flipV="1">
                <a:off x="5036024" y="2863187"/>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4" name="Text Box 569">
                <a:extLst>
                  <a:ext uri="{FF2B5EF4-FFF2-40B4-BE49-F238E27FC236}">
                    <a16:creationId xmlns:a16="http://schemas.microsoft.com/office/drawing/2014/main" id="{70C0BC70-CAB0-4179-A0CC-D6B0CF7AB371}"/>
                  </a:ext>
                </a:extLst>
              </p:cNvPr>
              <p:cNvSpPr txBox="1"/>
              <p:nvPr/>
            </p:nvSpPr>
            <p:spPr>
              <a:xfrm>
                <a:off x="5213445" y="263401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5.5</a:t>
                </a:r>
                <a:endParaRPr lang="en-PH" sz="1100">
                  <a:effectLst/>
                  <a:ea typeface="Calibri" panose="020F0502020204030204" pitchFamily="34" charset="0"/>
                  <a:cs typeface="Times New Roman" panose="02020603050405020304" pitchFamily="18" charset="0"/>
                </a:endParaRPr>
              </a:p>
            </p:txBody>
          </p:sp>
        </p:grpSp>
      </p:grpSp>
      <p:grpSp>
        <p:nvGrpSpPr>
          <p:cNvPr id="6" name="Group 5">
            <a:extLst>
              <a:ext uri="{FF2B5EF4-FFF2-40B4-BE49-F238E27FC236}">
                <a16:creationId xmlns:a16="http://schemas.microsoft.com/office/drawing/2014/main" id="{69F0B9A8-24C1-49EF-9428-95DEB069743C}"/>
              </a:ext>
            </a:extLst>
          </p:cNvPr>
          <p:cNvGrpSpPr/>
          <p:nvPr/>
        </p:nvGrpSpPr>
        <p:grpSpPr>
          <a:xfrm>
            <a:off x="5019744" y="4777691"/>
            <a:ext cx="6750638" cy="1798955"/>
            <a:chOff x="5019744" y="4777691"/>
            <a:chExt cx="6750638" cy="1798955"/>
          </a:xfrm>
        </p:grpSpPr>
        <p:grpSp>
          <p:nvGrpSpPr>
            <p:cNvPr id="5" name="Group 4">
              <a:extLst>
                <a:ext uri="{FF2B5EF4-FFF2-40B4-BE49-F238E27FC236}">
                  <a16:creationId xmlns:a16="http://schemas.microsoft.com/office/drawing/2014/main" id="{0054EBF0-60F1-41F1-AD52-32B913B5053A}"/>
                </a:ext>
              </a:extLst>
            </p:cNvPr>
            <p:cNvGrpSpPr/>
            <p:nvPr/>
          </p:nvGrpSpPr>
          <p:grpSpPr>
            <a:xfrm>
              <a:off x="5019744" y="4777691"/>
              <a:ext cx="6367145" cy="1798955"/>
              <a:chOff x="2912427" y="2529522"/>
              <a:chExt cx="6367145" cy="1798955"/>
            </a:xfrm>
          </p:grpSpPr>
          <p:pic>
            <p:nvPicPr>
              <p:cNvPr id="75" name="Picture 74">
                <a:extLst>
                  <a:ext uri="{FF2B5EF4-FFF2-40B4-BE49-F238E27FC236}">
                    <a16:creationId xmlns:a16="http://schemas.microsoft.com/office/drawing/2014/main" id="{E1808B51-280D-44FE-9814-9FF532AEBC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0227" y="2529522"/>
                <a:ext cx="6189345" cy="1699895"/>
              </a:xfrm>
              <a:prstGeom prst="rect">
                <a:avLst/>
              </a:prstGeom>
            </p:spPr>
          </p:pic>
          <p:pic>
            <p:nvPicPr>
              <p:cNvPr id="76" name="Picture 75">
                <a:extLst>
                  <a:ext uri="{FF2B5EF4-FFF2-40B4-BE49-F238E27FC236}">
                    <a16:creationId xmlns:a16="http://schemas.microsoft.com/office/drawing/2014/main" id="{C17F8757-03A4-4ADA-8879-4B61A16C51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12427" y="3198812"/>
                <a:ext cx="6189345" cy="1129665"/>
              </a:xfrm>
              <a:prstGeom prst="rect">
                <a:avLst/>
              </a:prstGeom>
              <a:ln>
                <a:noFill/>
              </a:ln>
              <a:effectLst>
                <a:outerShdw blurRad="292100" dist="139700" dir="2700000" algn="tl" rotWithShape="0">
                  <a:srgbClr val="333333">
                    <a:alpha val="65000"/>
                  </a:srgbClr>
                </a:outerShdw>
              </a:effectLst>
            </p:spPr>
          </p:pic>
        </p:grpSp>
        <p:grpSp>
          <p:nvGrpSpPr>
            <p:cNvPr id="79" name="Group 78">
              <a:extLst>
                <a:ext uri="{FF2B5EF4-FFF2-40B4-BE49-F238E27FC236}">
                  <a16:creationId xmlns:a16="http://schemas.microsoft.com/office/drawing/2014/main" id="{73A7C8D4-F7D7-47FC-859C-05776B1EFABE}"/>
                </a:ext>
              </a:extLst>
            </p:cNvPr>
            <p:cNvGrpSpPr/>
            <p:nvPr/>
          </p:nvGrpSpPr>
          <p:grpSpPr>
            <a:xfrm>
              <a:off x="10121922" y="4794833"/>
              <a:ext cx="1648460" cy="1781813"/>
              <a:chOff x="0" y="0"/>
              <a:chExt cx="1648687" cy="1782209"/>
            </a:xfrm>
          </p:grpSpPr>
          <p:sp>
            <p:nvSpPr>
              <p:cNvPr id="80" name="Rectangle 79">
                <a:extLst>
                  <a:ext uri="{FF2B5EF4-FFF2-40B4-BE49-F238E27FC236}">
                    <a16:creationId xmlns:a16="http://schemas.microsoft.com/office/drawing/2014/main" id="{99C871C3-2570-4734-A6F0-95DCBAC31B1F}"/>
                  </a:ext>
                </a:extLst>
              </p:cNvPr>
              <p:cNvSpPr/>
              <p:nvPr/>
            </p:nvSpPr>
            <p:spPr>
              <a:xfrm>
                <a:off x="464024" y="0"/>
                <a:ext cx="532023"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81" name="Straight Arrow Connector 80">
                <a:extLst>
                  <a:ext uri="{FF2B5EF4-FFF2-40B4-BE49-F238E27FC236}">
                    <a16:creationId xmlns:a16="http://schemas.microsoft.com/office/drawing/2014/main" id="{3FC17DE7-B6CE-4D2E-90A5-D51295294F81}"/>
                  </a:ext>
                </a:extLst>
              </p:cNvPr>
              <p:cNvCxnSpPr/>
              <p:nvPr/>
            </p:nvCxnSpPr>
            <p:spPr>
              <a:xfrm flipV="1">
                <a:off x="982639" y="28376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Text Box 588">
                <a:extLst>
                  <a:ext uri="{FF2B5EF4-FFF2-40B4-BE49-F238E27FC236}">
                    <a16:creationId xmlns:a16="http://schemas.microsoft.com/office/drawing/2014/main" id="{61E7863F-88D3-44CC-8D32-52ECC786A86C}"/>
                  </a:ext>
                </a:extLst>
              </p:cNvPr>
              <p:cNvSpPr txBox="1"/>
              <p:nvPr/>
            </p:nvSpPr>
            <p:spPr>
              <a:xfrm>
                <a:off x="1173707" y="27296"/>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5.6</a:t>
                </a:r>
                <a:endParaRPr lang="en-PH" sz="1100">
                  <a:effectLst/>
                  <a:ea typeface="Calibri" panose="020F0502020204030204" pitchFamily="34" charset="0"/>
                  <a:cs typeface="Times New Roman" panose="02020603050405020304" pitchFamily="18" charset="0"/>
                </a:endParaRPr>
              </a:p>
            </p:txBody>
          </p:sp>
          <p:sp>
            <p:nvSpPr>
              <p:cNvPr id="83" name="Curved Right Arrow 589">
                <a:extLst>
                  <a:ext uri="{FF2B5EF4-FFF2-40B4-BE49-F238E27FC236}">
                    <a16:creationId xmlns:a16="http://schemas.microsoft.com/office/drawing/2014/main" id="{78230162-E91E-4793-959F-F2024B169BC7}"/>
                  </a:ext>
                </a:extLst>
              </p:cNvPr>
              <p:cNvSpPr/>
              <p:nvPr/>
            </p:nvSpPr>
            <p:spPr>
              <a:xfrm>
                <a:off x="0" y="204717"/>
                <a:ext cx="474518" cy="605518"/>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sp>
            <p:nvSpPr>
              <p:cNvPr id="84" name="Rectangle 83">
                <a:extLst>
                  <a:ext uri="{FF2B5EF4-FFF2-40B4-BE49-F238E27FC236}">
                    <a16:creationId xmlns:a16="http://schemas.microsoft.com/office/drawing/2014/main" id="{052CFDAB-ECC7-4B94-BD1C-B7330715C32A}"/>
                  </a:ext>
                </a:extLst>
              </p:cNvPr>
              <p:cNvSpPr/>
              <p:nvPr/>
            </p:nvSpPr>
            <p:spPr>
              <a:xfrm>
                <a:off x="545910" y="1569493"/>
                <a:ext cx="460243" cy="21271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85" name="Straight Arrow Connector 84">
                <a:extLst>
                  <a:ext uri="{FF2B5EF4-FFF2-40B4-BE49-F238E27FC236}">
                    <a16:creationId xmlns:a16="http://schemas.microsoft.com/office/drawing/2014/main" id="{0288E86C-C602-4D99-B157-9092E031CF6C}"/>
                  </a:ext>
                </a:extLst>
              </p:cNvPr>
              <p:cNvCxnSpPr/>
              <p:nvPr/>
            </p:nvCxnSpPr>
            <p:spPr>
              <a:xfrm flipV="1">
                <a:off x="996287" y="1675832"/>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6" name="Text Box 592">
                <a:extLst>
                  <a:ext uri="{FF2B5EF4-FFF2-40B4-BE49-F238E27FC236}">
                    <a16:creationId xmlns:a16="http://schemas.microsoft.com/office/drawing/2014/main" id="{0C5575B2-4062-4DB3-AF1B-8FBE71D35C97}"/>
                  </a:ext>
                </a:extLst>
              </p:cNvPr>
              <p:cNvSpPr txBox="1"/>
              <p:nvPr/>
            </p:nvSpPr>
            <p:spPr>
              <a:xfrm>
                <a:off x="1173707" y="147395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5.6</a:t>
                </a:r>
                <a:endParaRPr lang="en-PH" sz="1100">
                  <a:effectLst/>
                  <a:ea typeface="Calibri" panose="020F0502020204030204" pitchFamily="34" charset="0"/>
                  <a:cs typeface="Times New Roman" panose="02020603050405020304" pitchFamily="18" charset="0"/>
                </a:endParaRPr>
              </a:p>
            </p:txBody>
          </p:sp>
        </p:grpSp>
      </p:grpSp>
      <p:sp>
        <p:nvSpPr>
          <p:cNvPr id="7" name="Slide Number Placeholder 6">
            <a:extLst>
              <a:ext uri="{FF2B5EF4-FFF2-40B4-BE49-F238E27FC236}">
                <a16:creationId xmlns:a16="http://schemas.microsoft.com/office/drawing/2014/main" id="{0FA905C3-77AE-FAF6-DE67-D5AE7DDAC6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956954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805111" y="2030663"/>
            <a:ext cx="3792290" cy="419686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5.8</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To add more items, repeat 5.2 to 5.5 before doing 5.6.</a:t>
            </a:r>
          </a:p>
          <a:p>
            <a:pPr>
              <a:lnSpc>
                <a:spcPct val="115000"/>
              </a:lnSpc>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5.9</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After you click the accept button in the dialog box of selected items in 5.6., the items select will be plotted in the stock as shown below.</a:t>
            </a:r>
          </a:p>
          <a:p>
            <a:pPr>
              <a:lnSpc>
                <a:spcPct val="115000"/>
              </a:lnSpc>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5.10</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You may still edit the details per item in the stock. Change directly the details needed to be change.</a:t>
            </a:r>
          </a:p>
          <a:p>
            <a:pPr>
              <a:lnSpc>
                <a:spcPct val="115000"/>
              </a:lnSpc>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5.11</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If done, click save item button</a:t>
            </a:r>
          </a:p>
          <a:p>
            <a:pPr>
              <a:lnSpc>
                <a:spcPct val="115000"/>
              </a:lnSpc>
            </a:pPr>
            <a:endParaRPr lang="en-PH" sz="1200" dirty="0">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5.12</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Click the maximize arrow to enable the post button.</a:t>
            </a:r>
          </a:p>
          <a:p>
            <a:pPr>
              <a:lnSpc>
                <a:spcPct val="115000"/>
              </a:lnSpc>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5.13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To finalize, the transaction, click post button located in the header</a:t>
            </a:r>
          </a:p>
          <a:p>
            <a:pPr>
              <a:lnSpc>
                <a:spcPct val="115000"/>
              </a:lnSpc>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6C5DBDA1-743E-42BB-B885-150ADF90B600}"/>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Order</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0" name="TextBox 29">
            <a:extLst>
              <a:ext uri="{FF2B5EF4-FFF2-40B4-BE49-F238E27FC236}">
                <a16:creationId xmlns:a16="http://schemas.microsoft.com/office/drawing/2014/main" id="{79C23719-FF9F-41AF-8971-7F1300CCAB95}"/>
              </a:ext>
            </a:extLst>
          </p:cNvPr>
          <p:cNvSpPr txBox="1"/>
          <p:nvPr/>
        </p:nvSpPr>
        <p:spPr>
          <a:xfrm>
            <a:off x="1517830" y="62810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Order Transaction?</a:t>
            </a:r>
            <a:endParaRPr lang="en-US" sz="2000" dirty="0">
              <a:solidFill>
                <a:srgbClr val="007434"/>
              </a:solidFill>
              <a:latin typeface="+mj-lt"/>
            </a:endParaRPr>
          </a:p>
        </p:txBody>
      </p:sp>
      <p:grpSp>
        <p:nvGrpSpPr>
          <p:cNvPr id="27" name="Group 26">
            <a:extLst>
              <a:ext uri="{FF2B5EF4-FFF2-40B4-BE49-F238E27FC236}">
                <a16:creationId xmlns:a16="http://schemas.microsoft.com/office/drawing/2014/main" id="{E51D317A-C507-44E2-907D-1C8AB4294ED3}"/>
              </a:ext>
            </a:extLst>
          </p:cNvPr>
          <p:cNvGrpSpPr/>
          <p:nvPr/>
        </p:nvGrpSpPr>
        <p:grpSpPr>
          <a:xfrm>
            <a:off x="5675449" y="400561"/>
            <a:ext cx="6189345" cy="2081530"/>
            <a:chOff x="0" y="0"/>
            <a:chExt cx="6189345" cy="2081530"/>
          </a:xfrm>
        </p:grpSpPr>
        <p:pic>
          <p:nvPicPr>
            <p:cNvPr id="28" name="Picture 27">
              <a:extLst>
                <a:ext uri="{FF2B5EF4-FFF2-40B4-BE49-F238E27FC236}">
                  <a16:creationId xmlns:a16="http://schemas.microsoft.com/office/drawing/2014/main" id="{C521C270-AF0E-41FF-AE91-96BB5D9BE0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189345" cy="2081530"/>
            </a:xfrm>
            <a:prstGeom prst="rect">
              <a:avLst/>
            </a:prstGeom>
          </p:spPr>
        </p:pic>
        <p:sp>
          <p:nvSpPr>
            <p:cNvPr id="31" name="Rectangle 30">
              <a:extLst>
                <a:ext uri="{FF2B5EF4-FFF2-40B4-BE49-F238E27FC236}">
                  <a16:creationId xmlns:a16="http://schemas.microsoft.com/office/drawing/2014/main" id="{15933701-725B-4A7E-81D2-0D713AFF3583}"/>
                </a:ext>
              </a:extLst>
            </p:cNvPr>
            <p:cNvSpPr/>
            <p:nvPr/>
          </p:nvSpPr>
          <p:spPr>
            <a:xfrm>
              <a:off x="4817660" y="764275"/>
              <a:ext cx="590369"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32" name="Straight Arrow Connector 31">
              <a:extLst>
                <a:ext uri="{FF2B5EF4-FFF2-40B4-BE49-F238E27FC236}">
                  <a16:creationId xmlns:a16="http://schemas.microsoft.com/office/drawing/2014/main" id="{6F82A42E-922F-4949-A515-2E43EC95DF5D}"/>
                </a:ext>
              </a:extLst>
            </p:cNvPr>
            <p:cNvCxnSpPr/>
            <p:nvPr/>
          </p:nvCxnSpPr>
          <p:spPr>
            <a:xfrm flipV="1">
              <a:off x="5404513" y="897909"/>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ext Box 672">
              <a:extLst>
                <a:ext uri="{FF2B5EF4-FFF2-40B4-BE49-F238E27FC236}">
                  <a16:creationId xmlns:a16="http://schemas.microsoft.com/office/drawing/2014/main" id="{3EFF6168-BE0F-4356-8E04-11F459EEA904}"/>
                </a:ext>
              </a:extLst>
            </p:cNvPr>
            <p:cNvSpPr txBox="1"/>
            <p:nvPr/>
          </p:nvSpPr>
          <p:spPr>
            <a:xfrm>
              <a:off x="5568287" y="66874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5.10</a:t>
              </a:r>
              <a:endParaRPr lang="en-PH" sz="1100">
                <a:effectLst/>
                <a:ea typeface="Calibri" panose="020F0502020204030204" pitchFamily="34" charset="0"/>
                <a:cs typeface="Times New Roman" panose="02020603050405020304" pitchFamily="18" charset="0"/>
              </a:endParaRPr>
            </a:p>
          </p:txBody>
        </p:sp>
      </p:grpSp>
      <p:grpSp>
        <p:nvGrpSpPr>
          <p:cNvPr id="7" name="Group 6">
            <a:extLst>
              <a:ext uri="{FF2B5EF4-FFF2-40B4-BE49-F238E27FC236}">
                <a16:creationId xmlns:a16="http://schemas.microsoft.com/office/drawing/2014/main" id="{3BE3CA51-EC65-4408-8D8D-08C685983016}"/>
              </a:ext>
            </a:extLst>
          </p:cNvPr>
          <p:cNvGrpSpPr/>
          <p:nvPr/>
        </p:nvGrpSpPr>
        <p:grpSpPr>
          <a:xfrm>
            <a:off x="5529371" y="2825571"/>
            <a:ext cx="6189345" cy="3631868"/>
            <a:chOff x="5529371" y="3581323"/>
            <a:chExt cx="6189345" cy="3631868"/>
          </a:xfrm>
        </p:grpSpPr>
        <p:pic>
          <p:nvPicPr>
            <p:cNvPr id="34" name="Picture 33">
              <a:extLst>
                <a:ext uri="{FF2B5EF4-FFF2-40B4-BE49-F238E27FC236}">
                  <a16:creationId xmlns:a16="http://schemas.microsoft.com/office/drawing/2014/main" id="{829ED315-2EBB-4221-9C79-37B5B304B88D}"/>
                </a:ext>
              </a:extLst>
            </p:cNvPr>
            <p:cNvPicPr>
              <a:picLocks noChangeAspect="1"/>
            </p:cNvPicPr>
            <p:nvPr/>
          </p:nvPicPr>
          <p:blipFill>
            <a:blip r:embed="rId3"/>
            <a:stretch>
              <a:fillRect/>
            </a:stretch>
          </p:blipFill>
          <p:spPr>
            <a:xfrm>
              <a:off x="5529371" y="3581323"/>
              <a:ext cx="6189345" cy="2518410"/>
            </a:xfrm>
            <a:prstGeom prst="rect">
              <a:avLst/>
            </a:prstGeom>
          </p:spPr>
        </p:pic>
        <p:grpSp>
          <p:nvGrpSpPr>
            <p:cNvPr id="2" name="Group 1">
              <a:extLst>
                <a:ext uri="{FF2B5EF4-FFF2-40B4-BE49-F238E27FC236}">
                  <a16:creationId xmlns:a16="http://schemas.microsoft.com/office/drawing/2014/main" id="{4986003E-6DB1-486A-88CE-449708A04BCC}"/>
                </a:ext>
              </a:extLst>
            </p:cNvPr>
            <p:cNvGrpSpPr/>
            <p:nvPr/>
          </p:nvGrpSpPr>
          <p:grpSpPr>
            <a:xfrm>
              <a:off x="6018322" y="4099785"/>
              <a:ext cx="5700394" cy="3113406"/>
              <a:chOff x="3245802" y="1872297"/>
              <a:chExt cx="5700394" cy="3113406"/>
            </a:xfrm>
          </p:grpSpPr>
          <p:pic>
            <p:nvPicPr>
              <p:cNvPr id="51" name="Picture 50">
                <a:extLst>
                  <a:ext uri="{FF2B5EF4-FFF2-40B4-BE49-F238E27FC236}">
                    <a16:creationId xmlns:a16="http://schemas.microsoft.com/office/drawing/2014/main" id="{F7A29C33-613B-4D26-AEE4-7DAE5E3123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45802" y="2125663"/>
                <a:ext cx="4690745" cy="2860040"/>
              </a:xfrm>
              <a:prstGeom prst="rect">
                <a:avLst/>
              </a:prstGeom>
              <a:ln>
                <a:noFill/>
              </a:ln>
              <a:effectLst>
                <a:outerShdw blurRad="292100" dist="139700" dir="2700000" algn="tl" rotWithShape="0">
                  <a:srgbClr val="333333">
                    <a:alpha val="65000"/>
                  </a:srgbClr>
                </a:outerShdw>
              </a:effectLst>
            </p:spPr>
          </p:pic>
          <p:grpSp>
            <p:nvGrpSpPr>
              <p:cNvPr id="52" name="Group 51">
                <a:extLst>
                  <a:ext uri="{FF2B5EF4-FFF2-40B4-BE49-F238E27FC236}">
                    <a16:creationId xmlns:a16="http://schemas.microsoft.com/office/drawing/2014/main" id="{36D230F0-2718-4BBB-91C0-094B23D58920}"/>
                  </a:ext>
                </a:extLst>
              </p:cNvPr>
              <p:cNvGrpSpPr/>
              <p:nvPr/>
            </p:nvGrpSpPr>
            <p:grpSpPr>
              <a:xfrm>
                <a:off x="5291772" y="1872297"/>
                <a:ext cx="3654424" cy="982349"/>
                <a:chOff x="0" y="0"/>
                <a:chExt cx="3654908" cy="982677"/>
              </a:xfrm>
            </p:grpSpPr>
            <p:sp>
              <p:nvSpPr>
                <p:cNvPr id="53" name="Rectangle 52">
                  <a:extLst>
                    <a:ext uri="{FF2B5EF4-FFF2-40B4-BE49-F238E27FC236}">
                      <a16:creationId xmlns:a16="http://schemas.microsoft.com/office/drawing/2014/main" id="{4578BBE2-915B-4AF5-884E-D6EEF61E1278}"/>
                    </a:ext>
                  </a:extLst>
                </p:cNvPr>
                <p:cNvSpPr/>
                <p:nvPr/>
              </p:nvSpPr>
              <p:spPr>
                <a:xfrm>
                  <a:off x="2661313" y="81887"/>
                  <a:ext cx="352409" cy="2492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54" name="Straight Arrow Connector 53">
                  <a:extLst>
                    <a:ext uri="{FF2B5EF4-FFF2-40B4-BE49-F238E27FC236}">
                      <a16:creationId xmlns:a16="http://schemas.microsoft.com/office/drawing/2014/main" id="{3EDFA904-00DF-43AD-9779-504DF4A6990D}"/>
                    </a:ext>
                  </a:extLst>
                </p:cNvPr>
                <p:cNvCxnSpPr/>
                <p:nvPr/>
              </p:nvCxnSpPr>
              <p:spPr>
                <a:xfrm flipV="1">
                  <a:off x="3002507" y="270112"/>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Text Box 689">
                  <a:extLst>
                    <a:ext uri="{FF2B5EF4-FFF2-40B4-BE49-F238E27FC236}">
                      <a16:creationId xmlns:a16="http://schemas.microsoft.com/office/drawing/2014/main" id="{31FABBDC-4AFA-40AD-8F87-C8E00ED6F7EF}"/>
                    </a:ext>
                  </a:extLst>
                </p:cNvPr>
                <p:cNvSpPr txBox="1"/>
                <p:nvPr/>
              </p:nvSpPr>
              <p:spPr>
                <a:xfrm>
                  <a:off x="3179928"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5.11</a:t>
                  </a:r>
                  <a:endParaRPr lang="en-PH" sz="1100">
                    <a:effectLst/>
                    <a:ea typeface="Calibri" panose="020F0502020204030204" pitchFamily="34" charset="0"/>
                    <a:cs typeface="Times New Roman" panose="02020603050405020304" pitchFamily="18" charset="0"/>
                  </a:endParaRPr>
                </a:p>
              </p:txBody>
            </p:sp>
            <p:sp>
              <p:nvSpPr>
                <p:cNvPr id="56" name="Curved Right Arrow 691">
                  <a:extLst>
                    <a:ext uri="{FF2B5EF4-FFF2-40B4-BE49-F238E27FC236}">
                      <a16:creationId xmlns:a16="http://schemas.microsoft.com/office/drawing/2014/main" id="{BF27D3C0-0A10-40FD-BEBE-CB6EEE94D0E9}"/>
                    </a:ext>
                  </a:extLst>
                </p:cNvPr>
                <p:cNvSpPr/>
                <p:nvPr/>
              </p:nvSpPr>
              <p:spPr>
                <a:xfrm>
                  <a:off x="2183642" y="136478"/>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sp>
              <p:nvSpPr>
                <p:cNvPr id="57" name="Rectangle 56">
                  <a:extLst>
                    <a:ext uri="{FF2B5EF4-FFF2-40B4-BE49-F238E27FC236}">
                      <a16:creationId xmlns:a16="http://schemas.microsoft.com/office/drawing/2014/main" id="{B0EF4B4C-94D2-4B76-B3CD-D6AC040BFC4E}"/>
                    </a:ext>
                  </a:extLst>
                </p:cNvPr>
                <p:cNvSpPr/>
                <p:nvPr/>
              </p:nvSpPr>
              <p:spPr>
                <a:xfrm>
                  <a:off x="0" y="696036"/>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58" name="Straight Arrow Connector 57">
                  <a:extLst>
                    <a:ext uri="{FF2B5EF4-FFF2-40B4-BE49-F238E27FC236}">
                      <a16:creationId xmlns:a16="http://schemas.microsoft.com/office/drawing/2014/main" id="{F145D366-76BC-454F-BF11-4D380A1F36E1}"/>
                    </a:ext>
                  </a:extLst>
                </p:cNvPr>
                <p:cNvCxnSpPr/>
                <p:nvPr/>
              </p:nvCxnSpPr>
              <p:spPr>
                <a:xfrm flipV="1">
                  <a:off x="341194" y="911557"/>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9" name="Text Box 694">
                  <a:extLst>
                    <a:ext uri="{FF2B5EF4-FFF2-40B4-BE49-F238E27FC236}">
                      <a16:creationId xmlns:a16="http://schemas.microsoft.com/office/drawing/2014/main" id="{97063374-A50E-4CFF-B7AD-07FA9FCD047E}"/>
                    </a:ext>
                  </a:extLst>
                </p:cNvPr>
                <p:cNvSpPr txBox="1"/>
                <p:nvPr/>
              </p:nvSpPr>
              <p:spPr>
                <a:xfrm>
                  <a:off x="518615" y="60050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5.12</a:t>
                  </a:r>
                  <a:endParaRPr lang="en-PH" sz="1100">
                    <a:effectLst/>
                    <a:ea typeface="Calibri" panose="020F0502020204030204" pitchFamily="34" charset="0"/>
                    <a:cs typeface="Times New Roman" panose="02020603050405020304" pitchFamily="18" charset="0"/>
                  </a:endParaRPr>
                </a:p>
              </p:txBody>
            </p:sp>
          </p:grpSp>
        </p:grpSp>
      </p:grpSp>
      <p:sp>
        <p:nvSpPr>
          <p:cNvPr id="6" name="Slide Number Placeholder 5">
            <a:extLst>
              <a:ext uri="{FF2B5EF4-FFF2-40B4-BE49-F238E27FC236}">
                <a16:creationId xmlns:a16="http://schemas.microsoft.com/office/drawing/2014/main" id="{5614349D-E380-4E8A-9065-F4BE1F7336C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673683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Edit Sales Order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In the sales order – main window, search the sales order transaction you wish to edit its information in the search bar. Or,</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In sales order – main form, click the lookup button and select the transaction you wish to edit its information by typing its transaction number in the search bar.</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p>
          <a:p>
            <a:pPr marL="228600" marR="0">
              <a:lnSpc>
                <a:spcPct val="115000"/>
              </a:lnSpc>
              <a:spcBef>
                <a:spcPts val="0"/>
              </a:spcBef>
              <a:spcAft>
                <a:spcPts val="0"/>
              </a:spcAft>
            </a:pPr>
            <a:r>
              <a:rPr lang="en-US" sz="1100" b="1" cap="all" dirty="0">
                <a:solidFill>
                  <a:srgbClr val="00863D"/>
                </a:solidFill>
                <a:latin typeface="Chivo Light" panose="020B0303030202020804" pitchFamily="34" charset="0"/>
                <a:ea typeface="Calibri" panose="020F0502020204030204" pitchFamily="34" charset="0"/>
                <a:cs typeface="Times New Roman" panose="02020603050405020304" pitchFamily="18" charset="0"/>
              </a:rPr>
              <a:t>2.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SO transaction, if you wish to edit the header of the transaction click edit button. </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If you are done editing the sales order header, click save button in the upper side of the header.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8673CA3-1D44-C44A-39AC-03BF9C5DE318}"/>
              </a:ext>
            </a:extLst>
          </p:cNvPr>
          <p:cNvSpPr txBox="1"/>
          <p:nvPr/>
        </p:nvSpPr>
        <p:spPr>
          <a:xfrm>
            <a:off x="7290763" y="2653157"/>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Order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DD15007-9C88-741A-9271-4BE13BE6B3CE}"/>
              </a:ext>
            </a:extLst>
          </p:cNvPr>
          <p:cNvSpPr txBox="1"/>
          <p:nvPr/>
        </p:nvSpPr>
        <p:spPr>
          <a:xfrm>
            <a:off x="7401253" y="5403215"/>
            <a:ext cx="2552700" cy="272319"/>
          </a:xfrm>
          <a:prstGeom prst="rect">
            <a:avLst/>
          </a:prstGeom>
          <a:noFill/>
        </p:spPr>
        <p:txBody>
          <a:bodyPr wrap="square">
            <a:spAutoFit/>
          </a:bodyPr>
          <a:lstStyle/>
          <a:p>
            <a:pPr marL="0" marR="0" algn="ctr">
              <a:lnSpc>
                <a:spcPct val="107000"/>
              </a:lnSpc>
              <a:spcBef>
                <a:spcPts val="0"/>
              </a:spcBef>
              <a:spcAft>
                <a:spcPts val="800"/>
              </a:spcAft>
            </a:pPr>
            <a:r>
              <a:rPr lang="en-PH" sz="1200" dirty="0">
                <a:effectLst/>
                <a:latin typeface="Bahnschrift Condensed" panose="020B0502040204020203" pitchFamily="34" charset="0"/>
                <a:ea typeface="Calibri" panose="020F0502020204030204" pitchFamily="34" charset="0"/>
                <a:cs typeface="Times New Roman" panose="02020603050405020304" pitchFamily="18" charset="0"/>
              </a:rPr>
              <a:t>Sales Order – </a:t>
            </a:r>
            <a:r>
              <a:rPr lang="en-PH" sz="1200" dirty="0">
                <a:latin typeface="Bahnschrift Condensed" panose="020B0502040204020203" pitchFamily="34" charset="0"/>
                <a:ea typeface="Calibri" panose="020F0502020204030204" pitchFamily="34" charset="0"/>
                <a:cs typeface="Times New Roman" panose="02020603050405020304" pitchFamily="18" charset="0"/>
              </a:rPr>
              <a:t>Main </a:t>
            </a:r>
            <a:r>
              <a:rPr lang="en-PH" sz="1200" dirty="0">
                <a:effectLst/>
                <a:latin typeface="Bahnschrift Condensed" panose="020B0502040204020203" pitchFamily="34" charset="0"/>
                <a:ea typeface="Calibri" panose="020F0502020204030204" pitchFamily="34" charset="0"/>
                <a:cs typeface="Times New Roman" panose="02020603050405020304" pitchFamily="18" charset="0"/>
              </a:rPr>
              <a:t>Form</a:t>
            </a:r>
            <a:endParaRPr lang="en-US" sz="1200" dirty="0">
              <a:effectLst/>
              <a:latin typeface="Bahnschrift Condensed" panose="020B0502040204020203" pitchFamily="34" charset="0"/>
              <a:ea typeface="Calibri" panose="020F050202020403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B947E9DC-88CD-4D3A-8158-A7BBABB18861}"/>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Order</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2" name="Group 1">
            <a:extLst>
              <a:ext uri="{FF2B5EF4-FFF2-40B4-BE49-F238E27FC236}">
                <a16:creationId xmlns:a16="http://schemas.microsoft.com/office/drawing/2014/main" id="{D0F90234-C7A3-47E9-B53D-9D72E6AD7990}"/>
              </a:ext>
            </a:extLst>
          </p:cNvPr>
          <p:cNvGrpSpPr/>
          <p:nvPr/>
        </p:nvGrpSpPr>
        <p:grpSpPr>
          <a:xfrm>
            <a:off x="5590972" y="477110"/>
            <a:ext cx="6060440" cy="2172970"/>
            <a:chOff x="5590972" y="477110"/>
            <a:chExt cx="6060440" cy="2172970"/>
          </a:xfrm>
        </p:grpSpPr>
        <p:pic>
          <p:nvPicPr>
            <p:cNvPr id="30" name="Picture 29">
              <a:extLst>
                <a:ext uri="{FF2B5EF4-FFF2-40B4-BE49-F238E27FC236}">
                  <a16:creationId xmlns:a16="http://schemas.microsoft.com/office/drawing/2014/main" id="{70C7738E-4A6E-4A68-A674-4E644088A1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0972" y="477110"/>
              <a:ext cx="6060440" cy="2172970"/>
            </a:xfrm>
            <a:prstGeom prst="rect">
              <a:avLst/>
            </a:prstGeom>
          </p:spPr>
        </p:pic>
        <p:grpSp>
          <p:nvGrpSpPr>
            <p:cNvPr id="31" name="Group 30">
              <a:extLst>
                <a:ext uri="{FF2B5EF4-FFF2-40B4-BE49-F238E27FC236}">
                  <a16:creationId xmlns:a16="http://schemas.microsoft.com/office/drawing/2014/main" id="{0B2BFB1C-FBC2-454B-837E-CEAF559955E0}"/>
                </a:ext>
              </a:extLst>
            </p:cNvPr>
            <p:cNvGrpSpPr/>
            <p:nvPr/>
          </p:nvGrpSpPr>
          <p:grpSpPr>
            <a:xfrm>
              <a:off x="5756409" y="1563595"/>
              <a:ext cx="1475739" cy="333375"/>
              <a:chOff x="0" y="0"/>
              <a:chExt cx="1476374" cy="333375"/>
            </a:xfrm>
          </p:grpSpPr>
          <p:sp>
            <p:nvSpPr>
              <p:cNvPr id="32" name="Rectangle 31">
                <a:extLst>
                  <a:ext uri="{FF2B5EF4-FFF2-40B4-BE49-F238E27FC236}">
                    <a16:creationId xmlns:a16="http://schemas.microsoft.com/office/drawing/2014/main" id="{134687A9-4AAA-462D-82EE-DF442308BA0B}"/>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33" name="Straight Arrow Connector 32">
                <a:extLst>
                  <a:ext uri="{FF2B5EF4-FFF2-40B4-BE49-F238E27FC236}">
                    <a16:creationId xmlns:a16="http://schemas.microsoft.com/office/drawing/2014/main" id="{AD08216D-3BA1-4AC2-A9E5-F5BFFD45521E}"/>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39">
                <a:extLst>
                  <a:ext uri="{FF2B5EF4-FFF2-40B4-BE49-F238E27FC236}">
                    <a16:creationId xmlns:a16="http://schemas.microsoft.com/office/drawing/2014/main" id="{FB1E2B38-5EB3-42A3-A512-B589130DA1F4}"/>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1.1.</a:t>
                </a:r>
                <a:endParaRPr lang="en-PH" sz="1100">
                  <a:effectLst/>
                  <a:ea typeface="Calibri" panose="020F0502020204030204" pitchFamily="34" charset="0"/>
                  <a:cs typeface="Times New Roman" panose="02020603050405020304" pitchFamily="18" charset="0"/>
                </a:endParaRPr>
              </a:p>
            </p:txBody>
          </p:sp>
        </p:grpSp>
      </p:grpSp>
      <p:pic>
        <p:nvPicPr>
          <p:cNvPr id="36" name="Picture 35">
            <a:extLst>
              <a:ext uri="{FF2B5EF4-FFF2-40B4-BE49-F238E27FC236}">
                <a16:creationId xmlns:a16="http://schemas.microsoft.com/office/drawing/2014/main" id="{A12A5BC0-E014-42CC-8811-39DDF66217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4888" y="3429000"/>
            <a:ext cx="6189345" cy="2061210"/>
          </a:xfrm>
          <a:prstGeom prst="rect">
            <a:avLst/>
          </a:prstGeom>
        </p:spPr>
      </p:pic>
      <p:grpSp>
        <p:nvGrpSpPr>
          <p:cNvPr id="4" name="Group 3">
            <a:extLst>
              <a:ext uri="{FF2B5EF4-FFF2-40B4-BE49-F238E27FC236}">
                <a16:creationId xmlns:a16="http://schemas.microsoft.com/office/drawing/2014/main" id="{A639199B-7D4A-496B-8BB7-12F4B8F17714}"/>
              </a:ext>
            </a:extLst>
          </p:cNvPr>
          <p:cNvGrpSpPr/>
          <p:nvPr/>
        </p:nvGrpSpPr>
        <p:grpSpPr>
          <a:xfrm>
            <a:off x="4885910" y="3893361"/>
            <a:ext cx="5866766" cy="1764030"/>
            <a:chOff x="3162617" y="2546985"/>
            <a:chExt cx="5866766" cy="1764030"/>
          </a:xfrm>
        </p:grpSpPr>
        <p:grpSp>
          <p:nvGrpSpPr>
            <p:cNvPr id="37" name="Group 36">
              <a:extLst>
                <a:ext uri="{FF2B5EF4-FFF2-40B4-BE49-F238E27FC236}">
                  <a16:creationId xmlns:a16="http://schemas.microsoft.com/office/drawing/2014/main" id="{72C75699-DDFD-447E-92B9-10A0AC4D26E2}"/>
                </a:ext>
              </a:extLst>
            </p:cNvPr>
            <p:cNvGrpSpPr/>
            <p:nvPr/>
          </p:nvGrpSpPr>
          <p:grpSpPr>
            <a:xfrm>
              <a:off x="4906327" y="3039110"/>
              <a:ext cx="952500" cy="304800"/>
              <a:chOff x="523874" y="28575"/>
              <a:chExt cx="952500" cy="304800"/>
            </a:xfrm>
          </p:grpSpPr>
          <p:sp>
            <p:nvSpPr>
              <p:cNvPr id="61" name="Rectangle 60">
                <a:extLst>
                  <a:ext uri="{FF2B5EF4-FFF2-40B4-BE49-F238E27FC236}">
                    <a16:creationId xmlns:a16="http://schemas.microsoft.com/office/drawing/2014/main" id="{396128EC-6C1D-4A3C-AC6C-ACA963936F60}"/>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62" name="Straight Arrow Connector 61">
                <a:extLst>
                  <a:ext uri="{FF2B5EF4-FFF2-40B4-BE49-F238E27FC236}">
                    <a16:creationId xmlns:a16="http://schemas.microsoft.com/office/drawing/2014/main" id="{95E33608-2FC5-439E-914B-AA8D3A76DF6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 Box 44">
                <a:extLst>
                  <a:ext uri="{FF2B5EF4-FFF2-40B4-BE49-F238E27FC236}">
                    <a16:creationId xmlns:a16="http://schemas.microsoft.com/office/drawing/2014/main" id="{D392D5BD-81E6-48BA-9E4A-0472713F0E0D}"/>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1.2.</a:t>
                </a:r>
                <a:endParaRPr lang="en-PH" sz="1100">
                  <a:effectLst/>
                  <a:ea typeface="Calibri" panose="020F0502020204030204" pitchFamily="34" charset="0"/>
                  <a:cs typeface="Times New Roman" panose="02020603050405020304" pitchFamily="18" charset="0"/>
                </a:endParaRPr>
              </a:p>
            </p:txBody>
          </p:sp>
        </p:grpSp>
        <p:grpSp>
          <p:nvGrpSpPr>
            <p:cNvPr id="38" name="Group 37">
              <a:extLst>
                <a:ext uri="{FF2B5EF4-FFF2-40B4-BE49-F238E27FC236}">
                  <a16:creationId xmlns:a16="http://schemas.microsoft.com/office/drawing/2014/main" id="{FACA5DD1-F10C-4636-9B35-725C9A35B704}"/>
                </a:ext>
              </a:extLst>
            </p:cNvPr>
            <p:cNvGrpSpPr/>
            <p:nvPr/>
          </p:nvGrpSpPr>
          <p:grpSpPr>
            <a:xfrm>
              <a:off x="8048307" y="2633980"/>
              <a:ext cx="981076" cy="304800"/>
              <a:chOff x="333374" y="28575"/>
              <a:chExt cx="981076" cy="304800"/>
            </a:xfrm>
          </p:grpSpPr>
          <p:sp>
            <p:nvSpPr>
              <p:cNvPr id="58" name="Rectangle 57">
                <a:extLst>
                  <a:ext uri="{FF2B5EF4-FFF2-40B4-BE49-F238E27FC236}">
                    <a16:creationId xmlns:a16="http://schemas.microsoft.com/office/drawing/2014/main" id="{D7234D6E-64C8-4922-A9AD-F8F7B7997F05}"/>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59" name="Straight Arrow Connector 58">
                <a:extLst>
                  <a:ext uri="{FF2B5EF4-FFF2-40B4-BE49-F238E27FC236}">
                    <a16:creationId xmlns:a16="http://schemas.microsoft.com/office/drawing/2014/main" id="{84C757B3-DB6D-4EDA-B4E1-E0428B312586}"/>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Text Box 49">
                <a:extLst>
                  <a:ext uri="{FF2B5EF4-FFF2-40B4-BE49-F238E27FC236}">
                    <a16:creationId xmlns:a16="http://schemas.microsoft.com/office/drawing/2014/main" id="{946FF46E-A9C5-4C1F-A487-5B82B052EE8E}"/>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2.</a:t>
                </a:r>
                <a:endParaRPr lang="en-PH" sz="1100">
                  <a:effectLst/>
                  <a:ea typeface="Calibri" panose="020F0502020204030204" pitchFamily="34" charset="0"/>
                  <a:cs typeface="Times New Roman" panose="02020603050405020304" pitchFamily="18" charset="0"/>
                </a:endParaRPr>
              </a:p>
            </p:txBody>
          </p:sp>
        </p:grpSp>
        <p:grpSp>
          <p:nvGrpSpPr>
            <p:cNvPr id="39" name="Group 38">
              <a:extLst>
                <a:ext uri="{FF2B5EF4-FFF2-40B4-BE49-F238E27FC236}">
                  <a16:creationId xmlns:a16="http://schemas.microsoft.com/office/drawing/2014/main" id="{E589B284-5423-4A49-A5C4-6F3400EE0459}"/>
                </a:ext>
              </a:extLst>
            </p:cNvPr>
            <p:cNvGrpSpPr>
              <a:grpSpLocks/>
            </p:cNvGrpSpPr>
            <p:nvPr/>
          </p:nvGrpSpPr>
          <p:grpSpPr bwMode="auto">
            <a:xfrm>
              <a:off x="4847907" y="3431540"/>
              <a:ext cx="2971165" cy="879475"/>
              <a:chOff x="6116" y="177"/>
              <a:chExt cx="4679" cy="1385"/>
            </a:xfrm>
          </p:grpSpPr>
          <p:pic>
            <p:nvPicPr>
              <p:cNvPr id="56" name="Picture 55">
                <a:extLst>
                  <a:ext uri="{FF2B5EF4-FFF2-40B4-BE49-F238E27FC236}">
                    <a16:creationId xmlns:a16="http://schemas.microsoft.com/office/drawing/2014/main" id="{2D9D6709-0B32-4BAE-A5A1-03023F26B3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Text Box 241">
                <a:extLst>
                  <a:ext uri="{FF2B5EF4-FFF2-40B4-BE49-F238E27FC236}">
                    <a16:creationId xmlns:a16="http://schemas.microsoft.com/office/drawing/2014/main" id="{B5691FB2-4907-44E9-8005-5F49E1EC389D}"/>
                  </a:ext>
                </a:extLst>
              </p:cNvPr>
              <p:cNvSpPr txBox="1">
                <a:spLocks noChangeArrowheads="1"/>
              </p:cNvSpPr>
              <p:nvPr/>
            </p:nvSpPr>
            <p:spPr bwMode="auto">
              <a:xfrm>
                <a:off x="6116" y="177"/>
                <a:ext cx="4679"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SO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228600">
                  <a:lnSpc>
                    <a:spcPct val="115000"/>
                  </a:lnSpc>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228600">
                  <a:lnSpc>
                    <a:spcPts val="975"/>
                  </a:lnSpc>
                  <a:spcBef>
                    <a:spcPts val="5"/>
                  </a:spcBef>
                  <a:spcAft>
                    <a:spcPts val="1000"/>
                  </a:spcAft>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329565" indent="-228600">
                  <a:lnSpc>
                    <a:spcPts val="975"/>
                  </a:lnSpc>
                  <a:spcAft>
                    <a:spcPts val="800"/>
                  </a:spcAft>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55" name="Text Box 8">
              <a:extLst>
                <a:ext uri="{FF2B5EF4-FFF2-40B4-BE49-F238E27FC236}">
                  <a16:creationId xmlns:a16="http://schemas.microsoft.com/office/drawing/2014/main" id="{0E8C9721-C6DA-472B-87F6-EF697A67581C}"/>
                </a:ext>
              </a:extLst>
            </p:cNvPr>
            <p:cNvSpPr txBox="1"/>
            <p:nvPr/>
          </p:nvSpPr>
          <p:spPr>
            <a:xfrm>
              <a:off x="3162617" y="2546985"/>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HEADER</a:t>
              </a:r>
              <a:endParaRPr lang="en-PH" sz="1100">
                <a:effectLst/>
                <a:ea typeface="Calibri" panose="020F0502020204030204" pitchFamily="34" charset="0"/>
                <a:cs typeface="Times New Roman" panose="02020603050405020304" pitchFamily="18" charset="0"/>
              </a:endParaRPr>
            </a:p>
          </p:txBody>
        </p:sp>
      </p:grpSp>
      <p:sp>
        <p:nvSpPr>
          <p:cNvPr id="6" name="Slide Number Placeholder 5">
            <a:extLst>
              <a:ext uri="{FF2B5EF4-FFF2-40B4-BE49-F238E27FC236}">
                <a16:creationId xmlns:a16="http://schemas.microsoft.com/office/drawing/2014/main" id="{2BCE2EC0-2EB3-9759-ECE4-619060A8D58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249831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613495" y="1803952"/>
            <a:ext cx="4179346" cy="367564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edit the items in sales order stock, edit right away the details you want to change and you will notice that after you change the details, the item you edited will be highlighted into blue. </a:t>
            </a:r>
          </a:p>
          <a:p>
            <a:pPr marL="228600" marR="0">
              <a:lnSpc>
                <a:spcPct val="115000"/>
              </a:lnSpc>
              <a:spcBef>
                <a:spcPts val="0"/>
              </a:spcBef>
              <a:spcAft>
                <a:spcPts val="0"/>
              </a:spcAft>
            </a:pPr>
            <a:endPar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If you’re done editing, click save item button to save the changes you made in the items.</a:t>
            </a:r>
          </a:p>
          <a:p>
            <a:pPr marL="228600" marR="0">
              <a:lnSpc>
                <a:spcPct val="115000"/>
              </a:lnSpc>
              <a:spcBef>
                <a:spcPts val="0"/>
              </a:spcBef>
              <a:spcAft>
                <a:spcPts val="0"/>
              </a:spcAft>
            </a:pPr>
            <a:endParaRPr lang="en-PH"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908C5052-DDBB-5E0B-032A-B80037F24FD1}"/>
              </a:ext>
            </a:extLst>
          </p:cNvPr>
          <p:cNvSpPr txBox="1"/>
          <p:nvPr/>
        </p:nvSpPr>
        <p:spPr>
          <a:xfrm>
            <a:off x="1136787" y="630519"/>
            <a:ext cx="4238101"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Edit Sales Order Transaction?</a:t>
            </a:r>
            <a:endParaRPr lang="en-US" sz="2000" dirty="0">
              <a:solidFill>
                <a:srgbClr val="007434"/>
              </a:solidFill>
              <a:latin typeface="+mj-lt"/>
            </a:endParaRPr>
          </a:p>
        </p:txBody>
      </p:sp>
      <p:pic>
        <p:nvPicPr>
          <p:cNvPr id="35" name="Picture 34">
            <a:extLst>
              <a:ext uri="{FF2B5EF4-FFF2-40B4-BE49-F238E27FC236}">
                <a16:creationId xmlns:a16="http://schemas.microsoft.com/office/drawing/2014/main" id="{B1B96C4B-C29F-117E-6387-31B4392693FD}"/>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1" name="TextBox 20">
            <a:extLst>
              <a:ext uri="{FF2B5EF4-FFF2-40B4-BE49-F238E27FC236}">
                <a16:creationId xmlns:a16="http://schemas.microsoft.com/office/drawing/2014/main" id="{5E9B43D2-0A83-4C6E-85C6-A8C3B499572E}"/>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Order</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2" name="Group 1">
            <a:extLst>
              <a:ext uri="{FF2B5EF4-FFF2-40B4-BE49-F238E27FC236}">
                <a16:creationId xmlns:a16="http://schemas.microsoft.com/office/drawing/2014/main" id="{5C793905-DC26-4F8D-9DDA-445BF494619B}"/>
              </a:ext>
            </a:extLst>
          </p:cNvPr>
          <p:cNvGrpSpPr/>
          <p:nvPr/>
        </p:nvGrpSpPr>
        <p:grpSpPr>
          <a:xfrm>
            <a:off x="5174864" y="2051496"/>
            <a:ext cx="6389369" cy="2326637"/>
            <a:chOff x="5174864" y="2051496"/>
            <a:chExt cx="6389369" cy="2326637"/>
          </a:xfrm>
        </p:grpSpPr>
        <p:grpSp>
          <p:nvGrpSpPr>
            <p:cNvPr id="22" name="Group 21">
              <a:extLst>
                <a:ext uri="{FF2B5EF4-FFF2-40B4-BE49-F238E27FC236}">
                  <a16:creationId xmlns:a16="http://schemas.microsoft.com/office/drawing/2014/main" id="{5EAF3032-8A68-4EF0-9E33-EB6341C2A562}"/>
                </a:ext>
              </a:extLst>
            </p:cNvPr>
            <p:cNvGrpSpPr/>
            <p:nvPr/>
          </p:nvGrpSpPr>
          <p:grpSpPr>
            <a:xfrm>
              <a:off x="5374888" y="2288932"/>
              <a:ext cx="6189345" cy="1529715"/>
              <a:chOff x="0" y="345037"/>
              <a:chExt cx="6189345" cy="1530253"/>
            </a:xfrm>
          </p:grpSpPr>
          <p:pic>
            <p:nvPicPr>
              <p:cNvPr id="23" name="Picture 22">
                <a:extLst>
                  <a:ext uri="{FF2B5EF4-FFF2-40B4-BE49-F238E27FC236}">
                    <a16:creationId xmlns:a16="http://schemas.microsoft.com/office/drawing/2014/main" id="{DE3A5990-7896-4CEC-BF6F-2B6B470170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5037"/>
                <a:ext cx="6189345" cy="1530253"/>
              </a:xfrm>
              <a:prstGeom prst="rect">
                <a:avLst/>
              </a:prstGeom>
            </p:spPr>
          </p:pic>
          <p:sp>
            <p:nvSpPr>
              <p:cNvPr id="24" name="Rectangle 23">
                <a:extLst>
                  <a:ext uri="{FF2B5EF4-FFF2-40B4-BE49-F238E27FC236}">
                    <a16:creationId xmlns:a16="http://schemas.microsoft.com/office/drawing/2014/main" id="{1138DF7B-B639-48B9-868C-40D28C3B5521}"/>
                  </a:ext>
                </a:extLst>
              </p:cNvPr>
              <p:cNvSpPr/>
              <p:nvPr/>
            </p:nvSpPr>
            <p:spPr>
              <a:xfrm>
                <a:off x="558140" y="1366399"/>
                <a:ext cx="4132613" cy="4156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grpSp>
            <p:nvGrpSpPr>
              <p:cNvPr id="25" name="Group 24">
                <a:extLst>
                  <a:ext uri="{FF2B5EF4-FFF2-40B4-BE49-F238E27FC236}">
                    <a16:creationId xmlns:a16="http://schemas.microsoft.com/office/drawing/2014/main" id="{A51CFB49-66FF-4DCD-9424-78899FA55E1F}"/>
                  </a:ext>
                </a:extLst>
              </p:cNvPr>
              <p:cNvGrpSpPr/>
              <p:nvPr/>
            </p:nvGrpSpPr>
            <p:grpSpPr>
              <a:xfrm>
                <a:off x="4748274" y="381003"/>
                <a:ext cx="647700" cy="773718"/>
                <a:chOff x="128649" y="-114297"/>
                <a:chExt cx="647700" cy="773718"/>
              </a:xfrm>
            </p:grpSpPr>
            <p:sp>
              <p:nvSpPr>
                <p:cNvPr id="26" name="Rectangle 25">
                  <a:extLst>
                    <a:ext uri="{FF2B5EF4-FFF2-40B4-BE49-F238E27FC236}">
                      <a16:creationId xmlns:a16="http://schemas.microsoft.com/office/drawing/2014/main" id="{BB88865B-09D5-40C0-9982-0780DCE0EFCD}"/>
                    </a:ext>
                  </a:extLst>
                </p:cNvPr>
                <p:cNvSpPr/>
                <p:nvPr/>
              </p:nvSpPr>
              <p:spPr>
                <a:xfrm>
                  <a:off x="128649" y="-114297"/>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27" name="Straight Arrow Connector 26">
                  <a:extLst>
                    <a:ext uri="{FF2B5EF4-FFF2-40B4-BE49-F238E27FC236}">
                      <a16:creationId xmlns:a16="http://schemas.microsoft.com/office/drawing/2014/main" id="{C81F0F8C-4665-404E-ADF2-F1709902F468}"/>
                    </a:ext>
                  </a:extLst>
                </p:cNvPr>
                <p:cNvCxnSpPr>
                  <a:cxnSpLocks/>
                </p:cNvCxnSpPr>
                <p:nvPr/>
              </p:nvCxnSpPr>
              <p:spPr>
                <a:xfrm>
                  <a:off x="391758" y="158351"/>
                  <a:ext cx="0" cy="2506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62">
                  <a:extLst>
                    <a:ext uri="{FF2B5EF4-FFF2-40B4-BE49-F238E27FC236}">
                      <a16:creationId xmlns:a16="http://schemas.microsoft.com/office/drawing/2014/main" id="{FA797083-7FF7-4549-852A-7299E44796F1}"/>
                    </a:ext>
                  </a:extLst>
                </p:cNvPr>
                <p:cNvSpPr txBox="1"/>
                <p:nvPr/>
              </p:nvSpPr>
              <p:spPr>
                <a:xfrm>
                  <a:off x="291745" y="411771"/>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dirty="0">
                      <a:effectLst/>
                      <a:ea typeface="Calibri" panose="020F0502020204030204" pitchFamily="34" charset="0"/>
                      <a:cs typeface="Times New Roman" panose="02020603050405020304" pitchFamily="18" charset="0"/>
                    </a:rPr>
                    <a:t>5</a:t>
                  </a:r>
                  <a:endParaRPr lang="en-PH" sz="1100" dirty="0">
                    <a:effectLst/>
                    <a:ea typeface="Calibri" panose="020F0502020204030204" pitchFamily="34" charset="0"/>
                    <a:cs typeface="Times New Roman" panose="02020603050405020304" pitchFamily="18" charset="0"/>
                  </a:endParaRPr>
                </a:p>
              </p:txBody>
            </p:sp>
          </p:grpSp>
        </p:grpSp>
        <p:grpSp>
          <p:nvGrpSpPr>
            <p:cNvPr id="36" name="Group 35">
              <a:extLst>
                <a:ext uri="{FF2B5EF4-FFF2-40B4-BE49-F238E27FC236}">
                  <a16:creationId xmlns:a16="http://schemas.microsoft.com/office/drawing/2014/main" id="{2BDD656E-909B-438E-B7F7-0446A590723A}"/>
                </a:ext>
              </a:extLst>
            </p:cNvPr>
            <p:cNvGrpSpPr/>
            <p:nvPr/>
          </p:nvGrpSpPr>
          <p:grpSpPr>
            <a:xfrm>
              <a:off x="5174864" y="2051496"/>
              <a:ext cx="6254991" cy="2326637"/>
              <a:chOff x="4840" y="0"/>
              <a:chExt cx="6255018" cy="2326735"/>
            </a:xfrm>
          </p:grpSpPr>
          <p:sp>
            <p:nvSpPr>
              <p:cNvPr id="37" name="Text Box 81">
                <a:extLst>
                  <a:ext uri="{FF2B5EF4-FFF2-40B4-BE49-F238E27FC236}">
                    <a16:creationId xmlns:a16="http://schemas.microsoft.com/office/drawing/2014/main" id="{DF3BF1BE-1F10-4650-BE7C-AD6613A96826}"/>
                  </a:ext>
                </a:extLst>
              </p:cNvPr>
              <p:cNvSpPr txBox="1"/>
              <p:nvPr/>
            </p:nvSpPr>
            <p:spPr>
              <a:xfrm>
                <a:off x="81886"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STOCK</a:t>
                </a:r>
                <a:endParaRPr lang="en-PH" sz="1100">
                  <a:effectLst/>
                  <a:ea typeface="Calibri" panose="020F0502020204030204" pitchFamily="34" charset="0"/>
                  <a:cs typeface="Times New Roman" panose="02020603050405020304" pitchFamily="18" charset="0"/>
                </a:endParaRPr>
              </a:p>
            </p:txBody>
          </p:sp>
          <p:pic>
            <p:nvPicPr>
              <p:cNvPr id="38" name="Picture 37">
                <a:extLst>
                  <a:ext uri="{FF2B5EF4-FFF2-40B4-BE49-F238E27FC236}">
                    <a16:creationId xmlns:a16="http://schemas.microsoft.com/office/drawing/2014/main" id="{82788171-7ACC-4ECB-B30E-E16F938BA0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13" y="1708245"/>
                <a:ext cx="6189345" cy="618490"/>
              </a:xfrm>
              <a:prstGeom prst="rect">
                <a:avLst/>
              </a:prstGeom>
              <a:ln>
                <a:noFill/>
              </a:ln>
              <a:effectLst>
                <a:outerShdw blurRad="292100" dist="139700" dir="2700000" algn="tl" rotWithShape="0">
                  <a:srgbClr val="333333">
                    <a:alpha val="65000"/>
                  </a:srgbClr>
                </a:outerShdw>
              </a:effectLst>
            </p:spPr>
          </p:pic>
          <p:sp>
            <p:nvSpPr>
              <p:cNvPr id="39" name="Curved Left Arrow 95">
                <a:extLst>
                  <a:ext uri="{FF2B5EF4-FFF2-40B4-BE49-F238E27FC236}">
                    <a16:creationId xmlns:a16="http://schemas.microsoft.com/office/drawing/2014/main" id="{D4B3AD3A-9745-4BD2-B003-AA937C212805}"/>
                  </a:ext>
                </a:extLst>
              </p:cNvPr>
              <p:cNvSpPr/>
              <p:nvPr/>
            </p:nvSpPr>
            <p:spPr>
              <a:xfrm>
                <a:off x="2830489" y="1419367"/>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sp>
            <p:nvSpPr>
              <p:cNvPr id="40" name="Text Box 98">
                <a:extLst>
                  <a:ext uri="{FF2B5EF4-FFF2-40B4-BE49-F238E27FC236}">
                    <a16:creationId xmlns:a16="http://schemas.microsoft.com/office/drawing/2014/main" id="{E27FD2A0-1E04-45B8-9E91-8D08CE1EFC6E}"/>
                  </a:ext>
                </a:extLst>
              </p:cNvPr>
              <p:cNvSpPr txBox="1"/>
              <p:nvPr/>
            </p:nvSpPr>
            <p:spPr>
              <a:xfrm>
                <a:off x="4840" y="1923193"/>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4</a:t>
                </a:r>
                <a:endParaRPr lang="en-PH" sz="1100">
                  <a:effectLst/>
                  <a:ea typeface="Calibri" panose="020F0502020204030204" pitchFamily="34" charset="0"/>
                  <a:cs typeface="Times New Roman" panose="02020603050405020304" pitchFamily="18" charset="0"/>
                </a:endParaRPr>
              </a:p>
            </p:txBody>
          </p:sp>
        </p:grpSp>
      </p:grpSp>
      <p:sp>
        <p:nvSpPr>
          <p:cNvPr id="5" name="Slide Number Placeholder 4">
            <a:extLst>
              <a:ext uri="{FF2B5EF4-FFF2-40B4-BE49-F238E27FC236}">
                <a16:creationId xmlns:a16="http://schemas.microsoft.com/office/drawing/2014/main" id="{88DD6EEB-CC7F-3289-C2CB-8CA1835A416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17" name="Rectangle 16">
            <a:extLst>
              <a:ext uri="{FF2B5EF4-FFF2-40B4-BE49-F238E27FC236}">
                <a16:creationId xmlns:a16="http://schemas.microsoft.com/office/drawing/2014/main" id="{41258CED-802E-FD8B-493F-12A0E38B430E}"/>
              </a:ext>
            </a:extLst>
          </p:cNvPr>
          <p:cNvSpPr/>
          <p:nvPr/>
        </p:nvSpPr>
        <p:spPr>
          <a:xfrm>
            <a:off x="10817387" y="2326761"/>
            <a:ext cx="647700" cy="2856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18" name="Straight Arrow Connector 17">
            <a:extLst>
              <a:ext uri="{FF2B5EF4-FFF2-40B4-BE49-F238E27FC236}">
                <a16:creationId xmlns:a16="http://schemas.microsoft.com/office/drawing/2014/main" id="{FF3CA582-5DD2-49B7-B96F-8B9E5070012B}"/>
              </a:ext>
            </a:extLst>
          </p:cNvPr>
          <p:cNvCxnSpPr>
            <a:cxnSpLocks/>
          </p:cNvCxnSpPr>
          <p:nvPr/>
        </p:nvCxnSpPr>
        <p:spPr>
          <a:xfrm>
            <a:off x="11080496" y="2599313"/>
            <a:ext cx="0" cy="250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62">
            <a:extLst>
              <a:ext uri="{FF2B5EF4-FFF2-40B4-BE49-F238E27FC236}">
                <a16:creationId xmlns:a16="http://schemas.microsoft.com/office/drawing/2014/main" id="{92FFB1E8-87F5-B418-AD2F-47AB9C045C2A}"/>
              </a:ext>
            </a:extLst>
          </p:cNvPr>
          <p:cNvSpPr txBox="1"/>
          <p:nvPr/>
        </p:nvSpPr>
        <p:spPr>
          <a:xfrm>
            <a:off x="10980483" y="2852644"/>
            <a:ext cx="200025" cy="247563"/>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PH" sz="1100" dirty="0">
                <a:effectLst/>
                <a:ea typeface="Calibri" panose="020F0502020204030204" pitchFamily="34" charset="0"/>
                <a:cs typeface="Times New Roman" panose="02020603050405020304" pitchFamily="18" charset="0"/>
              </a:rPr>
              <a:t>6</a:t>
            </a:r>
          </a:p>
        </p:txBody>
      </p:sp>
      <p:sp>
        <p:nvSpPr>
          <p:cNvPr id="20" name="Rectangle 19">
            <a:extLst>
              <a:ext uri="{FF2B5EF4-FFF2-40B4-BE49-F238E27FC236}">
                <a16:creationId xmlns:a16="http://schemas.microsoft.com/office/drawing/2014/main" id="{65DA5E9D-0C2E-3A7A-C4D3-D0906BA7EF03}"/>
              </a:ext>
            </a:extLst>
          </p:cNvPr>
          <p:cNvSpPr/>
          <p:nvPr/>
        </p:nvSpPr>
        <p:spPr>
          <a:xfrm>
            <a:off x="5643467" y="3292764"/>
            <a:ext cx="163093" cy="27998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29" name="Straight Arrow Connector 28">
            <a:extLst>
              <a:ext uri="{FF2B5EF4-FFF2-40B4-BE49-F238E27FC236}">
                <a16:creationId xmlns:a16="http://schemas.microsoft.com/office/drawing/2014/main" id="{DCFCE641-3604-4EC1-A505-62A2BDEDA2B6}"/>
              </a:ext>
            </a:extLst>
          </p:cNvPr>
          <p:cNvCxnSpPr>
            <a:cxnSpLocks/>
          </p:cNvCxnSpPr>
          <p:nvPr/>
        </p:nvCxnSpPr>
        <p:spPr>
          <a:xfrm>
            <a:off x="5720126" y="3558098"/>
            <a:ext cx="0" cy="167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62">
            <a:extLst>
              <a:ext uri="{FF2B5EF4-FFF2-40B4-BE49-F238E27FC236}">
                <a16:creationId xmlns:a16="http://schemas.microsoft.com/office/drawing/2014/main" id="{30D4EF7C-0550-DFE2-66D5-B7CCBC3958AB}"/>
              </a:ext>
            </a:extLst>
          </p:cNvPr>
          <p:cNvSpPr txBox="1"/>
          <p:nvPr/>
        </p:nvSpPr>
        <p:spPr>
          <a:xfrm>
            <a:off x="5620113" y="3727045"/>
            <a:ext cx="200025" cy="247563"/>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dirty="0">
                <a:ea typeface="Calibri" panose="020F0502020204030204" pitchFamily="34" charset="0"/>
                <a:cs typeface="Times New Roman" panose="02020603050405020304" pitchFamily="18" charset="0"/>
              </a:rPr>
              <a:t>7</a:t>
            </a:r>
            <a:endParaRPr lang="en-PH" sz="1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22113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Delete Sales Order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78583" y="2163455"/>
            <a:ext cx="4179346" cy="174469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4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4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PH" sz="1400" dirty="0">
                <a:effectLst/>
                <a:latin typeface="Chivo Light" panose="020B0303030202020804" pitchFamily="34" charset="0"/>
                <a:ea typeface="Times New Roman" panose="02020603050405020304" pitchFamily="18" charset="0"/>
                <a:cs typeface="Times New Roman" panose="02020603050405020304" pitchFamily="18" charset="0"/>
              </a:rPr>
              <a:t>In the sales order – main window, search the transaction you want to delete.</a:t>
            </a:r>
          </a:p>
          <a:p>
            <a:pPr marL="228600" marR="0">
              <a:lnSpc>
                <a:spcPct val="115000"/>
              </a:lnSpc>
              <a:spcBef>
                <a:spcPts val="0"/>
              </a:spcBef>
              <a:spcAft>
                <a:spcPts val="0"/>
              </a:spcAft>
            </a:pPr>
            <a:endParaRPr lang="en-PH" sz="14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4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 </a:t>
            </a:r>
            <a:r>
              <a:rPr lang="en-PH" sz="1400" dirty="0">
                <a:effectLst/>
                <a:latin typeface="Chivo Light" panose="020B0303030202020804" pitchFamily="34" charset="0"/>
                <a:ea typeface="Times New Roman" panose="02020603050405020304" pitchFamily="18" charset="0"/>
                <a:cs typeface="Times New Roman" panose="02020603050405020304" pitchFamily="18" charset="0"/>
              </a:rPr>
              <a:t>In sales order – main form, click the lookup button and select the transaction you want to delete.</a:t>
            </a:r>
          </a:p>
          <a:p>
            <a:pPr marL="228600" marR="0">
              <a:lnSpc>
                <a:spcPct val="115000"/>
              </a:lnSpc>
              <a:spcBef>
                <a:spcPts val="0"/>
              </a:spcBef>
              <a:spcAft>
                <a:spcPts val="0"/>
              </a:spcAft>
            </a:pPr>
            <a:endParaRPr lang="en-PH" sz="14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4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400" dirty="0">
                <a:effectLst/>
                <a:latin typeface="Chivo Light" panose="020B0303030202020804" pitchFamily="34" charset="0"/>
                <a:ea typeface="Times New Roman" panose="02020603050405020304" pitchFamily="18" charset="0"/>
                <a:cs typeface="Times New Roman" panose="02020603050405020304" pitchFamily="18" charset="0"/>
              </a:rPr>
              <a:t>If done, click delete button.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00FAE49C-C178-874F-0006-BE9CF6141258}"/>
              </a:ext>
            </a:extLst>
          </p:cNvPr>
          <p:cNvSpPr txBox="1"/>
          <p:nvPr/>
        </p:nvSpPr>
        <p:spPr>
          <a:xfrm>
            <a:off x="7121401" y="3141574"/>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Order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F603002A-262E-A67B-C50A-ED71CBFB10EA}"/>
              </a:ext>
            </a:extLst>
          </p:cNvPr>
          <p:cNvSpPr txBox="1"/>
          <p:nvPr/>
        </p:nvSpPr>
        <p:spPr>
          <a:xfrm>
            <a:off x="7209913" y="6104480"/>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Order – </a:t>
            </a:r>
            <a:r>
              <a:rPr lang="en-PH" sz="1200" b="1" dirty="0">
                <a:latin typeface="Calibri" panose="020F0502020204030204" pitchFamily="34" charset="0"/>
                <a:ea typeface="Calibri" panose="020F0502020204030204" pitchFamily="34" charset="0"/>
                <a:cs typeface="Calibri" panose="020F0502020204030204" pitchFamily="34" charset="0"/>
              </a:rPr>
              <a:t>Main </a:t>
            </a:r>
            <a:r>
              <a:rPr lang="en-PH" sz="1200" b="1" dirty="0">
                <a:effectLst/>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E0907291-ED9D-4F96-A7FA-D9EDC3324E12}"/>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Order</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2" name="Group 1">
            <a:extLst>
              <a:ext uri="{FF2B5EF4-FFF2-40B4-BE49-F238E27FC236}">
                <a16:creationId xmlns:a16="http://schemas.microsoft.com/office/drawing/2014/main" id="{C19F1889-32DC-40C8-B783-4293F15BADAD}"/>
              </a:ext>
            </a:extLst>
          </p:cNvPr>
          <p:cNvGrpSpPr/>
          <p:nvPr/>
        </p:nvGrpSpPr>
        <p:grpSpPr>
          <a:xfrm>
            <a:off x="5326450" y="965527"/>
            <a:ext cx="6060440" cy="2172970"/>
            <a:chOff x="5545751" y="477110"/>
            <a:chExt cx="6060440" cy="2172970"/>
          </a:xfrm>
        </p:grpSpPr>
        <p:pic>
          <p:nvPicPr>
            <p:cNvPr id="28" name="Picture 27">
              <a:extLst>
                <a:ext uri="{FF2B5EF4-FFF2-40B4-BE49-F238E27FC236}">
                  <a16:creationId xmlns:a16="http://schemas.microsoft.com/office/drawing/2014/main" id="{6FEE7F51-710C-4667-B2AC-5FEA609C4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5751" y="477110"/>
              <a:ext cx="6060440" cy="2172970"/>
            </a:xfrm>
            <a:prstGeom prst="rect">
              <a:avLst/>
            </a:prstGeom>
          </p:spPr>
        </p:pic>
        <p:grpSp>
          <p:nvGrpSpPr>
            <p:cNvPr id="37" name="Group 36">
              <a:extLst>
                <a:ext uri="{FF2B5EF4-FFF2-40B4-BE49-F238E27FC236}">
                  <a16:creationId xmlns:a16="http://schemas.microsoft.com/office/drawing/2014/main" id="{D49312B3-3128-4E3D-9705-F232F72F4267}"/>
                </a:ext>
              </a:extLst>
            </p:cNvPr>
            <p:cNvGrpSpPr/>
            <p:nvPr/>
          </p:nvGrpSpPr>
          <p:grpSpPr>
            <a:xfrm>
              <a:off x="5686376" y="1563595"/>
              <a:ext cx="1475739" cy="333375"/>
              <a:chOff x="0" y="0"/>
              <a:chExt cx="1476374" cy="333375"/>
            </a:xfrm>
          </p:grpSpPr>
          <p:sp>
            <p:nvSpPr>
              <p:cNvPr id="40" name="Rectangle 39">
                <a:extLst>
                  <a:ext uri="{FF2B5EF4-FFF2-40B4-BE49-F238E27FC236}">
                    <a16:creationId xmlns:a16="http://schemas.microsoft.com/office/drawing/2014/main" id="{38885ECF-A924-4BDE-85BC-BDBD1EE1D4CA}"/>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42" name="Straight Arrow Connector 41">
                <a:extLst>
                  <a:ext uri="{FF2B5EF4-FFF2-40B4-BE49-F238E27FC236}">
                    <a16:creationId xmlns:a16="http://schemas.microsoft.com/office/drawing/2014/main" id="{5D72784F-9BE1-4DA7-B157-DD1CC06971A6}"/>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Text Box 695">
                <a:extLst>
                  <a:ext uri="{FF2B5EF4-FFF2-40B4-BE49-F238E27FC236}">
                    <a16:creationId xmlns:a16="http://schemas.microsoft.com/office/drawing/2014/main" id="{84B478FB-3C1F-4C31-9EFC-D81DD8E83653}"/>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1.1.</a:t>
                </a:r>
                <a:endParaRPr lang="en-PH" sz="1100">
                  <a:effectLst/>
                  <a:ea typeface="Calibri" panose="020F0502020204030204" pitchFamily="34" charset="0"/>
                  <a:cs typeface="Times New Roman" panose="02020603050405020304" pitchFamily="18" charset="0"/>
                </a:endParaRPr>
              </a:p>
            </p:txBody>
          </p:sp>
        </p:grpSp>
      </p:grpSp>
      <p:grpSp>
        <p:nvGrpSpPr>
          <p:cNvPr id="10" name="Group 9">
            <a:extLst>
              <a:ext uri="{FF2B5EF4-FFF2-40B4-BE49-F238E27FC236}">
                <a16:creationId xmlns:a16="http://schemas.microsoft.com/office/drawing/2014/main" id="{7DA363DD-F3A6-4338-90D2-0E939DCC4D57}"/>
              </a:ext>
            </a:extLst>
          </p:cNvPr>
          <p:cNvGrpSpPr/>
          <p:nvPr/>
        </p:nvGrpSpPr>
        <p:grpSpPr>
          <a:xfrm>
            <a:off x="4634004" y="3765140"/>
            <a:ext cx="6710928" cy="2252447"/>
            <a:chOff x="4853305" y="3765140"/>
            <a:chExt cx="6710928" cy="2252447"/>
          </a:xfrm>
        </p:grpSpPr>
        <p:pic>
          <p:nvPicPr>
            <p:cNvPr id="44" name="Picture 43">
              <a:extLst>
                <a:ext uri="{FF2B5EF4-FFF2-40B4-BE49-F238E27FC236}">
                  <a16:creationId xmlns:a16="http://schemas.microsoft.com/office/drawing/2014/main" id="{C07403E6-A0B1-4661-A9EC-8965F237FC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4888" y="3765140"/>
              <a:ext cx="6189345" cy="2061210"/>
            </a:xfrm>
            <a:prstGeom prst="rect">
              <a:avLst/>
            </a:prstGeom>
          </p:spPr>
        </p:pic>
        <p:grpSp>
          <p:nvGrpSpPr>
            <p:cNvPr id="5" name="Group 4">
              <a:extLst>
                <a:ext uri="{FF2B5EF4-FFF2-40B4-BE49-F238E27FC236}">
                  <a16:creationId xmlns:a16="http://schemas.microsoft.com/office/drawing/2014/main" id="{112EE80B-5446-4F5C-83E0-203A1C7A7A31}"/>
                </a:ext>
              </a:extLst>
            </p:cNvPr>
            <p:cNvGrpSpPr/>
            <p:nvPr/>
          </p:nvGrpSpPr>
          <p:grpSpPr>
            <a:xfrm>
              <a:off x="4853305" y="4253557"/>
              <a:ext cx="5040097" cy="1764030"/>
              <a:chOff x="4853305" y="4253557"/>
              <a:chExt cx="5040097" cy="1764030"/>
            </a:xfrm>
          </p:grpSpPr>
          <p:grpSp>
            <p:nvGrpSpPr>
              <p:cNvPr id="45" name="Group 44">
                <a:extLst>
                  <a:ext uri="{FF2B5EF4-FFF2-40B4-BE49-F238E27FC236}">
                    <a16:creationId xmlns:a16="http://schemas.microsoft.com/office/drawing/2014/main" id="{EA559703-49CE-409F-B004-4966233F739E}"/>
                  </a:ext>
                </a:extLst>
              </p:cNvPr>
              <p:cNvGrpSpPr/>
              <p:nvPr/>
            </p:nvGrpSpPr>
            <p:grpSpPr>
              <a:xfrm>
                <a:off x="6597015" y="4745682"/>
                <a:ext cx="952500" cy="304800"/>
                <a:chOff x="523874" y="28575"/>
                <a:chExt cx="952500" cy="304800"/>
              </a:xfrm>
            </p:grpSpPr>
            <p:sp>
              <p:nvSpPr>
                <p:cNvPr id="54" name="Rectangle 53">
                  <a:extLst>
                    <a:ext uri="{FF2B5EF4-FFF2-40B4-BE49-F238E27FC236}">
                      <a16:creationId xmlns:a16="http://schemas.microsoft.com/office/drawing/2014/main" id="{D9884809-583B-4678-B89B-19198BFD4201}"/>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55" name="Straight Arrow Connector 54">
                  <a:extLst>
                    <a:ext uri="{FF2B5EF4-FFF2-40B4-BE49-F238E27FC236}">
                      <a16:creationId xmlns:a16="http://schemas.microsoft.com/office/drawing/2014/main" id="{8C9131E8-0EBD-4538-A893-C3CA8E1AD200}"/>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 name="Text Box 296">
                  <a:extLst>
                    <a:ext uri="{FF2B5EF4-FFF2-40B4-BE49-F238E27FC236}">
                      <a16:creationId xmlns:a16="http://schemas.microsoft.com/office/drawing/2014/main" id="{15644539-84C8-43A3-80CA-13ADE6F9DBD1}"/>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1.2.</a:t>
                  </a:r>
                  <a:endParaRPr lang="en-PH" sz="1100">
                    <a:effectLst/>
                    <a:ea typeface="Calibri" panose="020F0502020204030204" pitchFamily="34" charset="0"/>
                    <a:cs typeface="Times New Roman" panose="02020603050405020304" pitchFamily="18" charset="0"/>
                  </a:endParaRPr>
                </a:p>
              </p:txBody>
            </p:sp>
          </p:grpSp>
          <p:grpSp>
            <p:nvGrpSpPr>
              <p:cNvPr id="46" name="Group 45">
                <a:extLst>
                  <a:ext uri="{FF2B5EF4-FFF2-40B4-BE49-F238E27FC236}">
                    <a16:creationId xmlns:a16="http://schemas.microsoft.com/office/drawing/2014/main" id="{55A08B16-943A-4598-A243-B621F883BEC1}"/>
                  </a:ext>
                </a:extLst>
              </p:cNvPr>
              <p:cNvGrpSpPr/>
              <p:nvPr/>
            </p:nvGrpSpPr>
            <p:grpSpPr>
              <a:xfrm>
                <a:off x="6800850" y="4333567"/>
                <a:ext cx="1087756" cy="304800"/>
                <a:chOff x="333374" y="28575"/>
                <a:chExt cx="981076" cy="304800"/>
              </a:xfrm>
            </p:grpSpPr>
            <p:sp>
              <p:nvSpPr>
                <p:cNvPr id="51" name="Rectangle 50">
                  <a:extLst>
                    <a:ext uri="{FF2B5EF4-FFF2-40B4-BE49-F238E27FC236}">
                      <a16:creationId xmlns:a16="http://schemas.microsoft.com/office/drawing/2014/main" id="{29CD9157-855E-48AA-A0BF-72BE3E9E24DB}"/>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52" name="Straight Arrow Connector 51">
                  <a:extLst>
                    <a:ext uri="{FF2B5EF4-FFF2-40B4-BE49-F238E27FC236}">
                      <a16:creationId xmlns:a16="http://schemas.microsoft.com/office/drawing/2014/main" id="{94A67DE8-E905-4303-812E-BA0FE00532D8}"/>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 Box 700">
                  <a:extLst>
                    <a:ext uri="{FF2B5EF4-FFF2-40B4-BE49-F238E27FC236}">
                      <a16:creationId xmlns:a16="http://schemas.microsoft.com/office/drawing/2014/main" id="{1DBDBB6E-0F12-4081-9E8F-CC2C2ECA0FB1}"/>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2.</a:t>
                  </a:r>
                  <a:endParaRPr lang="en-PH" sz="1100">
                    <a:effectLst/>
                    <a:ea typeface="Calibri" panose="020F0502020204030204" pitchFamily="34" charset="0"/>
                    <a:cs typeface="Times New Roman" panose="02020603050405020304" pitchFamily="18" charset="0"/>
                  </a:endParaRPr>
                </a:p>
              </p:txBody>
            </p:sp>
          </p:grpSp>
          <p:grpSp>
            <p:nvGrpSpPr>
              <p:cNvPr id="47" name="Group 46">
                <a:extLst>
                  <a:ext uri="{FF2B5EF4-FFF2-40B4-BE49-F238E27FC236}">
                    <a16:creationId xmlns:a16="http://schemas.microsoft.com/office/drawing/2014/main" id="{7A798C7D-14A1-4948-B5DF-4BEECFA11550}"/>
                  </a:ext>
                </a:extLst>
              </p:cNvPr>
              <p:cNvGrpSpPr>
                <a:grpSpLocks/>
              </p:cNvGrpSpPr>
              <p:nvPr/>
            </p:nvGrpSpPr>
            <p:grpSpPr bwMode="auto">
              <a:xfrm>
                <a:off x="6538595" y="5138112"/>
                <a:ext cx="3354807" cy="879475"/>
                <a:chOff x="6116" y="177"/>
                <a:chExt cx="3625" cy="1385"/>
              </a:xfrm>
            </p:grpSpPr>
            <p:pic>
              <p:nvPicPr>
                <p:cNvPr id="49" name="Picture 48">
                  <a:extLst>
                    <a:ext uri="{FF2B5EF4-FFF2-40B4-BE49-F238E27FC236}">
                      <a16:creationId xmlns:a16="http://schemas.microsoft.com/office/drawing/2014/main" id="{27A6A40A-ACCE-493F-9202-C912220C2B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Text Box 241">
                  <a:extLst>
                    <a:ext uri="{FF2B5EF4-FFF2-40B4-BE49-F238E27FC236}">
                      <a16:creationId xmlns:a16="http://schemas.microsoft.com/office/drawing/2014/main" id="{D299B517-A43F-4324-8050-C5A7519E0077}"/>
                    </a:ext>
                  </a:extLst>
                </p:cNvPr>
                <p:cNvSpPr txBox="1">
                  <a:spLocks noChangeArrowheads="1"/>
                </p:cNvSpPr>
                <p:nvPr/>
              </p:nvSpPr>
              <p:spPr bwMode="auto">
                <a:xfrm>
                  <a:off x="6116" y="177"/>
                  <a:ext cx="3625"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SO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buSzPts val="800"/>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spcBef>
                      <a:spcPts val="5"/>
                    </a:spcBef>
                    <a:spcAft>
                      <a:spcPts val="1000"/>
                    </a:spcAft>
                    <a:buSzPts val="800"/>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p>
                <a:p>
                  <a:pPr marL="800100" lvl="1" indent="-342900">
                    <a:spcBef>
                      <a:spcPts val="5"/>
                    </a:spcBef>
                    <a:spcAft>
                      <a:spcPts val="1000"/>
                    </a:spcAft>
                    <a:buSzPts val="800"/>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delete</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48" name="Text Box 696">
                <a:extLst>
                  <a:ext uri="{FF2B5EF4-FFF2-40B4-BE49-F238E27FC236}">
                    <a16:creationId xmlns:a16="http://schemas.microsoft.com/office/drawing/2014/main" id="{AC69B724-FE4D-45FC-B2E8-24FC00C582C9}"/>
                  </a:ext>
                </a:extLst>
              </p:cNvPr>
              <p:cNvSpPr txBox="1"/>
              <p:nvPr/>
            </p:nvSpPr>
            <p:spPr>
              <a:xfrm>
                <a:off x="4853305" y="4253557"/>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dirty="0">
                    <a:effectLst/>
                    <a:ea typeface="Calibri" panose="020F0502020204030204" pitchFamily="34" charset="0"/>
                    <a:cs typeface="Times New Roman" panose="02020603050405020304" pitchFamily="18" charset="0"/>
                  </a:rPr>
                  <a:t>HEADER</a:t>
                </a:r>
                <a:endParaRPr lang="en-PH" sz="1100" dirty="0">
                  <a:effectLst/>
                  <a:ea typeface="Calibri" panose="020F0502020204030204" pitchFamily="34" charset="0"/>
                  <a:cs typeface="Times New Roman" panose="02020603050405020304" pitchFamily="18" charset="0"/>
                </a:endParaRPr>
              </a:p>
            </p:txBody>
          </p:sp>
        </p:grpSp>
      </p:grpSp>
      <p:sp>
        <p:nvSpPr>
          <p:cNvPr id="6" name="Slide Number Placeholder 5">
            <a:extLst>
              <a:ext uri="{FF2B5EF4-FFF2-40B4-BE49-F238E27FC236}">
                <a16:creationId xmlns:a16="http://schemas.microsoft.com/office/drawing/2014/main" id="{E46B8F1C-B7D5-70C4-F324-28BABDF97A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792858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Other Information</a:t>
            </a:r>
            <a:endParaRPr lang="en-US" sz="2000" dirty="0">
              <a:solidFill>
                <a:srgbClr val="007434"/>
              </a:solidFill>
              <a:latin typeface="+mj-lt"/>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Other Buttons</a:t>
            </a:r>
            <a:endParaRPr lang="en-US" sz="2000" dirty="0">
              <a:solidFill>
                <a:srgbClr val="007434"/>
              </a:solidFill>
              <a:latin typeface="+mj-lt"/>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a:lnSpc>
                <a:spcPct val="107000"/>
              </a:lnSpc>
              <a:spcBef>
                <a:spcPts val="190"/>
              </a:spcBef>
              <a:spcAft>
                <a:spcPts val="800"/>
              </a:spcAft>
            </a:pPr>
            <a:r>
              <a:rPr lang="en-PH" sz="1200" dirty="0">
                <a:effectLst/>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sales order – main form will be minimize and the other information will be displayed as shown in the photo below.</a:t>
            </a:r>
          </a:p>
          <a:p>
            <a:pPr marL="0" marR="227330">
              <a:lnSpc>
                <a:spcPct val="107000"/>
              </a:lnSpc>
              <a:spcBef>
                <a:spcPts val="190"/>
              </a:spcBef>
              <a:spcAft>
                <a:spcPts val="800"/>
              </a:spcAft>
            </a:pPr>
            <a:r>
              <a:rPr lang="en-PH" sz="1200" dirty="0">
                <a:effectLst/>
                <a:latin typeface="Calibri" panose="020F0502020204030204" pitchFamily="34" charset="0"/>
                <a:ea typeface="Calibri" panose="020F0502020204030204" pitchFamily="34" charset="0"/>
                <a:cs typeface="Times New Roman" panose="02020603050405020304" pitchFamily="18" charset="0"/>
              </a:rPr>
              <a:t>	Click the arrow parallel to what information you want to open and provide the necessary filter to generate the data you want to display.</a:t>
            </a:r>
          </a:p>
          <a:p>
            <a:pPr marL="0" marR="227330">
              <a:lnSpc>
                <a:spcPct val="107000"/>
              </a:lnSpc>
              <a:spcBef>
                <a:spcPts val="19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227330">
              <a:lnSpc>
                <a:spcPct val="107000"/>
              </a:lnSpc>
              <a:spcBef>
                <a:spcPts val="19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227330">
              <a:lnSpc>
                <a:spcPct val="107000"/>
              </a:lnSpc>
              <a:spcBef>
                <a:spcPts val="190"/>
              </a:spcBef>
              <a:spcAft>
                <a:spcPts val="80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96E78E19-4025-2CF4-0152-5EE4A8E0C0E1}"/>
              </a:ext>
            </a:extLst>
          </p:cNvPr>
          <p:cNvPicPr>
            <a:picLocks noChangeAspect="1"/>
          </p:cNvPicPr>
          <p:nvPr/>
        </p:nvPicPr>
        <p:blipFill>
          <a:blip r:embed="rId3"/>
          <a:stretch>
            <a:fillRect/>
          </a:stretch>
        </p:blipFill>
        <p:spPr>
          <a:xfrm>
            <a:off x="5294021" y="1882199"/>
            <a:ext cx="6108721" cy="280440"/>
          </a:xfrm>
          <a:prstGeom prst="rect">
            <a:avLst/>
          </a:prstGeom>
        </p:spPr>
      </p:pic>
      <p:sp>
        <p:nvSpPr>
          <p:cNvPr id="11" name="TextBox 10">
            <a:extLst>
              <a:ext uri="{FF2B5EF4-FFF2-40B4-BE49-F238E27FC236}">
                <a16:creationId xmlns:a16="http://schemas.microsoft.com/office/drawing/2014/main" id="{E1711DE3-B030-47E6-83E2-D6955C8067B4}"/>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Order</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pic>
        <p:nvPicPr>
          <p:cNvPr id="13" name="Picture 12">
            <a:extLst>
              <a:ext uri="{FF2B5EF4-FFF2-40B4-BE49-F238E27FC236}">
                <a16:creationId xmlns:a16="http://schemas.microsoft.com/office/drawing/2014/main" id="{DB4AF165-8CA5-4325-B05C-CE1DFC8C55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7545" y="1053547"/>
            <a:ext cx="6189345" cy="893445"/>
          </a:xfrm>
          <a:prstGeom prst="rect">
            <a:avLst/>
          </a:prstGeom>
        </p:spPr>
      </p:pic>
      <p:pic>
        <p:nvPicPr>
          <p:cNvPr id="14" name="Picture 13">
            <a:extLst>
              <a:ext uri="{FF2B5EF4-FFF2-40B4-BE49-F238E27FC236}">
                <a16:creationId xmlns:a16="http://schemas.microsoft.com/office/drawing/2014/main" id="{DAB14BB8-BD3C-4D3E-8581-518CC9A2F132}"/>
              </a:ext>
            </a:extLst>
          </p:cNvPr>
          <p:cNvPicPr>
            <a:picLocks noChangeAspect="1"/>
          </p:cNvPicPr>
          <p:nvPr/>
        </p:nvPicPr>
        <p:blipFill>
          <a:blip r:embed="rId5"/>
          <a:stretch>
            <a:fillRect/>
          </a:stretch>
        </p:blipFill>
        <p:spPr>
          <a:xfrm>
            <a:off x="5106907" y="2488488"/>
            <a:ext cx="6412448" cy="3315965"/>
          </a:xfrm>
          <a:prstGeom prst="rect">
            <a:avLst/>
          </a:prstGeom>
        </p:spPr>
      </p:pic>
      <p:sp>
        <p:nvSpPr>
          <p:cNvPr id="3" name="Slide Number Placeholder 2">
            <a:extLst>
              <a:ext uri="{FF2B5EF4-FFF2-40B4-BE49-F238E27FC236}">
                <a16:creationId xmlns:a16="http://schemas.microsoft.com/office/drawing/2014/main" id="{F59CB602-EEFF-E9A4-DE53-E17734D392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702226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2363</TotalTime>
  <Words>1115</Words>
  <Application>Microsoft Office PowerPoint</Application>
  <PresentationFormat>Widescreen</PresentationFormat>
  <Paragraphs>157</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Animosa Extra Bold</vt:lpstr>
      <vt:lpstr>Arial</vt:lpstr>
      <vt:lpstr>Bahnschrift Condensed</vt:lpstr>
      <vt:lpstr>Bodoni MT Condensed</vt:lpstr>
      <vt:lpstr>Calibri</vt:lpstr>
      <vt:lpstr>Calibri Light</vt:lpstr>
      <vt:lpstr>Chivo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dc:creator>
  <cp:lastModifiedBy>Janine Calawod</cp:lastModifiedBy>
  <cp:revision>874</cp:revision>
  <dcterms:created xsi:type="dcterms:W3CDTF">2022-11-10T10:28:07Z</dcterms:created>
  <dcterms:modified xsi:type="dcterms:W3CDTF">2023-01-03T08:45:19Z</dcterms:modified>
</cp:coreProperties>
</file>