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441" r:id="rId2"/>
    <p:sldId id="263" r:id="rId3"/>
    <p:sldId id="291" r:id="rId4"/>
    <p:sldId id="349" r:id="rId5"/>
    <p:sldId id="357" r:id="rId6"/>
    <p:sldId id="296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5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1EB4A-3408-1B97-1B34-05AE5640F8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4CE41D-ED3A-FB15-B2CB-48AE9AE258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72DF44-2CFE-99D1-62FB-C419C3595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5D17A-142B-4705-ADE1-A3098ECE97EC}" type="datetime1">
              <a:rPr lang="en-US" smtClean="0"/>
              <a:t>1/10/2023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42A000-96DA-5E5F-9A77-6569656A3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EFD326-4FC0-72EB-DF56-0FD78B9EE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86AB-602C-49A8-AF1B-7C398AACFC0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3234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F9D75-E04D-B634-D919-617757394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56432A-85F7-6833-67C8-01C4E72164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C57A2C-3294-4947-A3DE-F536E8B16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770F1-593C-41E5-9DDC-A7DDE7DA3A0C}" type="datetime1">
              <a:rPr lang="en-US" smtClean="0"/>
              <a:t>1/10/2023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215DCA-9125-891E-96C8-87AF8FF5A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F9F385-A188-DB80-34AE-99BFE3772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1525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F34D8-AC3A-C1B6-226A-B0342CC95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0A1E8B-24DF-615A-8729-9497B6EA1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F1F83F-6442-4F8D-A89C-5E43D4324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BA4C9-61EB-4E89-89EA-F649D387A885}" type="datetime1">
              <a:rPr lang="en-US" smtClean="0"/>
              <a:t>1/10/2023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5243A9-4120-4241-6DD2-BB67522C9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C42F45-390E-7F61-65CB-09F84E0C7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3242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6E399-2560-08C2-7560-8CDD4F0BE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AC3219-FB0A-90C1-5347-5D8D63A15A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16AE50-4292-C9EB-8B25-09DE0EA028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B747A3-5AAE-74E5-58AC-112C24B4D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50626-E323-4146-837D-79DA438855EF}" type="datetime1">
              <a:rPr lang="en-US" smtClean="0"/>
              <a:t>1/10/2023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245C81-CA6F-521E-53EF-EEB98F96F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2839E4-86AD-5375-DD4F-F846EF925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4896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C6130-117C-998F-E56B-57FCF1096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6E80B8-EA33-707F-EC6C-EBC7B13527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F28F7F-ECE8-BAAD-7338-2D78A59EE1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DAF716-F429-44D0-6E93-815FF3C4FD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2A37D0-605C-BB9A-385B-6A85770C86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3F5C74-EA7F-FDB3-FB93-77C9E914F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F3B27-06CD-4A16-84A3-AF5F748FC93B}" type="datetime1">
              <a:rPr lang="en-US" smtClean="0"/>
              <a:t>1/10/2023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E1775E-89CF-943A-9CDA-597023CE8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E9C5D8-2060-0E24-EC81-3C64B264C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6731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B700E-1F64-71E3-B8E2-5003EE14F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92E4C6-4425-4600-DADA-0FAA915F0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8157D-198D-4A55-A6AF-F9A96DD09084}" type="datetime1">
              <a:rPr lang="en-US" smtClean="0"/>
              <a:t>1/10/2023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525CC1-1CF0-5FE6-B23F-FC0640815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A12A78-3142-4A2A-6A14-2861FE055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87" y="6361105"/>
            <a:ext cx="495813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6086AB-602C-49A8-AF1B-7C398AACFC06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Animosa Extra Bold" panose="000009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863D"/>
              </a:solidFill>
              <a:effectLst/>
              <a:uLnTx/>
              <a:uFillTx/>
              <a:latin typeface="Animosa Extra Bold" panose="00000900000000000000" pitchFamily="50" charset="0"/>
              <a:ea typeface="+mn-ea"/>
              <a:cs typeface="+mn-cs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93935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18CDC6-AE80-3C7C-7A54-83C4F8A35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FA7D0-D9E5-4981-8E91-F86A007EC8E4}" type="datetime1">
              <a:rPr lang="en-US" smtClean="0"/>
              <a:t>1/10/2023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C87A10-784A-0882-62A6-ACF915286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5B3EFA-8AAD-4032-2084-C183504C0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8652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06DDE-4887-BBF0-A054-1795A6026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AA9F60-2E86-61FF-D6C4-8EEFEF4FBB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7C98BF-6198-66C9-1808-3E0DE1D9B5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A3C433-2EF0-6879-AA30-D7F23FA1D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55C73-8B4C-45CE-9F74-EC399096C6A5}" type="datetime1">
              <a:rPr lang="en-US" smtClean="0"/>
              <a:t>1/10/2023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DB4456-36C8-9DCF-5C14-8BA06584B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CFA8EE-1367-107D-033E-8A0158C5E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1006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698BA-7366-CA58-0AE4-D2030C175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964958-D645-44EB-2EDC-93CCA39A19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2D1894-31E7-5B16-FAA4-8794FE1039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CEEAB6-A5F9-0B9E-BFB9-37D999F61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69AC3-3FEF-4BD8-8E00-675B95488D0A}" type="datetime1">
              <a:rPr lang="en-US" smtClean="0"/>
              <a:t>1/10/2023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F57A55-6F18-17DA-8716-BC16F3F9C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847226-21F6-2D27-6044-9FC188E67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3908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426E2-26EB-63EF-501D-68A4434E7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C8B2B9-8CC9-2B50-B062-946D7E785A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42974C-952F-86C3-A75E-105A3A2EF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2B63B-3CDB-4958-B2A2-640C52D819C0}" type="datetime1">
              <a:rPr lang="en-US" smtClean="0"/>
              <a:t>1/10/2023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7495DF-D0C7-812E-EDA8-AEA85D875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4DC9A3-8AF0-8B35-01FB-6FDA728B4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9484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759C450-90ED-272A-E463-AAA21A2E5F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5DA328-475F-1FE7-6643-FADC6BE1FD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E27D1A-7BFF-DDEC-3AEE-1846C4553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7D481-5643-4F4C-B901-C5733B76A666}" type="datetime1">
              <a:rPr lang="en-US" smtClean="0"/>
              <a:t>1/10/2023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493FD-135D-1E5D-ED17-848900B65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AE65E1-7A80-1403-F41E-7FDEAAED1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109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DF1DB1-AAB5-C0D6-F8F5-5C3D1F05C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E64012-DD5E-82B0-E0A6-F22247B5BC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1C52C1-D777-85DB-34DD-7DB776F29A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D46D66-831C-4C42-918D-32B4B0271D98}" type="datetime1">
              <a:rPr lang="en-US" smtClean="0"/>
              <a:t>1/10/2023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BBF4A8-E610-C555-2196-67DC47368D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477A19-A289-6A34-54CB-69755ED143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6437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C7E240B-5C00-D259-7CC9-8482319B9C8B}"/>
              </a:ext>
            </a:extLst>
          </p:cNvPr>
          <p:cNvSpPr txBox="1"/>
          <p:nvPr/>
        </p:nvSpPr>
        <p:spPr>
          <a:xfrm>
            <a:off x="1017646" y="2105561"/>
            <a:ext cx="10289512" cy="132343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8000" b="1" dirty="0">
                <a:solidFill>
                  <a:srgbClr val="00B050"/>
                </a:solidFill>
                <a:latin typeface="Bodoni MT Condensed" panose="02070606080606020203" pitchFamily="18" charset="0"/>
              </a:rPr>
              <a:t>Sales Order</a:t>
            </a:r>
            <a:endParaRPr lang="en-US" sz="8000" dirty="0">
              <a:solidFill>
                <a:srgbClr val="00B050"/>
              </a:solidFill>
              <a:latin typeface="Bodoni MT Condensed" panose="02070606080606020203" pitchFamily="18" charset="0"/>
            </a:endParaRPr>
          </a:p>
        </p:txBody>
      </p:sp>
      <p:sp>
        <p:nvSpPr>
          <p:cNvPr id="8" name="Text Box 6">
            <a:extLst>
              <a:ext uri="{FF2B5EF4-FFF2-40B4-BE49-F238E27FC236}">
                <a16:creationId xmlns:a16="http://schemas.microsoft.com/office/drawing/2014/main" id="{F98AB504-F121-820A-CAC3-1E72B851128C}"/>
              </a:ext>
            </a:extLst>
          </p:cNvPr>
          <p:cNvSpPr txBox="1"/>
          <p:nvPr/>
        </p:nvSpPr>
        <p:spPr>
          <a:xfrm>
            <a:off x="0" y="5769429"/>
            <a:ext cx="12191999" cy="1088572"/>
          </a:xfrm>
          <a:prstGeom prst="rect">
            <a:avLst/>
          </a:prstGeom>
          <a:solidFill>
            <a:srgbClr val="00863D"/>
          </a:solidFill>
          <a:ln w="6350">
            <a:noFill/>
          </a:ln>
          <a:effectLst/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spcBef>
                <a:spcPts val="0"/>
              </a:spcBef>
            </a:pPr>
            <a:endParaRPr lang="en-PH" sz="1400" dirty="0">
              <a:solidFill>
                <a:schemeClr val="bg1"/>
              </a:solidFill>
              <a:ea typeface="Open Sans" panose="020B0606030504020204" pitchFamily="34" charset="0"/>
              <a:cs typeface="Times New Roman" panose="02020603050405020304" pitchFamily="18" charset="0"/>
            </a:endParaRPr>
          </a:p>
          <a:p>
            <a:pPr marL="0" marR="0" algn="ctr">
              <a:spcBef>
                <a:spcPts val="0"/>
              </a:spcBef>
            </a:pPr>
            <a:r>
              <a:rPr lang="en-PH" sz="1400" dirty="0">
                <a:solidFill>
                  <a:schemeClr val="bg1"/>
                </a:solidFill>
                <a:ea typeface="Open Sans" panose="020B0606030504020204" pitchFamily="34" charset="0"/>
                <a:cs typeface="Times New Roman" panose="02020603050405020304" pitchFamily="18" charset="0"/>
              </a:rPr>
              <a:t>Sales Order it is where </a:t>
            </a:r>
            <a:r>
              <a:rPr lang="en-US" sz="1400" dirty="0">
                <a:solidFill>
                  <a:schemeClr val="bg1"/>
                </a:solidFill>
                <a:ea typeface="Open Sans" panose="020B0606030504020204" pitchFamily="34" charset="0"/>
                <a:cs typeface="Times New Roman" panose="02020603050405020304" pitchFamily="18" charset="0"/>
              </a:rPr>
              <a:t>product order of customers is recorded from quotation.</a:t>
            </a:r>
            <a:endParaRPr lang="en-US" sz="1400" dirty="0">
              <a:solidFill>
                <a:srgbClr val="007434"/>
              </a:solidFill>
              <a:effectLst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EB57B14-7614-4E70-88B7-2ADECFEBE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6086AB-602C-49A8-AF1B-7C398AACFC06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Animosa Extra Bold" panose="000009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863D"/>
              </a:solidFill>
              <a:effectLst/>
              <a:uLnTx/>
              <a:uFillTx/>
              <a:latin typeface="Animosa Extra Bold" panose="00000900000000000000" pitchFamily="50" charset="0"/>
              <a:ea typeface="+mn-ea"/>
              <a:cs typeface="+mn-cs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89513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Box 6">
            <a:extLst>
              <a:ext uri="{FF2B5EF4-FFF2-40B4-BE49-F238E27FC236}">
                <a16:creationId xmlns:a16="http://schemas.microsoft.com/office/drawing/2014/main" id="{54861942-378E-F979-6642-00E02D67C1A4}"/>
              </a:ext>
            </a:extLst>
          </p:cNvPr>
          <p:cNvSpPr txBox="1"/>
          <p:nvPr/>
        </p:nvSpPr>
        <p:spPr>
          <a:xfrm>
            <a:off x="0" y="-11307"/>
            <a:ext cx="5374888" cy="653359"/>
          </a:xfrm>
          <a:prstGeom prst="rect">
            <a:avLst/>
          </a:prstGeom>
          <a:solidFill>
            <a:srgbClr val="00863D"/>
          </a:solidFill>
          <a:ln w="6350">
            <a:noFill/>
          </a:ln>
          <a:effectLst>
            <a:outerShdw blurRad="50800" dist="38100" dir="2700000" sx="73000" sy="73000" algn="tl" rotWithShape="0">
              <a:prstClr val="black">
                <a:alpha val="5000"/>
              </a:prstClr>
            </a:outerShdw>
          </a:effectLst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400" dirty="0">
              <a:solidFill>
                <a:srgbClr val="007434"/>
              </a:solidFill>
              <a:effectLst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7E240B-5C00-D259-7CC9-8482319B9C8B}"/>
              </a:ext>
            </a:extLst>
          </p:cNvPr>
          <p:cNvSpPr txBox="1"/>
          <p:nvPr/>
        </p:nvSpPr>
        <p:spPr>
          <a:xfrm>
            <a:off x="805110" y="123167"/>
            <a:ext cx="4386015" cy="707886"/>
          </a:xfrm>
          <a:prstGeom prst="rect">
            <a:avLst/>
          </a:prstGeom>
          <a:noFill/>
          <a:effectLst>
            <a:glow rad="228600">
              <a:schemeClr val="accent6">
                <a:lumMod val="20000"/>
                <a:lumOff val="80000"/>
                <a:alpha val="40000"/>
              </a:schemeClr>
            </a:glow>
            <a:outerShdw blurRad="50800" dist="38100" dir="2700000" algn="tl" rotWithShape="0">
              <a:srgbClr val="00863D">
                <a:alpha val="10000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20000"/>
                    <a:lumOff val="80000"/>
                  </a:schemeClr>
                </a:solidFill>
                <a:latin typeface="+mj-lt"/>
              </a:rPr>
              <a:t>Sales/ Sales Order</a:t>
            </a:r>
            <a:r>
              <a:rPr lang="en-US" sz="1900" dirty="0">
                <a:solidFill>
                  <a:schemeClr val="accent6">
                    <a:lumMod val="20000"/>
                    <a:lumOff val="80000"/>
                  </a:schemeClr>
                </a:solidFill>
                <a:latin typeface="+mj-lt"/>
              </a:rPr>
              <a:t>- Module</a:t>
            </a:r>
          </a:p>
          <a:p>
            <a:endParaRPr lang="en-US" sz="2000" dirty="0">
              <a:solidFill>
                <a:srgbClr val="007434"/>
              </a:solidFill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801940-C472-2128-749A-74F3CCB5F124}"/>
              </a:ext>
            </a:extLst>
          </p:cNvPr>
          <p:cNvSpPr txBox="1"/>
          <p:nvPr/>
        </p:nvSpPr>
        <p:spPr>
          <a:xfrm>
            <a:off x="805110" y="2375033"/>
            <a:ext cx="3887062" cy="338554"/>
          </a:xfrm>
          <a:prstGeom prst="rect">
            <a:avLst/>
          </a:prstGeom>
          <a:solidFill>
            <a:srgbClr val="00B050"/>
          </a:solidFill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+mj-lt"/>
              </a:rPr>
              <a:t>Main Window</a:t>
            </a:r>
            <a:endParaRPr lang="en-US" sz="2000" dirty="0">
              <a:solidFill>
                <a:srgbClr val="007434"/>
              </a:solidFill>
              <a:latin typeface="+mj-lt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CB5C160F-C04C-EA95-C39F-2B967C6BCB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0479" y="6391410"/>
            <a:ext cx="1047454" cy="267619"/>
          </a:xfrm>
          <a:prstGeom prst="rect">
            <a:avLst/>
          </a:prstGeom>
          <a:effectLst/>
        </p:spPr>
      </p:pic>
      <p:sp>
        <p:nvSpPr>
          <p:cNvPr id="20" name="Text Box 15">
            <a:extLst>
              <a:ext uri="{FF2B5EF4-FFF2-40B4-BE49-F238E27FC236}">
                <a16:creationId xmlns:a16="http://schemas.microsoft.com/office/drawing/2014/main" id="{E1DF78E5-41B8-4843-8426-68AD1D115D04}"/>
              </a:ext>
            </a:extLst>
          </p:cNvPr>
          <p:cNvSpPr txBox="1"/>
          <p:nvPr/>
        </p:nvSpPr>
        <p:spPr>
          <a:xfrm>
            <a:off x="832872" y="2847733"/>
            <a:ext cx="3887062" cy="1711387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R="227330">
              <a:lnSpc>
                <a:spcPct val="107000"/>
              </a:lnSpc>
              <a:spcBef>
                <a:spcPts val="190"/>
              </a:spcBef>
              <a:spcAft>
                <a:spcPts val="800"/>
              </a:spcAft>
            </a:pPr>
            <a:r>
              <a:rPr lang="en-PH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When you click the Sales Order module under Sales, Sales Order transactions list will display based on filtered date and status in the sales order main window.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38989E4-F23C-F4AC-684B-2BE81114D33A}"/>
              </a:ext>
            </a:extLst>
          </p:cNvPr>
          <p:cNvSpPr txBox="1"/>
          <p:nvPr/>
        </p:nvSpPr>
        <p:spPr>
          <a:xfrm>
            <a:off x="7284343" y="5022961"/>
            <a:ext cx="2552700" cy="281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 Order – Main </a:t>
            </a:r>
            <a:r>
              <a:rPr lang="en-PH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Window</a:t>
            </a:r>
            <a:endParaRPr lang="en-US" sz="12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3F2D80E-F855-4557-83B2-A9B101D048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8573" y="1996757"/>
            <a:ext cx="5984240" cy="2864485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D2CC6CC6-0612-42F1-9890-2BC012FA9A69}"/>
              </a:ext>
            </a:extLst>
          </p:cNvPr>
          <p:cNvGrpSpPr/>
          <p:nvPr/>
        </p:nvGrpSpPr>
        <p:grpSpPr>
          <a:xfrm>
            <a:off x="5568573" y="3106622"/>
            <a:ext cx="5735320" cy="1151255"/>
            <a:chOff x="3228340" y="2853373"/>
            <a:chExt cx="5735320" cy="1151255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4F3AA3C9-CAD7-4872-B4AF-5DDDCA895680}"/>
                </a:ext>
              </a:extLst>
            </p:cNvPr>
            <p:cNvSpPr/>
            <p:nvPr/>
          </p:nvSpPr>
          <p:spPr>
            <a:xfrm>
              <a:off x="3228340" y="3038158"/>
              <a:ext cx="990600" cy="17145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H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93338AD5-203F-489A-BDAC-B727D8DE4376}"/>
                </a:ext>
              </a:extLst>
            </p:cNvPr>
            <p:cNvSpPr/>
            <p:nvPr/>
          </p:nvSpPr>
          <p:spPr>
            <a:xfrm>
              <a:off x="4412615" y="2853373"/>
              <a:ext cx="4551045" cy="115125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H"/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21F21A8F-F307-4DFE-AFE4-861A3878748D}"/>
                </a:ext>
              </a:extLst>
            </p:cNvPr>
            <p:cNvCxnSpPr/>
            <p:nvPr/>
          </p:nvCxnSpPr>
          <p:spPr>
            <a:xfrm>
              <a:off x="4217670" y="3118803"/>
              <a:ext cx="257175" cy="1905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FBE123-B3AE-AE6C-F2C0-CDF5DEE40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6086AB-602C-49A8-AF1B-7C398AACFC06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Animosa Extra Bold" panose="000009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863D"/>
              </a:solidFill>
              <a:effectLst/>
              <a:uLnTx/>
              <a:uFillTx/>
              <a:latin typeface="Animosa Extra Bold" panose="00000900000000000000" pitchFamily="50" charset="0"/>
              <a:ea typeface="+mn-ea"/>
              <a:cs typeface="+mn-cs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71259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2384804B-EE2E-A346-8D83-E2034F24A0DC}"/>
              </a:ext>
            </a:extLst>
          </p:cNvPr>
          <p:cNvSpPr txBox="1"/>
          <p:nvPr/>
        </p:nvSpPr>
        <p:spPr>
          <a:xfrm>
            <a:off x="805110" y="965527"/>
            <a:ext cx="3852819" cy="337392"/>
          </a:xfrm>
          <a:prstGeom prst="rect">
            <a:avLst/>
          </a:prstGeom>
          <a:solidFill>
            <a:srgbClr val="00B050"/>
          </a:solidFill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+mj-lt"/>
              </a:rPr>
              <a:t>How To Create Sales Order Transaction?</a:t>
            </a:r>
            <a:endParaRPr lang="en-US" sz="2000" dirty="0">
              <a:solidFill>
                <a:srgbClr val="007434"/>
              </a:solidFill>
              <a:latin typeface="+mj-lt"/>
            </a:endParaRPr>
          </a:p>
        </p:txBody>
      </p:sp>
      <p:sp>
        <p:nvSpPr>
          <p:cNvPr id="12" name="Text Box 18">
            <a:extLst>
              <a:ext uri="{FF2B5EF4-FFF2-40B4-BE49-F238E27FC236}">
                <a16:creationId xmlns:a16="http://schemas.microsoft.com/office/drawing/2014/main" id="{9A8214E9-BA24-C1CD-FE2E-59471D8D7178}"/>
              </a:ext>
            </a:extLst>
          </p:cNvPr>
          <p:cNvSpPr txBox="1"/>
          <p:nvPr/>
        </p:nvSpPr>
        <p:spPr>
          <a:xfrm>
            <a:off x="597771" y="2169540"/>
            <a:ext cx="4179346" cy="2518920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PH" sz="1200" b="1" dirty="0">
                <a:solidFill>
                  <a:srgbClr val="00863D"/>
                </a:solidFill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  </a:t>
            </a:r>
            <a:r>
              <a:rPr lang="en-PH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Sales Order – Main Window, you will notice a create button in the upper left of the window. Click the create button and you will be redirect in sales order – main form.</a:t>
            </a: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PH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b="1" dirty="0">
              <a:solidFill>
                <a:srgbClr val="00863D"/>
              </a:solidFill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srgbClr val="00863D"/>
                </a:solidFill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  </a:t>
            </a:r>
            <a:r>
              <a:rPr lang="en-PH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After you click the create button a dialog box will pop out with list of customer. Search and select a customer or the quotation transaction</a:t>
            </a: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PH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PH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200" cap="all" dirty="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05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300" cap="all" dirty="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300" cap="all" dirty="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 Box 6">
            <a:extLst>
              <a:ext uri="{FF2B5EF4-FFF2-40B4-BE49-F238E27FC236}">
                <a16:creationId xmlns:a16="http://schemas.microsoft.com/office/drawing/2014/main" id="{388AC9D8-E4B5-58A0-4094-8A9CB20669C4}"/>
              </a:ext>
            </a:extLst>
          </p:cNvPr>
          <p:cNvSpPr txBox="1"/>
          <p:nvPr/>
        </p:nvSpPr>
        <p:spPr>
          <a:xfrm>
            <a:off x="0" y="-11307"/>
            <a:ext cx="5374888" cy="653359"/>
          </a:xfrm>
          <a:prstGeom prst="rect">
            <a:avLst/>
          </a:prstGeom>
          <a:solidFill>
            <a:srgbClr val="00863D"/>
          </a:solidFill>
          <a:ln w="6350">
            <a:noFill/>
          </a:ln>
          <a:effectLst>
            <a:outerShdw blurRad="50800" dist="38100" dir="2700000" sx="73000" sy="73000" algn="tl" rotWithShape="0">
              <a:prstClr val="black">
                <a:alpha val="5000"/>
              </a:prstClr>
            </a:outerShdw>
          </a:effectLst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400" dirty="0">
              <a:solidFill>
                <a:srgbClr val="007434"/>
              </a:solidFill>
              <a:effectLst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6741E019-9F9B-2ACF-7F83-816276885D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0479" y="6391410"/>
            <a:ext cx="1047454" cy="267619"/>
          </a:xfrm>
          <a:prstGeom prst="rect">
            <a:avLst/>
          </a:prstGeom>
          <a:effectLst/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1A42DF79-C68A-4D0B-BBFA-61A8F3F71897}"/>
              </a:ext>
            </a:extLst>
          </p:cNvPr>
          <p:cNvSpPr txBox="1"/>
          <p:nvPr/>
        </p:nvSpPr>
        <p:spPr>
          <a:xfrm>
            <a:off x="805110" y="123167"/>
            <a:ext cx="4386015" cy="707886"/>
          </a:xfrm>
          <a:prstGeom prst="rect">
            <a:avLst/>
          </a:prstGeom>
          <a:noFill/>
          <a:effectLst>
            <a:glow rad="228600">
              <a:schemeClr val="accent6">
                <a:lumMod val="20000"/>
                <a:lumOff val="80000"/>
                <a:alpha val="40000"/>
              </a:schemeClr>
            </a:glow>
            <a:outerShdw blurRad="50800" dist="38100" dir="2700000" algn="tl" rotWithShape="0">
              <a:srgbClr val="00863D">
                <a:alpha val="10000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20000"/>
                    <a:lumOff val="80000"/>
                  </a:schemeClr>
                </a:solidFill>
                <a:latin typeface="+mj-lt"/>
              </a:rPr>
              <a:t>Sales/ Sales Order</a:t>
            </a:r>
            <a:r>
              <a:rPr lang="en-US" sz="1900" dirty="0">
                <a:solidFill>
                  <a:schemeClr val="accent6">
                    <a:lumMod val="20000"/>
                    <a:lumOff val="80000"/>
                  </a:schemeClr>
                </a:solidFill>
                <a:latin typeface="+mj-lt"/>
              </a:rPr>
              <a:t>- Module</a:t>
            </a:r>
          </a:p>
          <a:p>
            <a:endParaRPr lang="en-US" sz="2000" dirty="0">
              <a:solidFill>
                <a:srgbClr val="007434"/>
              </a:solidFill>
              <a:latin typeface="+mj-lt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492CDDA-8266-4842-9629-22D97734CB9C}"/>
              </a:ext>
            </a:extLst>
          </p:cNvPr>
          <p:cNvGrpSpPr/>
          <p:nvPr/>
        </p:nvGrpSpPr>
        <p:grpSpPr>
          <a:xfrm>
            <a:off x="5261490" y="1402946"/>
            <a:ext cx="6189345" cy="1163320"/>
            <a:chOff x="5191125" y="961262"/>
            <a:chExt cx="6189345" cy="1163320"/>
          </a:xfrm>
        </p:grpSpPr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379FB52F-E9E9-4719-ADC5-97B5F3A0607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91125" y="961262"/>
              <a:ext cx="6189345" cy="1163320"/>
            </a:xfrm>
            <a:prstGeom prst="rect">
              <a:avLst/>
            </a:prstGeom>
          </p:spPr>
        </p:pic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3EEC58EB-30AF-4050-874C-69874824438C}"/>
                </a:ext>
              </a:extLst>
            </p:cNvPr>
            <p:cNvGrpSpPr/>
            <p:nvPr/>
          </p:nvGrpSpPr>
          <p:grpSpPr>
            <a:xfrm>
              <a:off x="5365750" y="1204467"/>
              <a:ext cx="1209675" cy="333375"/>
              <a:chOff x="0" y="0"/>
              <a:chExt cx="1209675" cy="333375"/>
            </a:xfrm>
          </p:grpSpPr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2727BD0F-5F8D-4E80-B7A8-2029E55EDC77}"/>
                  </a:ext>
                </a:extLst>
              </p:cNvPr>
              <p:cNvSpPr/>
              <p:nvPr/>
            </p:nvSpPr>
            <p:spPr>
              <a:xfrm>
                <a:off x="0" y="0"/>
                <a:ext cx="800100" cy="333375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PH"/>
              </a:p>
            </p:txBody>
          </p:sp>
          <p:cxnSp>
            <p:nvCxnSpPr>
              <p:cNvPr id="42" name="Straight Arrow Connector 41">
                <a:extLst>
                  <a:ext uri="{FF2B5EF4-FFF2-40B4-BE49-F238E27FC236}">
                    <a16:creationId xmlns:a16="http://schemas.microsoft.com/office/drawing/2014/main" id="{F62FD56E-5BAE-47A4-8C34-DEC3489F58D5}"/>
                  </a:ext>
                </a:extLst>
              </p:cNvPr>
              <p:cNvCxnSpPr/>
              <p:nvPr/>
            </p:nvCxnSpPr>
            <p:spPr>
              <a:xfrm>
                <a:off x="800100" y="133350"/>
                <a:ext cx="200025" cy="952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3" name="Text Box 22">
                <a:extLst>
                  <a:ext uri="{FF2B5EF4-FFF2-40B4-BE49-F238E27FC236}">
                    <a16:creationId xmlns:a16="http://schemas.microsoft.com/office/drawing/2014/main" id="{9994CF76-CFA7-4528-9634-74FDFCA84CCC}"/>
                  </a:ext>
                </a:extLst>
              </p:cNvPr>
              <p:cNvSpPr txBox="1"/>
              <p:nvPr/>
            </p:nvSpPr>
            <p:spPr>
              <a:xfrm>
                <a:off x="1009650" y="28575"/>
                <a:ext cx="200025" cy="247650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prstClr val="black"/>
                </a:solidFill>
              </a:ln>
              <a:effectLst/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11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1</a:t>
                </a:r>
                <a:endParaRPr lang="en-PH" sz="11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F2B3E466-4203-49F5-9817-CEE3C4D1C844}"/>
              </a:ext>
            </a:extLst>
          </p:cNvPr>
          <p:cNvGrpSpPr/>
          <p:nvPr/>
        </p:nvGrpSpPr>
        <p:grpSpPr>
          <a:xfrm>
            <a:off x="5365750" y="3134495"/>
            <a:ext cx="5982970" cy="2613025"/>
            <a:chOff x="88710" y="8223"/>
            <a:chExt cx="6189345" cy="3053287"/>
          </a:xfrm>
        </p:grpSpPr>
        <p:pic>
          <p:nvPicPr>
            <p:cNvPr id="50" name="Picture 49">
              <a:extLst>
                <a:ext uri="{FF2B5EF4-FFF2-40B4-BE49-F238E27FC236}">
                  <a16:creationId xmlns:a16="http://schemas.microsoft.com/office/drawing/2014/main" id="{E81EBCCE-33A7-4C74-82AA-C533634D762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710" y="8223"/>
              <a:ext cx="6189345" cy="3053287"/>
            </a:xfrm>
            <a:prstGeom prst="rect">
              <a:avLst/>
            </a:prstGeom>
          </p:spPr>
        </p:pic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9447948A-6DD5-42CD-8847-B0037F8AC4FC}"/>
                </a:ext>
              </a:extLst>
            </p:cNvPr>
            <p:cNvGrpSpPr/>
            <p:nvPr/>
          </p:nvGrpSpPr>
          <p:grpSpPr>
            <a:xfrm>
              <a:off x="609458" y="672573"/>
              <a:ext cx="5592194" cy="365643"/>
              <a:chOff x="-4010167" y="177273"/>
              <a:chExt cx="5592194" cy="365643"/>
            </a:xfrm>
          </p:grpSpPr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CCE00508-681B-49CE-AE9C-74A72AC764BC}"/>
                  </a:ext>
                </a:extLst>
              </p:cNvPr>
              <p:cNvSpPr/>
              <p:nvPr/>
            </p:nvSpPr>
            <p:spPr>
              <a:xfrm>
                <a:off x="-4010167" y="177273"/>
                <a:ext cx="5145632" cy="365643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PH"/>
              </a:p>
            </p:txBody>
          </p:sp>
          <p:cxnSp>
            <p:nvCxnSpPr>
              <p:cNvPr id="53" name="Straight Arrow Connector 52">
                <a:extLst>
                  <a:ext uri="{FF2B5EF4-FFF2-40B4-BE49-F238E27FC236}">
                    <a16:creationId xmlns:a16="http://schemas.microsoft.com/office/drawing/2014/main" id="{776EC14E-3C43-41BA-AE54-227A8A177251}"/>
                  </a:ext>
                </a:extLst>
              </p:cNvPr>
              <p:cNvCxnSpPr/>
              <p:nvPr/>
            </p:nvCxnSpPr>
            <p:spPr>
              <a:xfrm>
                <a:off x="1135465" y="323282"/>
                <a:ext cx="200025" cy="952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54" name="Text Box 31">
                <a:extLst>
                  <a:ext uri="{FF2B5EF4-FFF2-40B4-BE49-F238E27FC236}">
                    <a16:creationId xmlns:a16="http://schemas.microsoft.com/office/drawing/2014/main" id="{029353D0-350E-4692-9BDE-C518CA51F280}"/>
                  </a:ext>
                </a:extLst>
              </p:cNvPr>
              <p:cNvSpPr txBox="1"/>
              <p:nvPr/>
            </p:nvSpPr>
            <p:spPr>
              <a:xfrm>
                <a:off x="1343657" y="183411"/>
                <a:ext cx="238370" cy="333987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prstClr val="black"/>
                </a:solidFill>
              </a:ln>
              <a:effectLst/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110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2</a:t>
                </a:r>
                <a:endParaRPr lang="en-PH" sz="110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61" name="Text Box 241">
            <a:extLst>
              <a:ext uri="{FF2B5EF4-FFF2-40B4-BE49-F238E27FC236}">
                <a16:creationId xmlns:a16="http://schemas.microsoft.com/office/drawing/2014/main" id="{3F68C177-B770-449C-B20C-E3075BABC2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0764" y="4224765"/>
            <a:ext cx="3770065" cy="92739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0" tIns="0" rIns="0" bIns="0" anchor="t" anchorCtr="0" upright="1">
            <a:noAutofit/>
          </a:bodyPr>
          <a:lstStyle/>
          <a:p>
            <a:pPr marL="101600">
              <a:lnSpc>
                <a:spcPct val="107000"/>
              </a:lnSpc>
              <a:spcBef>
                <a:spcPts val="440"/>
              </a:spcBef>
              <a:spcAft>
                <a:spcPts val="800"/>
              </a:spcAft>
            </a:pPr>
            <a:r>
              <a:rPr lang="en-PH" sz="1000" i="1" dirty="0">
                <a:solidFill>
                  <a:srgbClr val="4F6128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How to search customer?</a:t>
            </a:r>
            <a:endParaRPr lang="en-PH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0850" lvl="1" indent="-98425">
              <a:lnSpc>
                <a:spcPct val="115000"/>
              </a:lnSpc>
              <a:buSzPts val="800"/>
            </a:pPr>
            <a:r>
              <a:rPr lang="en-US" sz="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1.	Type the transaction number of quotation in the search bar.</a:t>
            </a:r>
          </a:p>
          <a:p>
            <a:pPr marL="450850" lvl="1" indent="-98425">
              <a:lnSpc>
                <a:spcPct val="115000"/>
              </a:lnSpc>
              <a:buSzPts val="800"/>
              <a:tabLst>
                <a:tab pos="227330" algn="l"/>
              </a:tabLst>
            </a:pPr>
            <a:r>
              <a:rPr lang="en-US" sz="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2.	And it will automatically sort out.</a:t>
            </a:r>
          </a:p>
          <a:p>
            <a:pPr marL="450850" lvl="1" indent="-98425">
              <a:lnSpc>
                <a:spcPct val="115000"/>
              </a:lnSpc>
              <a:buSzPts val="800"/>
              <a:tabLst>
                <a:tab pos="227330" algn="l"/>
              </a:tabLst>
            </a:pPr>
            <a:r>
              <a:rPr lang="en-US" sz="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3.	Then click the selected transaction in quotation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38BD86-337E-52C3-0DDB-6E7A9CA08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6086AB-602C-49A8-AF1B-7C398AACFC06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Animosa Extra Bold" panose="000009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863D"/>
              </a:solidFill>
              <a:effectLst/>
              <a:uLnTx/>
              <a:uFillTx/>
              <a:latin typeface="Animosa Extra Bold" panose="00000900000000000000" pitchFamily="50" charset="0"/>
              <a:ea typeface="+mn-ea"/>
              <a:cs typeface="+mn-cs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84164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6">
            <a:extLst>
              <a:ext uri="{FF2B5EF4-FFF2-40B4-BE49-F238E27FC236}">
                <a16:creationId xmlns:a16="http://schemas.microsoft.com/office/drawing/2014/main" id="{388AC9D8-E4B5-58A0-4094-8A9CB20669C4}"/>
              </a:ext>
            </a:extLst>
          </p:cNvPr>
          <p:cNvSpPr txBox="1"/>
          <p:nvPr/>
        </p:nvSpPr>
        <p:spPr>
          <a:xfrm>
            <a:off x="0" y="-11307"/>
            <a:ext cx="5374888" cy="653359"/>
          </a:xfrm>
          <a:prstGeom prst="rect">
            <a:avLst/>
          </a:prstGeom>
          <a:solidFill>
            <a:srgbClr val="00863D"/>
          </a:solidFill>
          <a:ln w="6350">
            <a:noFill/>
          </a:ln>
          <a:effectLst>
            <a:outerShdw blurRad="50800" dist="38100" dir="2700000" sx="73000" sy="73000" algn="tl" rotWithShape="0">
              <a:prstClr val="black">
                <a:alpha val="5000"/>
              </a:prstClr>
            </a:outerShdw>
          </a:effectLst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400" dirty="0">
              <a:solidFill>
                <a:srgbClr val="007434"/>
              </a:solidFill>
              <a:effectLst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 Box 18">
            <a:extLst>
              <a:ext uri="{FF2B5EF4-FFF2-40B4-BE49-F238E27FC236}">
                <a16:creationId xmlns:a16="http://schemas.microsoft.com/office/drawing/2014/main" id="{5F604CD2-37AD-720F-6809-08E563572769}"/>
              </a:ext>
            </a:extLst>
          </p:cNvPr>
          <p:cNvSpPr txBox="1"/>
          <p:nvPr/>
        </p:nvSpPr>
        <p:spPr>
          <a:xfrm>
            <a:off x="805110" y="2156603"/>
            <a:ext cx="3792290" cy="2418891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</a:pPr>
            <a:r>
              <a:rPr lang="en-US" sz="1200" b="1" dirty="0">
                <a:solidFill>
                  <a:srgbClr val="00863D"/>
                </a:solidFill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After you select the quotation, you will be redirect in sales order – main form where you all information from quotation will be copied.</a:t>
            </a:r>
            <a:endParaRPr lang="en-PH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15000"/>
              </a:lnSpc>
            </a:pPr>
            <a:r>
              <a:rPr lang="en-US" sz="1200" b="1" dirty="0">
                <a:solidFill>
                  <a:srgbClr val="00863D"/>
                </a:solidFill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4.</a:t>
            </a:r>
            <a:r>
              <a:rPr lang="en-US" sz="1200" b="1" dirty="0">
                <a:solidFill>
                  <a:srgbClr val="00863D"/>
                </a:solidFill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PH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Check the transaction.</a:t>
            </a:r>
          </a:p>
          <a:p>
            <a:pPr>
              <a:lnSpc>
                <a:spcPct val="115000"/>
              </a:lnSpc>
            </a:pPr>
            <a:endParaRPr lang="en-PH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en-PH" sz="1200" b="1" dirty="0">
                <a:solidFill>
                  <a:srgbClr val="00863D"/>
                </a:solidFill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en-US" sz="1200" dirty="0"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 finalize the transaction, click post button located in the header.</a:t>
            </a:r>
            <a:endParaRPr lang="en-PH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C5DBDA1-743E-42BB-B885-150ADF90B600}"/>
              </a:ext>
            </a:extLst>
          </p:cNvPr>
          <p:cNvSpPr txBox="1"/>
          <p:nvPr/>
        </p:nvSpPr>
        <p:spPr>
          <a:xfrm>
            <a:off x="805110" y="123167"/>
            <a:ext cx="4386015" cy="707886"/>
          </a:xfrm>
          <a:prstGeom prst="rect">
            <a:avLst/>
          </a:prstGeom>
          <a:noFill/>
          <a:effectLst>
            <a:glow rad="228600">
              <a:schemeClr val="accent6">
                <a:lumMod val="20000"/>
                <a:lumOff val="80000"/>
                <a:alpha val="40000"/>
              </a:schemeClr>
            </a:glow>
            <a:outerShdw blurRad="50800" dist="38100" dir="2700000" algn="tl" rotWithShape="0">
              <a:srgbClr val="00863D">
                <a:alpha val="10000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20000"/>
                    <a:lumOff val="80000"/>
                  </a:schemeClr>
                </a:solidFill>
                <a:latin typeface="+mj-lt"/>
              </a:rPr>
              <a:t>Sales/ Sales Order</a:t>
            </a:r>
            <a:r>
              <a:rPr lang="en-US" sz="1900" dirty="0">
                <a:solidFill>
                  <a:schemeClr val="accent6">
                    <a:lumMod val="20000"/>
                    <a:lumOff val="80000"/>
                  </a:schemeClr>
                </a:solidFill>
                <a:latin typeface="+mj-lt"/>
              </a:rPr>
              <a:t>- Module</a:t>
            </a:r>
          </a:p>
          <a:p>
            <a:endParaRPr lang="en-US" sz="2000" dirty="0">
              <a:solidFill>
                <a:srgbClr val="007434"/>
              </a:solidFill>
              <a:latin typeface="+mj-lt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9C23719-FF9F-41AF-8971-7F1300CCAB95}"/>
              </a:ext>
            </a:extLst>
          </p:cNvPr>
          <p:cNvSpPr txBox="1"/>
          <p:nvPr/>
        </p:nvSpPr>
        <p:spPr>
          <a:xfrm>
            <a:off x="1517830" y="628102"/>
            <a:ext cx="3852819" cy="337392"/>
          </a:xfrm>
          <a:prstGeom prst="rect">
            <a:avLst/>
          </a:prstGeom>
          <a:solidFill>
            <a:srgbClr val="00B050"/>
          </a:solidFill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+mj-lt"/>
              </a:rPr>
              <a:t>How To Create Sales Order Transaction?</a:t>
            </a:r>
            <a:endParaRPr lang="en-US" sz="2000" dirty="0">
              <a:solidFill>
                <a:srgbClr val="007434"/>
              </a:solidFill>
              <a:latin typeface="+mj-lt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B94C42-3D8D-EC52-57B8-392BD6452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6086AB-602C-49A8-AF1B-7C398AACFC06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Animosa Extra Bold" panose="000009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863D"/>
              </a:solidFill>
              <a:effectLst/>
              <a:uLnTx/>
              <a:uFillTx/>
              <a:latin typeface="Animosa Extra Bold" panose="00000900000000000000" pitchFamily="50" charset="0"/>
              <a:ea typeface="+mn-ea"/>
              <a:cs typeface="+mn-cs"/>
            </a:endParaRPr>
          </a:p>
          <a:p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303F6F2-5AE0-FDFF-EAB0-E8C499BA51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8830" y="1604903"/>
            <a:ext cx="5904528" cy="334045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974F801-046C-2505-E90D-743E72A5CE63}"/>
              </a:ext>
            </a:extLst>
          </p:cNvPr>
          <p:cNvSpPr txBox="1"/>
          <p:nvPr/>
        </p:nvSpPr>
        <p:spPr>
          <a:xfrm>
            <a:off x="7205715" y="4985613"/>
            <a:ext cx="2552700" cy="281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 Order – Main </a:t>
            </a:r>
            <a:r>
              <a:rPr lang="en-PH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Form</a:t>
            </a:r>
            <a:endParaRPr lang="en-US" sz="12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F59D11D-47AB-37F1-E3B4-ADB3F0B323F8}"/>
              </a:ext>
            </a:extLst>
          </p:cNvPr>
          <p:cNvSpPr/>
          <p:nvPr/>
        </p:nvSpPr>
        <p:spPr>
          <a:xfrm>
            <a:off x="9429941" y="1930862"/>
            <a:ext cx="354352" cy="22574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PH"/>
          </a:p>
        </p:txBody>
      </p:sp>
      <p:sp>
        <p:nvSpPr>
          <p:cNvPr id="9" name="Text Box 588">
            <a:extLst>
              <a:ext uri="{FF2B5EF4-FFF2-40B4-BE49-F238E27FC236}">
                <a16:creationId xmlns:a16="http://schemas.microsoft.com/office/drawing/2014/main" id="{1F905B5D-E2CB-B346-6DAC-D54D409D8634}"/>
              </a:ext>
            </a:extLst>
          </p:cNvPr>
          <p:cNvSpPr txBox="1"/>
          <p:nvPr/>
        </p:nvSpPr>
        <p:spPr>
          <a:xfrm>
            <a:off x="9986173" y="1817705"/>
            <a:ext cx="279262" cy="225741"/>
          </a:xfrm>
          <a:prstGeom prst="rect">
            <a:avLst/>
          </a:prstGeom>
          <a:solidFill>
            <a:srgbClr val="FFFF00"/>
          </a:solidFill>
          <a:ln w="6350">
            <a:solidFill>
              <a:prstClr val="black"/>
            </a:solidFill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5</a:t>
            </a:r>
            <a:endParaRPr lang="en-PH" sz="1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553E5A8-B139-B3BF-24CE-A051DFC5A561}"/>
              </a:ext>
            </a:extLst>
          </p:cNvPr>
          <p:cNvCxnSpPr/>
          <p:nvPr/>
        </p:nvCxnSpPr>
        <p:spPr>
          <a:xfrm flipV="1">
            <a:off x="9784293" y="1930862"/>
            <a:ext cx="201878" cy="593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53848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2384804B-EE2E-A346-8D83-E2034F24A0DC}"/>
              </a:ext>
            </a:extLst>
          </p:cNvPr>
          <p:cNvSpPr txBox="1"/>
          <p:nvPr/>
        </p:nvSpPr>
        <p:spPr>
          <a:xfrm>
            <a:off x="805110" y="965527"/>
            <a:ext cx="3852819" cy="337392"/>
          </a:xfrm>
          <a:prstGeom prst="rect">
            <a:avLst/>
          </a:prstGeom>
          <a:solidFill>
            <a:srgbClr val="00B050"/>
          </a:solidFill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+mj-lt"/>
              </a:rPr>
              <a:t>How To Delete Sales Order Transaction?</a:t>
            </a:r>
            <a:endParaRPr lang="en-US" sz="2000" dirty="0">
              <a:solidFill>
                <a:srgbClr val="007434"/>
              </a:solidFill>
              <a:latin typeface="+mj-lt"/>
            </a:endParaRPr>
          </a:p>
        </p:txBody>
      </p:sp>
      <p:sp>
        <p:nvSpPr>
          <p:cNvPr id="12" name="Text Box 18">
            <a:extLst>
              <a:ext uri="{FF2B5EF4-FFF2-40B4-BE49-F238E27FC236}">
                <a16:creationId xmlns:a16="http://schemas.microsoft.com/office/drawing/2014/main" id="{9A8214E9-BA24-C1CD-FE2E-59471D8D7178}"/>
              </a:ext>
            </a:extLst>
          </p:cNvPr>
          <p:cNvSpPr txBox="1"/>
          <p:nvPr/>
        </p:nvSpPr>
        <p:spPr>
          <a:xfrm>
            <a:off x="478583" y="2163455"/>
            <a:ext cx="4179346" cy="1744696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dirty="0">
                <a:solidFill>
                  <a:srgbClr val="00863D"/>
                </a:solidFill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1.1.</a:t>
            </a:r>
            <a:r>
              <a:rPr lang="en-US" sz="1400" b="1" dirty="0">
                <a:solidFill>
                  <a:srgbClr val="00863D"/>
                </a:solidFill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PH" sz="14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the sales order – main window, search the transaction you want to delete.</a:t>
            </a: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PH" sz="14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PH" sz="1400" b="1" dirty="0">
                <a:solidFill>
                  <a:srgbClr val="00863D"/>
                </a:solidFill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1.2. </a:t>
            </a:r>
            <a:r>
              <a:rPr lang="en-PH" sz="14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sales order – main form, click the lookup button and select the transaction you want to delete.</a:t>
            </a: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PH" sz="14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dirty="0">
                <a:solidFill>
                  <a:srgbClr val="00863D"/>
                </a:solidFill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  </a:t>
            </a:r>
            <a:r>
              <a:rPr lang="en-US" sz="14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 done, click delete button.</a:t>
            </a:r>
            <a:endParaRPr lang="en-US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 Box 6">
            <a:extLst>
              <a:ext uri="{FF2B5EF4-FFF2-40B4-BE49-F238E27FC236}">
                <a16:creationId xmlns:a16="http://schemas.microsoft.com/office/drawing/2014/main" id="{388AC9D8-E4B5-58A0-4094-8A9CB20669C4}"/>
              </a:ext>
            </a:extLst>
          </p:cNvPr>
          <p:cNvSpPr txBox="1"/>
          <p:nvPr/>
        </p:nvSpPr>
        <p:spPr>
          <a:xfrm>
            <a:off x="0" y="-11307"/>
            <a:ext cx="5374888" cy="653359"/>
          </a:xfrm>
          <a:prstGeom prst="rect">
            <a:avLst/>
          </a:prstGeom>
          <a:solidFill>
            <a:srgbClr val="00863D"/>
          </a:solidFill>
          <a:ln w="6350">
            <a:noFill/>
          </a:ln>
          <a:effectLst>
            <a:outerShdw blurRad="50800" dist="38100" dir="2700000" sx="73000" sy="73000" algn="tl" rotWithShape="0">
              <a:prstClr val="black">
                <a:alpha val="5000"/>
              </a:prstClr>
            </a:outerShdw>
          </a:effectLst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400" dirty="0">
              <a:solidFill>
                <a:srgbClr val="007434"/>
              </a:solidFill>
              <a:effectLst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0FAE49C-C178-874F-0006-BE9CF6141258}"/>
              </a:ext>
            </a:extLst>
          </p:cNvPr>
          <p:cNvSpPr txBox="1"/>
          <p:nvPr/>
        </p:nvSpPr>
        <p:spPr>
          <a:xfrm>
            <a:off x="7121401" y="3141574"/>
            <a:ext cx="2552700" cy="281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 Order – Main </a:t>
            </a:r>
            <a:r>
              <a:rPr lang="en-PH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Window</a:t>
            </a:r>
            <a:endParaRPr lang="en-US" sz="12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603002A-262E-A67B-C50A-ED71CBFB10EA}"/>
              </a:ext>
            </a:extLst>
          </p:cNvPr>
          <p:cNvSpPr txBox="1"/>
          <p:nvPr/>
        </p:nvSpPr>
        <p:spPr>
          <a:xfrm>
            <a:off x="7209913" y="6104480"/>
            <a:ext cx="2552700" cy="281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 Order – </a:t>
            </a:r>
            <a:r>
              <a:rPr lang="en-PH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Main </a:t>
            </a:r>
            <a:r>
              <a:rPr lang="en-PH" sz="1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Form</a:t>
            </a:r>
            <a:endParaRPr lang="en-US" sz="12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0907291-ED9D-4F96-A7FA-D9EDC3324E12}"/>
              </a:ext>
            </a:extLst>
          </p:cNvPr>
          <p:cNvSpPr txBox="1"/>
          <p:nvPr/>
        </p:nvSpPr>
        <p:spPr>
          <a:xfrm>
            <a:off x="585809" y="123167"/>
            <a:ext cx="4824617" cy="707886"/>
          </a:xfrm>
          <a:prstGeom prst="rect">
            <a:avLst/>
          </a:prstGeom>
          <a:noFill/>
          <a:effectLst>
            <a:glow rad="228600">
              <a:schemeClr val="accent6">
                <a:lumMod val="20000"/>
                <a:lumOff val="80000"/>
                <a:alpha val="40000"/>
              </a:schemeClr>
            </a:glow>
            <a:outerShdw blurRad="50800" dist="38100" dir="2700000" algn="tl" rotWithShape="0">
              <a:srgbClr val="00863D">
                <a:alpha val="10000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20000"/>
                    <a:lumOff val="80000"/>
                  </a:schemeClr>
                </a:solidFill>
                <a:latin typeface="+mj-lt"/>
              </a:rPr>
              <a:t>Sales/ Sales Order</a:t>
            </a:r>
            <a:r>
              <a:rPr lang="en-US" sz="1900" dirty="0">
                <a:solidFill>
                  <a:schemeClr val="accent6">
                    <a:lumMod val="20000"/>
                    <a:lumOff val="80000"/>
                  </a:schemeClr>
                </a:solidFill>
                <a:latin typeface="+mj-lt"/>
              </a:rPr>
              <a:t>- Module</a:t>
            </a:r>
          </a:p>
          <a:p>
            <a:endParaRPr lang="en-US" sz="2000" dirty="0">
              <a:solidFill>
                <a:srgbClr val="007434"/>
              </a:solidFill>
              <a:latin typeface="+mj-lt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19F1889-32DC-40C8-B783-4293F15BADAD}"/>
              </a:ext>
            </a:extLst>
          </p:cNvPr>
          <p:cNvGrpSpPr/>
          <p:nvPr/>
        </p:nvGrpSpPr>
        <p:grpSpPr>
          <a:xfrm>
            <a:off x="5326450" y="965527"/>
            <a:ext cx="6060440" cy="2172970"/>
            <a:chOff x="5545751" y="477110"/>
            <a:chExt cx="6060440" cy="2172970"/>
          </a:xfrm>
        </p:grpSpPr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6FEE7F51-710C-4667-B2AC-5FEA609C49A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45751" y="477110"/>
              <a:ext cx="6060440" cy="2172970"/>
            </a:xfrm>
            <a:prstGeom prst="rect">
              <a:avLst/>
            </a:prstGeom>
          </p:spPr>
        </p:pic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D49312B3-3128-4E3D-9705-F232F72F4267}"/>
                </a:ext>
              </a:extLst>
            </p:cNvPr>
            <p:cNvGrpSpPr/>
            <p:nvPr/>
          </p:nvGrpSpPr>
          <p:grpSpPr>
            <a:xfrm>
              <a:off x="5686376" y="1563595"/>
              <a:ext cx="1475739" cy="333375"/>
              <a:chOff x="0" y="0"/>
              <a:chExt cx="1476374" cy="333375"/>
            </a:xfrm>
          </p:grpSpPr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38885ECF-A924-4BDE-85BC-BDBD1EE1D4CA}"/>
                  </a:ext>
                </a:extLst>
              </p:cNvPr>
              <p:cNvSpPr/>
              <p:nvPr/>
            </p:nvSpPr>
            <p:spPr>
              <a:xfrm>
                <a:off x="0" y="0"/>
                <a:ext cx="800100" cy="333375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PH"/>
              </a:p>
            </p:txBody>
          </p:sp>
          <p:cxnSp>
            <p:nvCxnSpPr>
              <p:cNvPr id="42" name="Straight Arrow Connector 41">
                <a:extLst>
                  <a:ext uri="{FF2B5EF4-FFF2-40B4-BE49-F238E27FC236}">
                    <a16:creationId xmlns:a16="http://schemas.microsoft.com/office/drawing/2014/main" id="{5D72784F-9BE1-4DA7-B157-DD1CC06971A6}"/>
                  </a:ext>
                </a:extLst>
              </p:cNvPr>
              <p:cNvCxnSpPr/>
              <p:nvPr/>
            </p:nvCxnSpPr>
            <p:spPr>
              <a:xfrm>
                <a:off x="800100" y="133350"/>
                <a:ext cx="200025" cy="952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3" name="Text Box 695">
                <a:extLst>
                  <a:ext uri="{FF2B5EF4-FFF2-40B4-BE49-F238E27FC236}">
                    <a16:creationId xmlns:a16="http://schemas.microsoft.com/office/drawing/2014/main" id="{84B478FB-3C1F-4C31-9EFC-D81DD8E83653}"/>
                  </a:ext>
                </a:extLst>
              </p:cNvPr>
              <p:cNvSpPr txBox="1"/>
              <p:nvPr/>
            </p:nvSpPr>
            <p:spPr>
              <a:xfrm>
                <a:off x="1009649" y="28575"/>
                <a:ext cx="466725" cy="247650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prstClr val="black"/>
                </a:solidFill>
              </a:ln>
              <a:effectLst/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110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1.1.</a:t>
                </a:r>
                <a:endParaRPr lang="en-PH" sz="110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7DA363DD-F3A6-4338-90D2-0E939DCC4D57}"/>
              </a:ext>
            </a:extLst>
          </p:cNvPr>
          <p:cNvGrpSpPr/>
          <p:nvPr/>
        </p:nvGrpSpPr>
        <p:grpSpPr>
          <a:xfrm>
            <a:off x="4634004" y="3765140"/>
            <a:ext cx="6710928" cy="2252447"/>
            <a:chOff x="4853305" y="3765140"/>
            <a:chExt cx="6710928" cy="2252447"/>
          </a:xfrm>
        </p:grpSpPr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C07403E6-A0B1-4661-A9EC-8965F237FCF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74888" y="3765140"/>
              <a:ext cx="6189345" cy="2061210"/>
            </a:xfrm>
            <a:prstGeom prst="rect">
              <a:avLst/>
            </a:prstGeom>
          </p:spPr>
        </p:pic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112EE80B-5446-4F5C-83E0-203A1C7A7A31}"/>
                </a:ext>
              </a:extLst>
            </p:cNvPr>
            <p:cNvGrpSpPr/>
            <p:nvPr/>
          </p:nvGrpSpPr>
          <p:grpSpPr>
            <a:xfrm>
              <a:off x="4853305" y="4253557"/>
              <a:ext cx="5040097" cy="1764030"/>
              <a:chOff x="4853305" y="4253557"/>
              <a:chExt cx="5040097" cy="1764030"/>
            </a:xfrm>
          </p:grpSpPr>
          <p:grpSp>
            <p:nvGrpSpPr>
              <p:cNvPr id="45" name="Group 44">
                <a:extLst>
                  <a:ext uri="{FF2B5EF4-FFF2-40B4-BE49-F238E27FC236}">
                    <a16:creationId xmlns:a16="http://schemas.microsoft.com/office/drawing/2014/main" id="{EA559703-49CE-409F-B004-4966233F739E}"/>
                  </a:ext>
                </a:extLst>
              </p:cNvPr>
              <p:cNvGrpSpPr/>
              <p:nvPr/>
            </p:nvGrpSpPr>
            <p:grpSpPr>
              <a:xfrm>
                <a:off x="6597015" y="4745682"/>
                <a:ext cx="952500" cy="304800"/>
                <a:chOff x="523874" y="28575"/>
                <a:chExt cx="952500" cy="304800"/>
              </a:xfrm>
            </p:grpSpPr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D9884809-583B-4678-B89B-19198BFD4201}"/>
                    </a:ext>
                  </a:extLst>
                </p:cNvPr>
                <p:cNvSpPr/>
                <p:nvPr/>
              </p:nvSpPr>
              <p:spPr>
                <a:xfrm>
                  <a:off x="523874" y="28575"/>
                  <a:ext cx="275881" cy="304800"/>
                </a:xfrm>
                <a:prstGeom prst="rect">
                  <a:avLst/>
                </a:prstGeom>
                <a:noFill/>
                <a:ln w="1905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PH"/>
                </a:p>
              </p:txBody>
            </p:sp>
            <p:cxnSp>
              <p:nvCxnSpPr>
                <p:cNvPr id="55" name="Straight Arrow Connector 54">
                  <a:extLst>
                    <a:ext uri="{FF2B5EF4-FFF2-40B4-BE49-F238E27FC236}">
                      <a16:creationId xmlns:a16="http://schemas.microsoft.com/office/drawing/2014/main" id="{8C9131E8-0EBD-4538-A893-C3CA8E1AD200}"/>
                    </a:ext>
                  </a:extLst>
                </p:cNvPr>
                <p:cNvCxnSpPr/>
                <p:nvPr/>
              </p:nvCxnSpPr>
              <p:spPr>
                <a:xfrm>
                  <a:off x="800100" y="133350"/>
                  <a:ext cx="200025" cy="9525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56" name="Text Box 296">
                  <a:extLst>
                    <a:ext uri="{FF2B5EF4-FFF2-40B4-BE49-F238E27FC236}">
                      <a16:creationId xmlns:a16="http://schemas.microsoft.com/office/drawing/2014/main" id="{15644539-84C8-43A3-80CA-13ADE6F9DBD1}"/>
                    </a:ext>
                  </a:extLst>
                </p:cNvPr>
                <p:cNvSpPr txBox="1"/>
                <p:nvPr/>
              </p:nvSpPr>
              <p:spPr>
                <a:xfrm>
                  <a:off x="1009649" y="28575"/>
                  <a:ext cx="466725" cy="247650"/>
                </a:xfrm>
                <a:prstGeom prst="rect">
                  <a:avLst/>
                </a:prstGeom>
                <a:solidFill>
                  <a:srgbClr val="FFFF00"/>
                </a:solidFill>
                <a:ln w="6350">
                  <a:solidFill>
                    <a:prstClr val="black"/>
                  </a:solidFill>
                </a:ln>
                <a:effectLst/>
              </p:spPr>
              <p:style>
                <a:lnRef idx="0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107000"/>
                    </a:lnSpc>
                    <a:spcAft>
                      <a:spcPts val="800"/>
                    </a:spcAft>
                  </a:pPr>
                  <a:r>
                    <a:rPr lang="en-US" sz="1100">
                      <a:effectLst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1.2.</a:t>
                  </a:r>
                  <a:endParaRPr lang="en-PH" sz="110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46" name="Group 45">
                <a:extLst>
                  <a:ext uri="{FF2B5EF4-FFF2-40B4-BE49-F238E27FC236}">
                    <a16:creationId xmlns:a16="http://schemas.microsoft.com/office/drawing/2014/main" id="{55A08B16-943A-4598-A243-B621F883BEC1}"/>
                  </a:ext>
                </a:extLst>
              </p:cNvPr>
              <p:cNvGrpSpPr/>
              <p:nvPr/>
            </p:nvGrpSpPr>
            <p:grpSpPr>
              <a:xfrm>
                <a:off x="6800850" y="4333567"/>
                <a:ext cx="1087756" cy="304800"/>
                <a:chOff x="333374" y="28575"/>
                <a:chExt cx="981076" cy="304800"/>
              </a:xfrm>
            </p:grpSpPr>
            <p:sp>
              <p:nvSpPr>
                <p:cNvPr id="51" name="Rectangle 50">
                  <a:extLst>
                    <a:ext uri="{FF2B5EF4-FFF2-40B4-BE49-F238E27FC236}">
                      <a16:creationId xmlns:a16="http://schemas.microsoft.com/office/drawing/2014/main" id="{29CD9157-855E-48AA-A0BF-72BE3E9E24DB}"/>
                    </a:ext>
                  </a:extLst>
                </p:cNvPr>
                <p:cNvSpPr/>
                <p:nvPr/>
              </p:nvSpPr>
              <p:spPr>
                <a:xfrm>
                  <a:off x="333374" y="28575"/>
                  <a:ext cx="466381" cy="304800"/>
                </a:xfrm>
                <a:prstGeom prst="rect">
                  <a:avLst/>
                </a:prstGeom>
                <a:noFill/>
                <a:ln w="1905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PH"/>
                </a:p>
              </p:txBody>
            </p:sp>
            <p:cxnSp>
              <p:nvCxnSpPr>
                <p:cNvPr id="52" name="Straight Arrow Connector 51">
                  <a:extLst>
                    <a:ext uri="{FF2B5EF4-FFF2-40B4-BE49-F238E27FC236}">
                      <a16:creationId xmlns:a16="http://schemas.microsoft.com/office/drawing/2014/main" id="{94A67DE8-E905-4303-812E-BA0FE00532D8}"/>
                    </a:ext>
                  </a:extLst>
                </p:cNvPr>
                <p:cNvCxnSpPr/>
                <p:nvPr/>
              </p:nvCxnSpPr>
              <p:spPr>
                <a:xfrm>
                  <a:off x="800100" y="133350"/>
                  <a:ext cx="200025" cy="9525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53" name="Text Box 700">
                  <a:extLst>
                    <a:ext uri="{FF2B5EF4-FFF2-40B4-BE49-F238E27FC236}">
                      <a16:creationId xmlns:a16="http://schemas.microsoft.com/office/drawing/2014/main" id="{1DBDBB6E-0F12-4081-9E8F-CC2C2ECA0FB1}"/>
                    </a:ext>
                  </a:extLst>
                </p:cNvPr>
                <p:cNvSpPr txBox="1"/>
                <p:nvPr/>
              </p:nvSpPr>
              <p:spPr>
                <a:xfrm>
                  <a:off x="1009650" y="28575"/>
                  <a:ext cx="304800" cy="247650"/>
                </a:xfrm>
                <a:prstGeom prst="rect">
                  <a:avLst/>
                </a:prstGeom>
                <a:solidFill>
                  <a:srgbClr val="FFFF00"/>
                </a:solidFill>
                <a:ln w="6350">
                  <a:solidFill>
                    <a:prstClr val="black"/>
                  </a:solidFill>
                </a:ln>
                <a:effectLst/>
              </p:spPr>
              <p:style>
                <a:lnRef idx="0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107000"/>
                    </a:lnSpc>
                    <a:spcAft>
                      <a:spcPts val="800"/>
                    </a:spcAft>
                  </a:pPr>
                  <a:r>
                    <a:rPr lang="en-US" sz="1100">
                      <a:effectLst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2.</a:t>
                  </a:r>
                  <a:endParaRPr lang="en-PH" sz="110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47" name="Group 46">
                <a:extLst>
                  <a:ext uri="{FF2B5EF4-FFF2-40B4-BE49-F238E27FC236}">
                    <a16:creationId xmlns:a16="http://schemas.microsoft.com/office/drawing/2014/main" id="{7A798C7D-14A1-4948-B5DF-4BEECFA1155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538595" y="5138112"/>
                <a:ext cx="3354807" cy="879475"/>
                <a:chOff x="6116" y="177"/>
                <a:chExt cx="3625" cy="1385"/>
              </a:xfrm>
            </p:grpSpPr>
            <p:pic>
              <p:nvPicPr>
                <p:cNvPr id="49" name="Picture 48">
                  <a:extLst>
                    <a:ext uri="{FF2B5EF4-FFF2-40B4-BE49-F238E27FC236}">
                      <a16:creationId xmlns:a16="http://schemas.microsoft.com/office/drawing/2014/main" id="{27A6A40A-ACCE-493F-9202-C912220C2BB3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116" y="177"/>
                  <a:ext cx="3625" cy="138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50" name="Text Box 241">
                  <a:extLst>
                    <a:ext uri="{FF2B5EF4-FFF2-40B4-BE49-F238E27FC236}">
                      <a16:creationId xmlns:a16="http://schemas.microsoft.com/office/drawing/2014/main" id="{D299B517-A43F-4324-8050-C5A7519E007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116" y="177"/>
                  <a:ext cx="3625" cy="1385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rot="0" vert="horz" wrap="square" lIns="0" tIns="0" rIns="0" bIns="0" anchor="t" anchorCtr="0" upright="1">
                  <a:noAutofit/>
                </a:bodyPr>
                <a:lstStyle/>
                <a:p>
                  <a:pPr marL="101600">
                    <a:lnSpc>
                      <a:spcPct val="107000"/>
                    </a:lnSpc>
                    <a:spcBef>
                      <a:spcPts val="440"/>
                    </a:spcBef>
                    <a:spcAft>
                      <a:spcPts val="800"/>
                    </a:spcAft>
                  </a:pPr>
                  <a:r>
                    <a:rPr lang="en-PH" sz="1000" i="1" dirty="0">
                      <a:solidFill>
                        <a:srgbClr val="4F6128"/>
                      </a:solidFill>
                      <a:effectLst/>
                      <a:latin typeface="Calibri" panose="020F0502020204030204" pitchFamily="34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How to search SO transaction?</a:t>
                  </a:r>
                  <a:endParaRPr lang="en-PH" sz="11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endParaRPr>
                </a:p>
                <a:p>
                  <a:pPr marL="800100" lvl="1" indent="-342900">
                    <a:buSzPts val="800"/>
                    <a:buFont typeface="+mj-lt"/>
                    <a:buAutoNum type="arabicPeriod"/>
                    <a:tabLst>
                      <a:tab pos="227330" algn="l"/>
                    </a:tabLst>
                  </a:pPr>
                  <a:r>
                    <a:rPr lang="en-US" sz="800" dirty="0">
                      <a:effectLst/>
                      <a:latin typeface="Calibri" panose="020F0502020204030204" pitchFamily="34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Type the transaction number in the search bar.</a:t>
                  </a:r>
                  <a:endParaRPr lang="en-PH" sz="11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endParaRPr>
                </a:p>
                <a:p>
                  <a:pPr marL="800100" lvl="1" indent="-342900">
                    <a:spcBef>
                      <a:spcPts val="5"/>
                    </a:spcBef>
                    <a:spcAft>
                      <a:spcPts val="1000"/>
                    </a:spcAft>
                    <a:buSzPts val="800"/>
                    <a:buFont typeface="+mj-lt"/>
                    <a:buAutoNum type="arabicPeriod"/>
                    <a:tabLst>
                      <a:tab pos="203200" algn="l"/>
                    </a:tabLst>
                  </a:pPr>
                  <a:r>
                    <a:rPr lang="en-US" sz="800" dirty="0">
                      <a:effectLst/>
                      <a:latin typeface="Calibri" panose="020F0502020204030204" pitchFamily="34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Click ‘enter’ in the keyboard to</a:t>
                  </a:r>
                  <a:r>
                    <a:rPr lang="en-US" sz="800" spc="-40" dirty="0">
                      <a:effectLst/>
                      <a:latin typeface="Calibri" panose="020F0502020204030204" pitchFamily="34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sz="800" dirty="0">
                      <a:effectLst/>
                      <a:latin typeface="Calibri" panose="020F0502020204030204" pitchFamily="34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search.</a:t>
                  </a:r>
                </a:p>
                <a:p>
                  <a:pPr marL="800100" lvl="1" indent="-342900">
                    <a:spcBef>
                      <a:spcPts val="5"/>
                    </a:spcBef>
                    <a:spcAft>
                      <a:spcPts val="1000"/>
                    </a:spcAft>
                    <a:buSzPts val="800"/>
                    <a:buFont typeface="+mj-lt"/>
                    <a:buAutoNum type="arabicPeriod"/>
                    <a:tabLst>
                      <a:tab pos="203200" algn="l"/>
                    </a:tabLst>
                  </a:pPr>
                  <a:r>
                    <a:rPr lang="en-PH" sz="800" dirty="0">
                      <a:effectLst/>
                      <a:latin typeface="Calibri" panose="020F0502020204030204" pitchFamily="34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Click to select the transaction you want to delete</a:t>
                  </a:r>
                  <a:endParaRPr lang="en-PH" sz="11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48" name="Text Box 696">
                <a:extLst>
                  <a:ext uri="{FF2B5EF4-FFF2-40B4-BE49-F238E27FC236}">
                    <a16:creationId xmlns:a16="http://schemas.microsoft.com/office/drawing/2014/main" id="{AC69B724-FE4D-45FC-B2E8-24FC00C582C9}"/>
                  </a:ext>
                </a:extLst>
              </p:cNvPr>
              <p:cNvSpPr txBox="1"/>
              <p:nvPr/>
            </p:nvSpPr>
            <p:spPr>
              <a:xfrm>
                <a:off x="4853305" y="4253557"/>
                <a:ext cx="1306195" cy="273050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prstClr val="black"/>
                </a:solidFill>
              </a:ln>
              <a:effectLst/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11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HEADER</a:t>
                </a:r>
                <a:endParaRPr lang="en-PH" sz="11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6B8F1C-B7D5-70C4-F324-28BABDF97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6086AB-602C-49A8-AF1B-7C398AACFC06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Animosa Extra Bold" panose="000009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863D"/>
              </a:solidFill>
              <a:effectLst/>
              <a:uLnTx/>
              <a:uFillTx/>
              <a:latin typeface="Animosa Extra Bold" panose="00000900000000000000" pitchFamily="50" charset="0"/>
              <a:ea typeface="+mn-ea"/>
              <a:cs typeface="+mn-cs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28581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Box 6">
            <a:extLst>
              <a:ext uri="{FF2B5EF4-FFF2-40B4-BE49-F238E27FC236}">
                <a16:creationId xmlns:a16="http://schemas.microsoft.com/office/drawing/2014/main" id="{54861942-378E-F979-6642-00E02D67C1A4}"/>
              </a:ext>
            </a:extLst>
          </p:cNvPr>
          <p:cNvSpPr txBox="1"/>
          <p:nvPr/>
        </p:nvSpPr>
        <p:spPr>
          <a:xfrm>
            <a:off x="0" y="-11307"/>
            <a:ext cx="5106907" cy="653359"/>
          </a:xfrm>
          <a:prstGeom prst="rect">
            <a:avLst/>
          </a:prstGeom>
          <a:solidFill>
            <a:srgbClr val="00863D"/>
          </a:solidFill>
          <a:ln w="6350">
            <a:noFill/>
          </a:ln>
          <a:effectLst>
            <a:outerShdw blurRad="50800" dist="38100" dir="2700000" sx="73000" sy="73000" algn="tl" rotWithShape="0">
              <a:prstClr val="black">
                <a:alpha val="5000"/>
              </a:prstClr>
            </a:outerShdw>
          </a:effectLst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400" dirty="0">
              <a:solidFill>
                <a:srgbClr val="007434"/>
              </a:solidFill>
              <a:effectLst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CB5C160F-C04C-EA95-C39F-2B967C6BCB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0479" y="6391410"/>
            <a:ext cx="1047454" cy="267619"/>
          </a:xfrm>
          <a:prstGeom prst="rect">
            <a:avLst/>
          </a:prstGeom>
          <a:effectLst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BE13CC3-0EBB-4997-FCE7-B09A824D1CEB}"/>
              </a:ext>
            </a:extLst>
          </p:cNvPr>
          <p:cNvSpPr txBox="1"/>
          <p:nvPr/>
        </p:nvSpPr>
        <p:spPr>
          <a:xfrm>
            <a:off x="805110" y="1053547"/>
            <a:ext cx="3852819" cy="337392"/>
          </a:xfrm>
          <a:prstGeom prst="rect">
            <a:avLst/>
          </a:prstGeom>
          <a:solidFill>
            <a:srgbClr val="00B050"/>
          </a:solidFill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+mj-lt"/>
              </a:rPr>
              <a:t>Other Information</a:t>
            </a:r>
            <a:endParaRPr lang="en-US" sz="2000" dirty="0">
              <a:solidFill>
                <a:srgbClr val="007434"/>
              </a:solidFill>
              <a:latin typeface="+mj-lt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7777D04-D73F-74AB-C30B-7D3C9397264F}"/>
              </a:ext>
            </a:extLst>
          </p:cNvPr>
          <p:cNvSpPr txBox="1"/>
          <p:nvPr/>
        </p:nvSpPr>
        <p:spPr>
          <a:xfrm>
            <a:off x="805109" y="4516141"/>
            <a:ext cx="3852819" cy="337392"/>
          </a:xfrm>
          <a:prstGeom prst="rect">
            <a:avLst/>
          </a:prstGeom>
          <a:solidFill>
            <a:srgbClr val="00B050"/>
          </a:solidFill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+mj-lt"/>
              </a:rPr>
              <a:t>Other Buttons</a:t>
            </a:r>
            <a:endParaRPr lang="en-US" sz="2000" dirty="0">
              <a:solidFill>
                <a:srgbClr val="007434"/>
              </a:solidFill>
              <a:latin typeface="+mj-lt"/>
            </a:endParaRPr>
          </a:p>
        </p:txBody>
      </p:sp>
      <p:sp>
        <p:nvSpPr>
          <p:cNvPr id="8" name="Text Box 102">
            <a:extLst>
              <a:ext uri="{FF2B5EF4-FFF2-40B4-BE49-F238E27FC236}">
                <a16:creationId xmlns:a16="http://schemas.microsoft.com/office/drawing/2014/main" id="{9C27B11D-33B2-DB7D-A894-E01425B3F550}"/>
              </a:ext>
            </a:extLst>
          </p:cNvPr>
          <p:cNvSpPr txBox="1"/>
          <p:nvPr/>
        </p:nvSpPr>
        <p:spPr>
          <a:xfrm>
            <a:off x="805109" y="1589414"/>
            <a:ext cx="3852820" cy="2121974"/>
          </a:xfrm>
          <a:prstGeom prst="rect">
            <a:avLst/>
          </a:prstGeom>
          <a:noFill/>
          <a:ln w="6350">
            <a:solidFill>
              <a:srgbClr val="E7E6E6">
                <a:lumMod val="90000"/>
              </a:srgbClr>
            </a:solidFill>
          </a:ln>
          <a:effectLst/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227330">
              <a:lnSpc>
                <a:spcPct val="107000"/>
              </a:lnSpc>
              <a:spcBef>
                <a:spcPts val="190"/>
              </a:spcBef>
              <a:spcAft>
                <a:spcPts val="800"/>
              </a:spcAft>
            </a:pPr>
            <a:r>
              <a:rPr lang="en-PH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When you click the arrow up icon parallel in the main form on the upper right, and the sales order – main form will be minimize and the other information will be displayed as shown in the photo.</a:t>
            </a:r>
          </a:p>
          <a:p>
            <a:pPr marL="0" marR="227330">
              <a:lnSpc>
                <a:spcPct val="107000"/>
              </a:lnSpc>
              <a:spcBef>
                <a:spcPts val="190"/>
              </a:spcBef>
              <a:spcAft>
                <a:spcPts val="800"/>
              </a:spcAft>
            </a:pPr>
            <a:r>
              <a:rPr lang="en-US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Click the arrow parallel to the tab you want to open and the information copied from quotation module will be displayed. </a:t>
            </a:r>
          </a:p>
          <a:p>
            <a:pPr marL="0" marR="227330">
              <a:lnSpc>
                <a:spcPct val="107000"/>
              </a:lnSpc>
              <a:spcBef>
                <a:spcPts val="190"/>
              </a:spcBef>
              <a:spcAft>
                <a:spcPts val="800"/>
              </a:spcAft>
            </a:pPr>
            <a:endParaRPr lang="en-US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227330">
              <a:lnSpc>
                <a:spcPct val="107000"/>
              </a:lnSpc>
              <a:spcBef>
                <a:spcPts val="190"/>
              </a:spcBef>
              <a:spcAft>
                <a:spcPts val="800"/>
              </a:spcAft>
            </a:pP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1711DE3-B030-47E6-83E2-D6955C8067B4}"/>
              </a:ext>
            </a:extLst>
          </p:cNvPr>
          <p:cNvSpPr txBox="1"/>
          <p:nvPr/>
        </p:nvSpPr>
        <p:spPr>
          <a:xfrm>
            <a:off x="585809" y="123167"/>
            <a:ext cx="4824617" cy="707886"/>
          </a:xfrm>
          <a:prstGeom prst="rect">
            <a:avLst/>
          </a:prstGeom>
          <a:noFill/>
          <a:effectLst>
            <a:glow rad="228600">
              <a:schemeClr val="accent6">
                <a:lumMod val="20000"/>
                <a:lumOff val="80000"/>
                <a:alpha val="40000"/>
              </a:schemeClr>
            </a:glow>
            <a:outerShdw blurRad="50800" dist="38100" dir="2700000" algn="tl" rotWithShape="0">
              <a:srgbClr val="00863D">
                <a:alpha val="10000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20000"/>
                    <a:lumOff val="80000"/>
                  </a:schemeClr>
                </a:solidFill>
                <a:latin typeface="+mj-lt"/>
              </a:rPr>
              <a:t>Sales/ Sales Order</a:t>
            </a:r>
            <a:r>
              <a:rPr lang="en-US" sz="1900" dirty="0">
                <a:solidFill>
                  <a:schemeClr val="accent6">
                    <a:lumMod val="20000"/>
                    <a:lumOff val="80000"/>
                  </a:schemeClr>
                </a:solidFill>
                <a:latin typeface="+mj-lt"/>
              </a:rPr>
              <a:t>- Module</a:t>
            </a:r>
          </a:p>
          <a:p>
            <a:endParaRPr lang="en-US" sz="2000" dirty="0">
              <a:solidFill>
                <a:srgbClr val="007434"/>
              </a:solidFill>
              <a:latin typeface="+mj-lt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AB14BB8-BD3C-4D3E-8581-518CC9A2F1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6907" y="2851469"/>
            <a:ext cx="6412448" cy="3315965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59CB602-EEFF-E9A4-DE53-E17734D39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6086AB-602C-49A8-AF1B-7C398AACFC06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Animosa Extra Bold" panose="000009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863D"/>
              </a:solidFill>
              <a:effectLst/>
              <a:uLnTx/>
              <a:uFillTx/>
              <a:latin typeface="Animosa Extra Bold" panose="00000900000000000000" pitchFamily="50" charset="0"/>
              <a:ea typeface="+mn-ea"/>
              <a:cs typeface="+mn-cs"/>
            </a:endParaRPr>
          </a:p>
          <a:p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528111A-E747-F54C-4F03-609F5A9A5A7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114861" y="857341"/>
            <a:ext cx="6189345" cy="1882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702226284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437</Words>
  <Application>Microsoft Office PowerPoint</Application>
  <PresentationFormat>Widescreen</PresentationFormat>
  <Paragraphs>63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Animosa Extra Bold</vt:lpstr>
      <vt:lpstr>Arial</vt:lpstr>
      <vt:lpstr>Bodoni MT Condensed</vt:lpstr>
      <vt:lpstr>Calibri</vt:lpstr>
      <vt:lpstr>Calibri Light</vt:lpstr>
      <vt:lpstr>Chivo Light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Janine Calawod</dc:creator>
  <cp:lastModifiedBy>Janine Calawod</cp:lastModifiedBy>
  <cp:revision>3</cp:revision>
  <dcterms:created xsi:type="dcterms:W3CDTF">2023-01-10T05:44:13Z</dcterms:created>
  <dcterms:modified xsi:type="dcterms:W3CDTF">2023-01-10T05:45:28Z</dcterms:modified>
</cp:coreProperties>
</file>