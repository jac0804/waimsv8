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9" r:id="rId2"/>
    <p:sldId id="263" r:id="rId3"/>
    <p:sldId id="291" r:id="rId4"/>
    <p:sldId id="319" r:id="rId5"/>
    <p:sldId id="320" r:id="rId6"/>
    <p:sldId id="321" r:id="rId7"/>
    <p:sldId id="322" r:id="rId8"/>
    <p:sldId id="274" r:id="rId9"/>
    <p:sldId id="323" r:id="rId10"/>
    <p:sldId id="276" r:id="rId11"/>
    <p:sldId id="296" r:id="rId12"/>
    <p:sldId id="35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6D21C5-09B8-42BA-947F-64983615CA6D}" type="datetimeFigureOut">
              <a:rPr lang="en-PH" smtClean="0"/>
              <a:t>01/10/2023</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A40B5-3842-45EE-B5BF-196887ECF5CC}" type="slidenum">
              <a:rPr lang="en-PH" smtClean="0"/>
              <a:t>‹#›</a:t>
            </a:fld>
            <a:endParaRPr lang="en-PH"/>
          </a:p>
        </p:txBody>
      </p:sp>
    </p:spTree>
    <p:extLst>
      <p:ext uri="{BB962C8B-B14F-4D97-AF65-F5344CB8AC3E}">
        <p14:creationId xmlns:p14="http://schemas.microsoft.com/office/powerpoint/2010/main" val="3291605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7C2F21F4-0DD8-4E57-96CC-71F82AA39ADC}" type="slidenum">
              <a:rPr lang="en-US" smtClean="0"/>
              <a:t>8</a:t>
            </a:fld>
            <a:endParaRPr lang="en-US"/>
          </a:p>
        </p:txBody>
      </p:sp>
    </p:spTree>
    <p:extLst>
      <p:ext uri="{BB962C8B-B14F-4D97-AF65-F5344CB8AC3E}">
        <p14:creationId xmlns:p14="http://schemas.microsoft.com/office/powerpoint/2010/main" val="57340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56961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3544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1835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6677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32157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089444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08562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74455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59094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087921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4724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677798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Accounts Payable Voucher</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US" sz="14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400" dirty="0">
                <a:solidFill>
                  <a:schemeClr val="bg1"/>
                </a:solidFill>
                <a:ea typeface="Open Sans" panose="020B0606030504020204" pitchFamily="34" charset="0"/>
                <a:cs typeface="Times New Roman" panose="02020603050405020304" pitchFamily="18" charset="0"/>
              </a:rPr>
              <a:t>It is a module where we prepare the request for payment for expenses and payables.</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3357699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Accounts Payable Voucher module under Payables, Accounts Payable Voucher transactions list will display based on filtered date and status in the main window.</a:t>
            </a:r>
          </a:p>
          <a:p>
            <a:pPr marL="0" lvl="2">
              <a:lnSpc>
                <a:spcPct val="107000"/>
              </a:lnSpc>
            </a:pPr>
            <a:r>
              <a:rPr lang="en-PH" sz="1000" dirty="0">
                <a:effectLst/>
                <a:latin typeface="Chivo Light" panose="020B0303030202020804" pitchFamily="34" charset="0"/>
                <a:ea typeface="Times New Roman" panose="02020603050405020304" pitchFamily="18"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305287" y="4396081"/>
            <a:ext cx="3001688"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Accounts Payable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085BA87F-CBFA-CE33-42AB-748FAFC1E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888" y="2375033"/>
            <a:ext cx="5984240" cy="1986280"/>
          </a:xfrm>
          <a:prstGeom prst="rect">
            <a:avLst/>
          </a:prstGeom>
        </p:spPr>
      </p:pic>
      <p:grpSp>
        <p:nvGrpSpPr>
          <p:cNvPr id="15" name="Group 14">
            <a:extLst>
              <a:ext uri="{FF2B5EF4-FFF2-40B4-BE49-F238E27FC236}">
                <a16:creationId xmlns:a16="http://schemas.microsoft.com/office/drawing/2014/main" id="{CE038DD6-E152-4338-57D5-842C4053E529}"/>
              </a:ext>
            </a:extLst>
          </p:cNvPr>
          <p:cNvGrpSpPr/>
          <p:nvPr/>
        </p:nvGrpSpPr>
        <p:grpSpPr>
          <a:xfrm>
            <a:off x="5297068" y="2657847"/>
            <a:ext cx="5907580" cy="1720850"/>
            <a:chOff x="3132455" y="2346263"/>
            <a:chExt cx="5907580" cy="1720850"/>
          </a:xfrm>
        </p:grpSpPr>
        <p:sp>
          <p:nvSpPr>
            <p:cNvPr id="12" name="Rectangle 11">
              <a:extLst>
                <a:ext uri="{FF2B5EF4-FFF2-40B4-BE49-F238E27FC236}">
                  <a16:creationId xmlns:a16="http://schemas.microsoft.com/office/drawing/2014/main" id="{C66F5CC0-D02D-EB4F-90D6-849AAD2C3FC2}"/>
                </a:ext>
              </a:extLst>
            </p:cNvPr>
            <p:cNvSpPr/>
            <p:nvPr/>
          </p:nvSpPr>
          <p:spPr>
            <a:xfrm>
              <a:off x="3132455" y="3696970"/>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F4223140-6AAA-1A5F-CA64-59757C0F1441}"/>
                </a:ext>
              </a:extLst>
            </p:cNvPr>
            <p:cNvSpPr/>
            <p:nvPr/>
          </p:nvSpPr>
          <p:spPr>
            <a:xfrm>
              <a:off x="4134660" y="2346263"/>
              <a:ext cx="4905375" cy="17208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F05DEF8F-66E1-71DC-AB6A-202A8768B3DA}"/>
                </a:ext>
              </a:extLst>
            </p:cNvPr>
            <p:cNvCxnSpPr/>
            <p:nvPr/>
          </p:nvCxnSpPr>
          <p:spPr>
            <a:xfrm flipV="1">
              <a:off x="3975735" y="3801745"/>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2" name="Slide Number Placeholder 9">
            <a:extLst>
              <a:ext uri="{FF2B5EF4-FFF2-40B4-BE49-F238E27FC236}">
                <a16:creationId xmlns:a16="http://schemas.microsoft.com/office/drawing/2014/main" id="{5F96E4AE-0F17-4B13-DD8D-4AAF86D3706E}"/>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357125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219844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Accounts Payable – Main Window, you will notice a create button in the upper left of the window. Click the create button and you will be redirect in accounts payable voucher – main form.</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100" b="1"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endParaRPr lang="en-US" sz="1200" dirty="0">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 in accounts payable voucher – main form where you will encode the other necessary information of the transaction and record the APV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6" name="Group 5">
            <a:extLst>
              <a:ext uri="{FF2B5EF4-FFF2-40B4-BE49-F238E27FC236}">
                <a16:creationId xmlns:a16="http://schemas.microsoft.com/office/drawing/2014/main" id="{18221CEE-28D8-3EF3-2881-C401B0A1C594}"/>
              </a:ext>
            </a:extLst>
          </p:cNvPr>
          <p:cNvGrpSpPr/>
          <p:nvPr/>
        </p:nvGrpSpPr>
        <p:grpSpPr>
          <a:xfrm>
            <a:off x="5383327" y="1168109"/>
            <a:ext cx="1209675" cy="276225"/>
            <a:chOff x="0" y="0"/>
            <a:chExt cx="1209675" cy="276225"/>
          </a:xfrm>
        </p:grpSpPr>
        <p:sp>
          <p:nvSpPr>
            <p:cNvPr id="8" name="Rectangle 7">
              <a:extLst>
                <a:ext uri="{FF2B5EF4-FFF2-40B4-BE49-F238E27FC236}">
                  <a16:creationId xmlns:a16="http://schemas.microsoft.com/office/drawing/2014/main" id="{BC585A1C-BABD-3A85-A2DC-ACC438C97660}"/>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Arrow Connector 8">
              <a:extLst>
                <a:ext uri="{FF2B5EF4-FFF2-40B4-BE49-F238E27FC236}">
                  <a16:creationId xmlns:a16="http://schemas.microsoft.com/office/drawing/2014/main" id="{480FBA0F-9787-8393-DB8B-4D282C034817}"/>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22">
              <a:extLst>
                <a:ext uri="{FF2B5EF4-FFF2-40B4-BE49-F238E27FC236}">
                  <a16:creationId xmlns:a16="http://schemas.microsoft.com/office/drawing/2014/main" id="{85A980D4-96DC-C3B0-F741-38BD96E4300F}"/>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pic>
        <p:nvPicPr>
          <p:cNvPr id="7" name="Picture 6">
            <a:extLst>
              <a:ext uri="{FF2B5EF4-FFF2-40B4-BE49-F238E27FC236}">
                <a16:creationId xmlns:a16="http://schemas.microsoft.com/office/drawing/2014/main" id="{8FBE7982-FD95-08F1-1CA6-BAB106C2D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1572" y="929984"/>
            <a:ext cx="6189345" cy="1119505"/>
          </a:xfrm>
          <a:prstGeom prst="rect">
            <a:avLst/>
          </a:prstGeom>
        </p:spPr>
      </p:pic>
      <p:grpSp>
        <p:nvGrpSpPr>
          <p:cNvPr id="11" name="Group 10">
            <a:extLst>
              <a:ext uri="{FF2B5EF4-FFF2-40B4-BE49-F238E27FC236}">
                <a16:creationId xmlns:a16="http://schemas.microsoft.com/office/drawing/2014/main" id="{366A7DD5-DCFC-0562-0FF0-4049CA541947}"/>
              </a:ext>
            </a:extLst>
          </p:cNvPr>
          <p:cNvGrpSpPr/>
          <p:nvPr/>
        </p:nvGrpSpPr>
        <p:grpSpPr>
          <a:xfrm>
            <a:off x="5310344" y="1163346"/>
            <a:ext cx="1209675" cy="276225"/>
            <a:chOff x="0" y="0"/>
            <a:chExt cx="1209675" cy="276225"/>
          </a:xfrm>
        </p:grpSpPr>
        <p:sp>
          <p:nvSpPr>
            <p:cNvPr id="13" name="Rectangle 12">
              <a:extLst>
                <a:ext uri="{FF2B5EF4-FFF2-40B4-BE49-F238E27FC236}">
                  <a16:creationId xmlns:a16="http://schemas.microsoft.com/office/drawing/2014/main" id="{B039F332-3B14-2DBB-5EA4-DC284BE539ED}"/>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E52F5DB5-7733-46AA-8B52-71C597C47EC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22">
              <a:extLst>
                <a:ext uri="{FF2B5EF4-FFF2-40B4-BE49-F238E27FC236}">
                  <a16:creationId xmlns:a16="http://schemas.microsoft.com/office/drawing/2014/main" id="{7299B9D3-9223-03AB-E1E7-F9FE8E9CC943}"/>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sp>
        <p:nvSpPr>
          <p:cNvPr id="2" name="TextBox 1">
            <a:extLst>
              <a:ext uri="{FF2B5EF4-FFF2-40B4-BE49-F238E27FC236}">
                <a16:creationId xmlns:a16="http://schemas.microsoft.com/office/drawing/2014/main" id="{943E950B-2844-304D-03F5-FE9E66FED4CE}"/>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6D29479D-2309-A583-06A5-CE5EBCC16A2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22" name="Group 21">
            <a:extLst>
              <a:ext uri="{FF2B5EF4-FFF2-40B4-BE49-F238E27FC236}">
                <a16:creationId xmlns:a16="http://schemas.microsoft.com/office/drawing/2014/main" id="{A6E79D1C-7380-D6ED-0266-3533459541A1}"/>
              </a:ext>
            </a:extLst>
          </p:cNvPr>
          <p:cNvGrpSpPr/>
          <p:nvPr/>
        </p:nvGrpSpPr>
        <p:grpSpPr>
          <a:xfrm>
            <a:off x="5374888" y="2813894"/>
            <a:ext cx="5982970" cy="2613025"/>
            <a:chOff x="5374888" y="2813894"/>
            <a:chExt cx="5982970" cy="2613025"/>
          </a:xfrm>
        </p:grpSpPr>
        <p:grpSp>
          <p:nvGrpSpPr>
            <p:cNvPr id="33" name="Group 32">
              <a:extLst>
                <a:ext uri="{FF2B5EF4-FFF2-40B4-BE49-F238E27FC236}">
                  <a16:creationId xmlns:a16="http://schemas.microsoft.com/office/drawing/2014/main" id="{7C9F0766-D299-98CB-9890-AE39E36E22E2}"/>
                </a:ext>
              </a:extLst>
            </p:cNvPr>
            <p:cNvGrpSpPr/>
            <p:nvPr/>
          </p:nvGrpSpPr>
          <p:grpSpPr>
            <a:xfrm>
              <a:off x="5374888" y="2813894"/>
              <a:ext cx="5982970" cy="2613025"/>
              <a:chOff x="88710" y="17624"/>
              <a:chExt cx="6189345" cy="3034485"/>
            </a:xfrm>
          </p:grpSpPr>
          <p:pic>
            <p:nvPicPr>
              <p:cNvPr id="38" name="Picture 37">
                <a:extLst>
                  <a:ext uri="{FF2B5EF4-FFF2-40B4-BE49-F238E27FC236}">
                    <a16:creationId xmlns:a16="http://schemas.microsoft.com/office/drawing/2014/main" id="{BC59B0D9-3137-4B9B-E391-A1AF5EE83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17624"/>
                <a:ext cx="6189345" cy="3034485"/>
              </a:xfrm>
              <a:prstGeom prst="rect">
                <a:avLst/>
              </a:prstGeom>
            </p:spPr>
          </p:pic>
          <p:grpSp>
            <p:nvGrpSpPr>
              <p:cNvPr id="39" name="Group 38">
                <a:extLst>
                  <a:ext uri="{FF2B5EF4-FFF2-40B4-BE49-F238E27FC236}">
                    <a16:creationId xmlns:a16="http://schemas.microsoft.com/office/drawing/2014/main" id="{578F98A8-9367-707A-01EE-ECF9A95935D5}"/>
                  </a:ext>
                </a:extLst>
              </p:cNvPr>
              <p:cNvGrpSpPr/>
              <p:nvPr/>
            </p:nvGrpSpPr>
            <p:grpSpPr>
              <a:xfrm>
                <a:off x="597173" y="678711"/>
                <a:ext cx="5604479" cy="566324"/>
                <a:chOff x="-4022452" y="183411"/>
                <a:chExt cx="5604479" cy="566324"/>
              </a:xfrm>
            </p:grpSpPr>
            <p:sp>
              <p:nvSpPr>
                <p:cNvPr id="40" name="Rectangle 39">
                  <a:extLst>
                    <a:ext uri="{FF2B5EF4-FFF2-40B4-BE49-F238E27FC236}">
                      <a16:creationId xmlns:a16="http://schemas.microsoft.com/office/drawing/2014/main" id="{5AE13696-47DE-CA5B-3F47-8954496970BA}"/>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Arrow Connector 40">
                  <a:extLst>
                    <a:ext uri="{FF2B5EF4-FFF2-40B4-BE49-F238E27FC236}">
                      <a16:creationId xmlns:a16="http://schemas.microsoft.com/office/drawing/2014/main" id="{795581AE-BD57-AE84-DE5D-3577BB965F31}"/>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31">
                  <a:extLst>
                    <a:ext uri="{FF2B5EF4-FFF2-40B4-BE49-F238E27FC236}">
                      <a16:creationId xmlns:a16="http://schemas.microsoft.com/office/drawing/2014/main" id="{5F4F3E8C-757B-282B-DBE4-D5929C74D734}"/>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sp>
          <p:nvSpPr>
            <p:cNvPr id="21" name="Text Box 241">
              <a:extLst>
                <a:ext uri="{FF2B5EF4-FFF2-40B4-BE49-F238E27FC236}">
                  <a16:creationId xmlns:a16="http://schemas.microsoft.com/office/drawing/2014/main" id="{B0CF50CF-3291-F44F-378B-E6FAFDCC1DC5}"/>
                </a:ext>
              </a:extLst>
            </p:cNvPr>
            <p:cNvSpPr txBox="1">
              <a:spLocks noChangeArrowheads="1"/>
            </p:cNvSpPr>
            <p:nvPr/>
          </p:nvSpPr>
          <p:spPr bwMode="auto">
            <a:xfrm>
              <a:off x="6356598" y="3957379"/>
              <a:ext cx="2722747" cy="762404"/>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176213"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search supplier?</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534988" marR="0" lvl="1" indent="-17462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supplier name in the search bar.</a:t>
              </a:r>
              <a:endParaRPr kumimoji="0" lang="en-US" altLang="en-US" sz="1000" b="0" i="0" u="none" strike="noStrike" cap="none" normalizeH="0" baseline="0" dirty="0">
                <a:ln>
                  <a:noFill/>
                </a:ln>
                <a:solidFill>
                  <a:schemeClr val="tx1"/>
                </a:solidFill>
                <a:effectLst/>
              </a:endParaRPr>
            </a:p>
            <a:p>
              <a:pPr marL="534988" marR="0" lvl="1" indent="-17462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And it will automatically sort out.</a:t>
              </a:r>
            </a:p>
            <a:p>
              <a:pPr marL="534988" marR="0" lvl="1" indent="-174625" algn="l" defTabSz="914400" rtl="0" eaLnBrk="0" fontAlgn="base" latinLnBrk="0" hangingPunct="0">
                <a:lnSpc>
                  <a:spcPct val="78000"/>
                </a:lnSpc>
                <a:spcBef>
                  <a:spcPct val="0"/>
                </a:spcBef>
                <a:spcAft>
                  <a:spcPct val="0"/>
                </a:spcAft>
                <a:buClrTx/>
                <a:buSzTx/>
                <a:buFont typeface="+mj-lt"/>
                <a:buAutoNum type="arabicPeriod"/>
                <a:tabLst/>
              </a:pPr>
              <a:r>
                <a:rPr kumimoji="0" lang="en-PH" altLang="en-US" sz="800" b="0" i="0" u="none" strike="noStrike" cap="none" normalizeH="0" baseline="0" dirty="0">
                  <a:ln>
                    <a:noFill/>
                  </a:ln>
                  <a:solidFill>
                    <a:schemeClr val="tx1"/>
                  </a:solidFill>
                  <a:effectLst/>
                </a:rPr>
                <a:t>Then click the selected supplier.</a:t>
              </a:r>
              <a:endParaRPr kumimoji="0" lang="en-US" altLang="en-US" sz="1800" b="0" i="0" u="none" strike="noStrike" cap="none" normalizeH="0" baseline="0" dirty="0">
                <a:ln>
                  <a:noFill/>
                </a:ln>
                <a:solidFill>
                  <a:schemeClr val="tx1"/>
                </a:solidFill>
                <a:effectLst/>
              </a:endParaRPr>
            </a:p>
          </p:txBody>
        </p:sp>
      </p:grpSp>
    </p:spTree>
    <p:extLst>
      <p:ext uri="{BB962C8B-B14F-4D97-AF65-F5344CB8AC3E}">
        <p14:creationId xmlns:p14="http://schemas.microsoft.com/office/powerpoint/2010/main" val="2878416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19"/>
            <a:ext cx="4179346" cy="446789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supplier, some details such as address, terms are automatically plotted in their respective field. If you wish to change the EWT rate if there’s any, click the lookup button and select its respective EWT rate.</a:t>
            </a:r>
          </a:p>
          <a:p>
            <a:pPr marL="228600" marR="0">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4.2</a:t>
            </a:r>
            <a:r>
              <a:rPr lang="en-US" sz="11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In header, current date is also plotted automatically but if you wish to change the date – click the date picker and select its respective ordered date. </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4.3</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 In header, add the necessary information if necessary. </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5.1. </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saving the header, you may now select the payable or expense account that you will record. If the payment is from receiving report transaction, click unpaid button to view all the unpaid payables of the supplier and select it by ticking the check box.</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46" name="Group 45">
            <a:extLst>
              <a:ext uri="{FF2B5EF4-FFF2-40B4-BE49-F238E27FC236}">
                <a16:creationId xmlns:a16="http://schemas.microsoft.com/office/drawing/2014/main" id="{05892354-E64A-F955-ED31-0F2BA4E4BE2F}"/>
              </a:ext>
            </a:extLst>
          </p:cNvPr>
          <p:cNvGrpSpPr/>
          <p:nvPr/>
        </p:nvGrpSpPr>
        <p:grpSpPr>
          <a:xfrm>
            <a:off x="4875329" y="642052"/>
            <a:ext cx="6680935" cy="2962910"/>
            <a:chOff x="4816962" y="1610320"/>
            <a:chExt cx="6680935" cy="2962910"/>
          </a:xfrm>
        </p:grpSpPr>
        <p:pic>
          <p:nvPicPr>
            <p:cNvPr id="24" name="Picture 23">
              <a:extLst>
                <a:ext uri="{FF2B5EF4-FFF2-40B4-BE49-F238E27FC236}">
                  <a16:creationId xmlns:a16="http://schemas.microsoft.com/office/drawing/2014/main" id="{6402CB86-18F4-2AD9-DECA-4873973CF8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6842" y="1610320"/>
              <a:ext cx="5901055" cy="2962910"/>
            </a:xfrm>
            <a:prstGeom prst="rect">
              <a:avLst/>
            </a:prstGeom>
          </p:spPr>
        </p:pic>
        <p:sp>
          <p:nvSpPr>
            <p:cNvPr id="26" name="Text Box 465">
              <a:extLst>
                <a:ext uri="{FF2B5EF4-FFF2-40B4-BE49-F238E27FC236}">
                  <a16:creationId xmlns:a16="http://schemas.microsoft.com/office/drawing/2014/main" id="{E2FFB213-65E5-9FD1-EE57-26615531FDB9}"/>
                </a:ext>
              </a:extLst>
            </p:cNvPr>
            <p:cNvSpPr txBox="1"/>
            <p:nvPr/>
          </p:nvSpPr>
          <p:spPr>
            <a:xfrm>
              <a:off x="4842362" y="406940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Detail</a:t>
              </a:r>
            </a:p>
          </p:txBody>
        </p:sp>
        <p:sp>
          <p:nvSpPr>
            <p:cNvPr id="27" name="Text Box 487">
              <a:extLst>
                <a:ext uri="{FF2B5EF4-FFF2-40B4-BE49-F238E27FC236}">
                  <a16:creationId xmlns:a16="http://schemas.microsoft.com/office/drawing/2014/main" id="{DDAC94DB-EEF6-24CE-FDEB-E3E9B0257FFF}"/>
                </a:ext>
              </a:extLst>
            </p:cNvPr>
            <p:cNvSpPr txBox="1"/>
            <p:nvPr/>
          </p:nvSpPr>
          <p:spPr>
            <a:xfrm>
              <a:off x="4816962" y="2297754"/>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28" name="Text Box 9">
              <a:extLst>
                <a:ext uri="{FF2B5EF4-FFF2-40B4-BE49-F238E27FC236}">
                  <a16:creationId xmlns:a16="http://schemas.microsoft.com/office/drawing/2014/main" id="{90882F92-6E94-499A-046A-FBA9368C5D34}"/>
                </a:ext>
              </a:extLst>
            </p:cNvPr>
            <p:cNvSpPr txBox="1"/>
            <p:nvPr/>
          </p:nvSpPr>
          <p:spPr>
            <a:xfrm>
              <a:off x="10239862" y="2627954"/>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4.1 to 4.3</a:t>
              </a:r>
            </a:p>
          </p:txBody>
        </p:sp>
        <p:sp>
          <p:nvSpPr>
            <p:cNvPr id="29" name="Rectangle 28">
              <a:extLst>
                <a:ext uri="{FF2B5EF4-FFF2-40B4-BE49-F238E27FC236}">
                  <a16:creationId xmlns:a16="http://schemas.microsoft.com/office/drawing/2014/main" id="{06F8B566-9966-1E6E-E2DB-6639C5CC79BB}"/>
                </a:ext>
              </a:extLst>
            </p:cNvPr>
            <p:cNvSpPr/>
            <p:nvPr/>
          </p:nvSpPr>
          <p:spPr>
            <a:xfrm>
              <a:off x="10074762" y="2037404"/>
              <a:ext cx="413385" cy="1663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0" name="Straight Arrow Connector 29">
              <a:extLst>
                <a:ext uri="{FF2B5EF4-FFF2-40B4-BE49-F238E27FC236}">
                  <a16:creationId xmlns:a16="http://schemas.microsoft.com/office/drawing/2014/main" id="{1BF2EBDF-5F34-C760-F387-D440A65C2688}"/>
                </a:ext>
              </a:extLst>
            </p:cNvPr>
            <p:cNvCxnSpPr/>
            <p:nvPr/>
          </p:nvCxnSpPr>
          <p:spPr>
            <a:xfrm>
              <a:off x="10462112" y="2043754"/>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16">
              <a:extLst>
                <a:ext uri="{FF2B5EF4-FFF2-40B4-BE49-F238E27FC236}">
                  <a16:creationId xmlns:a16="http://schemas.microsoft.com/office/drawing/2014/main" id="{CE062D97-7AAE-F36E-7951-E18182A0217B}"/>
                </a:ext>
              </a:extLst>
            </p:cNvPr>
            <p:cNvSpPr txBox="1"/>
            <p:nvPr/>
          </p:nvSpPr>
          <p:spPr>
            <a:xfrm>
              <a:off x="10665312" y="192310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4.4</a:t>
              </a:r>
            </a:p>
          </p:txBody>
        </p:sp>
        <p:sp>
          <p:nvSpPr>
            <p:cNvPr id="32" name="Rectangle 31">
              <a:extLst>
                <a:ext uri="{FF2B5EF4-FFF2-40B4-BE49-F238E27FC236}">
                  <a16:creationId xmlns:a16="http://schemas.microsoft.com/office/drawing/2014/main" id="{80FD85A0-B945-9D6C-F76B-E78CFFEEEFBF}"/>
                </a:ext>
              </a:extLst>
            </p:cNvPr>
            <p:cNvSpPr/>
            <p:nvPr/>
          </p:nvSpPr>
          <p:spPr>
            <a:xfrm>
              <a:off x="8195162" y="3078804"/>
              <a:ext cx="425450" cy="1784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4" name="Straight Arrow Connector 43">
              <a:extLst>
                <a:ext uri="{FF2B5EF4-FFF2-40B4-BE49-F238E27FC236}">
                  <a16:creationId xmlns:a16="http://schemas.microsoft.com/office/drawing/2014/main" id="{EBFA1ED8-2312-8932-0C75-3EA7FD63C90C}"/>
                </a:ext>
              </a:extLst>
            </p:cNvPr>
            <p:cNvCxnSpPr/>
            <p:nvPr/>
          </p:nvCxnSpPr>
          <p:spPr>
            <a:xfrm>
              <a:off x="8220562" y="3250254"/>
              <a:ext cx="94615" cy="1187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454">
              <a:extLst>
                <a:ext uri="{FF2B5EF4-FFF2-40B4-BE49-F238E27FC236}">
                  <a16:creationId xmlns:a16="http://schemas.microsoft.com/office/drawing/2014/main" id="{633879C8-6A18-5329-7744-9FDF0F3FA055}"/>
                </a:ext>
              </a:extLst>
            </p:cNvPr>
            <p:cNvSpPr txBox="1"/>
            <p:nvPr/>
          </p:nvSpPr>
          <p:spPr>
            <a:xfrm>
              <a:off x="8163412" y="338360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5.1</a:t>
              </a:r>
            </a:p>
          </p:txBody>
        </p:sp>
      </p:grpSp>
      <p:pic>
        <p:nvPicPr>
          <p:cNvPr id="47" name="Picture 46">
            <a:extLst>
              <a:ext uri="{FF2B5EF4-FFF2-40B4-BE49-F238E27FC236}">
                <a16:creationId xmlns:a16="http://schemas.microsoft.com/office/drawing/2014/main" id="{2A8E53A3-DFDE-BC41-5277-8DB4C10C926D}"/>
              </a:ext>
            </a:extLst>
          </p:cNvPr>
          <p:cNvPicPr>
            <a:picLocks noChangeAspect="1"/>
          </p:cNvPicPr>
          <p:nvPr/>
        </p:nvPicPr>
        <p:blipFill>
          <a:blip r:embed="rId3"/>
          <a:stretch>
            <a:fillRect/>
          </a:stretch>
        </p:blipFill>
        <p:spPr>
          <a:xfrm>
            <a:off x="5364596" y="3806711"/>
            <a:ext cx="6189345" cy="2783205"/>
          </a:xfrm>
          <a:prstGeom prst="rect">
            <a:avLst/>
          </a:prstGeom>
        </p:spPr>
      </p:pic>
      <p:grpSp>
        <p:nvGrpSpPr>
          <p:cNvPr id="54" name="Group 53">
            <a:extLst>
              <a:ext uri="{FF2B5EF4-FFF2-40B4-BE49-F238E27FC236}">
                <a16:creationId xmlns:a16="http://schemas.microsoft.com/office/drawing/2014/main" id="{1129DFC5-8527-0F71-FE24-58E314E4EA2E}"/>
              </a:ext>
            </a:extLst>
          </p:cNvPr>
          <p:cNvGrpSpPr/>
          <p:nvPr/>
        </p:nvGrpSpPr>
        <p:grpSpPr>
          <a:xfrm>
            <a:off x="5491946" y="4814537"/>
            <a:ext cx="6565265" cy="1840230"/>
            <a:chOff x="2813367" y="2508885"/>
            <a:chExt cx="6565265" cy="1840230"/>
          </a:xfrm>
        </p:grpSpPr>
        <p:sp>
          <p:nvSpPr>
            <p:cNvPr id="48" name="Rectangle 47">
              <a:extLst>
                <a:ext uri="{FF2B5EF4-FFF2-40B4-BE49-F238E27FC236}">
                  <a16:creationId xmlns:a16="http://schemas.microsoft.com/office/drawing/2014/main" id="{DC2D0EAA-FD95-641B-F4C5-46FFFC5DCDF4}"/>
                </a:ext>
              </a:extLst>
            </p:cNvPr>
            <p:cNvSpPr/>
            <p:nvPr/>
          </p:nvSpPr>
          <p:spPr>
            <a:xfrm>
              <a:off x="2813367" y="2508885"/>
              <a:ext cx="295910" cy="8902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9" name="Straight Arrow Connector 48">
              <a:extLst>
                <a:ext uri="{FF2B5EF4-FFF2-40B4-BE49-F238E27FC236}">
                  <a16:creationId xmlns:a16="http://schemas.microsoft.com/office/drawing/2014/main" id="{2DBD38F2-589D-BD4C-752C-DC5AAB648919}"/>
                </a:ext>
              </a:extLst>
            </p:cNvPr>
            <p:cNvCxnSpPr/>
            <p:nvPr/>
          </p:nvCxnSpPr>
          <p:spPr>
            <a:xfrm>
              <a:off x="3153092" y="287210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 Box 307">
              <a:extLst>
                <a:ext uri="{FF2B5EF4-FFF2-40B4-BE49-F238E27FC236}">
                  <a16:creationId xmlns:a16="http://schemas.microsoft.com/office/drawing/2014/main" id="{E6BD2438-026E-C5DD-323F-EDC680069FF5}"/>
                </a:ext>
              </a:extLst>
            </p:cNvPr>
            <p:cNvSpPr txBox="1"/>
            <p:nvPr/>
          </p:nvSpPr>
          <p:spPr>
            <a:xfrm>
              <a:off x="3346767" y="271335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5.1.</a:t>
              </a:r>
            </a:p>
          </p:txBody>
        </p:sp>
        <p:sp>
          <p:nvSpPr>
            <p:cNvPr id="51" name="Rectangle 50">
              <a:extLst>
                <a:ext uri="{FF2B5EF4-FFF2-40B4-BE49-F238E27FC236}">
                  <a16:creationId xmlns:a16="http://schemas.microsoft.com/office/drawing/2014/main" id="{5BBD2C81-98FB-B99C-A780-FE607737F77B}"/>
                </a:ext>
              </a:extLst>
            </p:cNvPr>
            <p:cNvSpPr/>
            <p:nvPr/>
          </p:nvSpPr>
          <p:spPr>
            <a:xfrm>
              <a:off x="8192452" y="4017010"/>
              <a:ext cx="473710" cy="33210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2" name="Straight Arrow Connector 51">
              <a:extLst>
                <a:ext uri="{FF2B5EF4-FFF2-40B4-BE49-F238E27FC236}">
                  <a16:creationId xmlns:a16="http://schemas.microsoft.com/office/drawing/2014/main" id="{FA8554B5-B01A-B4AC-BA8D-C6AC27085C43}"/>
                </a:ext>
              </a:extLst>
            </p:cNvPr>
            <p:cNvCxnSpPr/>
            <p:nvPr/>
          </p:nvCxnSpPr>
          <p:spPr>
            <a:xfrm>
              <a:off x="8709977" y="419163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Text Box 310">
              <a:extLst>
                <a:ext uri="{FF2B5EF4-FFF2-40B4-BE49-F238E27FC236}">
                  <a16:creationId xmlns:a16="http://schemas.microsoft.com/office/drawing/2014/main" id="{7CE540B1-5660-C4C9-4968-82255925B639}"/>
                </a:ext>
              </a:extLst>
            </p:cNvPr>
            <p:cNvSpPr txBox="1"/>
            <p:nvPr/>
          </p:nvSpPr>
          <p:spPr>
            <a:xfrm>
              <a:off x="8903652" y="397573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5.2.</a:t>
              </a:r>
            </a:p>
          </p:txBody>
        </p:sp>
      </p:grpSp>
      <p:sp>
        <p:nvSpPr>
          <p:cNvPr id="2" name="TextBox 1">
            <a:extLst>
              <a:ext uri="{FF2B5EF4-FFF2-40B4-BE49-F238E27FC236}">
                <a16:creationId xmlns:a16="http://schemas.microsoft.com/office/drawing/2014/main" id="{22F66DF3-9C18-DC63-712C-7CA79FEBB94C}"/>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CC892FE9-0A48-545F-B985-C98F5E3B472B}"/>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15976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056123"/>
            <a:ext cx="4179346" cy="256585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unpaid account, you will be redirect in accounts payable voucher – main window and the selected unpaid accounts will be displayed in accounts payable voucher – detail.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 </a:t>
            </a:r>
            <a:r>
              <a:rPr lang="en-US" sz="1200" dirty="0">
                <a:solidFill>
                  <a:schemeClr val="tx1">
                    <a:lumMod val="85000"/>
                    <a:lumOff val="15000"/>
                  </a:schemeClr>
                </a:solidFill>
                <a:effectLst/>
                <a:latin typeface="Chivo Light" panose="020B0303030202020804" pitchFamily="34" charset="0"/>
                <a:ea typeface="Times New Roman" panose="02020603050405020304" pitchFamily="18" charset="0"/>
                <a:cs typeface="Times New Roman" panose="02020603050405020304" pitchFamily="18" charset="0"/>
              </a:rPr>
              <a:t>If you want to add other payable and expense account that is not in the unpaid list, click add account and search the account you wish to add.</a:t>
            </a: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Calibri" panose="020F0502020204030204" pitchFamily="34" charset="0"/>
                <a:cs typeface="Times New Roman" panose="02020603050405020304" pitchFamily="18" charset="0"/>
              </a:rPr>
              <a:t>8.  </a:t>
            </a:r>
            <a:r>
              <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rPr>
              <a:t>After you select an account, a dialog box will prompt. Enter the details of the account.</a:t>
            </a: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63F6D38D-ED55-192D-9268-BB19231B0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730" y="1491919"/>
            <a:ext cx="5752465" cy="2081530"/>
          </a:xfrm>
          <a:prstGeom prst="rect">
            <a:avLst/>
          </a:prstGeom>
        </p:spPr>
      </p:pic>
      <p:pic>
        <p:nvPicPr>
          <p:cNvPr id="6" name="Picture 5">
            <a:extLst>
              <a:ext uri="{FF2B5EF4-FFF2-40B4-BE49-F238E27FC236}">
                <a16:creationId xmlns:a16="http://schemas.microsoft.com/office/drawing/2014/main" id="{3F76722B-E9B6-22A4-46B3-E8B44D0D4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2420" y="2504109"/>
            <a:ext cx="3716655" cy="1977390"/>
          </a:xfrm>
          <a:prstGeom prst="rect">
            <a:avLst/>
          </a:prstGeom>
        </p:spPr>
      </p:pic>
      <p:grpSp>
        <p:nvGrpSpPr>
          <p:cNvPr id="7" name="Group 6">
            <a:extLst>
              <a:ext uri="{FF2B5EF4-FFF2-40B4-BE49-F238E27FC236}">
                <a16:creationId xmlns:a16="http://schemas.microsoft.com/office/drawing/2014/main" id="{9D2AF1F3-788C-9966-5E87-4396D73B0541}"/>
              </a:ext>
            </a:extLst>
          </p:cNvPr>
          <p:cNvGrpSpPr/>
          <p:nvPr/>
        </p:nvGrpSpPr>
        <p:grpSpPr>
          <a:xfrm>
            <a:off x="5552832" y="2186609"/>
            <a:ext cx="4354830" cy="2294890"/>
            <a:chOff x="0" y="0"/>
            <a:chExt cx="4354830" cy="2294890"/>
          </a:xfrm>
        </p:grpSpPr>
        <p:sp>
          <p:nvSpPr>
            <p:cNvPr id="8" name="Rectangle 7">
              <a:extLst>
                <a:ext uri="{FF2B5EF4-FFF2-40B4-BE49-F238E27FC236}">
                  <a16:creationId xmlns:a16="http://schemas.microsoft.com/office/drawing/2014/main" id="{4E4C9E8D-CF3D-CC72-8E16-C928AE10EFD7}"/>
                </a:ext>
              </a:extLst>
            </p:cNvPr>
            <p:cNvSpPr/>
            <p:nvPr/>
          </p:nvSpPr>
          <p:spPr>
            <a:xfrm>
              <a:off x="3136900" y="12700"/>
              <a:ext cx="589915" cy="22542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9" name="Straight Arrow Connector 8">
              <a:extLst>
                <a:ext uri="{FF2B5EF4-FFF2-40B4-BE49-F238E27FC236}">
                  <a16:creationId xmlns:a16="http://schemas.microsoft.com/office/drawing/2014/main" id="{9F9E9D1A-FCA6-1A7F-7725-66D9DBBA0FD8}"/>
                </a:ext>
              </a:extLst>
            </p:cNvPr>
            <p:cNvCxnSpPr/>
            <p:nvPr/>
          </p:nvCxnSpPr>
          <p:spPr>
            <a:xfrm flipV="1">
              <a:off x="3746500" y="825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672">
              <a:extLst>
                <a:ext uri="{FF2B5EF4-FFF2-40B4-BE49-F238E27FC236}">
                  <a16:creationId xmlns:a16="http://schemas.microsoft.com/office/drawing/2014/main" id="{975B80DF-650C-1F25-FD54-76454F4C15E0}"/>
                </a:ext>
              </a:extLst>
            </p:cNvPr>
            <p:cNvSpPr txBox="1"/>
            <p:nvPr/>
          </p:nvSpPr>
          <p:spPr>
            <a:xfrm>
              <a:off x="38798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7</a:t>
              </a:r>
            </a:p>
          </p:txBody>
        </p:sp>
        <p:pic>
          <p:nvPicPr>
            <p:cNvPr id="11" name="Picture 10">
              <a:extLst>
                <a:ext uri="{FF2B5EF4-FFF2-40B4-BE49-F238E27FC236}">
                  <a16:creationId xmlns:a16="http://schemas.microsoft.com/office/drawing/2014/main" id="{2E0E3602-79B6-D472-673A-1997A232F7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400" y="317500"/>
              <a:ext cx="3716655" cy="1977390"/>
            </a:xfrm>
            <a:prstGeom prst="rect">
              <a:avLst/>
            </a:prstGeom>
          </p:spPr>
        </p:pic>
        <p:sp>
          <p:nvSpPr>
            <p:cNvPr id="13" name="Curved Right Arrow 315">
              <a:extLst>
                <a:ext uri="{FF2B5EF4-FFF2-40B4-BE49-F238E27FC236}">
                  <a16:creationId xmlns:a16="http://schemas.microsoft.com/office/drawing/2014/main" id="{F8659F41-0F6B-BEC5-148A-FD1D38ED4798}"/>
                </a:ext>
              </a:extLst>
            </p:cNvPr>
            <p:cNvSpPr/>
            <p:nvPr/>
          </p:nvSpPr>
          <p:spPr>
            <a:xfrm>
              <a:off x="2565400" y="82550"/>
              <a:ext cx="546265" cy="546265"/>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Text Box 241">
              <a:extLst>
                <a:ext uri="{FF2B5EF4-FFF2-40B4-BE49-F238E27FC236}">
                  <a16:creationId xmlns:a16="http://schemas.microsoft.com/office/drawing/2014/main" id="{B0F764C7-3164-B175-98CA-060EAAFF89A7}"/>
                </a:ext>
              </a:extLst>
            </p:cNvPr>
            <p:cNvSpPr txBox="1">
              <a:spLocks noChangeArrowheads="1"/>
            </p:cNvSpPr>
            <p:nvPr/>
          </p:nvSpPr>
          <p:spPr bwMode="auto">
            <a:xfrm>
              <a:off x="0" y="895350"/>
              <a:ext cx="4019266" cy="97581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an account?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account name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it will automatically sort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29565" marR="0" indent="-228600">
                <a:lnSpc>
                  <a:spcPts val="975"/>
                </a:lnSpc>
                <a:spcBef>
                  <a:spcPts val="0"/>
                </a:spcBef>
                <a:spcAft>
                  <a:spcPts val="0"/>
                </a:spcAft>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Then click the selected account.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8871CC3A-45EF-2B64-5B4C-4E890B8D2091}"/>
                </a:ext>
              </a:extLst>
            </p:cNvPr>
            <p:cNvSpPr/>
            <p:nvPr/>
          </p:nvSpPr>
          <p:spPr>
            <a:xfrm>
              <a:off x="501650" y="520700"/>
              <a:ext cx="3550723" cy="35626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16" name="Picture 15">
            <a:extLst>
              <a:ext uri="{FF2B5EF4-FFF2-40B4-BE49-F238E27FC236}">
                <a16:creationId xmlns:a16="http://schemas.microsoft.com/office/drawing/2014/main" id="{0D95514C-BD76-DEC1-1004-F6F7B19A8B02}"/>
              </a:ext>
            </a:extLst>
          </p:cNvPr>
          <p:cNvPicPr>
            <a:picLocks noChangeAspect="1"/>
          </p:cNvPicPr>
          <p:nvPr/>
        </p:nvPicPr>
        <p:blipFill>
          <a:blip r:embed="rId4"/>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675F148D-C481-E8F7-A8E9-2DB0B0E88033}"/>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C4363602-6970-2BE3-1456-C17E21D4D09A}"/>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002506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607484" y="1668049"/>
            <a:ext cx="4179346" cy="306543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9.</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Enter the details of the account. For the amount, enter the amount either in debit or credit field. But if you want to copy of amount in the balance, click the balance to autofill the credit field.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You may also add notes if necessary.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To save the account, if you want to add more other account, click add to cart button and select more accounts again. OR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11.2.</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OR If you want to plot the selected account already in accounts payable voucher – detail, you may click add/ save button. </a:t>
            </a:r>
          </a:p>
          <a:p>
            <a:pPr marL="228600" marR="0">
              <a:lnSpc>
                <a:spcPct val="115000"/>
              </a:lnSpc>
              <a:spcBef>
                <a:spcPts val="0"/>
              </a:spcBef>
              <a:spcAft>
                <a:spcPts val="0"/>
              </a:spcAft>
            </a:pPr>
            <a:endParaRPr lang="en-US" sz="1200" dirty="0">
              <a:solidFill>
                <a:schemeClr val="tx1">
                  <a:lumMod val="85000"/>
                  <a:lumOff val="15000"/>
                </a:schemeClr>
              </a:solidFill>
              <a:effectLst/>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grpSp>
        <p:nvGrpSpPr>
          <p:cNvPr id="34" name="Group 33">
            <a:extLst>
              <a:ext uri="{FF2B5EF4-FFF2-40B4-BE49-F238E27FC236}">
                <a16:creationId xmlns:a16="http://schemas.microsoft.com/office/drawing/2014/main" id="{A959FBA4-F90D-8A85-2100-788E899D8A2F}"/>
              </a:ext>
            </a:extLst>
          </p:cNvPr>
          <p:cNvGrpSpPr/>
          <p:nvPr/>
        </p:nvGrpSpPr>
        <p:grpSpPr>
          <a:xfrm>
            <a:off x="5450887" y="634916"/>
            <a:ext cx="6189345" cy="3560389"/>
            <a:chOff x="5462067" y="1222814"/>
            <a:chExt cx="6189345" cy="3560389"/>
          </a:xfrm>
        </p:grpSpPr>
        <p:pic>
          <p:nvPicPr>
            <p:cNvPr id="2" name="Picture 1">
              <a:extLst>
                <a:ext uri="{FF2B5EF4-FFF2-40B4-BE49-F238E27FC236}">
                  <a16:creationId xmlns:a16="http://schemas.microsoft.com/office/drawing/2014/main" id="{DE025452-3E00-2DBD-73AE-BDA4FF5A4296}"/>
                </a:ext>
              </a:extLst>
            </p:cNvPr>
            <p:cNvPicPr>
              <a:picLocks noChangeAspect="1"/>
            </p:cNvPicPr>
            <p:nvPr/>
          </p:nvPicPr>
          <p:blipFill>
            <a:blip r:embed="rId2"/>
            <a:stretch>
              <a:fillRect/>
            </a:stretch>
          </p:blipFill>
          <p:spPr>
            <a:xfrm>
              <a:off x="5462067" y="1222814"/>
              <a:ext cx="6189345" cy="3387725"/>
            </a:xfrm>
            <a:prstGeom prst="rect">
              <a:avLst/>
            </a:prstGeom>
          </p:spPr>
        </p:pic>
        <p:grpSp>
          <p:nvGrpSpPr>
            <p:cNvPr id="33" name="Group 32">
              <a:extLst>
                <a:ext uri="{FF2B5EF4-FFF2-40B4-BE49-F238E27FC236}">
                  <a16:creationId xmlns:a16="http://schemas.microsoft.com/office/drawing/2014/main" id="{DE3C1D31-64A3-2D96-6780-7729F98ACAFE}"/>
                </a:ext>
              </a:extLst>
            </p:cNvPr>
            <p:cNvGrpSpPr/>
            <p:nvPr/>
          </p:nvGrpSpPr>
          <p:grpSpPr>
            <a:xfrm>
              <a:off x="7266793" y="2973702"/>
              <a:ext cx="3182537" cy="1809501"/>
              <a:chOff x="4504138" y="2557380"/>
              <a:chExt cx="3182537" cy="1809501"/>
            </a:xfrm>
          </p:grpSpPr>
          <p:sp>
            <p:nvSpPr>
              <p:cNvPr id="18" name="Rectangle 17">
                <a:extLst>
                  <a:ext uri="{FF2B5EF4-FFF2-40B4-BE49-F238E27FC236}">
                    <a16:creationId xmlns:a16="http://schemas.microsoft.com/office/drawing/2014/main" id="{6C1DD260-3987-E218-7C1C-08973D3852DF}"/>
                  </a:ext>
                </a:extLst>
              </p:cNvPr>
              <p:cNvSpPr/>
              <p:nvPr/>
            </p:nvSpPr>
            <p:spPr>
              <a:xfrm>
                <a:off x="4504138" y="2557380"/>
                <a:ext cx="2468245" cy="6172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Arrow Connector 18">
                <a:extLst>
                  <a:ext uri="{FF2B5EF4-FFF2-40B4-BE49-F238E27FC236}">
                    <a16:creationId xmlns:a16="http://schemas.microsoft.com/office/drawing/2014/main" id="{B269960E-A2C1-C4B3-02BC-D7447CF8B490}"/>
                  </a:ext>
                </a:extLst>
              </p:cNvPr>
              <p:cNvCxnSpPr/>
              <p:nvPr/>
            </p:nvCxnSpPr>
            <p:spPr>
              <a:xfrm>
                <a:off x="7026910" y="2881313"/>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326">
                <a:extLst>
                  <a:ext uri="{FF2B5EF4-FFF2-40B4-BE49-F238E27FC236}">
                    <a16:creationId xmlns:a16="http://schemas.microsoft.com/office/drawing/2014/main" id="{314DF969-DCC9-013C-D74D-50253BFB9D19}"/>
                  </a:ext>
                </a:extLst>
              </p:cNvPr>
              <p:cNvSpPr txBox="1"/>
              <p:nvPr/>
            </p:nvSpPr>
            <p:spPr>
              <a:xfrm>
                <a:off x="7211695" y="270287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21" name="Rectangle 20">
                <a:extLst>
                  <a:ext uri="{FF2B5EF4-FFF2-40B4-BE49-F238E27FC236}">
                    <a16:creationId xmlns:a16="http://schemas.microsoft.com/office/drawing/2014/main" id="{18F6110A-0D8D-5227-0286-0358FB64ABE1}"/>
                  </a:ext>
                </a:extLst>
              </p:cNvPr>
              <p:cNvSpPr/>
              <p:nvPr/>
            </p:nvSpPr>
            <p:spPr>
              <a:xfrm>
                <a:off x="4505325" y="3196908"/>
                <a:ext cx="2468245" cy="2374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 Box 333">
                <a:extLst>
                  <a:ext uri="{FF2B5EF4-FFF2-40B4-BE49-F238E27FC236}">
                    <a16:creationId xmlns:a16="http://schemas.microsoft.com/office/drawing/2014/main" id="{D9F93194-0EE1-1ABA-FD8B-8745AC8F7680}"/>
                  </a:ext>
                </a:extLst>
              </p:cNvPr>
              <p:cNvSpPr txBox="1"/>
              <p:nvPr/>
            </p:nvSpPr>
            <p:spPr>
              <a:xfrm>
                <a:off x="7196455" y="3048318"/>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10</a:t>
                </a:r>
              </a:p>
            </p:txBody>
          </p:sp>
          <p:sp>
            <p:nvSpPr>
              <p:cNvPr id="24" name="Rectangle 23">
                <a:extLst>
                  <a:ext uri="{FF2B5EF4-FFF2-40B4-BE49-F238E27FC236}">
                    <a16:creationId xmlns:a16="http://schemas.microsoft.com/office/drawing/2014/main" id="{CA66F82C-245F-EAE2-2B37-248E799BCFD9}"/>
                  </a:ext>
                </a:extLst>
              </p:cNvPr>
              <p:cNvSpPr/>
              <p:nvPr/>
            </p:nvSpPr>
            <p:spPr>
              <a:xfrm>
                <a:off x="6156989" y="3651770"/>
                <a:ext cx="925830" cy="3011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1875DECD-0B23-E4BC-BEFB-705145A85BDC}"/>
                  </a:ext>
                </a:extLst>
              </p:cNvPr>
              <p:cNvCxnSpPr/>
              <p:nvPr/>
            </p:nvCxnSpPr>
            <p:spPr>
              <a:xfrm flipH="1">
                <a:off x="6911066" y="3879836"/>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336">
                <a:extLst>
                  <a:ext uri="{FF2B5EF4-FFF2-40B4-BE49-F238E27FC236}">
                    <a16:creationId xmlns:a16="http://schemas.microsoft.com/office/drawing/2014/main" id="{6040AEF3-F7FF-C444-F35A-34B02D5BEC1B}"/>
                  </a:ext>
                </a:extLst>
              </p:cNvPr>
              <p:cNvSpPr txBox="1"/>
              <p:nvPr/>
            </p:nvSpPr>
            <p:spPr>
              <a:xfrm>
                <a:off x="6392906" y="4070336"/>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9</a:t>
                </a:r>
              </a:p>
            </p:txBody>
          </p:sp>
          <p:sp>
            <p:nvSpPr>
              <p:cNvPr id="27" name="Rectangle 26">
                <a:extLst>
                  <a:ext uri="{FF2B5EF4-FFF2-40B4-BE49-F238E27FC236}">
                    <a16:creationId xmlns:a16="http://schemas.microsoft.com/office/drawing/2014/main" id="{70BCF26C-FB92-38E4-554B-84DF91BA3C3C}"/>
                  </a:ext>
                </a:extLst>
              </p:cNvPr>
              <p:cNvSpPr/>
              <p:nvPr/>
            </p:nvSpPr>
            <p:spPr>
              <a:xfrm>
                <a:off x="5519835" y="3651402"/>
                <a:ext cx="60452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8" name="Straight Arrow Connector 27">
                <a:extLst>
                  <a:ext uri="{FF2B5EF4-FFF2-40B4-BE49-F238E27FC236}">
                    <a16:creationId xmlns:a16="http://schemas.microsoft.com/office/drawing/2014/main" id="{C1623484-D0CE-A54B-3CE7-10E1B384FE76}"/>
                  </a:ext>
                </a:extLst>
              </p:cNvPr>
              <p:cNvCxnSpPr/>
              <p:nvPr/>
            </p:nvCxnSpPr>
            <p:spPr>
              <a:xfrm flipH="1">
                <a:off x="5910306" y="3880471"/>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339">
                <a:extLst>
                  <a:ext uri="{FF2B5EF4-FFF2-40B4-BE49-F238E27FC236}">
                    <a16:creationId xmlns:a16="http://schemas.microsoft.com/office/drawing/2014/main" id="{9860ACA9-F621-E538-A4DF-D8D6A3462B04}"/>
                  </a:ext>
                </a:extLst>
              </p:cNvPr>
              <p:cNvSpPr txBox="1"/>
              <p:nvPr/>
            </p:nvSpPr>
            <p:spPr>
              <a:xfrm>
                <a:off x="5392146" y="407097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11.2</a:t>
                </a:r>
              </a:p>
            </p:txBody>
          </p:sp>
          <p:sp>
            <p:nvSpPr>
              <p:cNvPr id="30" name="Rectangle 29">
                <a:extLst>
                  <a:ext uri="{FF2B5EF4-FFF2-40B4-BE49-F238E27FC236}">
                    <a16:creationId xmlns:a16="http://schemas.microsoft.com/office/drawing/2014/main" id="{5895E955-0D30-3697-8D5B-D8C8213F3761}"/>
                  </a:ext>
                </a:extLst>
              </p:cNvPr>
              <p:cNvSpPr/>
              <p:nvPr/>
            </p:nvSpPr>
            <p:spPr>
              <a:xfrm>
                <a:off x="4771805" y="3662832"/>
                <a:ext cx="687070"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1" name="Straight Arrow Connector 30">
                <a:extLst>
                  <a:ext uri="{FF2B5EF4-FFF2-40B4-BE49-F238E27FC236}">
                    <a16:creationId xmlns:a16="http://schemas.microsoft.com/office/drawing/2014/main" id="{B23BC1C2-5304-9420-41A4-40DFD235993F}"/>
                  </a:ext>
                </a:extLst>
              </p:cNvPr>
              <p:cNvCxnSpPr/>
              <p:nvPr/>
            </p:nvCxnSpPr>
            <p:spPr>
              <a:xfrm flipH="1">
                <a:off x="5240381" y="3890631"/>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342">
                <a:extLst>
                  <a:ext uri="{FF2B5EF4-FFF2-40B4-BE49-F238E27FC236}">
                    <a16:creationId xmlns:a16="http://schemas.microsoft.com/office/drawing/2014/main" id="{7E17302B-F04C-B3D0-0C42-317DF6D3633D}"/>
                  </a:ext>
                </a:extLst>
              </p:cNvPr>
              <p:cNvSpPr txBox="1"/>
              <p:nvPr/>
            </p:nvSpPr>
            <p:spPr>
              <a:xfrm>
                <a:off x="4722221" y="4081131"/>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11.1</a:t>
                </a:r>
              </a:p>
            </p:txBody>
          </p:sp>
        </p:grpSp>
      </p:grpSp>
      <p:sp>
        <p:nvSpPr>
          <p:cNvPr id="5" name="TextBox 4">
            <a:extLst>
              <a:ext uri="{FF2B5EF4-FFF2-40B4-BE49-F238E27FC236}">
                <a16:creationId xmlns:a16="http://schemas.microsoft.com/office/drawing/2014/main" id="{72D3F7A5-F987-556B-B699-686F4F9201F2}"/>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6DF02A45-9E07-1EB8-9AC5-19AA1B73C8D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6" name="Group 5">
            <a:extLst>
              <a:ext uri="{FF2B5EF4-FFF2-40B4-BE49-F238E27FC236}">
                <a16:creationId xmlns:a16="http://schemas.microsoft.com/office/drawing/2014/main" id="{98C51808-43A2-2721-B78A-977EB1EF8A5F}"/>
              </a:ext>
            </a:extLst>
          </p:cNvPr>
          <p:cNvGrpSpPr/>
          <p:nvPr/>
        </p:nvGrpSpPr>
        <p:grpSpPr>
          <a:xfrm>
            <a:off x="5450887" y="4628758"/>
            <a:ext cx="6189345" cy="1589185"/>
            <a:chOff x="5462067" y="4827993"/>
            <a:chExt cx="6189345" cy="1589185"/>
          </a:xfrm>
        </p:grpSpPr>
        <p:pic>
          <p:nvPicPr>
            <p:cNvPr id="7" name="Picture 6">
              <a:extLst>
                <a:ext uri="{FF2B5EF4-FFF2-40B4-BE49-F238E27FC236}">
                  <a16:creationId xmlns:a16="http://schemas.microsoft.com/office/drawing/2014/main" id="{00F0857D-2229-B91B-869F-802DC24C6C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2067" y="4827993"/>
              <a:ext cx="6189345" cy="1508125"/>
            </a:xfrm>
            <a:prstGeom prst="rect">
              <a:avLst/>
            </a:prstGeom>
          </p:spPr>
        </p:pic>
        <p:grpSp>
          <p:nvGrpSpPr>
            <p:cNvPr id="8" name="Group 7">
              <a:extLst>
                <a:ext uri="{FF2B5EF4-FFF2-40B4-BE49-F238E27FC236}">
                  <a16:creationId xmlns:a16="http://schemas.microsoft.com/office/drawing/2014/main" id="{B57C4375-0BFC-E55C-4D5D-61BC6CD8965A}"/>
                </a:ext>
              </a:extLst>
            </p:cNvPr>
            <p:cNvGrpSpPr/>
            <p:nvPr/>
          </p:nvGrpSpPr>
          <p:grpSpPr>
            <a:xfrm>
              <a:off x="5465947" y="4838568"/>
              <a:ext cx="5914390" cy="1578610"/>
              <a:chOff x="0" y="0"/>
              <a:chExt cx="5914390" cy="1578610"/>
            </a:xfrm>
          </p:grpSpPr>
          <p:sp>
            <p:nvSpPr>
              <p:cNvPr id="9" name="Text Box 241">
                <a:extLst>
                  <a:ext uri="{FF2B5EF4-FFF2-40B4-BE49-F238E27FC236}">
                    <a16:creationId xmlns:a16="http://schemas.microsoft.com/office/drawing/2014/main" id="{5378E85C-E504-7D8F-34B0-751AFF6BF0AB}"/>
                  </a:ext>
                </a:extLst>
              </p:cNvPr>
              <p:cNvSpPr txBox="1">
                <a:spLocks noChangeArrowheads="1"/>
              </p:cNvSpPr>
              <p:nvPr/>
            </p:nvSpPr>
            <p:spPr bwMode="auto">
              <a:xfrm>
                <a:off x="0" y="603250"/>
                <a:ext cx="4108450" cy="975360"/>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plot the selected accounts in the accounts payable voucher – detail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the cart icon.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And a dialog box with list of selected accounts will pop out.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228600">
                  <a:lnSpc>
                    <a:spcPts val="975"/>
                  </a:lnSpc>
                  <a:spcBef>
                    <a:spcPts val="0"/>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Then click the accept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100965" marR="0">
                  <a:lnSpc>
                    <a:spcPts val="975"/>
                  </a:lnSpc>
                  <a:spcBef>
                    <a:spcPts val="0"/>
                  </a:spcBef>
                  <a:spcAft>
                    <a:spcPts val="0"/>
                  </a:spcAft>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CEEF811A-5D08-509F-9A81-06F87F8E37F1}"/>
                  </a:ext>
                </a:extLst>
              </p:cNvPr>
              <p:cNvSpPr/>
              <p:nvPr/>
            </p:nvSpPr>
            <p:spPr>
              <a:xfrm>
                <a:off x="5454650" y="0"/>
                <a:ext cx="449563"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0DA26F00-4B73-3133-DDEC-D2FDBE908459}"/>
                  </a:ext>
                </a:extLst>
              </p:cNvPr>
              <p:cNvCxnSpPr/>
              <p:nvPr/>
            </p:nvCxnSpPr>
            <p:spPr>
              <a:xfrm flipH="1">
                <a:off x="5772150" y="196850"/>
                <a:ext cx="142240" cy="2489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69">
                <a:extLst>
                  <a:ext uri="{FF2B5EF4-FFF2-40B4-BE49-F238E27FC236}">
                    <a16:creationId xmlns:a16="http://schemas.microsoft.com/office/drawing/2014/main" id="{51F0B7A2-D184-D204-A91F-F4E06B0DA28B}"/>
                  </a:ext>
                </a:extLst>
              </p:cNvPr>
              <p:cNvSpPr txBox="1"/>
              <p:nvPr/>
            </p:nvSpPr>
            <p:spPr>
              <a:xfrm>
                <a:off x="5257800" y="38735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11.1</a:t>
                </a:r>
              </a:p>
            </p:txBody>
          </p:sp>
        </p:grpSp>
      </p:grpSp>
    </p:spTree>
    <p:extLst>
      <p:ext uri="{BB962C8B-B14F-4D97-AF65-F5344CB8AC3E}">
        <p14:creationId xmlns:p14="http://schemas.microsoft.com/office/powerpoint/2010/main" val="2325635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4916"/>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Create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5" name="Text Box 18">
            <a:extLst>
              <a:ext uri="{FF2B5EF4-FFF2-40B4-BE49-F238E27FC236}">
                <a16:creationId xmlns:a16="http://schemas.microsoft.com/office/drawing/2014/main" id="{9536E891-EDDB-61F9-96BA-440F1604A6D6}"/>
              </a:ext>
            </a:extLst>
          </p:cNvPr>
          <p:cNvSpPr txBox="1"/>
          <p:nvPr/>
        </p:nvSpPr>
        <p:spPr>
          <a:xfrm>
            <a:off x="540588" y="1997055"/>
            <a:ext cx="4179346" cy="409302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APV, you may also automatically generate entries for EWT. Just click the Generate EWT Button and it will automatically compute EWT and VAT entries base on the account tagging on the detail entry.</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the arrow to enable the buttons in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14.</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click post button.</a:t>
            </a:r>
          </a:p>
        </p:txBody>
      </p:sp>
      <p:sp>
        <p:nvSpPr>
          <p:cNvPr id="2" name="TextBox 1">
            <a:extLst>
              <a:ext uri="{FF2B5EF4-FFF2-40B4-BE49-F238E27FC236}">
                <a16:creationId xmlns:a16="http://schemas.microsoft.com/office/drawing/2014/main" id="{FB0895AC-2DBA-3CB6-8F2A-9820A3CC4345}"/>
              </a:ext>
            </a:extLst>
          </p:cNvPr>
          <p:cNvSpPr txBox="1"/>
          <p:nvPr/>
        </p:nvSpPr>
        <p:spPr>
          <a:xfrm>
            <a:off x="538778" y="103044"/>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4" name="Slide Number Placeholder 9">
            <a:extLst>
              <a:ext uri="{FF2B5EF4-FFF2-40B4-BE49-F238E27FC236}">
                <a16:creationId xmlns:a16="http://schemas.microsoft.com/office/drawing/2014/main" id="{A1123C8C-02AE-DA5E-CE7C-3596E56371C9}"/>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6" name="Group 15">
            <a:extLst>
              <a:ext uri="{FF2B5EF4-FFF2-40B4-BE49-F238E27FC236}">
                <a16:creationId xmlns:a16="http://schemas.microsoft.com/office/drawing/2014/main" id="{2E03883F-DF33-DB57-87CB-E3F5DD46EFDE}"/>
              </a:ext>
            </a:extLst>
          </p:cNvPr>
          <p:cNvGrpSpPr/>
          <p:nvPr/>
        </p:nvGrpSpPr>
        <p:grpSpPr>
          <a:xfrm>
            <a:off x="5450887" y="3029167"/>
            <a:ext cx="6284983" cy="3313489"/>
            <a:chOff x="5462067" y="1414701"/>
            <a:chExt cx="6284983" cy="3313489"/>
          </a:xfrm>
        </p:grpSpPr>
        <p:pic>
          <p:nvPicPr>
            <p:cNvPr id="5" name="Picture 4">
              <a:extLst>
                <a:ext uri="{FF2B5EF4-FFF2-40B4-BE49-F238E27FC236}">
                  <a16:creationId xmlns:a16="http://schemas.microsoft.com/office/drawing/2014/main" id="{E5ED4A4F-3FED-924F-D621-7E85EEA05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2067" y="1414701"/>
              <a:ext cx="6189345" cy="2425700"/>
            </a:xfrm>
            <a:prstGeom prst="rect">
              <a:avLst/>
            </a:prstGeom>
          </p:spPr>
        </p:pic>
        <p:grpSp>
          <p:nvGrpSpPr>
            <p:cNvPr id="6" name="Group 5">
              <a:extLst>
                <a:ext uri="{FF2B5EF4-FFF2-40B4-BE49-F238E27FC236}">
                  <a16:creationId xmlns:a16="http://schemas.microsoft.com/office/drawing/2014/main" id="{BB8C458E-745B-803F-FD3F-FEDCDEE04AFC}"/>
                </a:ext>
              </a:extLst>
            </p:cNvPr>
            <p:cNvGrpSpPr/>
            <p:nvPr/>
          </p:nvGrpSpPr>
          <p:grpSpPr>
            <a:xfrm>
              <a:off x="6077770" y="1792585"/>
              <a:ext cx="5669280" cy="2935605"/>
              <a:chOff x="0" y="0"/>
              <a:chExt cx="5669280" cy="2935605"/>
            </a:xfrm>
          </p:grpSpPr>
          <p:sp>
            <p:nvSpPr>
              <p:cNvPr id="7" name="Rectangle 6">
                <a:extLst>
                  <a:ext uri="{FF2B5EF4-FFF2-40B4-BE49-F238E27FC236}">
                    <a16:creationId xmlns:a16="http://schemas.microsoft.com/office/drawing/2014/main" id="{35459616-DBD7-18BB-BE8F-A0074EAA3AC5}"/>
                  </a:ext>
                </a:extLst>
              </p:cNvPr>
              <p:cNvSpPr/>
              <p:nvPr/>
            </p:nvSpPr>
            <p:spPr>
              <a:xfrm>
                <a:off x="4775200" y="57150"/>
                <a:ext cx="268663" cy="29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C869211E-6D9B-BD59-75E1-BF6C474AFA25}"/>
                  </a:ext>
                </a:extLst>
              </p:cNvPr>
              <p:cNvCxnSpPr/>
              <p:nvPr/>
            </p:nvCxnSpPr>
            <p:spPr>
              <a:xfrm flipV="1">
                <a:off x="5073650" y="133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689">
                <a:extLst>
                  <a:ext uri="{FF2B5EF4-FFF2-40B4-BE49-F238E27FC236}">
                    <a16:creationId xmlns:a16="http://schemas.microsoft.com/office/drawing/2014/main" id="{DFC26033-522A-3012-147A-103A63D60ADB}"/>
                  </a:ext>
                </a:extLst>
              </p:cNvPr>
              <p:cNvSpPr txBox="1"/>
              <p:nvPr/>
            </p:nvSpPr>
            <p:spPr>
              <a:xfrm>
                <a:off x="519430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13</a:t>
                </a:r>
              </a:p>
            </p:txBody>
          </p:sp>
          <p:pic>
            <p:nvPicPr>
              <p:cNvPr id="10" name="Picture 9">
                <a:extLst>
                  <a:ext uri="{FF2B5EF4-FFF2-40B4-BE49-F238E27FC236}">
                    <a16:creationId xmlns:a16="http://schemas.microsoft.com/office/drawing/2014/main" id="{20185BFC-045D-425E-6A31-A0CFAE5765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14350"/>
                <a:ext cx="4690745" cy="2421255"/>
              </a:xfrm>
              <a:prstGeom prst="rect">
                <a:avLst/>
              </a:prstGeom>
              <a:ln>
                <a:noFill/>
              </a:ln>
              <a:effectLst>
                <a:outerShdw blurRad="292100" dist="139700" dir="2700000" algn="tl" rotWithShape="0">
                  <a:srgbClr val="333333">
                    <a:alpha val="65000"/>
                  </a:srgbClr>
                </a:outerShdw>
              </a:effectLst>
            </p:spPr>
          </p:pic>
          <p:sp>
            <p:nvSpPr>
              <p:cNvPr id="11" name="Curved Right Arrow 691">
                <a:extLst>
                  <a:ext uri="{FF2B5EF4-FFF2-40B4-BE49-F238E27FC236}">
                    <a16:creationId xmlns:a16="http://schemas.microsoft.com/office/drawing/2014/main" id="{A36EC522-F8D5-F890-6D55-3C61DCC2C8C5}"/>
                  </a:ext>
                </a:extLst>
              </p:cNvPr>
              <p:cNvSpPr/>
              <p:nvPr/>
            </p:nvSpPr>
            <p:spPr>
              <a:xfrm>
                <a:off x="4095750" y="279400"/>
                <a:ext cx="439387" cy="451262"/>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Rectangle 12">
                <a:extLst>
                  <a:ext uri="{FF2B5EF4-FFF2-40B4-BE49-F238E27FC236}">
                    <a16:creationId xmlns:a16="http://schemas.microsoft.com/office/drawing/2014/main" id="{1511B2E1-57F9-F46B-B57F-FC48C53109F5}"/>
                  </a:ext>
                </a:extLst>
              </p:cNvPr>
              <p:cNvSpPr/>
              <p:nvPr/>
            </p:nvSpPr>
            <p:spPr>
              <a:xfrm>
                <a:off x="2597150" y="84455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4635D2C7-CCC8-77D1-2E6F-434FF5C6F7D0}"/>
                  </a:ext>
                </a:extLst>
              </p:cNvPr>
              <p:cNvCxnSpPr/>
              <p:nvPr/>
            </p:nvCxnSpPr>
            <p:spPr>
              <a:xfrm flipV="1">
                <a:off x="2990850" y="8953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694">
                <a:extLst>
                  <a:ext uri="{FF2B5EF4-FFF2-40B4-BE49-F238E27FC236}">
                    <a16:creationId xmlns:a16="http://schemas.microsoft.com/office/drawing/2014/main" id="{0C43E107-5258-AADF-CACC-BB3FA84DB875}"/>
                  </a:ext>
                </a:extLst>
              </p:cNvPr>
              <p:cNvSpPr txBox="1"/>
              <p:nvPr/>
            </p:nvSpPr>
            <p:spPr>
              <a:xfrm>
                <a:off x="3117850" y="7747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14</a:t>
                </a:r>
              </a:p>
            </p:txBody>
          </p:sp>
        </p:grpSp>
      </p:grpSp>
      <p:pic>
        <p:nvPicPr>
          <p:cNvPr id="21" name="Picture 20">
            <a:extLst>
              <a:ext uri="{FF2B5EF4-FFF2-40B4-BE49-F238E27FC236}">
                <a16:creationId xmlns:a16="http://schemas.microsoft.com/office/drawing/2014/main" id="{A50A7CF2-161B-1CD8-C1AE-9567E5E2C77D}"/>
              </a:ext>
            </a:extLst>
          </p:cNvPr>
          <p:cNvPicPr>
            <a:picLocks noChangeAspect="1"/>
          </p:cNvPicPr>
          <p:nvPr/>
        </p:nvPicPr>
        <p:blipFill>
          <a:blip r:embed="rId4"/>
          <a:stretch>
            <a:fillRect/>
          </a:stretch>
        </p:blipFill>
        <p:spPr>
          <a:xfrm>
            <a:off x="5450887" y="1083481"/>
            <a:ext cx="6358627" cy="1521624"/>
          </a:xfrm>
          <a:prstGeom prst="rect">
            <a:avLst/>
          </a:prstGeom>
        </p:spPr>
      </p:pic>
      <p:sp>
        <p:nvSpPr>
          <p:cNvPr id="26" name="Rectangle 25">
            <a:extLst>
              <a:ext uri="{FF2B5EF4-FFF2-40B4-BE49-F238E27FC236}">
                <a16:creationId xmlns:a16="http://schemas.microsoft.com/office/drawing/2014/main" id="{37927967-C0B3-6566-AD4D-35D5D912A1AC}"/>
              </a:ext>
            </a:extLst>
          </p:cNvPr>
          <p:cNvSpPr/>
          <p:nvPr/>
        </p:nvSpPr>
        <p:spPr>
          <a:xfrm>
            <a:off x="6096000" y="2270934"/>
            <a:ext cx="1874982" cy="20441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7" name="Rectangle 26">
            <a:extLst>
              <a:ext uri="{FF2B5EF4-FFF2-40B4-BE49-F238E27FC236}">
                <a16:creationId xmlns:a16="http://schemas.microsoft.com/office/drawing/2014/main" id="{5396205B-E288-96FB-ABF4-743C14CA0BC9}"/>
              </a:ext>
            </a:extLst>
          </p:cNvPr>
          <p:cNvSpPr/>
          <p:nvPr/>
        </p:nvSpPr>
        <p:spPr>
          <a:xfrm>
            <a:off x="11120528" y="1336951"/>
            <a:ext cx="688986"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8" name="Straight Arrow Connector 27">
            <a:extLst>
              <a:ext uri="{FF2B5EF4-FFF2-40B4-BE49-F238E27FC236}">
                <a16:creationId xmlns:a16="http://schemas.microsoft.com/office/drawing/2014/main" id="{06745EEB-C48D-146F-9857-0D5D12482B10}"/>
              </a:ext>
            </a:extLst>
          </p:cNvPr>
          <p:cNvCxnSpPr>
            <a:cxnSpLocks/>
          </p:cNvCxnSpPr>
          <p:nvPr/>
        </p:nvCxnSpPr>
        <p:spPr>
          <a:xfrm flipH="1">
            <a:off x="11110453" y="1585871"/>
            <a:ext cx="172027" cy="1511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694">
            <a:extLst>
              <a:ext uri="{FF2B5EF4-FFF2-40B4-BE49-F238E27FC236}">
                <a16:creationId xmlns:a16="http://schemas.microsoft.com/office/drawing/2014/main" id="{289324B0-388A-AE68-BB2B-0D7E1F777975}"/>
              </a:ext>
            </a:extLst>
          </p:cNvPr>
          <p:cNvSpPr txBox="1"/>
          <p:nvPr/>
        </p:nvSpPr>
        <p:spPr>
          <a:xfrm>
            <a:off x="10763312" y="176459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12</a:t>
            </a:r>
          </a:p>
        </p:txBody>
      </p:sp>
    </p:spTree>
    <p:extLst>
      <p:ext uri="{BB962C8B-B14F-4D97-AF65-F5344CB8AC3E}">
        <p14:creationId xmlns:p14="http://schemas.microsoft.com/office/powerpoint/2010/main" val="3362465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3"/>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6" name="Text Box 34">
            <a:extLst>
              <a:ext uri="{FF2B5EF4-FFF2-40B4-BE49-F238E27FC236}">
                <a16:creationId xmlns:a16="http://schemas.microsoft.com/office/drawing/2014/main" id="{3C955D35-908F-C41B-A58E-309112EE5A39}"/>
              </a:ext>
            </a:extLst>
          </p:cNvPr>
          <p:cNvSpPr txBox="1"/>
          <p:nvPr/>
        </p:nvSpPr>
        <p:spPr>
          <a:xfrm>
            <a:off x="805109" y="1802434"/>
            <a:ext cx="3852820" cy="2084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nSpc>
                <a:spcPct val="115000"/>
              </a:lnSpc>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accounts payable voucher – main window, search the accounts payable voucher transaction you wish to edit its information in the search bar. Or,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457200">
              <a:lnSpc>
                <a:spcPct val="115000"/>
              </a:lnSpc>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nSpc>
                <a:spcPct val="115000"/>
              </a:lnSpc>
            </a:pPr>
            <a:r>
              <a:rPr lang="en-US" sz="11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accounts payable voucher – main form, click the lookup button and select the transaction you wish to edit its information by typing the transaction number in the search bar.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Box 44">
            <a:extLst>
              <a:ext uri="{FF2B5EF4-FFF2-40B4-BE49-F238E27FC236}">
                <a16:creationId xmlns:a16="http://schemas.microsoft.com/office/drawing/2014/main" id="{4B14687C-52A3-56C7-BB62-1861435F0424}"/>
              </a:ext>
            </a:extLst>
          </p:cNvPr>
          <p:cNvSpPr txBox="1"/>
          <p:nvPr/>
        </p:nvSpPr>
        <p:spPr>
          <a:xfrm>
            <a:off x="7256348" y="5213726"/>
            <a:ext cx="2952971"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  Accounts Payable Voucher – Main 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0258C296-63A5-1455-F8AB-54834279C957}"/>
              </a:ext>
            </a:extLst>
          </p:cNvPr>
          <p:cNvSpPr txBox="1"/>
          <p:nvPr/>
        </p:nvSpPr>
        <p:spPr>
          <a:xfrm>
            <a:off x="7256348" y="2857417"/>
            <a:ext cx="2952971"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Accounts Payable Voucher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3945547"/>
            <a:ext cx="3852820" cy="15126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the APV transaction, if you wish to edit the header of the transaction click edit button. </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APV header, click save button in the upper side of the header.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B8D61353-AA8F-9AD6-66F8-63644734B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8035" y="1042587"/>
            <a:ext cx="6078855" cy="1727200"/>
          </a:xfrm>
          <a:prstGeom prst="rect">
            <a:avLst/>
          </a:prstGeom>
        </p:spPr>
      </p:pic>
      <p:grpSp>
        <p:nvGrpSpPr>
          <p:cNvPr id="10" name="Group 9">
            <a:extLst>
              <a:ext uri="{FF2B5EF4-FFF2-40B4-BE49-F238E27FC236}">
                <a16:creationId xmlns:a16="http://schemas.microsoft.com/office/drawing/2014/main" id="{021818F1-F8F9-DE00-390E-C85B954B4712}"/>
              </a:ext>
            </a:extLst>
          </p:cNvPr>
          <p:cNvGrpSpPr/>
          <p:nvPr/>
        </p:nvGrpSpPr>
        <p:grpSpPr>
          <a:xfrm>
            <a:off x="5267944" y="1859529"/>
            <a:ext cx="1475739" cy="333375"/>
            <a:chOff x="0" y="0"/>
            <a:chExt cx="1476374" cy="333375"/>
          </a:xfrm>
        </p:grpSpPr>
        <p:sp>
          <p:nvSpPr>
            <p:cNvPr id="11" name="Rectangle 10">
              <a:extLst>
                <a:ext uri="{FF2B5EF4-FFF2-40B4-BE49-F238E27FC236}">
                  <a16:creationId xmlns:a16="http://schemas.microsoft.com/office/drawing/2014/main" id="{CC3FA56D-1309-824E-BB21-29A21073EC9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 name="Straight Arrow Connector 11">
              <a:extLst>
                <a:ext uri="{FF2B5EF4-FFF2-40B4-BE49-F238E27FC236}">
                  <a16:creationId xmlns:a16="http://schemas.microsoft.com/office/drawing/2014/main" id="{A9901B4A-30F7-D43B-532C-D4FA6882AAB9}"/>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3A779B4F-74EB-C100-DD08-F0CDA13CC4E3}"/>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1.1.</a:t>
              </a:r>
            </a:p>
          </p:txBody>
        </p:sp>
      </p:grpSp>
      <p:pic>
        <p:nvPicPr>
          <p:cNvPr id="14" name="Picture 13">
            <a:extLst>
              <a:ext uri="{FF2B5EF4-FFF2-40B4-BE49-F238E27FC236}">
                <a16:creationId xmlns:a16="http://schemas.microsoft.com/office/drawing/2014/main" id="{C1D9739B-8E53-7253-A66B-C4CCBCF4C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97545" y="3510979"/>
            <a:ext cx="6189345" cy="1575435"/>
          </a:xfrm>
          <a:prstGeom prst="rect">
            <a:avLst/>
          </a:prstGeom>
        </p:spPr>
      </p:pic>
      <p:grpSp>
        <p:nvGrpSpPr>
          <p:cNvPr id="29" name="Group 28">
            <a:extLst>
              <a:ext uri="{FF2B5EF4-FFF2-40B4-BE49-F238E27FC236}">
                <a16:creationId xmlns:a16="http://schemas.microsoft.com/office/drawing/2014/main" id="{41FC2721-80AD-DD7C-07DC-EFE2B026CE9B}"/>
              </a:ext>
            </a:extLst>
          </p:cNvPr>
          <p:cNvGrpSpPr/>
          <p:nvPr/>
        </p:nvGrpSpPr>
        <p:grpSpPr>
          <a:xfrm>
            <a:off x="4657929" y="3710680"/>
            <a:ext cx="6318251" cy="1503045"/>
            <a:chOff x="2936875" y="2677478"/>
            <a:chExt cx="6318251" cy="1503045"/>
          </a:xfrm>
        </p:grpSpPr>
        <p:grpSp>
          <p:nvGrpSpPr>
            <p:cNvPr id="15" name="Group 14">
              <a:extLst>
                <a:ext uri="{FF2B5EF4-FFF2-40B4-BE49-F238E27FC236}">
                  <a16:creationId xmlns:a16="http://schemas.microsoft.com/office/drawing/2014/main" id="{98654546-EB0C-ECA0-7A8B-6643FB3E5400}"/>
                </a:ext>
              </a:extLst>
            </p:cNvPr>
            <p:cNvGrpSpPr/>
            <p:nvPr/>
          </p:nvGrpSpPr>
          <p:grpSpPr>
            <a:xfrm>
              <a:off x="4763135" y="3131503"/>
              <a:ext cx="952500" cy="304800"/>
              <a:chOff x="523874" y="28575"/>
              <a:chExt cx="952500" cy="304800"/>
            </a:xfrm>
          </p:grpSpPr>
          <p:sp>
            <p:nvSpPr>
              <p:cNvPr id="25" name="Rectangle 24">
                <a:extLst>
                  <a:ext uri="{FF2B5EF4-FFF2-40B4-BE49-F238E27FC236}">
                    <a16:creationId xmlns:a16="http://schemas.microsoft.com/office/drawing/2014/main" id="{73CA2DDA-7613-1176-7A37-5BF3B0EEAFE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6" name="Straight Arrow Connector 25">
                <a:extLst>
                  <a:ext uri="{FF2B5EF4-FFF2-40B4-BE49-F238E27FC236}">
                    <a16:creationId xmlns:a16="http://schemas.microsoft.com/office/drawing/2014/main" id="{15FE345C-32EB-64F6-458A-0FD8E0CACBC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Text Box 44">
                <a:extLst>
                  <a:ext uri="{FF2B5EF4-FFF2-40B4-BE49-F238E27FC236}">
                    <a16:creationId xmlns:a16="http://schemas.microsoft.com/office/drawing/2014/main" id="{4411AA34-373E-431E-3516-0F75FEAA985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16" name="Group 15">
              <a:extLst>
                <a:ext uri="{FF2B5EF4-FFF2-40B4-BE49-F238E27FC236}">
                  <a16:creationId xmlns:a16="http://schemas.microsoft.com/office/drawing/2014/main" id="{2DE87959-3071-DC3F-EB2C-4F1F73ADF385}"/>
                </a:ext>
              </a:extLst>
            </p:cNvPr>
            <p:cNvGrpSpPr/>
            <p:nvPr/>
          </p:nvGrpSpPr>
          <p:grpSpPr>
            <a:xfrm>
              <a:off x="8274050" y="2859723"/>
              <a:ext cx="981076" cy="304800"/>
              <a:chOff x="333374" y="28575"/>
              <a:chExt cx="981076" cy="304800"/>
            </a:xfrm>
          </p:grpSpPr>
          <p:sp>
            <p:nvSpPr>
              <p:cNvPr id="22" name="Rectangle 21">
                <a:extLst>
                  <a:ext uri="{FF2B5EF4-FFF2-40B4-BE49-F238E27FC236}">
                    <a16:creationId xmlns:a16="http://schemas.microsoft.com/office/drawing/2014/main" id="{A038FA7D-D461-EE3D-D4B7-E8EB6D8634D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3" name="Straight Arrow Connector 22">
                <a:extLst>
                  <a:ext uri="{FF2B5EF4-FFF2-40B4-BE49-F238E27FC236}">
                    <a16:creationId xmlns:a16="http://schemas.microsoft.com/office/drawing/2014/main" id="{008C6C83-46AE-1E65-B321-42D99AF31D5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 Box 49">
                <a:extLst>
                  <a:ext uri="{FF2B5EF4-FFF2-40B4-BE49-F238E27FC236}">
                    <a16:creationId xmlns:a16="http://schemas.microsoft.com/office/drawing/2014/main" id="{2F6C6DC3-A2CB-37F9-A2F8-7716BF1EE77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nvGrpSpPr>
            <p:cNvPr id="17" name="Group 16">
              <a:extLst>
                <a:ext uri="{FF2B5EF4-FFF2-40B4-BE49-F238E27FC236}">
                  <a16:creationId xmlns:a16="http://schemas.microsoft.com/office/drawing/2014/main" id="{9983A3D8-2642-3124-9611-37CB85E0BEB5}"/>
                </a:ext>
              </a:extLst>
            </p:cNvPr>
            <p:cNvGrpSpPr>
              <a:grpSpLocks/>
            </p:cNvGrpSpPr>
            <p:nvPr/>
          </p:nvGrpSpPr>
          <p:grpSpPr bwMode="auto">
            <a:xfrm>
              <a:off x="5786120" y="3301048"/>
              <a:ext cx="2552700" cy="879475"/>
              <a:chOff x="6116" y="177"/>
              <a:chExt cx="4020" cy="1385"/>
            </a:xfrm>
          </p:grpSpPr>
          <p:pic>
            <p:nvPicPr>
              <p:cNvPr id="19" name="Picture 18">
                <a:extLst>
                  <a:ext uri="{FF2B5EF4-FFF2-40B4-BE49-F238E27FC236}">
                    <a16:creationId xmlns:a16="http://schemas.microsoft.com/office/drawing/2014/main" id="{B6240E99-1F4B-A464-A6AD-C6D1038DA9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241">
                <a:extLst>
                  <a:ext uri="{FF2B5EF4-FFF2-40B4-BE49-F238E27FC236}">
                    <a16:creationId xmlns:a16="http://schemas.microsoft.com/office/drawing/2014/main" id="{C3EF828E-1E4B-A19A-3D83-BE32099E81F2}"/>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APV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29565" marR="0" indent="-228600">
                  <a:lnSpc>
                    <a:spcPts val="975"/>
                  </a:lnSpc>
                  <a:spcBef>
                    <a:spcPts val="0"/>
                  </a:spcBef>
                  <a:spcAft>
                    <a:spcPts val="0"/>
                  </a:spcAft>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18" name="Text Box 8">
              <a:extLst>
                <a:ext uri="{FF2B5EF4-FFF2-40B4-BE49-F238E27FC236}">
                  <a16:creationId xmlns:a16="http://schemas.microsoft.com/office/drawing/2014/main" id="{FA868F16-D017-F955-AC2C-24C379272204}"/>
                </a:ext>
              </a:extLst>
            </p:cNvPr>
            <p:cNvSpPr txBox="1"/>
            <p:nvPr/>
          </p:nvSpPr>
          <p:spPr>
            <a:xfrm>
              <a:off x="2936875" y="2677478"/>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sp>
        <p:nvSpPr>
          <p:cNvPr id="4" name="TextBox 3">
            <a:extLst>
              <a:ext uri="{FF2B5EF4-FFF2-40B4-BE49-F238E27FC236}">
                <a16:creationId xmlns:a16="http://schemas.microsoft.com/office/drawing/2014/main" id="{6F666574-14D2-E317-1AB9-64ABC6C04C95}"/>
              </a:ext>
            </a:extLst>
          </p:cNvPr>
          <p:cNvSpPr txBox="1"/>
          <p:nvPr/>
        </p:nvSpPr>
        <p:spPr>
          <a:xfrm>
            <a:off x="285436" y="119413"/>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B8209E5C-F8CB-0695-69B1-6D6C3292245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75701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1254088" y="64290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Edit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47" name="Text Box 45">
            <a:extLst>
              <a:ext uri="{FF2B5EF4-FFF2-40B4-BE49-F238E27FC236}">
                <a16:creationId xmlns:a16="http://schemas.microsoft.com/office/drawing/2014/main" id="{45EBA796-8D0D-7A62-3DFD-D0EFF016851E}"/>
              </a:ext>
            </a:extLst>
          </p:cNvPr>
          <p:cNvSpPr txBox="1"/>
          <p:nvPr/>
        </p:nvSpPr>
        <p:spPr>
          <a:xfrm>
            <a:off x="805109" y="2170285"/>
            <a:ext cx="3852820" cy="305188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APV header, click save button in the upper side of the header.</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entry in the detail, edit right away the details you want to change and you will notice that after you change the details, the account you edited will be highlighted into blue. </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account button to save the changes you made in the entry.</a:t>
            </a:r>
          </a:p>
          <a:p>
            <a:pPr marR="0" lvl="0" algn="just">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accounts in the entry, click delete account button.</a:t>
            </a:r>
          </a:p>
          <a:p>
            <a:pPr marR="0" lvl="0" algn="just">
              <a:lnSpc>
                <a:spcPct val="115000"/>
              </a:lnSpc>
              <a:spcBef>
                <a:spcPts val="0"/>
              </a:spcBef>
              <a:spcAft>
                <a:spcPts val="0"/>
              </a:spcAft>
            </a:pPr>
            <a:endPar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line on the table, click the delete icon next to the account to delete it.</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latin typeface="Chivo Light" panose="020B03030302020208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B6603352-9472-5172-8A3E-17125BFC066C}"/>
              </a:ext>
            </a:extLst>
          </p:cNvPr>
          <p:cNvSpPr txBox="1"/>
          <p:nvPr/>
        </p:nvSpPr>
        <p:spPr>
          <a:xfrm>
            <a:off x="314551" y="10371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27CB7881-7EED-4772-1868-ECD5FE1ECE71}"/>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2" name="Group 11">
            <a:extLst>
              <a:ext uri="{FF2B5EF4-FFF2-40B4-BE49-F238E27FC236}">
                <a16:creationId xmlns:a16="http://schemas.microsoft.com/office/drawing/2014/main" id="{597C4C4D-B551-1CDE-992E-F7D73ED03014}"/>
              </a:ext>
            </a:extLst>
          </p:cNvPr>
          <p:cNvGrpSpPr/>
          <p:nvPr/>
        </p:nvGrpSpPr>
        <p:grpSpPr>
          <a:xfrm>
            <a:off x="5126663" y="2158545"/>
            <a:ext cx="6260227" cy="2277457"/>
            <a:chOff x="5126663" y="2158545"/>
            <a:chExt cx="6260227" cy="2277457"/>
          </a:xfrm>
        </p:grpSpPr>
        <p:grpSp>
          <p:nvGrpSpPr>
            <p:cNvPr id="52" name="Group 51">
              <a:extLst>
                <a:ext uri="{FF2B5EF4-FFF2-40B4-BE49-F238E27FC236}">
                  <a16:creationId xmlns:a16="http://schemas.microsoft.com/office/drawing/2014/main" id="{0BF50443-B736-6728-4C41-1F3756E0226C}"/>
                </a:ext>
              </a:extLst>
            </p:cNvPr>
            <p:cNvGrpSpPr/>
            <p:nvPr/>
          </p:nvGrpSpPr>
          <p:grpSpPr>
            <a:xfrm>
              <a:off x="5126663" y="2158545"/>
              <a:ext cx="6260227" cy="2277457"/>
              <a:chOff x="5126663" y="887465"/>
              <a:chExt cx="6260227" cy="2277457"/>
            </a:xfrm>
          </p:grpSpPr>
          <p:grpSp>
            <p:nvGrpSpPr>
              <p:cNvPr id="34" name="Group 33">
                <a:extLst>
                  <a:ext uri="{FF2B5EF4-FFF2-40B4-BE49-F238E27FC236}">
                    <a16:creationId xmlns:a16="http://schemas.microsoft.com/office/drawing/2014/main" id="{C4657B5B-5598-9C18-3570-D2C67184DF89}"/>
                  </a:ext>
                </a:extLst>
              </p:cNvPr>
              <p:cNvGrpSpPr/>
              <p:nvPr/>
            </p:nvGrpSpPr>
            <p:grpSpPr>
              <a:xfrm>
                <a:off x="5197545" y="1053550"/>
                <a:ext cx="6189345" cy="2111372"/>
                <a:chOff x="0" y="3"/>
                <a:chExt cx="6189345" cy="2111372"/>
              </a:xfrm>
            </p:grpSpPr>
            <p:grpSp>
              <p:nvGrpSpPr>
                <p:cNvPr id="35" name="Group 34">
                  <a:extLst>
                    <a:ext uri="{FF2B5EF4-FFF2-40B4-BE49-F238E27FC236}">
                      <a16:creationId xmlns:a16="http://schemas.microsoft.com/office/drawing/2014/main" id="{ED19E1AB-8479-954A-2CF3-83093AECCF6D}"/>
                    </a:ext>
                  </a:extLst>
                </p:cNvPr>
                <p:cNvGrpSpPr/>
                <p:nvPr/>
              </p:nvGrpSpPr>
              <p:grpSpPr>
                <a:xfrm>
                  <a:off x="444500" y="3"/>
                  <a:ext cx="5457854" cy="1534468"/>
                  <a:chOff x="365745" y="340675"/>
                  <a:chExt cx="5457854" cy="1534615"/>
                </a:xfrm>
              </p:grpSpPr>
              <p:pic>
                <p:nvPicPr>
                  <p:cNvPr id="37" name="Picture 36">
                    <a:extLst>
                      <a:ext uri="{FF2B5EF4-FFF2-40B4-BE49-F238E27FC236}">
                        <a16:creationId xmlns:a16="http://schemas.microsoft.com/office/drawing/2014/main" id="{539C3501-94CD-00A6-C965-D5B1C560B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45" y="345037"/>
                    <a:ext cx="5457854" cy="1530253"/>
                  </a:xfrm>
                  <a:prstGeom prst="rect">
                    <a:avLst/>
                  </a:prstGeom>
                </p:spPr>
              </p:pic>
              <p:sp>
                <p:nvSpPr>
                  <p:cNvPr id="38" name="Rectangle 37">
                    <a:extLst>
                      <a:ext uri="{FF2B5EF4-FFF2-40B4-BE49-F238E27FC236}">
                        <a16:creationId xmlns:a16="http://schemas.microsoft.com/office/drawing/2014/main" id="{56ABEA4B-C505-FBA8-E11B-F8C4DCEA1DD6}"/>
                      </a:ext>
                    </a:extLst>
                  </p:cNvPr>
                  <p:cNvSpPr/>
                  <p:nvPr/>
                </p:nvSpPr>
                <p:spPr>
                  <a:xfrm>
                    <a:off x="424790" y="975708"/>
                    <a:ext cx="2836555" cy="7366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39" name="Group 38">
                    <a:extLst>
                      <a:ext uri="{FF2B5EF4-FFF2-40B4-BE49-F238E27FC236}">
                        <a16:creationId xmlns:a16="http://schemas.microsoft.com/office/drawing/2014/main" id="{698E67ED-9A56-5F5A-4646-BF6DA1C28622}"/>
                      </a:ext>
                    </a:extLst>
                  </p:cNvPr>
                  <p:cNvGrpSpPr/>
                  <p:nvPr/>
                </p:nvGrpSpPr>
                <p:grpSpPr>
                  <a:xfrm>
                    <a:off x="3765617" y="340675"/>
                    <a:ext cx="647700" cy="709532"/>
                    <a:chOff x="-854008" y="-154625"/>
                    <a:chExt cx="647700" cy="709532"/>
                  </a:xfrm>
                </p:grpSpPr>
                <p:sp>
                  <p:nvSpPr>
                    <p:cNvPr id="40" name="Rectangle 39">
                      <a:extLst>
                        <a:ext uri="{FF2B5EF4-FFF2-40B4-BE49-F238E27FC236}">
                          <a16:creationId xmlns:a16="http://schemas.microsoft.com/office/drawing/2014/main" id="{ACB59B42-D884-414F-099F-EE525BE0251F}"/>
                        </a:ext>
                      </a:extLst>
                    </p:cNvPr>
                    <p:cNvSpPr/>
                    <p:nvPr/>
                  </p:nvSpPr>
                  <p:spPr>
                    <a:xfrm>
                      <a:off x="-854008" y="-154625"/>
                      <a:ext cx="647700" cy="24764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Arrow Connector 40">
                      <a:extLst>
                        <a:ext uri="{FF2B5EF4-FFF2-40B4-BE49-F238E27FC236}">
                          <a16:creationId xmlns:a16="http://schemas.microsoft.com/office/drawing/2014/main" id="{31D75C8B-2DE4-2FB3-3642-0458EB637530}"/>
                        </a:ext>
                      </a:extLst>
                    </p:cNvPr>
                    <p:cNvCxnSpPr>
                      <a:cxnSpLocks/>
                    </p:cNvCxnSpPr>
                    <p:nvPr/>
                  </p:nvCxnSpPr>
                  <p:spPr>
                    <a:xfrm>
                      <a:off x="-558370" y="86730"/>
                      <a:ext cx="0" cy="2205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 Box 62">
                      <a:extLst>
                        <a:ext uri="{FF2B5EF4-FFF2-40B4-BE49-F238E27FC236}">
                          <a16:creationId xmlns:a16="http://schemas.microsoft.com/office/drawing/2014/main" id="{C71EEFFC-1D3E-B6CE-DB5C-74A283075451}"/>
                        </a:ext>
                      </a:extLst>
                    </p:cNvPr>
                    <p:cNvSpPr txBox="1"/>
                    <p:nvPr/>
                  </p:nvSpPr>
                  <p:spPr>
                    <a:xfrm>
                      <a:off x="-658383" y="307257"/>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pic>
              <p:nvPicPr>
                <p:cNvPr id="36" name="Picture 35">
                  <a:extLst>
                    <a:ext uri="{FF2B5EF4-FFF2-40B4-BE49-F238E27FC236}">
                      <a16:creationId xmlns:a16="http://schemas.microsoft.com/office/drawing/2014/main" id="{3C1FC640-D25C-C4D6-3A28-A2ABC21ED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93850"/>
                  <a:ext cx="6189345" cy="517525"/>
                </a:xfrm>
                <a:prstGeom prst="rect">
                  <a:avLst/>
                </a:prstGeom>
                <a:ln>
                  <a:noFill/>
                </a:ln>
                <a:effectLst>
                  <a:outerShdw blurRad="292100" dist="139700" dir="2700000" algn="tl" rotWithShape="0">
                    <a:srgbClr val="333333">
                      <a:alpha val="65000"/>
                    </a:srgbClr>
                  </a:outerShdw>
                </a:effectLst>
              </p:spPr>
            </p:pic>
          </p:grpSp>
          <p:grpSp>
            <p:nvGrpSpPr>
              <p:cNvPr id="48" name="Group 47">
                <a:extLst>
                  <a:ext uri="{FF2B5EF4-FFF2-40B4-BE49-F238E27FC236}">
                    <a16:creationId xmlns:a16="http://schemas.microsoft.com/office/drawing/2014/main" id="{138E89D3-3309-0629-D0D5-08491A374DF7}"/>
                  </a:ext>
                </a:extLst>
              </p:cNvPr>
              <p:cNvGrpSpPr/>
              <p:nvPr/>
            </p:nvGrpSpPr>
            <p:grpSpPr>
              <a:xfrm>
                <a:off x="5126663" y="887465"/>
                <a:ext cx="3176904" cy="2008507"/>
                <a:chOff x="0" y="0"/>
                <a:chExt cx="3177391" cy="2008909"/>
              </a:xfrm>
            </p:grpSpPr>
            <p:sp>
              <p:nvSpPr>
                <p:cNvPr id="49" name="Text Box 81">
                  <a:extLst>
                    <a:ext uri="{FF2B5EF4-FFF2-40B4-BE49-F238E27FC236}">
                      <a16:creationId xmlns:a16="http://schemas.microsoft.com/office/drawing/2014/main" id="{E3E49074-E79E-41F2-765F-2EE8D2A16123}"/>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DETAIL</a:t>
                  </a:r>
                </a:p>
              </p:txBody>
            </p:sp>
            <p:sp>
              <p:nvSpPr>
                <p:cNvPr id="50" name="Curved Left Arrow 95">
                  <a:extLst>
                    <a:ext uri="{FF2B5EF4-FFF2-40B4-BE49-F238E27FC236}">
                      <a16:creationId xmlns:a16="http://schemas.microsoft.com/office/drawing/2014/main" id="{01AB2436-5116-A861-0524-09FD515E1A32}"/>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1" name="Text Box 98">
                  <a:extLst>
                    <a:ext uri="{FF2B5EF4-FFF2-40B4-BE49-F238E27FC236}">
                      <a16:creationId xmlns:a16="http://schemas.microsoft.com/office/drawing/2014/main" id="{5067B744-DA31-59E4-5216-2C61302ED7CA}"/>
                    </a:ext>
                  </a:extLst>
                </p:cNvPr>
                <p:cNvSpPr txBox="1"/>
                <p:nvPr/>
              </p:nvSpPr>
              <p:spPr>
                <a:xfrm>
                  <a:off x="0" y="1589315"/>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a:t>
                  </a:r>
                </a:p>
              </p:txBody>
            </p:sp>
          </p:grpSp>
        </p:grpSp>
        <p:sp>
          <p:nvSpPr>
            <p:cNvPr id="6" name="Rectangle 5">
              <a:extLst>
                <a:ext uri="{FF2B5EF4-FFF2-40B4-BE49-F238E27FC236}">
                  <a16:creationId xmlns:a16="http://schemas.microsoft.com/office/drawing/2014/main" id="{4FB59ABA-A469-6A94-801B-CF36E0D1AD49}"/>
                </a:ext>
              </a:extLst>
            </p:cNvPr>
            <p:cNvSpPr/>
            <p:nvPr/>
          </p:nvSpPr>
          <p:spPr>
            <a:xfrm>
              <a:off x="9707809" y="2324630"/>
              <a:ext cx="647700"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 name="Straight Arrow Connector 6">
              <a:extLst>
                <a:ext uri="{FF2B5EF4-FFF2-40B4-BE49-F238E27FC236}">
                  <a16:creationId xmlns:a16="http://schemas.microsoft.com/office/drawing/2014/main" id="{D5F3FC04-2344-FD2B-66BD-0EBDFE915E2F}"/>
                </a:ext>
              </a:extLst>
            </p:cNvPr>
            <p:cNvCxnSpPr>
              <a:cxnSpLocks/>
            </p:cNvCxnSpPr>
            <p:nvPr/>
          </p:nvCxnSpPr>
          <p:spPr>
            <a:xfrm>
              <a:off x="10003447" y="2565962"/>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Text Box 62">
              <a:extLst>
                <a:ext uri="{FF2B5EF4-FFF2-40B4-BE49-F238E27FC236}">
                  <a16:creationId xmlns:a16="http://schemas.microsoft.com/office/drawing/2014/main" id="{64E55467-A9C4-5A93-A777-3D3BB23512EE}"/>
                </a:ext>
              </a:extLst>
            </p:cNvPr>
            <p:cNvSpPr txBox="1"/>
            <p:nvPr/>
          </p:nvSpPr>
          <p:spPr>
            <a:xfrm>
              <a:off x="9903434" y="2786468"/>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a typeface="Calibri" panose="020F0502020204030204" pitchFamily="34" charset="0"/>
                  <a:cs typeface="Times New Roman" panose="02020603050405020304" pitchFamily="18" charset="0"/>
                </a:rPr>
                <a:t>6</a:t>
              </a:r>
              <a:endParaRPr lang="en-US" sz="1100" dirty="0">
                <a:effectLst/>
                <a:ea typeface="Calibri" panose="020F0502020204030204" pitchFamily="34" charset="0"/>
                <a:cs typeface="Times New Roman" panose="02020603050405020304" pitchFamily="18" charset="0"/>
              </a:endParaRPr>
            </a:p>
          </p:txBody>
        </p:sp>
        <p:sp>
          <p:nvSpPr>
            <p:cNvPr id="9" name="Rectangle 8">
              <a:extLst>
                <a:ext uri="{FF2B5EF4-FFF2-40B4-BE49-F238E27FC236}">
                  <a16:creationId xmlns:a16="http://schemas.microsoft.com/office/drawing/2014/main" id="{C9B79CFB-1951-4E96-F8F7-ECE1CF085746}"/>
                </a:ext>
              </a:extLst>
            </p:cNvPr>
            <p:cNvSpPr/>
            <p:nvPr/>
          </p:nvSpPr>
          <p:spPr>
            <a:xfrm>
              <a:off x="5986923" y="3175308"/>
              <a:ext cx="130187" cy="2476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 name="Straight Arrow Connector 9">
              <a:extLst>
                <a:ext uri="{FF2B5EF4-FFF2-40B4-BE49-F238E27FC236}">
                  <a16:creationId xmlns:a16="http://schemas.microsoft.com/office/drawing/2014/main" id="{40CEE4C6-5446-FAE5-F5B5-413946B0E532}"/>
                </a:ext>
              </a:extLst>
            </p:cNvPr>
            <p:cNvCxnSpPr>
              <a:cxnSpLocks/>
            </p:cNvCxnSpPr>
            <p:nvPr/>
          </p:nvCxnSpPr>
          <p:spPr>
            <a:xfrm>
              <a:off x="6046239" y="3416640"/>
              <a:ext cx="0" cy="2205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62">
              <a:extLst>
                <a:ext uri="{FF2B5EF4-FFF2-40B4-BE49-F238E27FC236}">
                  <a16:creationId xmlns:a16="http://schemas.microsoft.com/office/drawing/2014/main" id="{2EF16C1B-89BB-7422-1B68-9D0F41EBD502}"/>
                </a:ext>
              </a:extLst>
            </p:cNvPr>
            <p:cNvSpPr txBox="1"/>
            <p:nvPr/>
          </p:nvSpPr>
          <p:spPr>
            <a:xfrm>
              <a:off x="5955102" y="3650203"/>
              <a:ext cx="200025" cy="24762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012455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45" name="TextBox 44">
            <a:extLst>
              <a:ext uri="{FF2B5EF4-FFF2-40B4-BE49-F238E27FC236}">
                <a16:creationId xmlns:a16="http://schemas.microsoft.com/office/drawing/2014/main" id="{4B14687C-52A3-56C7-BB62-1861435F0424}"/>
              </a:ext>
            </a:extLst>
          </p:cNvPr>
          <p:cNvSpPr txBox="1"/>
          <p:nvPr/>
        </p:nvSpPr>
        <p:spPr>
          <a:xfrm>
            <a:off x="7256349" y="5815358"/>
            <a:ext cx="2552700" cy="47884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Calibri" panose="020F0502020204030204" pitchFamily="34" charset="0"/>
                <a:ea typeface="Calibri" panose="020F0502020204030204" pitchFamily="34" charset="0"/>
                <a:cs typeface="Calibri" panose="020F0502020204030204" pitchFamily="34" charset="0"/>
              </a:rPr>
              <a:t>  Accounts Payable Voucher – Main </a:t>
            </a:r>
            <a:r>
              <a:rPr lang="en-PH" sz="1200" dirty="0">
                <a:latin typeface="Calibri" panose="020F0502020204030204" pitchFamily="34" charset="0"/>
                <a:ea typeface="Calibri" panose="020F0502020204030204" pitchFamily="34" charset="0"/>
                <a:cs typeface="Calibri" panose="020F0502020204030204" pitchFamily="34" charset="0"/>
              </a:rPr>
              <a:t>form</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68" name="Text Box 854">
            <a:extLst>
              <a:ext uri="{FF2B5EF4-FFF2-40B4-BE49-F238E27FC236}">
                <a16:creationId xmlns:a16="http://schemas.microsoft.com/office/drawing/2014/main" id="{9845929A-47AB-7953-E946-C7A4D2E1538F}"/>
              </a:ext>
            </a:extLst>
          </p:cNvPr>
          <p:cNvSpPr txBox="1"/>
          <p:nvPr/>
        </p:nvSpPr>
        <p:spPr>
          <a:xfrm>
            <a:off x="708595" y="3526770"/>
            <a:ext cx="3852819" cy="40763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C8893AC7-359D-C22C-2311-9CD3A72D6B8F}"/>
              </a:ext>
            </a:extLst>
          </p:cNvPr>
          <p:cNvSpPr txBox="1"/>
          <p:nvPr/>
        </p:nvSpPr>
        <p:spPr>
          <a:xfrm>
            <a:off x="7273648" y="2990923"/>
            <a:ext cx="2552700" cy="47884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Calibri" panose="020F0502020204030204" pitchFamily="34" charset="0"/>
                <a:ea typeface="Calibri" panose="020F0502020204030204" pitchFamily="34" charset="0"/>
                <a:cs typeface="Calibri" panose="020F0502020204030204" pitchFamily="34" charset="0"/>
              </a:rPr>
              <a:t>  Accounts Payable Voucher – Main Windo</a:t>
            </a:r>
            <a:r>
              <a:rPr lang="en-PH" sz="1200" dirty="0">
                <a:latin typeface="Calibri" panose="020F0502020204030204" pitchFamily="34" charset="0"/>
                <a:ea typeface="Calibri" panose="020F0502020204030204" pitchFamily="34" charset="0"/>
                <a:cs typeface="Calibri" panose="020F0502020204030204" pitchFamily="34" charset="0"/>
              </a:rPr>
              <a:t>w</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C278DA03-424D-142E-BB8A-D8491412C4DA}"/>
              </a:ext>
            </a:extLst>
          </p:cNvPr>
          <p:cNvSpPr txBox="1"/>
          <p:nvPr/>
        </p:nvSpPr>
        <p:spPr>
          <a:xfrm>
            <a:off x="805110" y="112232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Delete APV Transaction?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4" name="Text Box 65">
            <a:extLst>
              <a:ext uri="{FF2B5EF4-FFF2-40B4-BE49-F238E27FC236}">
                <a16:creationId xmlns:a16="http://schemas.microsoft.com/office/drawing/2014/main" id="{1E9EB7A6-9663-FDE2-5365-91A0C0AA96C8}"/>
              </a:ext>
            </a:extLst>
          </p:cNvPr>
          <p:cNvSpPr txBox="1"/>
          <p:nvPr/>
        </p:nvSpPr>
        <p:spPr>
          <a:xfrm>
            <a:off x="761672" y="1524783"/>
            <a:ext cx="3746666" cy="1819910"/>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algn="just"/>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accounts payable voucher – main window, search the accounts payable voucher transaction you wish to edit its information in the search bar. Or,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gn="just"/>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accounts payable voucher – main form, click the lookup button and select the transaction you wish to edit its information by typing its transaction number in the search bar.</a:t>
            </a:r>
          </a:p>
          <a:p>
            <a:pPr algn="just"/>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DC058540-7D32-FB19-60A9-92F6C08D99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330" y="1116905"/>
            <a:ext cx="6078855" cy="1727200"/>
          </a:xfrm>
          <a:prstGeom prst="rect">
            <a:avLst/>
          </a:prstGeom>
        </p:spPr>
      </p:pic>
      <p:grpSp>
        <p:nvGrpSpPr>
          <p:cNvPr id="7" name="Group 6">
            <a:extLst>
              <a:ext uri="{FF2B5EF4-FFF2-40B4-BE49-F238E27FC236}">
                <a16:creationId xmlns:a16="http://schemas.microsoft.com/office/drawing/2014/main" id="{51FCE5E0-9CD4-4878-3CD2-2102D327A5FF}"/>
              </a:ext>
            </a:extLst>
          </p:cNvPr>
          <p:cNvGrpSpPr/>
          <p:nvPr/>
        </p:nvGrpSpPr>
        <p:grpSpPr>
          <a:xfrm>
            <a:off x="5358130" y="1974020"/>
            <a:ext cx="1475739" cy="333375"/>
            <a:chOff x="0" y="0"/>
            <a:chExt cx="1476374" cy="333375"/>
          </a:xfrm>
        </p:grpSpPr>
        <p:sp>
          <p:nvSpPr>
            <p:cNvPr id="8" name="Rectangle 7">
              <a:extLst>
                <a:ext uri="{FF2B5EF4-FFF2-40B4-BE49-F238E27FC236}">
                  <a16:creationId xmlns:a16="http://schemas.microsoft.com/office/drawing/2014/main" id="{D0619C3F-A686-FEDE-C6D6-44BE9DD600F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Arrow Connector 8">
              <a:extLst>
                <a:ext uri="{FF2B5EF4-FFF2-40B4-BE49-F238E27FC236}">
                  <a16:creationId xmlns:a16="http://schemas.microsoft.com/office/drawing/2014/main" id="{2C7BD255-FAC9-76DE-BAAB-BD27E6AF7D8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 Box 374">
              <a:extLst>
                <a:ext uri="{FF2B5EF4-FFF2-40B4-BE49-F238E27FC236}">
                  <a16:creationId xmlns:a16="http://schemas.microsoft.com/office/drawing/2014/main" id="{D2E1A84D-AC65-49C8-9E6F-10C7B6B376D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a:t>
              </a:r>
            </a:p>
          </p:txBody>
        </p:sp>
      </p:grpSp>
      <p:grpSp>
        <p:nvGrpSpPr>
          <p:cNvPr id="50" name="Group 49">
            <a:extLst>
              <a:ext uri="{FF2B5EF4-FFF2-40B4-BE49-F238E27FC236}">
                <a16:creationId xmlns:a16="http://schemas.microsoft.com/office/drawing/2014/main" id="{4322AEB2-D998-50CF-0342-F199A6ECF037}"/>
              </a:ext>
            </a:extLst>
          </p:cNvPr>
          <p:cNvGrpSpPr/>
          <p:nvPr/>
        </p:nvGrpSpPr>
        <p:grpSpPr>
          <a:xfrm>
            <a:off x="4575302" y="4023001"/>
            <a:ext cx="6728904" cy="1712677"/>
            <a:chOff x="4638281" y="4222115"/>
            <a:chExt cx="6728904" cy="1712677"/>
          </a:xfrm>
        </p:grpSpPr>
        <p:pic>
          <p:nvPicPr>
            <p:cNvPr id="11" name="Picture 10">
              <a:extLst>
                <a:ext uri="{FF2B5EF4-FFF2-40B4-BE49-F238E27FC236}">
                  <a16:creationId xmlns:a16="http://schemas.microsoft.com/office/drawing/2014/main" id="{60DD3D65-5C8B-BBCF-8A9C-8A991308C3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7840" y="4222115"/>
              <a:ext cx="6189345" cy="1575435"/>
            </a:xfrm>
            <a:prstGeom prst="rect">
              <a:avLst/>
            </a:prstGeom>
          </p:spPr>
        </p:pic>
        <p:grpSp>
          <p:nvGrpSpPr>
            <p:cNvPr id="12" name="Group 11">
              <a:extLst>
                <a:ext uri="{FF2B5EF4-FFF2-40B4-BE49-F238E27FC236}">
                  <a16:creationId xmlns:a16="http://schemas.microsoft.com/office/drawing/2014/main" id="{881C35E1-523D-6120-6D8D-C71DB88BFB6E}"/>
                </a:ext>
              </a:extLst>
            </p:cNvPr>
            <p:cNvGrpSpPr/>
            <p:nvPr/>
          </p:nvGrpSpPr>
          <p:grpSpPr>
            <a:xfrm>
              <a:off x="4638281" y="4429843"/>
              <a:ext cx="5403811" cy="1504949"/>
              <a:chOff x="0" y="0"/>
              <a:chExt cx="5404122" cy="1505403"/>
            </a:xfrm>
          </p:grpSpPr>
          <p:grpSp>
            <p:nvGrpSpPr>
              <p:cNvPr id="13" name="Group 12">
                <a:extLst>
                  <a:ext uri="{FF2B5EF4-FFF2-40B4-BE49-F238E27FC236}">
                    <a16:creationId xmlns:a16="http://schemas.microsoft.com/office/drawing/2014/main" id="{97C314BA-9B27-FADB-59A6-7635538437CA}"/>
                  </a:ext>
                </a:extLst>
              </p:cNvPr>
              <p:cNvGrpSpPr/>
              <p:nvPr/>
            </p:nvGrpSpPr>
            <p:grpSpPr>
              <a:xfrm>
                <a:off x="1828800" y="457200"/>
                <a:ext cx="952500" cy="304800"/>
                <a:chOff x="523874" y="28575"/>
                <a:chExt cx="952500" cy="304800"/>
              </a:xfrm>
            </p:grpSpPr>
            <p:sp>
              <p:nvSpPr>
                <p:cNvPr id="47" name="Rectangle 46">
                  <a:extLst>
                    <a:ext uri="{FF2B5EF4-FFF2-40B4-BE49-F238E27FC236}">
                      <a16:creationId xmlns:a16="http://schemas.microsoft.com/office/drawing/2014/main" id="{F6024CF2-9F25-013F-FA95-190DF16B5BF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8" name="Straight Arrow Connector 47">
                  <a:extLst>
                    <a:ext uri="{FF2B5EF4-FFF2-40B4-BE49-F238E27FC236}">
                      <a16:creationId xmlns:a16="http://schemas.microsoft.com/office/drawing/2014/main" id="{B5D0ED4B-1CE2-03BE-AECB-5D12C6D86B9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381">
                  <a:extLst>
                    <a:ext uri="{FF2B5EF4-FFF2-40B4-BE49-F238E27FC236}">
                      <a16:creationId xmlns:a16="http://schemas.microsoft.com/office/drawing/2014/main" id="{E6DB0422-7050-08E8-8729-602492AFEEC0}"/>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14" name="Group 13">
                <a:extLst>
                  <a:ext uri="{FF2B5EF4-FFF2-40B4-BE49-F238E27FC236}">
                    <a16:creationId xmlns:a16="http://schemas.microsoft.com/office/drawing/2014/main" id="{7914EE41-30A1-7FB1-9E47-5B8363C6FBBA}"/>
                  </a:ext>
                </a:extLst>
              </p:cNvPr>
              <p:cNvGrpSpPr/>
              <p:nvPr/>
            </p:nvGrpSpPr>
            <p:grpSpPr>
              <a:xfrm>
                <a:off x="3087698" y="234745"/>
                <a:ext cx="981078" cy="304800"/>
                <a:chOff x="-1918371" y="78263"/>
                <a:chExt cx="981078" cy="304800"/>
              </a:xfrm>
            </p:grpSpPr>
            <p:sp>
              <p:nvSpPr>
                <p:cNvPr id="30" name="Rectangle 29">
                  <a:extLst>
                    <a:ext uri="{FF2B5EF4-FFF2-40B4-BE49-F238E27FC236}">
                      <a16:creationId xmlns:a16="http://schemas.microsoft.com/office/drawing/2014/main" id="{FC2CA959-DF4C-59EC-2279-90052A220CD9}"/>
                    </a:ext>
                  </a:extLst>
                </p:cNvPr>
                <p:cNvSpPr/>
                <p:nvPr/>
              </p:nvSpPr>
              <p:spPr>
                <a:xfrm>
                  <a:off x="-1918371" y="78263"/>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1" name="Straight Arrow Connector 30">
                  <a:extLst>
                    <a:ext uri="{FF2B5EF4-FFF2-40B4-BE49-F238E27FC236}">
                      <a16:creationId xmlns:a16="http://schemas.microsoft.com/office/drawing/2014/main" id="{3199565E-ADB6-497D-799B-4F9A40E767CF}"/>
                    </a:ext>
                  </a:extLst>
                </p:cNvPr>
                <p:cNvCxnSpPr/>
                <p:nvPr/>
              </p:nvCxnSpPr>
              <p:spPr>
                <a:xfrm>
                  <a:off x="-1451643" y="183038"/>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385">
                  <a:extLst>
                    <a:ext uri="{FF2B5EF4-FFF2-40B4-BE49-F238E27FC236}">
                      <a16:creationId xmlns:a16="http://schemas.microsoft.com/office/drawing/2014/main" id="{DC92FD3F-BF2E-9508-7C1C-48C6366A116D}"/>
                    </a:ext>
                  </a:extLst>
                </p:cNvPr>
                <p:cNvSpPr txBox="1"/>
                <p:nvPr/>
              </p:nvSpPr>
              <p:spPr>
                <a:xfrm>
                  <a:off x="-1242093" y="78263"/>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nvGrpSpPr>
              <p:cNvPr id="15" name="Group 14">
                <a:extLst>
                  <a:ext uri="{FF2B5EF4-FFF2-40B4-BE49-F238E27FC236}">
                    <a16:creationId xmlns:a16="http://schemas.microsoft.com/office/drawing/2014/main" id="{A1472803-3411-2D9C-B665-59DC8B58FF42}"/>
                  </a:ext>
                </a:extLst>
              </p:cNvPr>
              <p:cNvGrpSpPr>
                <a:grpSpLocks/>
              </p:cNvGrpSpPr>
              <p:nvPr/>
            </p:nvGrpSpPr>
            <p:grpSpPr bwMode="auto">
              <a:xfrm>
                <a:off x="2851422" y="625928"/>
                <a:ext cx="2552700" cy="879475"/>
                <a:chOff x="6116" y="177"/>
                <a:chExt cx="4020" cy="1385"/>
              </a:xfrm>
            </p:grpSpPr>
            <p:pic>
              <p:nvPicPr>
                <p:cNvPr id="25" name="Picture 24">
                  <a:extLst>
                    <a:ext uri="{FF2B5EF4-FFF2-40B4-BE49-F238E27FC236}">
                      <a16:creationId xmlns:a16="http://schemas.microsoft.com/office/drawing/2014/main" id="{DF49F6EC-86C8-148D-A09D-660C8D72FC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6" y="177"/>
                  <a:ext cx="3625"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41">
                  <a:extLst>
                    <a:ext uri="{FF2B5EF4-FFF2-40B4-BE49-F238E27FC236}">
                      <a16:creationId xmlns:a16="http://schemas.microsoft.com/office/drawing/2014/main" id="{0137D161-23C3-3B8C-D85B-04851DDA7434}"/>
                    </a:ext>
                  </a:extLst>
                </p:cNvPr>
                <p:cNvSpPr txBox="1">
                  <a:spLocks noChangeArrowheads="1"/>
                </p:cNvSpPr>
                <p:nvPr/>
              </p:nvSpPr>
              <p:spPr bwMode="auto">
                <a:xfrm>
                  <a:off x="6116" y="177"/>
                  <a:ext cx="4020" cy="138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APV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ct val="115000"/>
                    </a:lnSpc>
                    <a:spcBef>
                      <a:spcPts val="0"/>
                    </a:spcBef>
                    <a:spcAft>
                      <a:spcPts val="0"/>
                    </a:spcAft>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228600">
                    <a:lnSpc>
                      <a:spcPts val="975"/>
                    </a:lnSpc>
                    <a:spcBef>
                      <a:spcPts val="5"/>
                    </a:spcBef>
                    <a:spcAft>
                      <a:spcPts val="0"/>
                    </a:spcAft>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29565" marR="0" indent="-228600">
                    <a:lnSpc>
                      <a:spcPts val="975"/>
                    </a:lnSpc>
                    <a:spcBef>
                      <a:spcPts val="0"/>
                    </a:spcBef>
                    <a:spcAft>
                      <a:spcPts val="0"/>
                    </a:spcAft>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16" name="Text Box 386">
                <a:extLst>
                  <a:ext uri="{FF2B5EF4-FFF2-40B4-BE49-F238E27FC236}">
                    <a16:creationId xmlns:a16="http://schemas.microsoft.com/office/drawing/2014/main" id="{E2272E62-8D46-7BEB-10CD-282B6106A120}"/>
                  </a:ext>
                </a:extLst>
              </p:cNvPr>
              <p:cNvSpPr txBox="1"/>
              <p:nvPr/>
            </p:nvSpPr>
            <p:spPr>
              <a:xfrm>
                <a:off x="0" y="0"/>
                <a:ext cx="1306286" cy="273132"/>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3" name="TextBox 2">
            <a:extLst>
              <a:ext uri="{FF2B5EF4-FFF2-40B4-BE49-F238E27FC236}">
                <a16:creationId xmlns:a16="http://schemas.microsoft.com/office/drawing/2014/main" id="{CBA553DF-920A-AEBB-6B04-8181D512C92E}"/>
              </a:ext>
            </a:extLst>
          </p:cNvPr>
          <p:cNvSpPr txBox="1"/>
          <p:nvPr/>
        </p:nvSpPr>
        <p:spPr>
          <a:xfrm>
            <a:off x="278563" y="116243"/>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43E30395-C4AB-A8DD-613A-7FB99F9EDD75}"/>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22216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78290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Information</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125729"/>
            <a:ext cx="3852820" cy="467470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accounts payable voucher – main form will be minimize and the other information will be displayed as shown in the photo.</a:t>
            </a:r>
          </a:p>
          <a:p>
            <a:pPr marL="0" marR="227330">
              <a:lnSpc>
                <a:spcPct val="107000"/>
              </a:lnSpc>
              <a:spcBef>
                <a:spcPts val="19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a:lnSpc>
                <a:spcPct val="107000"/>
              </a:lnSpc>
              <a:spcBef>
                <a:spcPts val="190"/>
              </a:spcBef>
              <a:spcAft>
                <a:spcPts val="800"/>
              </a:spcAft>
            </a:pPr>
            <a:r>
              <a:rPr lang="en-US" sz="1100" b="1" dirty="0">
                <a:effectLst/>
                <a:ea typeface="Times New Roman" panose="02020603050405020304" pitchFamily="18" charset="0"/>
                <a:cs typeface="Times New Roman" panose="02020603050405020304" pitchFamily="18" charset="0"/>
              </a:rPr>
              <a:t>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Click maximize arrow to view the Particular tab</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n-US" sz="1100" dirty="0">
                <a:effectLst/>
                <a:ea typeface="Times New Roman" panose="02020603050405020304" pitchFamily="18" charset="0"/>
                <a:cs typeface="Times New Roman" panose="02020603050405020304" pitchFamily="18" charset="0"/>
              </a:rPr>
              <a:t>Provide the necessary details in their fields</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2.1. Click Add button to add new row</a:t>
            </a:r>
          </a:p>
          <a:p>
            <a:pPr lvl="1" algn="just">
              <a:lnSpc>
                <a:spcPct val="115000"/>
              </a:lnSpc>
            </a:pPr>
            <a:r>
              <a:rPr lang="en-US" sz="1100" dirty="0">
                <a:ea typeface="Times New Roman" panose="02020603050405020304" pitchFamily="18" charset="0"/>
                <a:cs typeface="Times New Roman" panose="02020603050405020304" pitchFamily="18" charset="0"/>
              </a:rPr>
              <a:t>2.2. </a:t>
            </a:r>
            <a:r>
              <a:rPr lang="en-US" sz="1100" dirty="0">
                <a:effectLst/>
                <a:ea typeface="Times New Roman" panose="02020603050405020304" pitchFamily="18" charset="0"/>
                <a:cs typeface="Times New Roman" panose="02020603050405020304" pitchFamily="18" charset="0"/>
              </a:rPr>
              <a:t>Type particular and amount if there’s any</a:t>
            </a:r>
            <a:endParaRPr lang="en-PH" sz="1100" dirty="0">
              <a:effectLst/>
              <a:ea typeface="Calibri" panose="020F0502020204030204" pitchFamily="34" charset="0"/>
              <a:cs typeface="Times New Roman" panose="02020603050405020304" pitchFamily="18" charset="0"/>
            </a:endParaRPr>
          </a:p>
          <a:p>
            <a:pPr lvl="1" algn="just">
              <a:lnSpc>
                <a:spcPct val="115000"/>
              </a:lnSpc>
            </a:pPr>
            <a:r>
              <a:rPr lang="en-US" sz="1100" dirty="0">
                <a:effectLst/>
                <a:ea typeface="Times New Roman" panose="02020603050405020304" pitchFamily="18" charset="0"/>
                <a:cs typeface="Times New Roman" panose="02020603050405020304" pitchFamily="18" charset="0"/>
              </a:rPr>
              <a:t>2.3. If done, click save all button</a:t>
            </a:r>
            <a:endParaRPr lang="en-PH" sz="1100" dirty="0">
              <a:effectLst/>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mj-lt"/>
              <a:buAutoNum type="arabicPeriod"/>
            </a:pPr>
            <a:r>
              <a:rPr lang="en-US" sz="1100" dirty="0">
                <a:effectLst/>
                <a:ea typeface="Times New Roman" panose="02020603050405020304" pitchFamily="18" charset="0"/>
                <a:cs typeface="Times New Roman" panose="02020603050405020304" pitchFamily="18" charset="0"/>
              </a:rPr>
              <a:t>Click save button once done</a:t>
            </a:r>
          </a:p>
          <a:p>
            <a:pPr lvl="0" algn="just">
              <a:lnSpc>
                <a:spcPct val="115000"/>
              </a:lnSpc>
              <a:spcAft>
                <a:spcPts val="1000"/>
              </a:spcAft>
            </a:pPr>
            <a:r>
              <a:rPr lang="en-US" sz="1100" b="1" dirty="0">
                <a:effectLst/>
                <a:latin typeface="Calibri" panose="020F0502020204030204" pitchFamily="34" charset="0"/>
                <a:ea typeface="Calibri" panose="020F0502020204030204" pitchFamily="34" charset="0"/>
                <a:cs typeface="Times New Roman" panose="02020603050405020304" pitchFamily="18" charset="0"/>
              </a:rPr>
              <a:t>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1. Click maximize arrow to view the attachment tab</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2. Click add document button</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lvl="0" algn="just"/>
            <a:r>
              <a:rPr lang="en-US" sz="1100" dirty="0">
                <a:effectLst/>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lvl="0" algn="just">
              <a:lnSpc>
                <a:spcPct val="115000"/>
              </a:lnSpc>
              <a:spcAft>
                <a:spcPts val="1000"/>
              </a:spcAft>
            </a:pPr>
            <a:endParaRPr lang="en-PH" sz="1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D88C4B5-67A1-AD81-C175-531AAAE0FB0D}"/>
              </a:ext>
            </a:extLst>
          </p:cNvPr>
          <p:cNvSpPr txBox="1"/>
          <p:nvPr/>
        </p:nvSpPr>
        <p:spPr>
          <a:xfrm>
            <a:off x="239951" y="11620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AD9A1242-B5FF-194A-55C9-64C0A75E1EC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pic>
        <p:nvPicPr>
          <p:cNvPr id="7" name="Picture 6">
            <a:extLst>
              <a:ext uri="{FF2B5EF4-FFF2-40B4-BE49-F238E27FC236}">
                <a16:creationId xmlns:a16="http://schemas.microsoft.com/office/drawing/2014/main" id="{02FE5247-D048-824F-4663-7C0C4C7813EF}"/>
              </a:ext>
            </a:extLst>
          </p:cNvPr>
          <p:cNvPicPr>
            <a:picLocks noChangeAspect="1"/>
          </p:cNvPicPr>
          <p:nvPr/>
        </p:nvPicPr>
        <p:blipFill>
          <a:blip r:embed="rId3"/>
          <a:stretch>
            <a:fillRect/>
          </a:stretch>
        </p:blipFill>
        <p:spPr>
          <a:xfrm>
            <a:off x="5360110" y="658189"/>
            <a:ext cx="6040032" cy="829237"/>
          </a:xfrm>
          <a:prstGeom prst="rect">
            <a:avLst/>
          </a:prstGeom>
        </p:spPr>
      </p:pic>
      <p:grpSp>
        <p:nvGrpSpPr>
          <p:cNvPr id="901" name="Group 900">
            <a:extLst>
              <a:ext uri="{FF2B5EF4-FFF2-40B4-BE49-F238E27FC236}">
                <a16:creationId xmlns:a16="http://schemas.microsoft.com/office/drawing/2014/main" id="{5D18C6C9-FADA-FF57-0BFB-6525009F091A}"/>
              </a:ext>
            </a:extLst>
          </p:cNvPr>
          <p:cNvGrpSpPr/>
          <p:nvPr/>
        </p:nvGrpSpPr>
        <p:grpSpPr>
          <a:xfrm>
            <a:off x="5727869" y="1946864"/>
            <a:ext cx="5470901" cy="1430421"/>
            <a:chOff x="6430729" y="1985714"/>
            <a:chExt cx="4349750" cy="1137285"/>
          </a:xfrm>
        </p:grpSpPr>
        <p:pic>
          <p:nvPicPr>
            <p:cNvPr id="10" name="Picture 9">
              <a:extLst>
                <a:ext uri="{FF2B5EF4-FFF2-40B4-BE49-F238E27FC236}">
                  <a16:creationId xmlns:a16="http://schemas.microsoft.com/office/drawing/2014/main" id="{C1BEFB49-1AC8-8B89-DD7B-B6EC7BA6B85F}"/>
                </a:ext>
              </a:extLst>
            </p:cNvPr>
            <p:cNvPicPr>
              <a:picLocks noChangeAspect="1"/>
            </p:cNvPicPr>
            <p:nvPr/>
          </p:nvPicPr>
          <p:blipFill>
            <a:blip r:embed="rId4"/>
            <a:stretch>
              <a:fillRect/>
            </a:stretch>
          </p:blipFill>
          <p:spPr bwMode="auto">
            <a:xfrm>
              <a:off x="6430729" y="1985714"/>
              <a:ext cx="4349750" cy="1137285"/>
            </a:xfrm>
            <a:prstGeom prst="rect">
              <a:avLst/>
            </a:prstGeom>
            <a:ln>
              <a:noFill/>
            </a:ln>
            <a:effectLst>
              <a:outerShdw blurRad="292100" dist="139700" dir="2700000" algn="tl" rotWithShape="0">
                <a:srgbClr val="333333">
                  <a:alpha val="65000"/>
                </a:srgbClr>
              </a:outerShdw>
            </a:effectLst>
          </p:spPr>
        </p:pic>
        <p:sp>
          <p:nvSpPr>
            <p:cNvPr id="11" name="Rectangle 898">
              <a:extLst>
                <a:ext uri="{FF2B5EF4-FFF2-40B4-BE49-F238E27FC236}">
                  <a16:creationId xmlns:a16="http://schemas.microsoft.com/office/drawing/2014/main" id="{1E612D13-1F24-A82A-6A97-42EE5AF5B53E}"/>
                </a:ext>
              </a:extLst>
            </p:cNvPr>
            <p:cNvSpPr>
              <a:spLocks noChangeArrowheads="1"/>
            </p:cNvSpPr>
            <p:nvPr/>
          </p:nvSpPr>
          <p:spPr bwMode="auto">
            <a:xfrm>
              <a:off x="9682055" y="2490260"/>
              <a:ext cx="378936"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13" name="Text Box 900">
              <a:extLst>
                <a:ext uri="{FF2B5EF4-FFF2-40B4-BE49-F238E27FC236}">
                  <a16:creationId xmlns:a16="http://schemas.microsoft.com/office/drawing/2014/main" id="{9B4710E5-54A1-279A-F5B6-36AF799AF3CD}"/>
                </a:ext>
              </a:extLst>
            </p:cNvPr>
            <p:cNvSpPr txBox="1">
              <a:spLocks noChangeArrowheads="1"/>
            </p:cNvSpPr>
            <p:nvPr/>
          </p:nvSpPr>
          <p:spPr bwMode="auto">
            <a:xfrm>
              <a:off x="9464632" y="2105381"/>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rPr>
                <a:t>2.1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4">
              <a:extLst>
                <a:ext uri="{FF2B5EF4-FFF2-40B4-BE49-F238E27FC236}">
                  <a16:creationId xmlns:a16="http://schemas.microsoft.com/office/drawing/2014/main" id="{365EFC1F-4E96-47ED-303D-B1690B96A366}"/>
                </a:ext>
              </a:extLst>
            </p:cNvPr>
            <p:cNvSpPr>
              <a:spLocks noChangeArrowheads="1"/>
            </p:cNvSpPr>
            <p:nvPr/>
          </p:nvSpPr>
          <p:spPr bwMode="auto">
            <a:xfrm>
              <a:off x="10140019" y="2493987"/>
              <a:ext cx="506689" cy="1619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pic>
          <p:nvPicPr>
            <p:cNvPr id="20" name="Picture 19">
              <a:extLst>
                <a:ext uri="{FF2B5EF4-FFF2-40B4-BE49-F238E27FC236}">
                  <a16:creationId xmlns:a16="http://schemas.microsoft.com/office/drawing/2014/main" id="{13121F0B-BF6C-4FFC-F01C-B249183E8C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3339" y="2110567"/>
              <a:ext cx="504762" cy="314286"/>
            </a:xfrm>
            <a:prstGeom prst="rect">
              <a:avLst/>
            </a:prstGeom>
          </p:spPr>
        </p:pic>
        <p:cxnSp>
          <p:nvCxnSpPr>
            <p:cNvPr id="22" name="AutoShape 6">
              <a:extLst>
                <a:ext uri="{FF2B5EF4-FFF2-40B4-BE49-F238E27FC236}">
                  <a16:creationId xmlns:a16="http://schemas.microsoft.com/office/drawing/2014/main" id="{8582F674-30DE-3E58-64E9-D9ABEE6A4CC0}"/>
                </a:ext>
              </a:extLst>
            </p:cNvPr>
            <p:cNvCxnSpPr>
              <a:cxnSpLocks noChangeShapeType="1"/>
            </p:cNvCxnSpPr>
            <p:nvPr/>
          </p:nvCxnSpPr>
          <p:spPr bwMode="auto">
            <a:xfrm flipH="1" flipV="1">
              <a:off x="9767424" y="2359447"/>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6">
              <a:extLst>
                <a:ext uri="{FF2B5EF4-FFF2-40B4-BE49-F238E27FC236}">
                  <a16:creationId xmlns:a16="http://schemas.microsoft.com/office/drawing/2014/main" id="{D3D11AA6-32B7-588A-5ADC-0AA655246426}"/>
                </a:ext>
              </a:extLst>
            </p:cNvPr>
            <p:cNvCxnSpPr>
              <a:cxnSpLocks noChangeShapeType="1"/>
            </p:cNvCxnSpPr>
            <p:nvPr/>
          </p:nvCxnSpPr>
          <p:spPr bwMode="auto">
            <a:xfrm flipH="1" flipV="1">
              <a:off x="10343891" y="2339565"/>
              <a:ext cx="203658" cy="130813"/>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grpSp>
      <p:grpSp>
        <p:nvGrpSpPr>
          <p:cNvPr id="900" name="Group 899">
            <a:extLst>
              <a:ext uri="{FF2B5EF4-FFF2-40B4-BE49-F238E27FC236}">
                <a16:creationId xmlns:a16="http://schemas.microsoft.com/office/drawing/2014/main" id="{59C099A5-2A24-AF95-638E-AC6A37D1B4A5}"/>
              </a:ext>
            </a:extLst>
          </p:cNvPr>
          <p:cNvGrpSpPr/>
          <p:nvPr/>
        </p:nvGrpSpPr>
        <p:grpSpPr>
          <a:xfrm>
            <a:off x="5993755" y="4055658"/>
            <a:ext cx="5662254" cy="1853632"/>
            <a:chOff x="6261610" y="3735002"/>
            <a:chExt cx="5138532" cy="1682183"/>
          </a:xfrm>
        </p:grpSpPr>
        <p:pic>
          <p:nvPicPr>
            <p:cNvPr id="26" name="Picture 25">
              <a:extLst>
                <a:ext uri="{FF2B5EF4-FFF2-40B4-BE49-F238E27FC236}">
                  <a16:creationId xmlns:a16="http://schemas.microsoft.com/office/drawing/2014/main" id="{A0F171D5-2A3C-D864-F792-F6585B06DA79}"/>
                </a:ext>
              </a:extLst>
            </p:cNvPr>
            <p:cNvPicPr>
              <a:picLocks noChangeAspect="1"/>
            </p:cNvPicPr>
            <p:nvPr/>
          </p:nvPicPr>
          <p:blipFill>
            <a:blip r:embed="rId6"/>
            <a:srcRect/>
            <a:stretch>
              <a:fillRect/>
            </a:stretch>
          </p:blipFill>
          <p:spPr bwMode="auto">
            <a:xfrm>
              <a:off x="6261610" y="3735002"/>
              <a:ext cx="4890135" cy="1358900"/>
            </a:xfrm>
            <a:prstGeom prst="rect">
              <a:avLst/>
            </a:prstGeom>
            <a:ln>
              <a:noFill/>
            </a:ln>
            <a:effectLst>
              <a:outerShdw blurRad="292100" dist="139700" dir="2700000" algn="tl" rotWithShape="0">
                <a:srgbClr val="333333">
                  <a:alpha val="65000"/>
                </a:srgbClr>
              </a:outerShdw>
            </a:effectLst>
          </p:spPr>
        </p:pic>
        <p:sp>
          <p:nvSpPr>
            <p:cNvPr id="30" name="Text Box 7">
              <a:extLst>
                <a:ext uri="{FF2B5EF4-FFF2-40B4-BE49-F238E27FC236}">
                  <a16:creationId xmlns:a16="http://schemas.microsoft.com/office/drawing/2014/main" id="{1582B807-30D5-4E6F-37FB-F3B7A57634B0}"/>
                </a:ext>
              </a:extLst>
            </p:cNvPr>
            <p:cNvSpPr txBox="1">
              <a:spLocks noChangeArrowheads="1"/>
            </p:cNvSpPr>
            <p:nvPr/>
          </p:nvSpPr>
          <p:spPr bwMode="auto">
            <a:xfrm>
              <a:off x="6261610" y="4158615"/>
              <a:ext cx="2241146" cy="101374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algn="l" defTabSz="914400" rtl="0" eaLnBrk="0" fontAlgn="base" latinLnBrk="0" hangingPunct="0">
                <a:lnSpc>
                  <a:spcPct val="100000"/>
                </a:lnSpc>
                <a:spcBef>
                  <a:spcPts val="438"/>
                </a:spcBef>
                <a:spcAft>
                  <a:spcPts val="800"/>
                </a:spcAft>
                <a:buClrTx/>
                <a:buSzTx/>
                <a:buFontTx/>
                <a:buNone/>
                <a:tabLst/>
              </a:pPr>
              <a:r>
                <a:rPr kumimoji="0" lang="en-PH" altLang="en-US" sz="1000" b="0" i="1" u="none" strike="noStrike" cap="none" normalizeH="0" baseline="0" dirty="0">
                  <a:ln>
                    <a:noFill/>
                  </a:ln>
                  <a:solidFill>
                    <a:srgbClr val="4F6128"/>
                  </a:solidFill>
                  <a:effectLst/>
                  <a:latin typeface="Calibri" panose="020F0502020204030204" pitchFamily="34" charset="0"/>
                </a:rPr>
                <a:t>How to upload document?</a:t>
              </a:r>
              <a:endParaRPr kumimoji="0" lang="en-PH" altLang="en-US" sz="1000" b="0" i="1" u="none" strike="noStrike" cap="none" normalizeH="0" baseline="0" dirty="0">
                <a:ln>
                  <a:noFill/>
                </a:ln>
                <a:solidFill>
                  <a:schemeClr val="tx1"/>
                </a:solidFill>
                <a:effectLst/>
                <a:latin typeface="Times New Roman" panose="02020603050405020304" pitchFamily="18" charset="0"/>
              </a:endParaRPr>
            </a:p>
            <a:p>
              <a:pPr marL="268288" marR="0" lvl="1" indent="-92075"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Type the title of the document.</a:t>
              </a:r>
              <a:endParaRPr kumimoji="0" lang="en-US" altLang="en-US" sz="1000" b="0" i="0" u="none" strike="noStrike" cap="none" normalizeH="0" baseline="0" dirty="0">
                <a:ln>
                  <a:noFill/>
                </a:ln>
                <a:solidFill>
                  <a:schemeClr val="tx1"/>
                </a:solidFill>
                <a:effectLst/>
              </a:endParaRP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Click add button to add the chosen document to upload</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Then click upload button.</a:t>
              </a:r>
            </a:p>
            <a:p>
              <a:pPr marL="268288" marR="0" lvl="1" indent="-92075" algn="l" defTabSz="914400" rtl="0" eaLnBrk="0" fontAlgn="base" latinLnBrk="0" hangingPunct="0">
                <a:lnSpc>
                  <a:spcPct val="78000"/>
                </a:lnSpc>
                <a:spcBef>
                  <a:spcPct val="0"/>
                </a:spcBef>
                <a:spcAft>
                  <a:spcPct val="0"/>
                </a:spcAft>
                <a:buClrTx/>
                <a:buSzTx/>
                <a:buFont typeface="+mj-lt"/>
                <a:buAutoNum type="arabicPeriod"/>
                <a:tabLst/>
              </a:pPr>
              <a:r>
                <a:rPr kumimoji="0" lang="en-US" altLang="en-US" sz="800" b="0" i="0" u="none" strike="noStrike" cap="none" normalizeH="0" baseline="0" dirty="0">
                  <a:ln>
                    <a:noFill/>
                  </a:ln>
                  <a:solidFill>
                    <a:schemeClr val="tx1"/>
                  </a:solidFill>
                  <a:effectLst/>
                </a:rPr>
                <a:t>If you want to add more document, click add document button and repeat steps 1 to #3</a:t>
              </a:r>
              <a:endParaRPr kumimoji="0" lang="en-US" altLang="en-US" sz="1800" b="0" i="0" u="none" strike="noStrike" cap="none" normalizeH="0" baseline="0" dirty="0">
                <a:ln>
                  <a:noFill/>
                </a:ln>
                <a:solidFill>
                  <a:schemeClr val="tx1"/>
                </a:solidFill>
                <a:effectLst/>
              </a:endParaRPr>
            </a:p>
          </p:txBody>
        </p:sp>
        <p:pic>
          <p:nvPicPr>
            <p:cNvPr id="31" name="Picture 30">
              <a:extLst>
                <a:ext uri="{FF2B5EF4-FFF2-40B4-BE49-F238E27FC236}">
                  <a16:creationId xmlns:a16="http://schemas.microsoft.com/office/drawing/2014/main" id="{99B8F058-922B-3D4A-0C92-F63D28814312}"/>
                </a:ext>
              </a:extLst>
            </p:cNvPr>
            <p:cNvPicPr>
              <a:picLocks noChangeAspect="1"/>
            </p:cNvPicPr>
            <p:nvPr/>
          </p:nvPicPr>
          <p:blipFill>
            <a:blip r:embed="rId7"/>
            <a:srcRect/>
            <a:stretch>
              <a:fillRect/>
            </a:stretch>
          </p:blipFill>
          <p:spPr bwMode="auto">
            <a:xfrm>
              <a:off x="8565789" y="4158615"/>
              <a:ext cx="1797685" cy="1258570"/>
            </a:xfrm>
            <a:prstGeom prst="rect">
              <a:avLst/>
            </a:prstGeom>
            <a:noFill/>
            <a:ln w="9525">
              <a:noFill/>
              <a:miter lim="800000"/>
              <a:headEnd/>
              <a:tailEnd/>
            </a:ln>
          </p:spPr>
        </p:pic>
        <p:sp>
          <p:nvSpPr>
            <p:cNvPr id="896" name="Rectangle 8">
              <a:extLst>
                <a:ext uri="{FF2B5EF4-FFF2-40B4-BE49-F238E27FC236}">
                  <a16:creationId xmlns:a16="http://schemas.microsoft.com/office/drawing/2014/main" id="{E7BF1967-71B4-EE33-A347-EB136524C9B8}"/>
                </a:ext>
              </a:extLst>
            </p:cNvPr>
            <p:cNvSpPr>
              <a:spLocks noChangeArrowheads="1"/>
            </p:cNvSpPr>
            <p:nvPr/>
          </p:nvSpPr>
          <p:spPr bwMode="auto">
            <a:xfrm>
              <a:off x="10426507" y="4163850"/>
              <a:ext cx="714216" cy="1763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PH"/>
            </a:p>
          </p:txBody>
        </p:sp>
        <p:sp>
          <p:nvSpPr>
            <p:cNvPr id="897" name="AutoShape 9">
              <a:extLst>
                <a:ext uri="{FF2B5EF4-FFF2-40B4-BE49-F238E27FC236}">
                  <a16:creationId xmlns:a16="http://schemas.microsoft.com/office/drawing/2014/main" id="{92191BC8-9C0F-F95A-E72D-2B59D3BFB2FD}"/>
                </a:ext>
              </a:extLst>
            </p:cNvPr>
            <p:cNvSpPr>
              <a:spLocks noChangeArrowheads="1"/>
            </p:cNvSpPr>
            <p:nvPr/>
          </p:nvSpPr>
          <p:spPr bwMode="auto">
            <a:xfrm rot="832617" flipH="1">
              <a:off x="10252303" y="4359558"/>
              <a:ext cx="233363" cy="92075"/>
            </a:xfrm>
            <a:prstGeom prst="curvedUpArrow">
              <a:avLst>
                <a:gd name="adj1" fmla="val 29827"/>
                <a:gd name="adj2" fmla="val 5963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endParaRPr lang="en-PH"/>
            </a:p>
          </p:txBody>
        </p:sp>
        <p:sp>
          <p:nvSpPr>
            <p:cNvPr id="898" name="Text Box 10">
              <a:extLst>
                <a:ext uri="{FF2B5EF4-FFF2-40B4-BE49-F238E27FC236}">
                  <a16:creationId xmlns:a16="http://schemas.microsoft.com/office/drawing/2014/main" id="{C4CA4518-2860-52C1-5FE6-75D228177C61}"/>
                </a:ext>
              </a:extLst>
            </p:cNvPr>
            <p:cNvSpPr txBox="1">
              <a:spLocks noChangeArrowheads="1"/>
            </p:cNvSpPr>
            <p:nvPr/>
          </p:nvSpPr>
          <p:spPr bwMode="auto">
            <a:xfrm>
              <a:off x="10925480" y="3848814"/>
              <a:ext cx="474662" cy="2857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702226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65" name="TextBox 64">
            <a:extLst>
              <a:ext uri="{FF2B5EF4-FFF2-40B4-BE49-F238E27FC236}">
                <a16:creationId xmlns:a16="http://schemas.microsoft.com/office/drawing/2014/main" id="{E7777D04-D73F-74AB-C30B-7D3C9397264F}"/>
              </a:ext>
            </a:extLst>
          </p:cNvPr>
          <p:cNvSpPr txBox="1"/>
          <p:nvPr/>
        </p:nvSpPr>
        <p:spPr>
          <a:xfrm>
            <a:off x="769595" y="1495850"/>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Other Buttons</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9" name="Picture 8">
            <a:extLst>
              <a:ext uri="{FF2B5EF4-FFF2-40B4-BE49-F238E27FC236}">
                <a16:creationId xmlns:a16="http://schemas.microsoft.com/office/drawing/2014/main" id="{49F9D88F-C2FC-12E1-1467-4393FD42B8F5}"/>
              </a:ext>
            </a:extLst>
          </p:cNvPr>
          <p:cNvPicPr>
            <a:picLocks noChangeAspect="1"/>
          </p:cNvPicPr>
          <p:nvPr/>
        </p:nvPicPr>
        <p:blipFill>
          <a:blip r:embed="rId3"/>
          <a:stretch>
            <a:fillRect/>
          </a:stretch>
        </p:blipFill>
        <p:spPr>
          <a:xfrm>
            <a:off x="2774997" y="1833242"/>
            <a:ext cx="6249809" cy="2850509"/>
          </a:xfrm>
          <a:prstGeom prst="rect">
            <a:avLst/>
          </a:prstGeom>
        </p:spPr>
      </p:pic>
      <p:sp>
        <p:nvSpPr>
          <p:cNvPr id="4" name="TextBox 3">
            <a:extLst>
              <a:ext uri="{FF2B5EF4-FFF2-40B4-BE49-F238E27FC236}">
                <a16:creationId xmlns:a16="http://schemas.microsoft.com/office/drawing/2014/main" id="{7D88C4B5-67A1-AD81-C175-531AAAE0FB0D}"/>
              </a:ext>
            </a:extLst>
          </p:cNvPr>
          <p:cNvSpPr txBox="1"/>
          <p:nvPr/>
        </p:nvSpPr>
        <p:spPr>
          <a:xfrm>
            <a:off x="239951" y="116202"/>
            <a:ext cx="4912109"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Payables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 Accounts Payable Voucher</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 name="Slide Number Placeholder 9">
            <a:extLst>
              <a:ext uri="{FF2B5EF4-FFF2-40B4-BE49-F238E27FC236}">
                <a16:creationId xmlns:a16="http://schemas.microsoft.com/office/drawing/2014/main" id="{AD9A1242-B5FF-194A-55C9-64C0A75E1EC7}"/>
              </a:ext>
            </a:extLst>
          </p:cNvPr>
          <p:cNvSpPr>
            <a:spLocks noGrp="1"/>
          </p:cNvSpPr>
          <p:nvPr/>
        </p:nvSpPr>
        <p:spPr>
          <a:xfrm>
            <a:off x="93608" y="6342656"/>
            <a:ext cx="540917" cy="365125"/>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9909092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PresentationFormat>Widescreen</PresentationFormat>
  <Paragraphs>194</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Animosa Extra Bold</vt:lpstr>
      <vt:lpstr>Arial</vt:lpstr>
      <vt:lpstr>Bodoni MT Condensed</vt:lpstr>
      <vt:lpstr>Calibri</vt:lpstr>
      <vt:lpstr>Calibri Light</vt:lpstr>
      <vt:lpstr>Century Gothic</vt:lpstr>
      <vt:lpstr>Chivo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2023-01-10T09:20:19Z</dcterms:created>
  <dcterms:modified xsi:type="dcterms:W3CDTF">2023-01-10T09:21:18Z</dcterms:modified>
</cp:coreProperties>
</file>