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97" r:id="rId2"/>
    <p:sldId id="498" r:id="rId3"/>
    <p:sldId id="499" r:id="rId4"/>
    <p:sldId id="500" r:id="rId5"/>
    <p:sldId id="501" r:id="rId6"/>
    <p:sldId id="502" r:id="rId7"/>
    <p:sldId id="503" r:id="rId8"/>
    <p:sldId id="50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EB4A-3408-1B97-1B34-05AE5640F8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4CE41D-ED3A-FB15-B2CB-48AE9AE258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2DF44-2CFE-99D1-62FB-C419C3595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5D17A-142B-4705-ADE1-A3098ECE97EC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2A000-96DA-5E5F-9A77-6569656A3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FD326-4FC0-72EB-DF56-0FD78B9EE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427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F9D75-E04D-B634-D919-617757394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6432A-85F7-6833-67C8-01C4E7216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7A2C-3294-4947-A3DE-F536E8B16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770F1-593C-41E5-9DDC-A7DDE7DA3A0C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15DCA-9125-891E-96C8-87AF8FF5A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9F385-A188-DB80-34AE-99BFE3772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610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F34D8-AC3A-C1B6-226A-B0342CC95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1E8B-24DF-615A-8729-9497B6EA1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1F83F-6442-4F8D-A89C-5E43D4324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BA4C9-61EB-4E89-89EA-F649D387A885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243A9-4120-4241-6DD2-BB67522C9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42F45-390E-7F61-65CB-09F84E0C7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023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6E399-2560-08C2-7560-8CDD4F0BE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C3219-FB0A-90C1-5347-5D8D63A15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16AE50-4292-C9EB-8B25-09DE0EA02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B747A3-5AAE-74E5-58AC-112C24B4D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50626-E323-4146-837D-79DA438855EF}" type="datetime1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45C81-CA6F-521E-53EF-EEB98F96F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839E4-86AD-5375-DD4F-F846EF925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296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C6130-117C-998F-E56B-57FCF1096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6E80B8-EA33-707F-EC6C-EBC7B1352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28F7F-ECE8-BAAD-7338-2D78A59EE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DAF716-F429-44D0-6E93-815FF3C4F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2A37D0-605C-BB9A-385B-6A85770C86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3F5C74-EA7F-FDB3-FB93-77C9E914F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F3B27-06CD-4A16-84A3-AF5F748FC93B}" type="datetime1">
              <a:rPr lang="en-US" smtClean="0"/>
              <a:t>1/10/2023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E1775E-89CF-943A-9CDA-597023CE8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E9C5D8-2060-0E24-EC81-3C64B264C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176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700E-1F64-71E3-B8E2-5003EE14F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92E4C6-4425-4600-DADA-0FAA915F0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8157D-198D-4A55-A6AF-F9A96DD09084}" type="datetime1">
              <a:rPr lang="en-US" smtClean="0"/>
              <a:t>1/10/2023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25CC1-1CF0-5FE6-B23F-FC0640815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A12A78-3142-4A2A-6A14-2861FE055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87" y="6361105"/>
            <a:ext cx="495813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69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18CDC6-AE80-3C7C-7A54-83C4F8A35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FA7D0-D9E5-4981-8E91-F86A007EC8E4}" type="datetime1">
              <a:rPr lang="en-US" smtClean="0"/>
              <a:t>1/10/2023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C87A10-784A-0882-62A6-ACF915286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3EFA-8AAD-4032-2084-C183504C0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573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06DDE-4887-BBF0-A054-1795A6026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A9F60-2E86-61FF-D6C4-8EEFEF4FB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C98BF-6198-66C9-1808-3E0DE1D9B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3C433-2EF0-6879-AA30-D7F23FA1D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55C73-8B4C-45CE-9F74-EC399096C6A5}" type="datetime1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B4456-36C8-9DCF-5C14-8BA06584B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FA8EE-1367-107D-033E-8A0158C5E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218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698BA-7366-CA58-0AE4-D2030C175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964958-D645-44EB-2EDC-93CCA39A19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2D1894-31E7-5B16-FAA4-8794FE103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EEAB6-A5F9-0B9E-BFB9-37D999F61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69AC3-3FEF-4BD8-8E00-675B95488D0A}" type="datetime1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57A55-6F18-17DA-8716-BC16F3F9C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47226-21F6-2D27-6044-9FC188E67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951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426E2-26EB-63EF-501D-68A4434E7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C8B2B9-8CC9-2B50-B062-946D7E785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2974C-952F-86C3-A75E-105A3A2EF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2B63B-3CDB-4958-B2A2-640C52D819C0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495DF-D0C7-812E-EDA8-AEA85D875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DC9A3-8AF0-8B35-01FB-6FDA728B4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953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59C450-90ED-272A-E463-AAA21A2E5F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DA328-475F-1FE7-6643-FADC6BE1F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27D1A-7BFF-DDEC-3AEE-1846C4553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7D481-5643-4F4C-B901-C5733B76A666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493FD-135D-1E5D-ED17-848900B65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E65E1-7A80-1403-F41E-7FDEAAED1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3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DF1DB1-AAB5-C0D6-F8F5-5C3D1F05C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64012-DD5E-82B0-E0A6-F22247B5B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C52C1-D777-85DB-34DD-7DB776F29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46D66-831C-4C42-918D-32B4B0271D98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BF4A8-E610-C555-2196-67DC47368D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77A19-A289-6A34-54CB-69755ED14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69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1017646" y="2105561"/>
            <a:ext cx="10289512" cy="132343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rgbClr val="00B050"/>
                </a:solidFill>
                <a:latin typeface="Bodoni MT Condensed" panose="02070606080606020203" pitchFamily="18" charset="0"/>
              </a:rPr>
              <a:t>Stock  Issuance</a:t>
            </a:r>
            <a:endParaRPr lang="en-US" sz="8000" dirty="0">
              <a:solidFill>
                <a:srgbClr val="00B050"/>
              </a:solidFill>
              <a:latin typeface="Bodoni MT Condensed" panose="02070606080606020203" pitchFamily="18" charset="0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F98AB504-F121-820A-CAC3-1E72B851128C}"/>
              </a:ext>
            </a:extLst>
          </p:cNvPr>
          <p:cNvSpPr txBox="1"/>
          <p:nvPr/>
        </p:nvSpPr>
        <p:spPr>
          <a:xfrm>
            <a:off x="0" y="5769429"/>
            <a:ext cx="12191999" cy="1088572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spcBef>
                <a:spcPts val="0"/>
              </a:spcBef>
            </a:pPr>
            <a:endParaRPr lang="en-US" sz="1200" dirty="0">
              <a:solidFill>
                <a:schemeClr val="bg1"/>
              </a:solidFill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</a:pPr>
            <a:r>
              <a:rPr lang="en-US" sz="1200" dirty="0">
                <a:solidFill>
                  <a:schemeClr val="bg1"/>
                </a:solidFill>
                <a:ea typeface="Open Sans" panose="020B0606030504020204" pitchFamily="34" charset="0"/>
                <a:cs typeface="Times New Roman" panose="02020603050405020304" pitchFamily="18" charset="0"/>
              </a:rPr>
              <a:t>Stock Issuance is where issuance of stock request is recorded. </a:t>
            </a:r>
          </a:p>
          <a:p>
            <a:pPr marL="0" marR="0" algn="ctr">
              <a:spcBef>
                <a:spcPts val="0"/>
              </a:spcBef>
            </a:pPr>
            <a:endParaRPr lang="en-US" sz="1200" dirty="0">
              <a:solidFill>
                <a:schemeClr val="bg1"/>
              </a:solidFill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</a:pPr>
            <a:endParaRPr lang="en-US" sz="1200" dirty="0">
              <a:solidFill>
                <a:schemeClr val="bg1"/>
              </a:solidFill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</a:pPr>
            <a:endParaRPr lang="en-US" sz="1200" dirty="0">
              <a:solidFill>
                <a:schemeClr val="bg1"/>
              </a:solidFill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</a:pPr>
            <a:r>
              <a:rPr lang="en-US" sz="1200" dirty="0">
                <a:solidFill>
                  <a:schemeClr val="bg1"/>
                </a:solidFill>
                <a:ea typeface="Open Sans" panose="020B0606030504020204" pitchFamily="34" charset="0"/>
                <a:cs typeface="Times New Roman" panose="02020603050405020304" pitchFamily="18" charset="0"/>
              </a:rPr>
              <a:t> </a:t>
            </a:r>
          </a:p>
          <a:p>
            <a:pPr marL="0" marR="0" algn="ctr">
              <a:spcBef>
                <a:spcPts val="0"/>
              </a:spcBef>
            </a:pPr>
            <a:endParaRPr lang="en-US" sz="1200" dirty="0">
              <a:solidFill>
                <a:schemeClr val="bg1"/>
              </a:solidFill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</a:pPr>
            <a:endParaRPr lang="en-US" sz="1200" dirty="0">
              <a:solidFill>
                <a:schemeClr val="bg1"/>
              </a:solidFill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</a:pPr>
            <a:endParaRPr lang="en-US" sz="1200" dirty="0">
              <a:solidFill>
                <a:schemeClr val="bg1"/>
              </a:solidFill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</a:pPr>
            <a:r>
              <a:rPr lang="en-US" sz="1200" dirty="0">
                <a:solidFill>
                  <a:schemeClr val="bg1"/>
                </a:solidFill>
                <a:ea typeface="Open Sans" panose="020B0606030504020204" pitchFamily="34" charset="0"/>
                <a:cs typeface="Times New Roman" panose="02020603050405020304" pitchFamily="18" charset="0"/>
              </a:rPr>
              <a:t> </a:t>
            </a:r>
          </a:p>
          <a:p>
            <a:pPr marL="0" marR="0" algn="ctr">
              <a:spcBef>
                <a:spcPts val="0"/>
              </a:spcBef>
            </a:pPr>
            <a:endParaRPr lang="en-US" sz="1200" dirty="0">
              <a:solidFill>
                <a:schemeClr val="bg1"/>
              </a:solidFill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</a:pPr>
            <a:endParaRPr lang="en-US" sz="1200" dirty="0">
              <a:solidFill>
                <a:schemeClr val="bg1"/>
              </a:solidFill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</a:pPr>
            <a:endParaRPr lang="en-US" sz="1200" dirty="0">
              <a:solidFill>
                <a:schemeClr val="bg1"/>
              </a:solidFill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3A7496-1034-196F-6300-3534FAADF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036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01940-C472-2128-749A-74F3CCB5F124}"/>
              </a:ext>
            </a:extLst>
          </p:cNvPr>
          <p:cNvSpPr txBox="1"/>
          <p:nvPr/>
        </p:nvSpPr>
        <p:spPr>
          <a:xfrm>
            <a:off x="805110" y="2375033"/>
            <a:ext cx="3887062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Main Window</a:t>
            </a:r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0" name="Text Box 15">
            <a:extLst>
              <a:ext uri="{FF2B5EF4-FFF2-40B4-BE49-F238E27FC236}">
                <a16:creationId xmlns:a16="http://schemas.microsoft.com/office/drawing/2014/main" id="{E1DF78E5-41B8-4843-8426-68AD1D115D04}"/>
              </a:ext>
            </a:extLst>
          </p:cNvPr>
          <p:cNvSpPr txBox="1"/>
          <p:nvPr/>
        </p:nvSpPr>
        <p:spPr>
          <a:xfrm>
            <a:off x="832872" y="2847734"/>
            <a:ext cx="3887062" cy="127176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227330" lvl="2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When you click the Stock Issuance module under Sales, Stock Issuance transactions list will display based on filtered date and status in the Stock Issuance main window.</a:t>
            </a:r>
          </a:p>
          <a:p>
            <a:pPr marL="0" marR="227330" lvl="2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</a:pP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227330" lvl="2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</a:pP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227330" lvl="2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</a:pP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38989E4-F23C-F4AC-684B-2BE81114D33A}"/>
              </a:ext>
            </a:extLst>
          </p:cNvPr>
          <p:cNvSpPr txBox="1"/>
          <p:nvPr/>
        </p:nvSpPr>
        <p:spPr>
          <a:xfrm>
            <a:off x="6806631" y="4432628"/>
            <a:ext cx="399288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Stock Issuance 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3AF19C-814C-4975-A22C-FCF6AC461B65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Sales/ Stock Issuance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372DE2-59DB-B986-5463-F32324D2B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456FA9-57DC-4912-1554-4B58546A6D53}"/>
              </a:ext>
            </a:extLst>
          </p:cNvPr>
          <p:cNvGrpSpPr/>
          <p:nvPr/>
        </p:nvGrpSpPr>
        <p:grpSpPr>
          <a:xfrm>
            <a:off x="5731933" y="1992665"/>
            <a:ext cx="12192000" cy="2373313"/>
            <a:chOff x="0" y="0"/>
            <a:chExt cx="12192000" cy="2373313"/>
          </a:xfrm>
        </p:grpSpPr>
        <p:pic>
          <p:nvPicPr>
            <p:cNvPr id="2049" name="Picture 780">
              <a:extLst>
                <a:ext uri="{FF2B5EF4-FFF2-40B4-BE49-F238E27FC236}">
                  <a16:creationId xmlns:a16="http://schemas.microsoft.com/office/drawing/2014/main" id="{84D15308-9163-338F-1CBE-7410B0D86C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600" y="554038"/>
              <a:ext cx="5886450" cy="18192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62CB0616-4E99-426A-1C2E-F65347B422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075" y="1560513"/>
              <a:ext cx="5892800" cy="755650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515F83D1-A260-A3CF-5969-CF7F82139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E4318DF6-F9B6-5469-D781-A42F87483F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br>
                <a: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</a:b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PH" altLang="en-US" sz="900" b="1" i="1" u="none" strike="noStrike" cap="none" normalizeH="0" baseline="0">
                  <a:ln>
                    <a:noFill/>
                  </a:ln>
                  <a:solidFill>
                    <a:srgbClr val="40404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–</a:t>
              </a:r>
              <a:r>
                <a:rPr kumimoji="0" lang="en-PH" altLang="en-US" sz="900" b="1" i="1" u="none" strike="noStrike" cap="none" normalizeH="0" baseline="0">
                  <a:ln>
                    <a:noFill/>
                  </a:ln>
                  <a:solidFill>
                    <a:srgbClr val="404040"/>
                  </a:solidFill>
                  <a:effectLst/>
                  <a:latin typeface="Chivo Light" panose="020B03030302020208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endPara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2549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678873" y="1032424"/>
            <a:ext cx="4133461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How To Create Stock Issuance Transaction?</a:t>
            </a:r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sp>
        <p:nvSpPr>
          <p:cNvPr id="12" name="Text Box 18">
            <a:extLst>
              <a:ext uri="{FF2B5EF4-FFF2-40B4-BE49-F238E27FC236}">
                <a16:creationId xmlns:a16="http://schemas.microsoft.com/office/drawing/2014/main" id="{9A8214E9-BA24-C1CD-FE2E-59471D8D7178}"/>
              </a:ext>
            </a:extLst>
          </p:cNvPr>
          <p:cNvSpPr txBox="1"/>
          <p:nvPr/>
        </p:nvSpPr>
        <p:spPr>
          <a:xfrm>
            <a:off x="540588" y="1771320"/>
            <a:ext cx="4179346" cy="4263719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stock issuance – Main Window, you will notice a create button in the upper left of the window. Click the create button and you will be redirect in stock issuance – main form.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b="1" dirty="0">
              <a:solidFill>
                <a:srgbClr val="00863D"/>
              </a:solidFill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b="1" dirty="0">
              <a:solidFill>
                <a:srgbClr val="00863D"/>
              </a:solidFill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b="1" dirty="0">
              <a:solidFill>
                <a:srgbClr val="00863D"/>
              </a:solidFill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you click the create button a dialog box will pop out with list of customer. Search and select a customer.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388AC9D8-E4B5-58A0-4094-8A9CB20669C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693359DA-0E35-C2AE-7680-F17A03960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49DEC-339C-45EE-3FAD-E06A215F3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F644067F-F87C-A06A-6AD8-45DD5C6D6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4462" y="151368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AB27D2C1-3726-6CDE-F74B-C97C5DEDC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4462" y="197088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D254B1-C23A-629E-8AFC-4D7CBC5ADC08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Sales/ Stock Issuance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BCC9655-53DD-9630-2281-20E2BFC384EF}"/>
              </a:ext>
            </a:extLst>
          </p:cNvPr>
          <p:cNvGrpSpPr/>
          <p:nvPr/>
        </p:nvGrpSpPr>
        <p:grpSpPr>
          <a:xfrm>
            <a:off x="5666862" y="1182353"/>
            <a:ext cx="5835650" cy="827087"/>
            <a:chOff x="5468556" y="2220453"/>
            <a:chExt cx="5835650" cy="827087"/>
          </a:xfrm>
        </p:grpSpPr>
        <p:pic>
          <p:nvPicPr>
            <p:cNvPr id="5" name="Picture 781">
              <a:extLst>
                <a:ext uri="{FF2B5EF4-FFF2-40B4-BE49-F238E27FC236}">
                  <a16:creationId xmlns:a16="http://schemas.microsoft.com/office/drawing/2014/main" id="{835EE246-72ED-AB6F-8F43-39573E7624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68556" y="2220453"/>
              <a:ext cx="5835650" cy="8270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ED307876-12C8-980B-BFB3-A275C52AE6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9592" y="2448656"/>
              <a:ext cx="1857375" cy="200025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Text Box 2">
              <a:extLst>
                <a:ext uri="{FF2B5EF4-FFF2-40B4-BE49-F238E27FC236}">
                  <a16:creationId xmlns:a16="http://schemas.microsoft.com/office/drawing/2014/main" id="{A6273B77-D95F-B8BF-E9C3-FAC8856145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56517" y="2343881"/>
              <a:ext cx="200025" cy="24765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" name="AutoShape 3">
              <a:extLst>
                <a:ext uri="{FF2B5EF4-FFF2-40B4-BE49-F238E27FC236}">
                  <a16:creationId xmlns:a16="http://schemas.microsoft.com/office/drawing/2014/main" id="{5FB34D11-046B-77DA-FDE7-B996CE49E4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31182" y="2484799"/>
              <a:ext cx="257175" cy="48681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5F22D8F-CF2F-9174-BCC8-735DFB00AB27}"/>
              </a:ext>
            </a:extLst>
          </p:cNvPr>
          <p:cNvGrpSpPr/>
          <p:nvPr/>
        </p:nvGrpSpPr>
        <p:grpSpPr>
          <a:xfrm>
            <a:off x="5687898" y="3005472"/>
            <a:ext cx="5770563" cy="2670175"/>
            <a:chOff x="5687898" y="3005472"/>
            <a:chExt cx="5770563" cy="2670175"/>
          </a:xfrm>
        </p:grpSpPr>
        <p:pic>
          <p:nvPicPr>
            <p:cNvPr id="20" name="Picture 69">
              <a:extLst>
                <a:ext uri="{FF2B5EF4-FFF2-40B4-BE49-F238E27FC236}">
                  <a16:creationId xmlns:a16="http://schemas.microsoft.com/office/drawing/2014/main" id="{529E8E90-B1C9-77FE-C00F-1EA40C7CC9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87898" y="3005472"/>
              <a:ext cx="5770563" cy="26701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 Box 10">
              <a:extLst>
                <a:ext uri="{FF2B5EF4-FFF2-40B4-BE49-F238E27FC236}">
                  <a16:creationId xmlns:a16="http://schemas.microsoft.com/office/drawing/2014/main" id="{2274BA05-7963-3260-194F-DE2664F9C4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0986" y="4129422"/>
              <a:ext cx="4019550" cy="976313"/>
            </a:xfrm>
            <a:prstGeom prst="rect">
              <a:avLst/>
            </a:prstGeom>
            <a:solidFill>
              <a:srgbClr val="FFF2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1"/>
              <a:endParaRPr kumimoji="0" lang="en-PH" altLang="en-US" sz="1000" b="0" i="1" u="none" strike="noStrike" cap="none" normalizeH="0" baseline="0" dirty="0">
                <a:ln>
                  <a:noFill/>
                </a:ln>
                <a:solidFill>
                  <a:srgbClr val="4F6128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lvl="1"/>
              <a:r>
                <a:rPr kumimoji="0" lang="en-PH" altLang="en-US" sz="1000" b="0" i="1" u="none" strike="noStrike" cap="none" normalizeH="0" baseline="0" dirty="0">
                  <a:ln>
                    <a:noFill/>
                  </a:ln>
                  <a:solidFill>
                    <a:srgbClr val="4F6128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How to search customer?</a:t>
              </a:r>
              <a:endParaRPr kumimoji="0" lang="en-PH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685800" lvl="1" indent="-228600">
                <a:buFont typeface="+mj-lt"/>
                <a:buAutoNum type="arabicPeriod"/>
              </a:pPr>
              <a:r>
                <a:rPr kumimoji="0" lang="en-PH" altLang="en-US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Type the payee name in the search bar.</a:t>
              </a:r>
              <a:endParaRPr kumimoji="0" lang="en-PH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685800" lvl="1" indent="-228600">
                <a:buFont typeface="+mj-lt"/>
                <a:buAutoNum type="arabicPeriod"/>
              </a:pPr>
              <a:r>
                <a:rPr kumimoji="0" lang="en-PH" altLang="en-US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And it will automatically sort out.</a:t>
              </a:r>
              <a:endParaRPr kumimoji="0" lang="en-PH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685800" lvl="1" indent="-228600">
                <a:buFont typeface="+mj-lt"/>
                <a:buAutoNum type="arabicPeriod"/>
              </a:pPr>
              <a:r>
                <a:rPr kumimoji="0" lang="en-PH" altLang="en-US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Then click the selected payee</a:t>
              </a:r>
              <a:endParaRPr kumimoji="0" lang="en-PH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Rectangle 9">
              <a:extLst>
                <a:ext uri="{FF2B5EF4-FFF2-40B4-BE49-F238E27FC236}">
                  <a16:creationId xmlns:a16="http://schemas.microsoft.com/office/drawing/2014/main" id="{74B746F2-22CE-14A3-91A7-E6027201E9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1611" y="3776997"/>
              <a:ext cx="1857375" cy="200025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9903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1237539" y="635808"/>
            <a:ext cx="4133461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How To Create Stock Issuance Transaction?</a:t>
            </a:r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sp>
        <p:nvSpPr>
          <p:cNvPr id="12" name="Text Box 18">
            <a:extLst>
              <a:ext uri="{FF2B5EF4-FFF2-40B4-BE49-F238E27FC236}">
                <a16:creationId xmlns:a16="http://schemas.microsoft.com/office/drawing/2014/main" id="{9A8214E9-BA24-C1CD-FE2E-59471D8D7178}"/>
              </a:ext>
            </a:extLst>
          </p:cNvPr>
          <p:cNvSpPr txBox="1"/>
          <p:nvPr/>
        </p:nvSpPr>
        <p:spPr>
          <a:xfrm>
            <a:off x="540588" y="1771320"/>
            <a:ext cx="4179346" cy="4263719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you select the payee, fill all necessary information in the header.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sz="1200" b="1" dirty="0"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done, click save button to save details from header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en-US" sz="1200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Click PR button and a dialog box of list from purchase requisition will appear.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</a:t>
            </a:r>
            <a:r>
              <a:rPr lang="en-US" sz="1200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the purchase request by ticking the check box. 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After selecting, click accept button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388AC9D8-E4B5-58A0-4094-8A9CB20669C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693359DA-0E35-C2AE-7680-F17A03960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49DEC-339C-45EE-3FAD-E06A215F3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F644067F-F87C-A06A-6AD8-45DD5C6D6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4462" y="151368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AB27D2C1-3726-6CDE-F74B-C97C5DEDC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4462" y="197088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D254B1-C23A-629E-8AFC-4D7CBC5ADC08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Sales/ Stock Issuance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98B155A-0495-D3D0-25C6-26FC19C5C8E9}"/>
              </a:ext>
            </a:extLst>
          </p:cNvPr>
          <p:cNvGrpSpPr/>
          <p:nvPr/>
        </p:nvGrpSpPr>
        <p:grpSpPr>
          <a:xfrm>
            <a:off x="5410426" y="323379"/>
            <a:ext cx="12434888" cy="2411413"/>
            <a:chOff x="-242888" y="0"/>
            <a:chExt cx="12434888" cy="2411413"/>
          </a:xfrm>
        </p:grpSpPr>
        <p:pic>
          <p:nvPicPr>
            <p:cNvPr id="4097" name="Picture 149">
              <a:extLst>
                <a:ext uri="{FF2B5EF4-FFF2-40B4-BE49-F238E27FC236}">
                  <a16:creationId xmlns:a16="http://schemas.microsoft.com/office/drawing/2014/main" id="{4A7DF436-784E-D058-9CBE-3C3840A4A6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57200"/>
              <a:ext cx="5908675" cy="18780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AutoShape 4">
              <a:extLst>
                <a:ext uri="{FF2B5EF4-FFF2-40B4-BE49-F238E27FC236}">
                  <a16:creationId xmlns:a16="http://schemas.microsoft.com/office/drawing/2014/main" id="{768CB0AD-FDDF-28BE-B728-5C2AD5A229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" y="1089025"/>
              <a:ext cx="5756275" cy="993775"/>
            </a:xfrm>
            <a:prstGeom prst="flowChartProcess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AutoShape 2">
              <a:extLst>
                <a:ext uri="{FF2B5EF4-FFF2-40B4-BE49-F238E27FC236}">
                  <a16:creationId xmlns:a16="http://schemas.microsoft.com/office/drawing/2014/main" id="{D077FD09-E3FA-BE61-FFFA-30AAF49F2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1725" y="850900"/>
              <a:ext cx="450850" cy="238125"/>
            </a:xfrm>
            <a:prstGeom prst="flowChartProcess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AutoShape 5">
              <a:extLst>
                <a:ext uri="{FF2B5EF4-FFF2-40B4-BE49-F238E27FC236}">
                  <a16:creationId xmlns:a16="http://schemas.microsoft.com/office/drawing/2014/main" id="{0FD2C8F2-3B42-F43A-056D-63F42D4D53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2575" y="1800225"/>
              <a:ext cx="368300" cy="238125"/>
            </a:xfrm>
            <a:prstGeom prst="flowChartProcess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PH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  <a:endParaRPr kumimoji="0" lang="en-PH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" name="AutoShape 3">
              <a:extLst>
                <a:ext uri="{FF2B5EF4-FFF2-40B4-BE49-F238E27FC236}">
                  <a16:creationId xmlns:a16="http://schemas.microsoft.com/office/drawing/2014/main" id="{3DA82440-A09B-9A6B-00D6-F5D41FBE06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7025" y="850900"/>
              <a:ext cx="368300" cy="238125"/>
            </a:xfrm>
            <a:prstGeom prst="flowChartProcess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PH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4</a:t>
              </a:r>
              <a:endParaRPr kumimoji="0" lang="en-PH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" name="AutoShape 8">
              <a:extLst>
                <a:ext uri="{FF2B5EF4-FFF2-40B4-BE49-F238E27FC236}">
                  <a16:creationId xmlns:a16="http://schemas.microsoft.com/office/drawing/2014/main" id="{E8B2C444-B74A-5BCC-7508-E0DEAB945E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42888" y="577850"/>
              <a:ext cx="1055688" cy="295275"/>
            </a:xfrm>
            <a:prstGeom prst="flowChartProcess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PH" alt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HEADER</a:t>
              </a:r>
              <a:endParaRPr kumimoji="0" lang="en-PH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" name="AutoShape 6">
              <a:extLst>
                <a:ext uri="{FF2B5EF4-FFF2-40B4-BE49-F238E27FC236}">
                  <a16:creationId xmlns:a16="http://schemas.microsoft.com/office/drawing/2014/main" id="{B4876FAB-CA2E-D736-58F1-07CEC3A7EA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4975" y="2173288"/>
              <a:ext cx="450850" cy="238125"/>
            </a:xfrm>
            <a:prstGeom prst="flowChartProcess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AutoShape 7">
              <a:extLst>
                <a:ext uri="{FF2B5EF4-FFF2-40B4-BE49-F238E27FC236}">
                  <a16:creationId xmlns:a16="http://schemas.microsoft.com/office/drawing/2014/main" id="{A27F8F82-2969-795B-620C-3FDCF25CC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5825" y="2173288"/>
              <a:ext cx="368300" cy="238125"/>
            </a:xfrm>
            <a:prstGeom prst="flowChartProcess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PH" altLang="en-US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5</a:t>
              </a:r>
              <a:endParaRPr kumimoji="0" lang="en-PH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Rectangle 9">
              <a:extLst>
                <a:ext uri="{FF2B5EF4-FFF2-40B4-BE49-F238E27FC236}">
                  <a16:creationId xmlns:a16="http://schemas.microsoft.com/office/drawing/2014/main" id="{C584D336-A905-21EE-3F17-0868492C53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24" name="Rectangle 11">
              <a:extLst>
                <a:ext uri="{FF2B5EF4-FFF2-40B4-BE49-F238E27FC236}">
                  <a16:creationId xmlns:a16="http://schemas.microsoft.com/office/drawing/2014/main" id="{5E10B5BA-2F1F-DEDA-382B-823985627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br>
                <a: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</a:b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Rectangle 15">
              <a:extLst>
                <a:ext uri="{FF2B5EF4-FFF2-40B4-BE49-F238E27FC236}">
                  <a16:creationId xmlns:a16="http://schemas.microsoft.com/office/drawing/2014/main" id="{E1F9ED00-DF01-5621-1CD0-8604B55389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30" name="Rectangle 16">
              <a:extLst>
                <a:ext uri="{FF2B5EF4-FFF2-40B4-BE49-F238E27FC236}">
                  <a16:creationId xmlns:a16="http://schemas.microsoft.com/office/drawing/2014/main" id="{9FF2BCC4-6070-D50C-333C-B7D2A1FC2B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335213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ED6B439-1331-2A1D-9338-DC79E56EEC59}"/>
              </a:ext>
            </a:extLst>
          </p:cNvPr>
          <p:cNvGrpSpPr/>
          <p:nvPr/>
        </p:nvGrpSpPr>
        <p:grpSpPr>
          <a:xfrm>
            <a:off x="5653314" y="2975772"/>
            <a:ext cx="12192000" cy="3336925"/>
            <a:chOff x="0" y="0"/>
            <a:chExt cx="12192000" cy="3336925"/>
          </a:xfrm>
        </p:grpSpPr>
        <p:pic>
          <p:nvPicPr>
            <p:cNvPr id="4113" name="Picture 155">
              <a:extLst>
                <a:ext uri="{FF2B5EF4-FFF2-40B4-BE49-F238E27FC236}">
                  <a16:creationId xmlns:a16="http://schemas.microsoft.com/office/drawing/2014/main" id="{05D2DBE7-E453-C6EE-F9AA-E182B25B5E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57200"/>
              <a:ext cx="6049963" cy="28797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AutoShape 18">
              <a:extLst>
                <a:ext uri="{FF2B5EF4-FFF2-40B4-BE49-F238E27FC236}">
                  <a16:creationId xmlns:a16="http://schemas.microsoft.com/office/drawing/2014/main" id="{C14897DA-8C56-5739-A29D-E60782CAB3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63" y="1452563"/>
              <a:ext cx="288925" cy="263525"/>
            </a:xfrm>
            <a:prstGeom prst="flowChartProcess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AutoShape 19">
              <a:extLst>
                <a:ext uri="{FF2B5EF4-FFF2-40B4-BE49-F238E27FC236}">
                  <a16:creationId xmlns:a16="http://schemas.microsoft.com/office/drawing/2014/main" id="{CE6FC540-41A4-6B18-6060-35F5E930C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5975" y="2900363"/>
              <a:ext cx="614363" cy="290512"/>
            </a:xfrm>
            <a:prstGeom prst="flowChartProcess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AutoShape 20">
              <a:extLst>
                <a:ext uri="{FF2B5EF4-FFF2-40B4-BE49-F238E27FC236}">
                  <a16:creationId xmlns:a16="http://schemas.microsoft.com/office/drawing/2014/main" id="{9665A692-89FB-4810-0CD5-99789E6D2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8125" y="2900363"/>
              <a:ext cx="414338" cy="290512"/>
            </a:xfrm>
            <a:prstGeom prst="flowChartProcess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PH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7</a:t>
              </a:r>
              <a:endParaRPr kumimoji="0" lang="en-PH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6" name="AutoShape 21">
              <a:extLst>
                <a:ext uri="{FF2B5EF4-FFF2-40B4-BE49-F238E27FC236}">
                  <a16:creationId xmlns:a16="http://schemas.microsoft.com/office/drawing/2014/main" id="{3F41CB6A-1350-EAA0-7C99-4F534166DD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400" y="1452563"/>
              <a:ext cx="406400" cy="263525"/>
            </a:xfrm>
            <a:prstGeom prst="flowChartProcess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PH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6</a:t>
              </a:r>
              <a:endParaRPr kumimoji="0" lang="en-PH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7" name="Rectangle 23">
              <a:extLst>
                <a:ext uri="{FF2B5EF4-FFF2-40B4-BE49-F238E27FC236}">
                  <a16:creationId xmlns:a16="http://schemas.microsoft.com/office/drawing/2014/main" id="{28E7974C-0F80-B8CC-CF27-861E36A89B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38" name="Rectangle 27">
              <a:extLst>
                <a:ext uri="{FF2B5EF4-FFF2-40B4-BE49-F238E27FC236}">
                  <a16:creationId xmlns:a16="http://schemas.microsoft.com/office/drawing/2014/main" id="{C7B24F64-360A-16DC-ED6C-421C58EB79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39" name="Rectangle 28">
              <a:extLst>
                <a:ext uri="{FF2B5EF4-FFF2-40B4-BE49-F238E27FC236}">
                  <a16:creationId xmlns:a16="http://schemas.microsoft.com/office/drawing/2014/main" id="{4B66AF01-2F71-3246-D64A-3A31B9E180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36925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07115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1244117" y="635808"/>
            <a:ext cx="4133461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How To Create Stock Issuance Transaction?</a:t>
            </a:r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sp>
        <p:nvSpPr>
          <p:cNvPr id="12" name="Text Box 18">
            <a:extLst>
              <a:ext uri="{FF2B5EF4-FFF2-40B4-BE49-F238E27FC236}">
                <a16:creationId xmlns:a16="http://schemas.microsoft.com/office/drawing/2014/main" id="{9A8214E9-BA24-C1CD-FE2E-59471D8D7178}"/>
              </a:ext>
            </a:extLst>
          </p:cNvPr>
          <p:cNvSpPr txBox="1"/>
          <p:nvPr/>
        </p:nvSpPr>
        <p:spPr>
          <a:xfrm>
            <a:off x="540588" y="1771320"/>
            <a:ext cx="4179346" cy="4263719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If done in main form. Click the arrow parallel to main window to minimize the main form tab.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9.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 shipping/ billing address in shipping/ billing address tab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10.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 delivery details in delivery status tab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11.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If you want to upload file attachment, click the attachment and upload the file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12.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finalized the transaction, click post button in main form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388AC9D8-E4B5-58A0-4094-8A9CB20669C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693359DA-0E35-C2AE-7680-F17A03960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49DEC-339C-45EE-3FAD-E06A215F3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F644067F-F87C-A06A-6AD8-45DD5C6D6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4462" y="151368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AB27D2C1-3726-6CDE-F74B-C97C5DEDC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4462" y="197088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D254B1-C23A-629E-8AFC-4D7CBC5ADC08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Sales/ Stock Issuance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7F2E075-E6B6-A43F-6E9B-87D0ED696E53}"/>
              </a:ext>
            </a:extLst>
          </p:cNvPr>
          <p:cNvGrpSpPr/>
          <p:nvPr/>
        </p:nvGrpSpPr>
        <p:grpSpPr>
          <a:xfrm>
            <a:off x="5305743" y="831053"/>
            <a:ext cx="12192000" cy="1601110"/>
            <a:chOff x="0" y="0"/>
            <a:chExt cx="12192000" cy="1601110"/>
          </a:xfrm>
        </p:grpSpPr>
        <p:pic>
          <p:nvPicPr>
            <p:cNvPr id="5123" name="Picture 84">
              <a:extLst>
                <a:ext uri="{FF2B5EF4-FFF2-40B4-BE49-F238E27FC236}">
                  <a16:creationId xmlns:a16="http://schemas.microsoft.com/office/drawing/2014/main" id="{74CED112-91B3-FBDC-6EFD-453BFA43E7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688" y="518435"/>
              <a:ext cx="6399213" cy="10826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2">
              <a:extLst>
                <a:ext uri="{FF2B5EF4-FFF2-40B4-BE49-F238E27FC236}">
                  <a16:creationId xmlns:a16="http://schemas.microsoft.com/office/drawing/2014/main" id="{53A1671D-779E-5C21-34D6-1F1890747C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8" y="981075"/>
              <a:ext cx="1544637" cy="217488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Rectangle 1">
              <a:extLst>
                <a:ext uri="{FF2B5EF4-FFF2-40B4-BE49-F238E27FC236}">
                  <a16:creationId xmlns:a16="http://schemas.microsoft.com/office/drawing/2014/main" id="{1238A3E2-DEA6-0BF8-06A6-4D947D082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8" y="1196975"/>
              <a:ext cx="1544637" cy="217488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Rectangle 4">
              <a:extLst>
                <a:ext uri="{FF2B5EF4-FFF2-40B4-BE49-F238E27FC236}">
                  <a16:creationId xmlns:a16="http://schemas.microsoft.com/office/drawing/2014/main" id="{7153F238-DA8F-1A47-89E4-27CE74FB5D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0AE48400-5F00-54DB-801C-4001481801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B81889A-3142-5652-1670-20D05E69FB59}"/>
              </a:ext>
            </a:extLst>
          </p:cNvPr>
          <p:cNvGrpSpPr/>
          <p:nvPr/>
        </p:nvGrpSpPr>
        <p:grpSpPr>
          <a:xfrm>
            <a:off x="5410426" y="2328060"/>
            <a:ext cx="12192000" cy="2577163"/>
            <a:chOff x="152400" y="152400"/>
            <a:chExt cx="12192000" cy="2577163"/>
          </a:xfrm>
        </p:grpSpPr>
        <p:pic>
          <p:nvPicPr>
            <p:cNvPr id="5127" name="Picture 107">
              <a:extLst>
                <a:ext uri="{FF2B5EF4-FFF2-40B4-BE49-F238E27FC236}">
                  <a16:creationId xmlns:a16="http://schemas.microsoft.com/office/drawing/2014/main" id="{24869715-3DEF-17EB-1F4D-F5E429A2CE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863" y="609600"/>
              <a:ext cx="6188075" cy="1384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6" name="Picture 110">
              <a:extLst>
                <a:ext uri="{FF2B5EF4-FFF2-40B4-BE49-F238E27FC236}">
                  <a16:creationId xmlns:a16="http://schemas.microsoft.com/office/drawing/2014/main" id="{C12849A8-768B-467B-16FC-57288248F6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35610" y="1505600"/>
              <a:ext cx="1760537" cy="12239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Rectangle 17">
              <a:extLst>
                <a:ext uri="{FF2B5EF4-FFF2-40B4-BE49-F238E27FC236}">
                  <a16:creationId xmlns:a16="http://schemas.microsoft.com/office/drawing/2014/main" id="{D7FBF883-747B-FE4D-F6A2-3D033A2049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9388" y="1276350"/>
              <a:ext cx="962025" cy="161925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AutoShape 16">
              <a:extLst>
                <a:ext uri="{FF2B5EF4-FFF2-40B4-BE49-F238E27FC236}">
                  <a16:creationId xmlns:a16="http://schemas.microsoft.com/office/drawing/2014/main" id="{2B6526D2-7B6E-AFC9-419C-4368EEBE4A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68900" y="1944688"/>
              <a:ext cx="160338" cy="103187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AutoShape 15">
              <a:extLst>
                <a:ext uri="{FF2B5EF4-FFF2-40B4-BE49-F238E27FC236}">
                  <a16:creationId xmlns:a16="http://schemas.microsoft.com/office/drawing/2014/main" id="{4BC5CF1C-4EE0-93CD-7460-DE196080F76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250796" flipH="1">
              <a:off x="5259388" y="1473200"/>
              <a:ext cx="539750" cy="254000"/>
            </a:xfrm>
            <a:prstGeom prst="curvedUpArrow">
              <a:avLst>
                <a:gd name="adj1" fmla="val 25008"/>
                <a:gd name="adj2" fmla="val 49997"/>
                <a:gd name="adj3" fmla="val 17500"/>
              </a:avLst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14">
              <a:extLst>
                <a:ext uri="{FF2B5EF4-FFF2-40B4-BE49-F238E27FC236}">
                  <a16:creationId xmlns:a16="http://schemas.microsoft.com/office/drawing/2014/main" id="{107E542A-6F34-7968-B1A8-4B7D233D2E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4250" y="1884363"/>
              <a:ext cx="1644650" cy="155575"/>
            </a:xfrm>
            <a:prstGeom prst="rect">
              <a:avLst/>
            </a:prstGeom>
            <a:noFill/>
            <a:ln w="19050">
              <a:solidFill>
                <a:srgbClr val="4472C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Text Box 13">
              <a:extLst>
                <a:ext uri="{FF2B5EF4-FFF2-40B4-BE49-F238E27FC236}">
                  <a16:creationId xmlns:a16="http://schemas.microsoft.com/office/drawing/2014/main" id="{DA4C8E72-502A-338E-002A-65758DCA36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125" y="1393825"/>
              <a:ext cx="3035300" cy="1228725"/>
            </a:xfrm>
            <a:prstGeom prst="rect">
              <a:avLst/>
            </a:prstGeom>
            <a:solidFill>
              <a:srgbClr val="FFF2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1"/>
              <a:endParaRPr kumimoji="0" lang="en-PH" altLang="en-US" sz="1000" b="0" i="1" u="none" strike="noStrike" cap="none" normalizeH="0" baseline="0" dirty="0">
                <a:ln>
                  <a:noFill/>
                </a:ln>
                <a:solidFill>
                  <a:srgbClr val="4F6128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lvl="1"/>
              <a:r>
                <a:rPr kumimoji="0" lang="en-PH" altLang="en-US" sz="1000" b="0" i="1" u="none" strike="noStrike" cap="none" normalizeH="0" baseline="0" dirty="0">
                  <a:ln>
                    <a:noFill/>
                  </a:ln>
                  <a:solidFill>
                    <a:srgbClr val="4F6128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How to upload document?</a:t>
              </a:r>
              <a:endParaRPr kumimoji="0" lang="en-PH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lvl="1">
                <a:buFontTx/>
                <a:buChar char="•"/>
              </a:pPr>
              <a:r>
                <a:rPr kumimoji="0" lang="en-PH" altLang="en-US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Type the title of the document.</a:t>
              </a:r>
              <a:endParaRPr kumimoji="0" lang="en-PH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lvl="1">
                <a:buFontTx/>
                <a:buChar char="•"/>
              </a:pPr>
              <a:r>
                <a:rPr kumimoji="0" lang="en-PH" altLang="en-US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Click add button to add the chosen document to upload</a:t>
              </a:r>
              <a:endParaRPr kumimoji="0" lang="en-PH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lvl="1">
                <a:buFontTx/>
                <a:buChar char="•"/>
              </a:pPr>
              <a:r>
                <a:rPr kumimoji="0" lang="en-PH" altLang="en-US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Then click upload button.</a:t>
              </a:r>
              <a:endParaRPr kumimoji="0" lang="en-PH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lvl="1">
                <a:buFontTx/>
                <a:buChar char="•"/>
              </a:pPr>
              <a:r>
                <a:rPr kumimoji="0" lang="en-PH" altLang="en-US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If you want to add more document, click add document button and repeat steps #1 to 3.</a:t>
              </a:r>
              <a:endParaRPr kumimoji="0" lang="en-PH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Rectangle 12">
              <a:extLst>
                <a:ext uri="{FF2B5EF4-FFF2-40B4-BE49-F238E27FC236}">
                  <a16:creationId xmlns:a16="http://schemas.microsoft.com/office/drawing/2014/main" id="{592A49C7-7341-A777-1B5F-90F82E6497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3000" y="2184400"/>
              <a:ext cx="215900" cy="161925"/>
            </a:xfrm>
            <a:prstGeom prst="rect">
              <a:avLst/>
            </a:prstGeom>
            <a:noFill/>
            <a:ln w="19050">
              <a:solidFill>
                <a:srgbClr val="4472C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Text Box 11">
              <a:extLst>
                <a:ext uri="{FF2B5EF4-FFF2-40B4-BE49-F238E27FC236}">
                  <a16:creationId xmlns:a16="http://schemas.microsoft.com/office/drawing/2014/main" id="{701F375F-A914-4CAB-98E6-4F1711CD17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9238" y="1727200"/>
              <a:ext cx="558800" cy="28575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1" name="Text Box 10">
              <a:extLst>
                <a:ext uri="{FF2B5EF4-FFF2-40B4-BE49-F238E27FC236}">
                  <a16:creationId xmlns:a16="http://schemas.microsoft.com/office/drawing/2014/main" id="{087BC15F-C734-A3CF-98E9-B22CE45844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9238" y="2057400"/>
              <a:ext cx="546100" cy="28575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2.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" name="AutoShape 9">
              <a:extLst>
                <a:ext uri="{FF2B5EF4-FFF2-40B4-BE49-F238E27FC236}">
                  <a16:creationId xmlns:a16="http://schemas.microsoft.com/office/drawing/2014/main" id="{6F522D76-FF71-6EF3-A92B-62DEC67445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08588" y="2241550"/>
              <a:ext cx="160337" cy="103188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Rectangle 22">
              <a:extLst>
                <a:ext uri="{FF2B5EF4-FFF2-40B4-BE49-F238E27FC236}">
                  <a16:creationId xmlns:a16="http://schemas.microsoft.com/office/drawing/2014/main" id="{9C67BF23-1A8D-0784-A2F4-08CE88DCF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15240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45" name="Rectangle 27">
              <a:extLst>
                <a:ext uri="{FF2B5EF4-FFF2-40B4-BE49-F238E27FC236}">
                  <a16:creationId xmlns:a16="http://schemas.microsoft.com/office/drawing/2014/main" id="{8692BABF-84B6-4F7E-E962-3AA2545346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6096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br>
                <a: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</a:b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" name="Rectangle 28">
              <a:extLst>
                <a:ext uri="{FF2B5EF4-FFF2-40B4-BE49-F238E27FC236}">
                  <a16:creationId xmlns:a16="http://schemas.microsoft.com/office/drawing/2014/main" id="{FDBD6B0B-2E42-6B6F-0C37-25C0E91010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6096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860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860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860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860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860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860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860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860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860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686050" algn="l"/>
                </a:tabLst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686050" algn="l"/>
                </a:tabLst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645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678873" y="1032424"/>
            <a:ext cx="4133461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How To Edit Stock Issuance Transaction?</a:t>
            </a:r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sp>
        <p:nvSpPr>
          <p:cNvPr id="12" name="Text Box 18">
            <a:extLst>
              <a:ext uri="{FF2B5EF4-FFF2-40B4-BE49-F238E27FC236}">
                <a16:creationId xmlns:a16="http://schemas.microsoft.com/office/drawing/2014/main" id="{9A8214E9-BA24-C1CD-FE2E-59471D8D7178}"/>
              </a:ext>
            </a:extLst>
          </p:cNvPr>
          <p:cNvSpPr txBox="1"/>
          <p:nvPr/>
        </p:nvSpPr>
        <p:spPr>
          <a:xfrm>
            <a:off x="540588" y="1771320"/>
            <a:ext cx="4179346" cy="4589785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edit the header, click edit button then edit the information that you want to change.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If done, click save button.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edit the item stock, edit directly the details you want to change.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If done, click save item button.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388AC9D8-E4B5-58A0-4094-8A9CB20669C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693359DA-0E35-C2AE-7680-F17A03960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49DEC-339C-45EE-3FAD-E06A215F3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F644067F-F87C-A06A-6AD8-45DD5C6D6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4462" y="151368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AB27D2C1-3726-6CDE-F74B-C97C5DEDC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4462" y="197088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D254B1-C23A-629E-8AFC-4D7CBC5ADC08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Sales/ Stock Issuance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8E9A76C-0E21-795B-A015-33577EDB6F2F}"/>
              </a:ext>
            </a:extLst>
          </p:cNvPr>
          <p:cNvGrpSpPr/>
          <p:nvPr/>
        </p:nvGrpSpPr>
        <p:grpSpPr>
          <a:xfrm>
            <a:off x="5305743" y="592058"/>
            <a:ext cx="12192000" cy="3486150"/>
            <a:chOff x="0" y="0"/>
            <a:chExt cx="12192000" cy="3486150"/>
          </a:xfrm>
        </p:grpSpPr>
        <p:pic>
          <p:nvPicPr>
            <p:cNvPr id="6145" name="Picture 134">
              <a:extLst>
                <a:ext uri="{FF2B5EF4-FFF2-40B4-BE49-F238E27FC236}">
                  <a16:creationId xmlns:a16="http://schemas.microsoft.com/office/drawing/2014/main" id="{5F93B6E6-F844-6D2A-442A-0DDD26E9B9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57200"/>
              <a:ext cx="6038850" cy="3028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2">
              <a:extLst>
                <a:ext uri="{FF2B5EF4-FFF2-40B4-BE49-F238E27FC236}">
                  <a16:creationId xmlns:a16="http://schemas.microsoft.com/office/drawing/2014/main" id="{86CA0594-682F-E3B3-8239-AD37929FD6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7163" y="463550"/>
              <a:ext cx="374650" cy="200025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AutoShape 7">
              <a:extLst>
                <a:ext uri="{FF2B5EF4-FFF2-40B4-BE49-F238E27FC236}">
                  <a16:creationId xmlns:a16="http://schemas.microsoft.com/office/drawing/2014/main" id="{882A6ADB-0E2D-BD04-FFEC-0D4A0CADA1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1350" y="654050"/>
              <a:ext cx="388938" cy="263525"/>
            </a:xfrm>
            <a:prstGeom prst="flowChartProcess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PH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kumimoji="0" lang="en-PH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68DC192-9D28-5EB3-C1BF-AD2830737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 bwMode="auto">
            <a:xfrm>
              <a:off x="500380" y="691145"/>
              <a:ext cx="5055870" cy="145605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AutoShape 3">
              <a:extLst>
                <a:ext uri="{FF2B5EF4-FFF2-40B4-BE49-F238E27FC236}">
                  <a16:creationId xmlns:a16="http://schemas.microsoft.com/office/drawing/2014/main" id="{8823F40C-4DED-2058-B9C9-668E2C3184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6250" y="615950"/>
              <a:ext cx="117475" cy="374650"/>
            </a:xfrm>
            <a:prstGeom prst="curvedLeftArrow">
              <a:avLst>
                <a:gd name="adj1" fmla="val 63784"/>
                <a:gd name="adj2" fmla="val 127568"/>
                <a:gd name="adj3" fmla="val 33333"/>
              </a:avLst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Rectangle 4">
              <a:extLst>
                <a:ext uri="{FF2B5EF4-FFF2-40B4-BE49-F238E27FC236}">
                  <a16:creationId xmlns:a16="http://schemas.microsoft.com/office/drawing/2014/main" id="{3CEAFD8E-132C-C9AB-A1E5-EDDDDE5171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6463" y="1081088"/>
              <a:ext cx="374650" cy="200025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AutoShape 5">
              <a:extLst>
                <a:ext uri="{FF2B5EF4-FFF2-40B4-BE49-F238E27FC236}">
                  <a16:creationId xmlns:a16="http://schemas.microsoft.com/office/drawing/2014/main" id="{180A7234-D761-D76C-AD9E-CD803056EC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7525" y="1017588"/>
              <a:ext cx="388938" cy="263525"/>
            </a:xfrm>
            <a:prstGeom prst="flowChartProcess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PH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kumimoji="0" lang="en-PH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" name="Rectangle 8">
              <a:extLst>
                <a:ext uri="{FF2B5EF4-FFF2-40B4-BE49-F238E27FC236}">
                  <a16:creationId xmlns:a16="http://schemas.microsoft.com/office/drawing/2014/main" id="{B4A75DC0-3436-72E0-F2D8-98F7AB28F3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22" name="Rectangle 10">
              <a:extLst>
                <a:ext uri="{FF2B5EF4-FFF2-40B4-BE49-F238E27FC236}">
                  <a16:creationId xmlns:a16="http://schemas.microsoft.com/office/drawing/2014/main" id="{59230C90-F049-CC8C-ECD7-9CCC86D03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br>
                <a: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</a:b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" name="Rectangle 12">
              <a:extLst>
                <a:ext uri="{FF2B5EF4-FFF2-40B4-BE49-F238E27FC236}">
                  <a16:creationId xmlns:a16="http://schemas.microsoft.com/office/drawing/2014/main" id="{50E0BD7A-03F4-5BEC-921E-3B51159D74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25" name="Rectangle 13">
              <a:extLst>
                <a:ext uri="{FF2B5EF4-FFF2-40B4-BE49-F238E27FC236}">
                  <a16:creationId xmlns:a16="http://schemas.microsoft.com/office/drawing/2014/main" id="{D7A7C60D-CBF1-F4A3-B4E1-D2B33E9B71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8615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A4E75C1-4F37-629C-E619-7D2E40B5B5BA}"/>
              </a:ext>
            </a:extLst>
          </p:cNvPr>
          <p:cNvGrpSpPr/>
          <p:nvPr/>
        </p:nvGrpSpPr>
        <p:grpSpPr>
          <a:xfrm>
            <a:off x="5374888" y="4314110"/>
            <a:ext cx="12192000" cy="1741488"/>
            <a:chOff x="0" y="0"/>
            <a:chExt cx="12192000" cy="1741488"/>
          </a:xfrm>
        </p:grpSpPr>
        <p:pic>
          <p:nvPicPr>
            <p:cNvPr id="6158" name="Picture 140">
              <a:extLst>
                <a:ext uri="{FF2B5EF4-FFF2-40B4-BE49-F238E27FC236}">
                  <a16:creationId xmlns:a16="http://schemas.microsoft.com/office/drawing/2014/main" id="{916DDEBA-C8D9-00A8-4446-F7B33A0839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53894"/>
              <a:ext cx="6191250" cy="12842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" name="Rectangle 15">
              <a:extLst>
                <a:ext uri="{FF2B5EF4-FFF2-40B4-BE49-F238E27FC236}">
                  <a16:creationId xmlns:a16="http://schemas.microsoft.com/office/drawing/2014/main" id="{53AC2E74-7C8C-129C-CD6D-DF53095EC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725" y="1458913"/>
              <a:ext cx="4891088" cy="263525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AutoShape 16">
              <a:extLst>
                <a:ext uri="{FF2B5EF4-FFF2-40B4-BE49-F238E27FC236}">
                  <a16:creationId xmlns:a16="http://schemas.microsoft.com/office/drawing/2014/main" id="{1C2CE653-CA6C-2793-2544-BE3C911A59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1350" y="1457325"/>
              <a:ext cx="388938" cy="263525"/>
            </a:xfrm>
            <a:prstGeom prst="flowChartProcess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PH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  <a:endParaRPr kumimoji="0" lang="en-PH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3" name="Rectangle 18">
              <a:extLst>
                <a:ext uri="{FF2B5EF4-FFF2-40B4-BE49-F238E27FC236}">
                  <a16:creationId xmlns:a16="http://schemas.microsoft.com/office/drawing/2014/main" id="{97B63499-1E5B-C932-CB61-A99245594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4768" y="457680"/>
              <a:ext cx="512763" cy="200025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AutoShape 17">
              <a:extLst>
                <a:ext uri="{FF2B5EF4-FFF2-40B4-BE49-F238E27FC236}">
                  <a16:creationId xmlns:a16="http://schemas.microsoft.com/office/drawing/2014/main" id="{B733FE74-1B4A-B76C-C31A-67A8F2301D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3731" y="394180"/>
              <a:ext cx="388937" cy="263525"/>
            </a:xfrm>
            <a:prstGeom prst="flowChartProcess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PH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4</a:t>
              </a:r>
              <a:endParaRPr kumimoji="0" lang="en-PH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" name="Rectangle 19">
              <a:extLst>
                <a:ext uri="{FF2B5EF4-FFF2-40B4-BE49-F238E27FC236}">
                  <a16:creationId xmlns:a16="http://schemas.microsoft.com/office/drawing/2014/main" id="{EF328B4B-DD75-32C3-73DF-6E18032A58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36" name="Rectangle 21">
              <a:extLst>
                <a:ext uri="{FF2B5EF4-FFF2-40B4-BE49-F238E27FC236}">
                  <a16:creationId xmlns:a16="http://schemas.microsoft.com/office/drawing/2014/main" id="{C77901AC-CCAD-CC9F-6749-1F6316565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br>
                <a: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</a:b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7" name="Rectangle 23">
              <a:extLst>
                <a:ext uri="{FF2B5EF4-FFF2-40B4-BE49-F238E27FC236}">
                  <a16:creationId xmlns:a16="http://schemas.microsoft.com/office/drawing/2014/main" id="{9DA78FC1-C7AD-2208-CCA2-4FA0AC491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38" name="Rectangle 24">
              <a:extLst>
                <a:ext uri="{FF2B5EF4-FFF2-40B4-BE49-F238E27FC236}">
                  <a16:creationId xmlns:a16="http://schemas.microsoft.com/office/drawing/2014/main" id="{EBC50E7D-F234-8DBF-6A43-DECA18A8E3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741488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813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678873" y="1032424"/>
            <a:ext cx="4133461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How To Delete Stock Issuance Transaction?</a:t>
            </a:r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sp>
        <p:nvSpPr>
          <p:cNvPr id="12" name="Text Box 18">
            <a:extLst>
              <a:ext uri="{FF2B5EF4-FFF2-40B4-BE49-F238E27FC236}">
                <a16:creationId xmlns:a16="http://schemas.microsoft.com/office/drawing/2014/main" id="{9A8214E9-BA24-C1CD-FE2E-59471D8D7178}"/>
              </a:ext>
            </a:extLst>
          </p:cNvPr>
          <p:cNvSpPr txBox="1"/>
          <p:nvPr/>
        </p:nvSpPr>
        <p:spPr>
          <a:xfrm>
            <a:off x="540588" y="1771320"/>
            <a:ext cx="4179346" cy="4589785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stock issuance – main window, search the transaction you want to delete.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1.2.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stock issuance– main form, click the lookup button and select the transaction you want to delete.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If done, click delete button.</a:t>
            </a: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388AC9D8-E4B5-58A0-4094-8A9CB20669C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693359DA-0E35-C2AE-7680-F17A03960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49DEC-339C-45EE-3FAD-E06A215F3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F644067F-F87C-A06A-6AD8-45DD5C6D6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4462" y="151368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AB27D2C1-3726-6CDE-F74B-C97C5DEDC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4462" y="197088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D254B1-C23A-629E-8AFC-4D7CBC5ADC08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Sales/ Stock Issuance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CDC4D39-A833-F6AA-1522-F65E9948E891}"/>
              </a:ext>
            </a:extLst>
          </p:cNvPr>
          <p:cNvGrpSpPr/>
          <p:nvPr/>
        </p:nvGrpSpPr>
        <p:grpSpPr>
          <a:xfrm>
            <a:off x="5417127" y="566740"/>
            <a:ext cx="12192000" cy="2351088"/>
            <a:chOff x="0" y="0"/>
            <a:chExt cx="12192000" cy="2351088"/>
          </a:xfrm>
        </p:grpSpPr>
        <p:pic>
          <p:nvPicPr>
            <p:cNvPr id="7169" name="Picture 158">
              <a:extLst>
                <a:ext uri="{FF2B5EF4-FFF2-40B4-BE49-F238E27FC236}">
                  <a16:creationId xmlns:a16="http://schemas.microsoft.com/office/drawing/2014/main" id="{16E85BC9-C16D-A9C4-8C26-43C136218A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57200"/>
              <a:ext cx="6107113" cy="1893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2">
              <a:extLst>
                <a:ext uri="{FF2B5EF4-FFF2-40B4-BE49-F238E27FC236}">
                  <a16:creationId xmlns:a16="http://schemas.microsoft.com/office/drawing/2014/main" id="{67FC7679-D744-1DA2-F406-0BE2E1786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75" y="1214438"/>
              <a:ext cx="1139825" cy="3048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941037AF-EDF1-0516-07C4-CDC441ED01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4113" y="1319213"/>
              <a:ext cx="200025" cy="9525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D1D826A5-0E8F-8744-3FA3-F7A1631AE4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3663" y="1214438"/>
              <a:ext cx="466725" cy="24765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PH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1.1.</a:t>
              </a:r>
              <a:endParaRPr kumimoji="0" lang="en-PH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F13E4FD9-7474-F703-ED4F-3E53566A1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15" name="Rectangle 7">
              <a:extLst>
                <a:ext uri="{FF2B5EF4-FFF2-40B4-BE49-F238E27FC236}">
                  <a16:creationId xmlns:a16="http://schemas.microsoft.com/office/drawing/2014/main" id="{0286DEF4-3367-3B1F-7D84-53F22F7DC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16" name="Rectangle 8">
              <a:extLst>
                <a:ext uri="{FF2B5EF4-FFF2-40B4-BE49-F238E27FC236}">
                  <a16:creationId xmlns:a16="http://schemas.microsoft.com/office/drawing/2014/main" id="{729388CC-72EE-B000-11CC-8FDDD84453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351088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E4C21218-D145-A7E0-384C-6499E53E87F8}"/>
              </a:ext>
            </a:extLst>
          </p:cNvPr>
          <p:cNvSpPr txBox="1"/>
          <p:nvPr/>
        </p:nvSpPr>
        <p:spPr>
          <a:xfrm>
            <a:off x="6571240" y="2781668"/>
            <a:ext cx="399288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Stock Issuance 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EE835DE-C951-A466-B259-F2872488A645}"/>
              </a:ext>
            </a:extLst>
          </p:cNvPr>
          <p:cNvGrpSpPr/>
          <p:nvPr/>
        </p:nvGrpSpPr>
        <p:grpSpPr>
          <a:xfrm>
            <a:off x="5193908" y="3130684"/>
            <a:ext cx="12420251" cy="3260725"/>
            <a:chOff x="-228251" y="0"/>
            <a:chExt cx="12420251" cy="3260725"/>
          </a:xfrm>
        </p:grpSpPr>
        <p:pic>
          <p:nvPicPr>
            <p:cNvPr id="7177" name="Picture 853">
              <a:extLst>
                <a:ext uri="{FF2B5EF4-FFF2-40B4-BE49-F238E27FC236}">
                  <a16:creationId xmlns:a16="http://schemas.microsoft.com/office/drawing/2014/main" id="{4A8CF9E0-D894-8805-695F-9AB56408EE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3050" y="946943"/>
              <a:ext cx="5840413" cy="1889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7" name="Group 10">
              <a:extLst>
                <a:ext uri="{FF2B5EF4-FFF2-40B4-BE49-F238E27FC236}">
                  <a16:creationId xmlns:a16="http://schemas.microsoft.com/office/drawing/2014/main" id="{860BF8CE-D801-CA5C-604E-0E5DBB6A67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63663" y="1574800"/>
              <a:ext cx="952500" cy="304800"/>
              <a:chOff x="5238" y="285"/>
              <a:chExt cx="9525" cy="3048"/>
            </a:xfrm>
          </p:grpSpPr>
          <p:sp>
            <p:nvSpPr>
              <p:cNvPr id="28" name="Rectangle 13">
                <a:extLst>
                  <a:ext uri="{FF2B5EF4-FFF2-40B4-BE49-F238E27FC236}">
                    <a16:creationId xmlns:a16="http://schemas.microsoft.com/office/drawing/2014/main" id="{09204EFD-A0CA-FE1E-CD6B-9AB5C1D146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" y="285"/>
                <a:ext cx="2759" cy="3048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" name="AutoShape 12">
                <a:extLst>
                  <a:ext uri="{FF2B5EF4-FFF2-40B4-BE49-F238E27FC236}">
                    <a16:creationId xmlns:a16="http://schemas.microsoft.com/office/drawing/2014/main" id="{CB407992-AEB2-B37B-ECFA-1D51D715E9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01" y="1333"/>
                <a:ext cx="2000" cy="95"/>
              </a:xfrm>
              <a:prstGeom prst="straightConnector1">
                <a:avLst/>
              </a:prstGeom>
              <a:noFill/>
              <a:ln w="6350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" name="Text Box 11">
                <a:extLst>
                  <a:ext uri="{FF2B5EF4-FFF2-40B4-BE49-F238E27FC236}">
                    <a16:creationId xmlns:a16="http://schemas.microsoft.com/office/drawing/2014/main" id="{6B88D3CD-48BD-F0EE-E040-ABDB5DAC73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96" y="285"/>
                <a:ext cx="4667" cy="2477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PH" altLang="en-US" sz="11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1.2.</a:t>
                </a:r>
                <a:endParaRPr kumimoji="0" lang="en-PH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41" name="Group 15">
              <a:extLst>
                <a:ext uri="{FF2B5EF4-FFF2-40B4-BE49-F238E27FC236}">
                  <a16:creationId xmlns:a16="http://schemas.microsoft.com/office/drawing/2014/main" id="{B983F072-1B16-4C41-DF21-12E3976B83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2438" y="1374775"/>
              <a:ext cx="981075" cy="304800"/>
              <a:chOff x="3333" y="285"/>
              <a:chExt cx="9810" cy="3048"/>
            </a:xfrm>
          </p:grpSpPr>
          <p:sp>
            <p:nvSpPr>
              <p:cNvPr id="42" name="Rectangle 844">
                <a:extLst>
                  <a:ext uri="{FF2B5EF4-FFF2-40B4-BE49-F238E27FC236}">
                    <a16:creationId xmlns:a16="http://schemas.microsoft.com/office/drawing/2014/main" id="{19B693FE-C95A-6058-3079-0532CAE14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3" y="285"/>
                <a:ext cx="4664" cy="3048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" name="Straight Arrow Connector 845">
                <a:extLst>
                  <a:ext uri="{FF2B5EF4-FFF2-40B4-BE49-F238E27FC236}">
                    <a16:creationId xmlns:a16="http://schemas.microsoft.com/office/drawing/2014/main" id="{EE29C23D-3022-F0CE-3BAD-F605D67B45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01" y="1333"/>
                <a:ext cx="2000" cy="95"/>
              </a:xfrm>
              <a:prstGeom prst="straightConnector1">
                <a:avLst/>
              </a:prstGeom>
              <a:noFill/>
              <a:ln w="6350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" name="Text Box 846">
                <a:extLst>
                  <a:ext uri="{FF2B5EF4-FFF2-40B4-BE49-F238E27FC236}">
                    <a16:creationId xmlns:a16="http://schemas.microsoft.com/office/drawing/2014/main" id="{CA8E48FA-FCD8-3115-A35E-778F0FA22B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96" y="285"/>
                <a:ext cx="3048" cy="2477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2.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5" name="Text Box 14">
              <a:extLst>
                <a:ext uri="{FF2B5EF4-FFF2-40B4-BE49-F238E27FC236}">
                  <a16:creationId xmlns:a16="http://schemas.microsoft.com/office/drawing/2014/main" id="{64D094FA-1E98-E535-5DA0-60D04E4370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9913" y="1879600"/>
              <a:ext cx="2301875" cy="879475"/>
            </a:xfrm>
            <a:prstGeom prst="rect">
              <a:avLst/>
            </a:prstGeom>
            <a:solidFill>
              <a:srgbClr val="FFF2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03200" algn="l"/>
                </a:tabLst>
              </a:pPr>
              <a:r>
                <a:rPr kumimoji="0" lang="en-PH" altLang="en-US" sz="1000" b="0" i="1" u="none" strike="noStrike" cap="none" normalizeH="0" baseline="0" dirty="0">
                  <a:ln>
                    <a:noFill/>
                  </a:ln>
                  <a:solidFill>
                    <a:srgbClr val="4F6128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How to search stock issuance transaction?</a:t>
              </a:r>
              <a:endParaRPr kumimoji="0" lang="en-PH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>
                  <a:tab pos="203200" algn="l"/>
                </a:tabLst>
              </a:pPr>
              <a:r>
                <a:rPr kumimoji="0" lang="en-PH" altLang="en-US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Type the transaction number in the search bar.</a:t>
              </a:r>
              <a:endParaRPr kumimoji="0" lang="en-PH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>
                  <a:tab pos="203200" algn="l"/>
                </a:tabLst>
              </a:pPr>
              <a:r>
                <a:rPr kumimoji="0" lang="en-PH" altLang="en-US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Click ‘enter’ in the keyboard to search.</a:t>
              </a:r>
              <a:endParaRPr kumimoji="0" lang="en-PH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>
                  <a:tab pos="203200" algn="l"/>
                </a:tabLst>
              </a:pPr>
              <a:r>
                <a:rPr kumimoji="0" lang="en-PH" altLang="en-US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Click to select the transaction you want to delete</a:t>
              </a:r>
              <a:endParaRPr kumimoji="0" lang="en-PH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" name="Text Box 19">
              <a:extLst>
                <a:ext uri="{FF2B5EF4-FFF2-40B4-BE49-F238E27FC236}">
                  <a16:creationId xmlns:a16="http://schemas.microsoft.com/office/drawing/2014/main" id="{06B605E0-DF84-9232-DF8B-89EAEF5D06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28251" y="935103"/>
              <a:ext cx="1306513" cy="27305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HEADER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7" name="Rectangle 20">
              <a:extLst>
                <a:ext uri="{FF2B5EF4-FFF2-40B4-BE49-F238E27FC236}">
                  <a16:creationId xmlns:a16="http://schemas.microsoft.com/office/drawing/2014/main" id="{A8981949-02E6-FDBD-A22B-3504315F42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48" name="Rectangle 22">
              <a:extLst>
                <a:ext uri="{FF2B5EF4-FFF2-40B4-BE49-F238E27FC236}">
                  <a16:creationId xmlns:a16="http://schemas.microsoft.com/office/drawing/2014/main" id="{ABA90BFF-0B67-C312-987C-6383B05E53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br>
                <a: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</a:b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0" name="Rectangle 26">
              <a:extLst>
                <a:ext uri="{FF2B5EF4-FFF2-40B4-BE49-F238E27FC236}">
                  <a16:creationId xmlns:a16="http://schemas.microsoft.com/office/drawing/2014/main" id="{FEAA02F3-EAA5-9C2F-E1DD-38494E82A6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144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51" name="Rectangle 27">
              <a:extLst>
                <a:ext uri="{FF2B5EF4-FFF2-40B4-BE49-F238E27FC236}">
                  <a16:creationId xmlns:a16="http://schemas.microsoft.com/office/drawing/2014/main" id="{F2924CAE-74E6-998A-117D-48DB68823B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803525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A044395B-19AC-3A87-0B7F-8BFC91528837}"/>
              </a:ext>
            </a:extLst>
          </p:cNvPr>
          <p:cNvSpPr txBox="1"/>
          <p:nvPr/>
        </p:nvSpPr>
        <p:spPr>
          <a:xfrm>
            <a:off x="6571240" y="6018941"/>
            <a:ext cx="399288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Stock Issuance – Main Form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4631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E7777D04-D73F-74AB-C30B-7D3C9397264F}"/>
              </a:ext>
            </a:extLst>
          </p:cNvPr>
          <p:cNvSpPr txBox="1"/>
          <p:nvPr/>
        </p:nvSpPr>
        <p:spPr>
          <a:xfrm>
            <a:off x="3095170" y="1766651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Other Buttons</a:t>
            </a:r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1CC16-0912-B5FE-360F-C6F20FD1F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F4231D-4951-E7C5-FF04-A059E6A2B743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Sales/ Stock Issuance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9124C4B-8E63-F090-BD79-2C3574343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170" y="2104043"/>
            <a:ext cx="6578029" cy="2981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26663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603</Words>
  <Application>Microsoft Office PowerPoint</Application>
  <PresentationFormat>Widescreen</PresentationFormat>
  <Paragraphs>225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Animosa Extra Bold</vt:lpstr>
      <vt:lpstr>Arial</vt:lpstr>
      <vt:lpstr>Bodoni MT Condensed</vt:lpstr>
      <vt:lpstr>Calibri</vt:lpstr>
      <vt:lpstr>Calibri Light</vt:lpstr>
      <vt:lpstr>Chivo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Janine Calawod</dc:creator>
  <cp:lastModifiedBy>Janine Calawod</cp:lastModifiedBy>
  <cp:revision>8</cp:revision>
  <dcterms:created xsi:type="dcterms:W3CDTF">2023-01-10T05:46:41Z</dcterms:created>
  <dcterms:modified xsi:type="dcterms:W3CDTF">2023-01-10T06:17:19Z</dcterms:modified>
</cp:coreProperties>
</file>