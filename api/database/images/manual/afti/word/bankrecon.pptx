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84" r:id="rId2"/>
    <p:sldId id="385" r:id="rId3"/>
    <p:sldId id="386" r:id="rId4"/>
    <p:sldId id="394" r:id="rId5"/>
    <p:sldId id="395" r:id="rId6"/>
    <p:sldId id="39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27150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64191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26421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5753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09968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55387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89462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28443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962424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217425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840494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1/12/2023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2840796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524001" y="2055283"/>
            <a:ext cx="9502140" cy="1569660"/>
          </a:xfrm>
          <a:prstGeom prst="rect">
            <a:avLst/>
          </a:prstGeom>
          <a:noFill/>
          <a:effectLst/>
        </p:spPr>
        <p:txBody>
          <a:bodyPr wrap="square" rtlCol="0">
            <a:spAutoFit/>
          </a:bodyPr>
          <a:lstStyle/>
          <a:p>
            <a:pPr algn="ctr"/>
            <a:r>
              <a:rPr lang="en-US" sz="9600" b="1" dirty="0">
                <a:solidFill>
                  <a:srgbClr val="00B050"/>
                </a:solidFill>
                <a:latin typeface="Bodoni MT Condensed" panose="02070606080606020203" pitchFamily="18" charset="0"/>
              </a:rPr>
              <a:t>Bank Reconciliation</a:t>
            </a:r>
            <a:endParaRPr lang="en-US" sz="96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chemeClr val="bg1"/>
              </a:solidFill>
              <a:ea typeface="Open Sans" panose="020B0606030504020204" pitchFamily="34" charset="0"/>
              <a:cs typeface="Times New Roman" panose="02020603050405020304" pitchFamily="18" charset="0"/>
            </a:endParaRPr>
          </a:p>
          <a:p>
            <a:pPr marL="0" marR="0" algn="ctr">
              <a:lnSpc>
                <a:spcPct val="107000"/>
              </a:lnSpc>
              <a:spcBef>
                <a:spcPts val="0"/>
              </a:spcBef>
              <a:spcAft>
                <a:spcPts val="800"/>
              </a:spcAft>
            </a:pPr>
            <a:r>
              <a:rPr lang="en-US" sz="1400" dirty="0">
                <a:solidFill>
                  <a:schemeClr val="bg1"/>
                </a:solidFill>
                <a:ea typeface="Open Sans" panose="020B0606030504020204" pitchFamily="34" charset="0"/>
                <a:cs typeface="Times New Roman" panose="02020603050405020304" pitchFamily="18" charset="0"/>
              </a:rPr>
              <a:t>Bank Reconciliation is where we reconcile the book and bank book.</a:t>
            </a:r>
            <a:endParaRPr lang="en-US" sz="1400" dirty="0">
              <a:solidFill>
                <a:srgbClr val="007434"/>
              </a:solidFill>
              <a:effectLst/>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4079294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2405"/>
            <a:ext cx="5516880"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5290890"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/Bank Reconciliation</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Main Window</a:t>
            </a:r>
            <a:endParaRPr lang="en-US" sz="2000" dirty="0">
              <a:solidFill>
                <a:srgbClr val="007434"/>
              </a:solidFill>
              <a:latin typeface="Calibri Light" panose="020F0302020204030204" pitchFamily="34" charset="0"/>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Bank Reconciliation module under Accounting, Bank Recon main form will display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119936" y="4161900"/>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latin typeface="Calibri" panose="020F0502020204030204" pitchFamily="34" charset="0"/>
                <a:ea typeface="Calibri" panose="020F0502020204030204" pitchFamily="34" charset="0"/>
                <a:cs typeface="Calibri" panose="020F0502020204030204" pitchFamily="34" charset="0"/>
              </a:rPr>
              <a:t>Bank Reconciliation </a:t>
            </a:r>
            <a:r>
              <a:rPr lang="en-PH" sz="1200" b="1" dirty="0">
                <a:effectLst/>
                <a:latin typeface="Calibri" panose="020F0502020204030204" pitchFamily="34" charset="0"/>
                <a:ea typeface="Calibri" panose="020F0502020204030204" pitchFamily="34" charset="0"/>
                <a:cs typeface="Calibri" panose="020F0502020204030204" pitchFamily="34" charset="0"/>
              </a:rPr>
              <a:t>–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13" name="Group 12">
            <a:extLst>
              <a:ext uri="{FF2B5EF4-FFF2-40B4-BE49-F238E27FC236}">
                <a16:creationId xmlns:a16="http://schemas.microsoft.com/office/drawing/2014/main" id="{411A5797-D1F2-EC2B-2ACA-7384C7E14526}"/>
              </a:ext>
            </a:extLst>
          </p:cNvPr>
          <p:cNvGrpSpPr/>
          <p:nvPr/>
        </p:nvGrpSpPr>
        <p:grpSpPr>
          <a:xfrm>
            <a:off x="5208206" y="1422519"/>
            <a:ext cx="12192000" cy="2428875"/>
            <a:chOff x="152400" y="152400"/>
            <a:chExt cx="12192000" cy="2428875"/>
          </a:xfrm>
        </p:grpSpPr>
        <p:pic>
          <p:nvPicPr>
            <p:cNvPr id="1171" name="Picture 1171">
              <a:extLst>
                <a:ext uri="{FF2B5EF4-FFF2-40B4-BE49-F238E27FC236}">
                  <a16:creationId xmlns:a16="http://schemas.microsoft.com/office/drawing/2014/main" id="{F0170A59-B80C-6E44-B2B1-DBEF5AF817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125" y="609600"/>
              <a:ext cx="849313" cy="163513"/>
            </a:xfrm>
            <a:prstGeom prst="rect">
              <a:avLst/>
            </a:prstGeom>
            <a:noFill/>
            <a:extLst>
              <a:ext uri="{909E8E84-426E-40DD-AFC4-6F175D3DCCD1}">
                <a14:hiddenFill xmlns:a14="http://schemas.microsoft.com/office/drawing/2010/main">
                  <a:solidFill>
                    <a:srgbClr val="FFFFFF"/>
                  </a:solidFill>
                </a14:hiddenFill>
              </a:ext>
            </a:extLst>
          </p:spPr>
        </p:pic>
        <p:pic>
          <p:nvPicPr>
            <p:cNvPr id="19461" name="Picture 19">
              <a:extLst>
                <a:ext uri="{FF2B5EF4-FFF2-40B4-BE49-F238E27FC236}">
                  <a16:creationId xmlns:a16="http://schemas.microsoft.com/office/drawing/2014/main" id="{CDFD24F3-FC67-D71F-FD77-AFB2AEC84F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50" y="639763"/>
              <a:ext cx="6188075" cy="19399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F347A4E-1A89-66D2-2120-5C8503F6A28B}"/>
                </a:ext>
              </a:extLst>
            </p:cNvPr>
            <p:cNvSpPr>
              <a:spLocks noChangeArrowheads="1"/>
            </p:cNvSpPr>
            <p:nvPr/>
          </p:nvSpPr>
          <p:spPr bwMode="auto">
            <a:xfrm>
              <a:off x="206375" y="1943100"/>
              <a:ext cx="895350" cy="163513"/>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7" name="Rectangle 3">
              <a:extLst>
                <a:ext uri="{FF2B5EF4-FFF2-40B4-BE49-F238E27FC236}">
                  <a16:creationId xmlns:a16="http://schemas.microsoft.com/office/drawing/2014/main" id="{3A032D20-CA42-24CE-C16A-794090E1F6F0}"/>
                </a:ext>
              </a:extLst>
            </p:cNvPr>
            <p:cNvSpPr>
              <a:spLocks noChangeArrowheads="1"/>
            </p:cNvSpPr>
            <p:nvPr/>
          </p:nvSpPr>
          <p:spPr bwMode="auto">
            <a:xfrm>
              <a:off x="1250950" y="1079500"/>
              <a:ext cx="5092700" cy="1501775"/>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endParaRPr lang="en-US"/>
            </a:p>
          </p:txBody>
        </p:sp>
        <p:sp>
          <p:nvSpPr>
            <p:cNvPr id="8" name="AutoShape 2">
              <a:extLst>
                <a:ext uri="{FF2B5EF4-FFF2-40B4-BE49-F238E27FC236}">
                  <a16:creationId xmlns:a16="http://schemas.microsoft.com/office/drawing/2014/main" id="{765EB343-36E4-B7A3-6AE6-9A25F386CC80}"/>
                </a:ext>
              </a:extLst>
            </p:cNvPr>
            <p:cNvSpPr>
              <a:spLocks noChangeShapeType="1"/>
            </p:cNvSpPr>
            <p:nvPr/>
          </p:nvSpPr>
          <p:spPr bwMode="auto">
            <a:xfrm flipV="1">
              <a:off x="1073150" y="2022475"/>
              <a:ext cx="177800" cy="4762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6">
              <a:extLst>
                <a:ext uri="{FF2B5EF4-FFF2-40B4-BE49-F238E27FC236}">
                  <a16:creationId xmlns:a16="http://schemas.microsoft.com/office/drawing/2014/main" id="{8B53FFCA-3DE3-D5E5-2B47-C5EE26A3B3EA}"/>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7">
              <a:extLst>
                <a:ext uri="{FF2B5EF4-FFF2-40B4-BE49-F238E27FC236}">
                  <a16:creationId xmlns:a16="http://schemas.microsoft.com/office/drawing/2014/main" id="{35C318DB-6BF0-D0B8-696C-3878B28DB780}"/>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Rectangle 8">
              <a:extLst>
                <a:ext uri="{FF2B5EF4-FFF2-40B4-BE49-F238E27FC236}">
                  <a16:creationId xmlns:a16="http://schemas.microsoft.com/office/drawing/2014/main" id="{93CE3223-BCD4-EFCF-C47F-6D21FE639CDA}"/>
                </a:ext>
              </a:extLst>
            </p:cNvPr>
            <p:cNvSpPr>
              <a:spLocks noChangeArrowheads="1"/>
            </p:cNvSpPr>
            <p:nvPr/>
          </p:nvSpPr>
          <p:spPr bwMode="auto">
            <a:xfrm>
              <a:off x="1524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047353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508609"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Clear Transactions?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75592" y="2344264"/>
            <a:ext cx="3914824" cy="346569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Bank Recon – Main Form, select bank to reconcile by clicking the account lookup button.</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2</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Select the start and end date of the transactions to reconcile. Note that start date will be the reconcile date as of.</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3</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Select clear date by click the date picker in clear date field</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4</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Click refresh button to generate transactions within the selected start and end date</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algn="just">
              <a:lnSpc>
                <a:spcPct val="115000"/>
              </a:lnSpc>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After you click the refresh button, transactions will display in list tab.</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4" name="TextBox 3">
            <a:extLst>
              <a:ext uri="{FF2B5EF4-FFF2-40B4-BE49-F238E27FC236}">
                <a16:creationId xmlns:a16="http://schemas.microsoft.com/office/drawing/2014/main" id="{8369624E-9EB3-0CDB-5078-294FE73F7646}"/>
              </a:ext>
            </a:extLst>
          </p:cNvPr>
          <p:cNvSpPr txBox="1"/>
          <p:nvPr/>
        </p:nvSpPr>
        <p:spPr>
          <a:xfrm>
            <a:off x="805110" y="123167"/>
            <a:ext cx="5290890"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/Bank Reconciliation</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7184" name="Group 7183">
            <a:extLst>
              <a:ext uri="{FF2B5EF4-FFF2-40B4-BE49-F238E27FC236}">
                <a16:creationId xmlns:a16="http://schemas.microsoft.com/office/drawing/2014/main" id="{642460DC-5864-E768-9049-7A43342313D3}"/>
              </a:ext>
            </a:extLst>
          </p:cNvPr>
          <p:cNvGrpSpPr/>
          <p:nvPr/>
        </p:nvGrpSpPr>
        <p:grpSpPr>
          <a:xfrm>
            <a:off x="5441315" y="2924209"/>
            <a:ext cx="5656263" cy="1535112"/>
            <a:chOff x="5441315" y="1222309"/>
            <a:chExt cx="5656263" cy="1535112"/>
          </a:xfrm>
        </p:grpSpPr>
        <p:pic>
          <p:nvPicPr>
            <p:cNvPr id="27652" name="Picture 22">
              <a:extLst>
                <a:ext uri="{FF2B5EF4-FFF2-40B4-BE49-F238E27FC236}">
                  <a16:creationId xmlns:a16="http://schemas.microsoft.com/office/drawing/2014/main" id="{381C048D-DD98-8E10-6D0F-F223C25B5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1315" y="1222309"/>
              <a:ext cx="5656263" cy="153511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3">
              <a:extLst>
                <a:ext uri="{FF2B5EF4-FFF2-40B4-BE49-F238E27FC236}">
                  <a16:creationId xmlns:a16="http://schemas.microsoft.com/office/drawing/2014/main" id="{0DBDF6F2-C9FC-CDB8-4A02-8B6CC42F893D}"/>
                </a:ext>
              </a:extLst>
            </p:cNvPr>
            <p:cNvSpPr>
              <a:spLocks noChangeArrowheads="1"/>
            </p:cNvSpPr>
            <p:nvPr/>
          </p:nvSpPr>
          <p:spPr bwMode="auto">
            <a:xfrm>
              <a:off x="6471603" y="2033521"/>
              <a:ext cx="277812" cy="2222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6">
              <a:extLst>
                <a:ext uri="{FF2B5EF4-FFF2-40B4-BE49-F238E27FC236}">
                  <a16:creationId xmlns:a16="http://schemas.microsoft.com/office/drawing/2014/main" id="{497582E5-1638-9C05-CA01-686BC3F088C7}"/>
                </a:ext>
              </a:extLst>
            </p:cNvPr>
            <p:cNvSpPr>
              <a:spLocks noChangeShapeType="1"/>
            </p:cNvSpPr>
            <p:nvPr/>
          </p:nvSpPr>
          <p:spPr bwMode="auto">
            <a:xfrm flipV="1">
              <a:off x="6654165" y="1881121"/>
              <a:ext cx="158750" cy="1111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Rectangle 5">
              <a:extLst>
                <a:ext uri="{FF2B5EF4-FFF2-40B4-BE49-F238E27FC236}">
                  <a16:creationId xmlns:a16="http://schemas.microsoft.com/office/drawing/2014/main" id="{BF82102D-8C76-FB7A-723A-8C03A0D5C2E6}"/>
                </a:ext>
              </a:extLst>
            </p:cNvPr>
            <p:cNvSpPr>
              <a:spLocks noChangeArrowheads="1"/>
            </p:cNvSpPr>
            <p:nvPr/>
          </p:nvSpPr>
          <p:spPr bwMode="auto">
            <a:xfrm>
              <a:off x="6812915" y="1682684"/>
              <a:ext cx="301625" cy="31115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kumimoji="0" lang="en-PH" altLang="en-US" sz="1800" b="0" i="0" u="none" strike="noStrike" cap="none" normalizeH="0" baseline="0">
                <a:ln>
                  <a:noFill/>
                </a:ln>
                <a:solidFill>
                  <a:schemeClr val="tx1"/>
                </a:solidFill>
                <a:effectLst/>
                <a:latin typeface="Arial" panose="020B0604020202020204" pitchFamily="34" charset="0"/>
              </a:endParaRPr>
            </a:p>
          </p:txBody>
        </p:sp>
        <p:sp>
          <p:nvSpPr>
            <p:cNvPr id="14" name="Rectangle 12">
              <a:extLst>
                <a:ext uri="{FF2B5EF4-FFF2-40B4-BE49-F238E27FC236}">
                  <a16:creationId xmlns:a16="http://schemas.microsoft.com/office/drawing/2014/main" id="{098C6447-A6D8-EAEB-F07A-CCBCFB43D1BB}"/>
                </a:ext>
              </a:extLst>
            </p:cNvPr>
            <p:cNvSpPr>
              <a:spLocks noChangeArrowheads="1"/>
            </p:cNvSpPr>
            <p:nvPr/>
          </p:nvSpPr>
          <p:spPr bwMode="auto">
            <a:xfrm>
              <a:off x="6812915" y="2033521"/>
              <a:ext cx="1400175" cy="2222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8">
              <a:extLst>
                <a:ext uri="{FF2B5EF4-FFF2-40B4-BE49-F238E27FC236}">
                  <a16:creationId xmlns:a16="http://schemas.microsoft.com/office/drawing/2014/main" id="{B65B96BE-81B6-AA57-0642-3986BD6FF7BE}"/>
                </a:ext>
              </a:extLst>
            </p:cNvPr>
            <p:cNvSpPr>
              <a:spLocks noChangeShapeType="1"/>
            </p:cNvSpPr>
            <p:nvPr/>
          </p:nvSpPr>
          <p:spPr bwMode="auto">
            <a:xfrm flipV="1">
              <a:off x="7982903" y="1881121"/>
              <a:ext cx="158750" cy="1111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7">
              <a:extLst>
                <a:ext uri="{FF2B5EF4-FFF2-40B4-BE49-F238E27FC236}">
                  <a16:creationId xmlns:a16="http://schemas.microsoft.com/office/drawing/2014/main" id="{89775FB0-FA52-37E5-4E66-8305F7F8E348}"/>
                </a:ext>
              </a:extLst>
            </p:cNvPr>
            <p:cNvSpPr>
              <a:spLocks noChangeArrowheads="1"/>
            </p:cNvSpPr>
            <p:nvPr/>
          </p:nvSpPr>
          <p:spPr bwMode="auto">
            <a:xfrm>
              <a:off x="8141653" y="1682684"/>
              <a:ext cx="301625" cy="31115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kumimoji="0" lang="en-PH" altLang="en-US" sz="1800" b="0" i="0" u="none" strike="noStrike" cap="none" normalizeH="0" baseline="0">
                <a:ln>
                  <a:noFill/>
                </a:ln>
                <a:solidFill>
                  <a:schemeClr val="tx1"/>
                </a:solidFill>
                <a:effectLst/>
                <a:latin typeface="Arial" panose="020B0604020202020204" pitchFamily="34" charset="0"/>
              </a:endParaRPr>
            </a:p>
          </p:txBody>
        </p:sp>
        <p:sp>
          <p:nvSpPr>
            <p:cNvPr id="31" name="AutoShape 10">
              <a:extLst>
                <a:ext uri="{FF2B5EF4-FFF2-40B4-BE49-F238E27FC236}">
                  <a16:creationId xmlns:a16="http://schemas.microsoft.com/office/drawing/2014/main" id="{8BDDEB70-FEB0-77C7-CDD0-B651AC189A4A}"/>
                </a:ext>
              </a:extLst>
            </p:cNvPr>
            <p:cNvSpPr>
              <a:spLocks noChangeShapeType="1"/>
            </p:cNvSpPr>
            <p:nvPr/>
          </p:nvSpPr>
          <p:spPr bwMode="auto">
            <a:xfrm flipV="1">
              <a:off x="8625840" y="1882709"/>
              <a:ext cx="158750" cy="1111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Rectangle 9">
              <a:extLst>
                <a:ext uri="{FF2B5EF4-FFF2-40B4-BE49-F238E27FC236}">
                  <a16:creationId xmlns:a16="http://schemas.microsoft.com/office/drawing/2014/main" id="{2970F1EC-ADF6-F912-DF5B-6CD822684335}"/>
                </a:ext>
              </a:extLst>
            </p:cNvPr>
            <p:cNvSpPr>
              <a:spLocks noChangeArrowheads="1"/>
            </p:cNvSpPr>
            <p:nvPr/>
          </p:nvSpPr>
          <p:spPr bwMode="auto">
            <a:xfrm>
              <a:off x="8784590" y="1684271"/>
              <a:ext cx="301625" cy="31115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endParaRPr kumimoji="0" lang="en-PH"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3">
              <a:extLst>
                <a:ext uri="{FF2B5EF4-FFF2-40B4-BE49-F238E27FC236}">
                  <a16:creationId xmlns:a16="http://schemas.microsoft.com/office/drawing/2014/main" id="{456FE1FA-2ED7-189C-82F9-8FB063E1211D}"/>
                </a:ext>
              </a:extLst>
            </p:cNvPr>
            <p:cNvSpPr>
              <a:spLocks noChangeArrowheads="1"/>
            </p:cNvSpPr>
            <p:nvPr/>
          </p:nvSpPr>
          <p:spPr bwMode="auto">
            <a:xfrm>
              <a:off x="7935278" y="2255771"/>
              <a:ext cx="277812" cy="2508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AutoShape 2">
              <a:extLst>
                <a:ext uri="{FF2B5EF4-FFF2-40B4-BE49-F238E27FC236}">
                  <a16:creationId xmlns:a16="http://schemas.microsoft.com/office/drawing/2014/main" id="{9F979639-30BE-B9B0-913C-5D73EDFC558A}"/>
                </a:ext>
              </a:extLst>
            </p:cNvPr>
            <p:cNvSpPr>
              <a:spLocks noChangeShapeType="1"/>
            </p:cNvSpPr>
            <p:nvPr/>
          </p:nvSpPr>
          <p:spPr bwMode="auto">
            <a:xfrm flipV="1">
              <a:off x="8213090" y="2343083"/>
              <a:ext cx="158750" cy="1111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Rectangle 1">
              <a:extLst>
                <a:ext uri="{FF2B5EF4-FFF2-40B4-BE49-F238E27FC236}">
                  <a16:creationId xmlns:a16="http://schemas.microsoft.com/office/drawing/2014/main" id="{B94C0FC7-B271-D7D8-F87E-DB5F0531E111}"/>
                </a:ext>
              </a:extLst>
            </p:cNvPr>
            <p:cNvSpPr>
              <a:spLocks noChangeArrowheads="1"/>
            </p:cNvSpPr>
            <p:nvPr/>
          </p:nvSpPr>
          <p:spPr bwMode="auto">
            <a:xfrm>
              <a:off x="8371840" y="2255771"/>
              <a:ext cx="301625" cy="31115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endParaRPr kumimoji="0" lang="en-PH" altLang="en-US" sz="1800" b="0" i="0" u="none" strike="noStrike" cap="none" normalizeH="0" baseline="0">
                <a:ln>
                  <a:noFill/>
                </a:ln>
                <a:solidFill>
                  <a:schemeClr val="tx1"/>
                </a:solidFill>
                <a:effectLst/>
                <a:latin typeface="Arial" panose="020B0604020202020204" pitchFamily="34" charset="0"/>
              </a:endParaRPr>
            </a:p>
          </p:txBody>
        </p:sp>
      </p:grpSp>
      <p:sp>
        <p:nvSpPr>
          <p:cNvPr id="37" name="Rectangle 14">
            <a:extLst>
              <a:ext uri="{FF2B5EF4-FFF2-40B4-BE49-F238E27FC236}">
                <a16:creationId xmlns:a16="http://schemas.microsoft.com/office/drawing/2014/main" id="{BA6ABECB-15F5-9A5B-9463-0D1AC9BD91B0}"/>
              </a:ext>
            </a:extLst>
          </p:cNvPr>
          <p:cNvSpPr>
            <a:spLocks noChangeArrowheads="1"/>
          </p:cNvSpPr>
          <p:nvPr/>
        </p:nvSpPr>
        <p:spPr bwMode="auto">
          <a:xfrm>
            <a:off x="5273040" y="53492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8" name="Rectangle 18">
            <a:extLst>
              <a:ext uri="{FF2B5EF4-FFF2-40B4-BE49-F238E27FC236}">
                <a16:creationId xmlns:a16="http://schemas.microsoft.com/office/drawing/2014/main" id="{C8E96C76-BBB4-D59A-BD85-8E3A699993E2}"/>
              </a:ext>
            </a:extLst>
          </p:cNvPr>
          <p:cNvSpPr>
            <a:spLocks noChangeArrowheads="1"/>
          </p:cNvSpPr>
          <p:nvPr/>
        </p:nvSpPr>
        <p:spPr bwMode="auto">
          <a:xfrm>
            <a:off x="5273040" y="9921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079500" algn="l"/>
              </a:tabLst>
              <a:defRPr>
                <a:solidFill>
                  <a:schemeClr val="tx1"/>
                </a:solidFill>
                <a:latin typeface="Arial" panose="020B0604020202020204" pitchFamily="34" charset="0"/>
              </a:defRPr>
            </a:lvl1pPr>
            <a:lvl2pPr eaLnBrk="0" fontAlgn="base" hangingPunct="0">
              <a:spcBef>
                <a:spcPct val="0"/>
              </a:spcBef>
              <a:spcAft>
                <a:spcPct val="0"/>
              </a:spcAft>
              <a:tabLst>
                <a:tab pos="1079500" algn="l"/>
              </a:tabLst>
              <a:defRPr>
                <a:solidFill>
                  <a:schemeClr val="tx1"/>
                </a:solidFill>
                <a:latin typeface="Arial" panose="020B0604020202020204" pitchFamily="34" charset="0"/>
              </a:defRPr>
            </a:lvl2pPr>
            <a:lvl3pPr eaLnBrk="0" fontAlgn="base" hangingPunct="0">
              <a:spcBef>
                <a:spcPct val="0"/>
              </a:spcBef>
              <a:spcAft>
                <a:spcPct val="0"/>
              </a:spcAft>
              <a:tabLst>
                <a:tab pos="1079500" algn="l"/>
              </a:tabLst>
              <a:defRPr>
                <a:solidFill>
                  <a:schemeClr val="tx1"/>
                </a:solidFill>
                <a:latin typeface="Arial" panose="020B0604020202020204" pitchFamily="34" charset="0"/>
              </a:defRPr>
            </a:lvl3pPr>
            <a:lvl4pPr eaLnBrk="0" fontAlgn="base" hangingPunct="0">
              <a:spcBef>
                <a:spcPct val="0"/>
              </a:spcBef>
              <a:spcAft>
                <a:spcPct val="0"/>
              </a:spcAft>
              <a:tabLst>
                <a:tab pos="1079500" algn="l"/>
              </a:tabLst>
              <a:defRPr>
                <a:solidFill>
                  <a:schemeClr val="tx1"/>
                </a:solidFill>
                <a:latin typeface="Arial" panose="020B0604020202020204" pitchFamily="34" charset="0"/>
              </a:defRPr>
            </a:lvl4pPr>
            <a:lvl5pPr eaLnBrk="0" fontAlgn="base" hangingPunct="0">
              <a:spcBef>
                <a:spcPct val="0"/>
              </a:spcBef>
              <a:spcAft>
                <a:spcPct val="0"/>
              </a:spcAft>
              <a:tabLst>
                <a:tab pos="1079500" algn="l"/>
              </a:tabLst>
              <a:defRPr>
                <a:solidFill>
                  <a:schemeClr val="tx1"/>
                </a:solidFill>
                <a:latin typeface="Arial" panose="020B0604020202020204" pitchFamily="34" charset="0"/>
              </a:defRPr>
            </a:lvl5pPr>
            <a:lvl6pPr eaLnBrk="0" fontAlgn="base" hangingPunct="0">
              <a:spcBef>
                <a:spcPct val="0"/>
              </a:spcBef>
              <a:spcAft>
                <a:spcPct val="0"/>
              </a:spcAft>
              <a:tabLst>
                <a:tab pos="1079500" algn="l"/>
              </a:tabLst>
              <a:defRPr>
                <a:solidFill>
                  <a:schemeClr val="tx1"/>
                </a:solidFill>
                <a:latin typeface="Arial" panose="020B0604020202020204" pitchFamily="34" charset="0"/>
              </a:defRPr>
            </a:lvl6pPr>
            <a:lvl7pPr eaLnBrk="0" fontAlgn="base" hangingPunct="0">
              <a:spcBef>
                <a:spcPct val="0"/>
              </a:spcBef>
              <a:spcAft>
                <a:spcPct val="0"/>
              </a:spcAft>
              <a:tabLst>
                <a:tab pos="1079500" algn="l"/>
              </a:tabLst>
              <a:defRPr>
                <a:solidFill>
                  <a:schemeClr val="tx1"/>
                </a:solidFill>
                <a:latin typeface="Arial" panose="020B0604020202020204" pitchFamily="34" charset="0"/>
              </a:defRPr>
            </a:lvl7pPr>
            <a:lvl8pPr eaLnBrk="0" fontAlgn="base" hangingPunct="0">
              <a:spcBef>
                <a:spcPct val="0"/>
              </a:spcBef>
              <a:spcAft>
                <a:spcPct val="0"/>
              </a:spcAft>
              <a:tabLst>
                <a:tab pos="1079500" algn="l"/>
              </a:tabLst>
              <a:defRPr>
                <a:solidFill>
                  <a:schemeClr val="tx1"/>
                </a:solidFill>
                <a:latin typeface="Arial" panose="020B0604020202020204" pitchFamily="34" charset="0"/>
              </a:defRPr>
            </a:lvl8pPr>
            <a:lvl9pPr eaLnBrk="0" fontAlgn="base" hangingPunct="0">
              <a:spcBef>
                <a:spcPct val="0"/>
              </a:spcBef>
              <a:spcAft>
                <a:spcPct val="0"/>
              </a:spcAft>
              <a:tabLst>
                <a:tab pos="10795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079500" algn="l"/>
              </a:tabLst>
            </a:pPr>
            <a:endParaRPr kumimoji="0" lang="en-US" altLang="en-US" sz="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079500" algn="l"/>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079500" algn="l"/>
              </a:tabLst>
            </a:pPr>
            <a:r>
              <a:rPr kumimoji="0" lang="en-PH" altLang="en-US" sz="900" b="0" i="0" u="none" strike="noStrike" cap="none" normalizeH="0" baseline="0">
                <a:ln>
                  <a:noFill/>
                </a:ln>
                <a:solidFill>
                  <a:schemeClr val="tx1"/>
                </a:solidFill>
                <a:effectLst/>
                <a:latin typeface="Chivo Light" panose="020B0303030202020804" pitchFamily="34" charset="0"/>
                <a:ea typeface="Calibri" panose="020F0502020204030204" pitchFamily="34" charset="0"/>
                <a:cs typeface="Times New Roman" panose="02020603050405020304" pitchFamily="18" charset="0"/>
              </a:rPr>
              <a:t>	</a:t>
            </a:r>
            <a:endParaRPr kumimoji="0" lang="en-US" altLang="en-US" sz="4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079500" algn="l"/>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20">
            <a:extLst>
              <a:ext uri="{FF2B5EF4-FFF2-40B4-BE49-F238E27FC236}">
                <a16:creationId xmlns:a16="http://schemas.microsoft.com/office/drawing/2014/main" id="{25F89E65-0346-0D88-441D-1A3E66697552}"/>
              </a:ext>
            </a:extLst>
          </p:cNvPr>
          <p:cNvSpPr>
            <a:spLocks noChangeArrowheads="1"/>
          </p:cNvSpPr>
          <p:nvPr/>
        </p:nvSpPr>
        <p:spPr bwMode="auto">
          <a:xfrm>
            <a:off x="5273040" y="9921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39128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508609"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655790" y="64205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Clear Transactions?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24883" y="1883203"/>
            <a:ext cx="3914824" cy="266360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6.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Select transaction you want to clear, click apply clear date button</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7.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clear all the transactions, transactions selected will be tagged its clear date in clear day column.</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8.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clearing the transactions, click adjusting and balance tab</a:t>
            </a:r>
          </a:p>
          <a:p>
            <a:pPr marR="0" lvl="0" algn="just">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4" name="TextBox 3">
            <a:extLst>
              <a:ext uri="{FF2B5EF4-FFF2-40B4-BE49-F238E27FC236}">
                <a16:creationId xmlns:a16="http://schemas.microsoft.com/office/drawing/2014/main" id="{8369624E-9EB3-0CDB-5078-294FE73F7646}"/>
              </a:ext>
            </a:extLst>
          </p:cNvPr>
          <p:cNvSpPr txBox="1"/>
          <p:nvPr/>
        </p:nvSpPr>
        <p:spPr>
          <a:xfrm>
            <a:off x="805110" y="123167"/>
            <a:ext cx="5290890"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/Bank Reconciliation</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38" name="Rectangle 18">
            <a:extLst>
              <a:ext uri="{FF2B5EF4-FFF2-40B4-BE49-F238E27FC236}">
                <a16:creationId xmlns:a16="http://schemas.microsoft.com/office/drawing/2014/main" id="{C8E96C76-BBB4-D59A-BD85-8E3A699993E2}"/>
              </a:ext>
            </a:extLst>
          </p:cNvPr>
          <p:cNvSpPr>
            <a:spLocks noChangeArrowheads="1"/>
          </p:cNvSpPr>
          <p:nvPr/>
        </p:nvSpPr>
        <p:spPr bwMode="auto">
          <a:xfrm>
            <a:off x="5273040" y="9921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079500" algn="l"/>
              </a:tabLst>
              <a:defRPr>
                <a:solidFill>
                  <a:schemeClr val="tx1"/>
                </a:solidFill>
                <a:latin typeface="Arial" panose="020B0604020202020204" pitchFamily="34" charset="0"/>
              </a:defRPr>
            </a:lvl1pPr>
            <a:lvl2pPr eaLnBrk="0" fontAlgn="base" hangingPunct="0">
              <a:spcBef>
                <a:spcPct val="0"/>
              </a:spcBef>
              <a:spcAft>
                <a:spcPct val="0"/>
              </a:spcAft>
              <a:tabLst>
                <a:tab pos="1079500" algn="l"/>
              </a:tabLst>
              <a:defRPr>
                <a:solidFill>
                  <a:schemeClr val="tx1"/>
                </a:solidFill>
                <a:latin typeface="Arial" panose="020B0604020202020204" pitchFamily="34" charset="0"/>
              </a:defRPr>
            </a:lvl2pPr>
            <a:lvl3pPr eaLnBrk="0" fontAlgn="base" hangingPunct="0">
              <a:spcBef>
                <a:spcPct val="0"/>
              </a:spcBef>
              <a:spcAft>
                <a:spcPct val="0"/>
              </a:spcAft>
              <a:tabLst>
                <a:tab pos="1079500" algn="l"/>
              </a:tabLst>
              <a:defRPr>
                <a:solidFill>
                  <a:schemeClr val="tx1"/>
                </a:solidFill>
                <a:latin typeface="Arial" panose="020B0604020202020204" pitchFamily="34" charset="0"/>
              </a:defRPr>
            </a:lvl3pPr>
            <a:lvl4pPr eaLnBrk="0" fontAlgn="base" hangingPunct="0">
              <a:spcBef>
                <a:spcPct val="0"/>
              </a:spcBef>
              <a:spcAft>
                <a:spcPct val="0"/>
              </a:spcAft>
              <a:tabLst>
                <a:tab pos="1079500" algn="l"/>
              </a:tabLst>
              <a:defRPr>
                <a:solidFill>
                  <a:schemeClr val="tx1"/>
                </a:solidFill>
                <a:latin typeface="Arial" panose="020B0604020202020204" pitchFamily="34" charset="0"/>
              </a:defRPr>
            </a:lvl4pPr>
            <a:lvl5pPr eaLnBrk="0" fontAlgn="base" hangingPunct="0">
              <a:spcBef>
                <a:spcPct val="0"/>
              </a:spcBef>
              <a:spcAft>
                <a:spcPct val="0"/>
              </a:spcAft>
              <a:tabLst>
                <a:tab pos="1079500" algn="l"/>
              </a:tabLst>
              <a:defRPr>
                <a:solidFill>
                  <a:schemeClr val="tx1"/>
                </a:solidFill>
                <a:latin typeface="Arial" panose="020B0604020202020204" pitchFamily="34" charset="0"/>
              </a:defRPr>
            </a:lvl5pPr>
            <a:lvl6pPr eaLnBrk="0" fontAlgn="base" hangingPunct="0">
              <a:spcBef>
                <a:spcPct val="0"/>
              </a:spcBef>
              <a:spcAft>
                <a:spcPct val="0"/>
              </a:spcAft>
              <a:tabLst>
                <a:tab pos="1079500" algn="l"/>
              </a:tabLst>
              <a:defRPr>
                <a:solidFill>
                  <a:schemeClr val="tx1"/>
                </a:solidFill>
                <a:latin typeface="Arial" panose="020B0604020202020204" pitchFamily="34" charset="0"/>
              </a:defRPr>
            </a:lvl6pPr>
            <a:lvl7pPr eaLnBrk="0" fontAlgn="base" hangingPunct="0">
              <a:spcBef>
                <a:spcPct val="0"/>
              </a:spcBef>
              <a:spcAft>
                <a:spcPct val="0"/>
              </a:spcAft>
              <a:tabLst>
                <a:tab pos="1079500" algn="l"/>
              </a:tabLst>
              <a:defRPr>
                <a:solidFill>
                  <a:schemeClr val="tx1"/>
                </a:solidFill>
                <a:latin typeface="Arial" panose="020B0604020202020204" pitchFamily="34" charset="0"/>
              </a:defRPr>
            </a:lvl7pPr>
            <a:lvl8pPr eaLnBrk="0" fontAlgn="base" hangingPunct="0">
              <a:spcBef>
                <a:spcPct val="0"/>
              </a:spcBef>
              <a:spcAft>
                <a:spcPct val="0"/>
              </a:spcAft>
              <a:tabLst>
                <a:tab pos="1079500" algn="l"/>
              </a:tabLst>
              <a:defRPr>
                <a:solidFill>
                  <a:schemeClr val="tx1"/>
                </a:solidFill>
                <a:latin typeface="Arial" panose="020B0604020202020204" pitchFamily="34" charset="0"/>
              </a:defRPr>
            </a:lvl8pPr>
            <a:lvl9pPr eaLnBrk="0" fontAlgn="base" hangingPunct="0">
              <a:spcBef>
                <a:spcPct val="0"/>
              </a:spcBef>
              <a:spcAft>
                <a:spcPct val="0"/>
              </a:spcAft>
              <a:tabLst>
                <a:tab pos="10795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079500" algn="l"/>
              </a:tabLst>
            </a:pP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079500" algn="l"/>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079500" algn="l"/>
              </a:tabLst>
            </a:pPr>
            <a:r>
              <a:rPr kumimoji="0" lang="en-PH" altLang="en-US" sz="900" b="0" i="0" u="none" strike="noStrike" cap="none" normalizeH="0" baseline="0" dirty="0">
                <a:ln>
                  <a:noFill/>
                </a:ln>
                <a:solidFill>
                  <a:schemeClr val="tx1"/>
                </a:solidFill>
                <a:effectLst/>
                <a:latin typeface="Chivo Light" panose="020B0303030202020804" pitchFamily="34" charset="0"/>
                <a:ea typeface="Calibri" panose="020F0502020204030204" pitchFamily="34" charset="0"/>
                <a:cs typeface="Times New Roman" panose="02020603050405020304" pitchFamily="18" charset="0"/>
              </a:rPr>
              <a:t>	</a:t>
            </a:r>
            <a:endParaRPr kumimoji="0" lang="en-US" altLang="en-US" sz="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0795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0" name="Rectangle 20">
            <a:extLst>
              <a:ext uri="{FF2B5EF4-FFF2-40B4-BE49-F238E27FC236}">
                <a16:creationId xmlns:a16="http://schemas.microsoft.com/office/drawing/2014/main" id="{25F89E65-0346-0D88-441D-1A3E66697552}"/>
              </a:ext>
            </a:extLst>
          </p:cNvPr>
          <p:cNvSpPr>
            <a:spLocks noChangeArrowheads="1"/>
          </p:cNvSpPr>
          <p:nvPr/>
        </p:nvSpPr>
        <p:spPr bwMode="auto">
          <a:xfrm>
            <a:off x="5273040" y="9921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6" name="Group 15">
            <a:extLst>
              <a:ext uri="{FF2B5EF4-FFF2-40B4-BE49-F238E27FC236}">
                <a16:creationId xmlns:a16="http://schemas.microsoft.com/office/drawing/2014/main" id="{2C6C5D33-B3A4-F933-1365-53B14DA9C786}"/>
              </a:ext>
            </a:extLst>
          </p:cNvPr>
          <p:cNvGrpSpPr/>
          <p:nvPr/>
        </p:nvGrpSpPr>
        <p:grpSpPr>
          <a:xfrm>
            <a:off x="5655941" y="1817822"/>
            <a:ext cx="6171992" cy="2728989"/>
            <a:chOff x="5655941" y="1944610"/>
            <a:chExt cx="5995987" cy="2536825"/>
          </a:xfrm>
        </p:grpSpPr>
        <p:pic>
          <p:nvPicPr>
            <p:cNvPr id="2" name="Picture 25">
              <a:extLst>
                <a:ext uri="{FF2B5EF4-FFF2-40B4-BE49-F238E27FC236}">
                  <a16:creationId xmlns:a16="http://schemas.microsoft.com/office/drawing/2014/main" id="{70D9F487-CB06-7D7E-624F-5969904802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7053" y="1944610"/>
              <a:ext cx="5610225" cy="25368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9">
              <a:extLst>
                <a:ext uri="{FF2B5EF4-FFF2-40B4-BE49-F238E27FC236}">
                  <a16:creationId xmlns:a16="http://schemas.microsoft.com/office/drawing/2014/main" id="{D989360C-05EA-CEC1-1D51-6CC78A04C9E1}"/>
                </a:ext>
              </a:extLst>
            </p:cNvPr>
            <p:cNvSpPr>
              <a:spLocks noChangeArrowheads="1"/>
            </p:cNvSpPr>
            <p:nvPr/>
          </p:nvSpPr>
          <p:spPr bwMode="auto">
            <a:xfrm>
              <a:off x="5655941" y="3449560"/>
              <a:ext cx="5537200" cy="10096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45">
              <a:extLst>
                <a:ext uri="{FF2B5EF4-FFF2-40B4-BE49-F238E27FC236}">
                  <a16:creationId xmlns:a16="http://schemas.microsoft.com/office/drawing/2014/main" id="{967ECD25-D403-5838-D969-27E36F996DBC}"/>
                </a:ext>
              </a:extLst>
            </p:cNvPr>
            <p:cNvSpPr>
              <a:spLocks noChangeArrowheads="1"/>
            </p:cNvSpPr>
            <p:nvPr/>
          </p:nvSpPr>
          <p:spPr bwMode="auto">
            <a:xfrm>
              <a:off x="5719441" y="3453277"/>
              <a:ext cx="341312" cy="182563"/>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ectangle 47">
              <a:extLst>
                <a:ext uri="{FF2B5EF4-FFF2-40B4-BE49-F238E27FC236}">
                  <a16:creationId xmlns:a16="http://schemas.microsoft.com/office/drawing/2014/main" id="{41B8C358-580A-FCC0-6C81-859A8B62D389}"/>
                </a:ext>
              </a:extLst>
            </p:cNvPr>
            <p:cNvSpPr>
              <a:spLocks noChangeArrowheads="1"/>
            </p:cNvSpPr>
            <p:nvPr/>
          </p:nvSpPr>
          <p:spPr bwMode="auto">
            <a:xfrm>
              <a:off x="5719441" y="4130454"/>
              <a:ext cx="277812" cy="2508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8">
              <a:extLst>
                <a:ext uri="{FF2B5EF4-FFF2-40B4-BE49-F238E27FC236}">
                  <a16:creationId xmlns:a16="http://schemas.microsoft.com/office/drawing/2014/main" id="{5F5BF270-A95C-3629-7EB1-F92295785966}"/>
                </a:ext>
              </a:extLst>
            </p:cNvPr>
            <p:cNvSpPr>
              <a:spLocks noChangeShapeType="1"/>
            </p:cNvSpPr>
            <p:nvPr/>
          </p:nvSpPr>
          <p:spPr bwMode="auto">
            <a:xfrm flipV="1">
              <a:off x="5997253" y="4151777"/>
              <a:ext cx="158750" cy="1111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46">
              <a:extLst>
                <a:ext uri="{FF2B5EF4-FFF2-40B4-BE49-F238E27FC236}">
                  <a16:creationId xmlns:a16="http://schemas.microsoft.com/office/drawing/2014/main" id="{01625F7E-D200-5FF5-DBE9-D413DF4D03EF}"/>
                </a:ext>
              </a:extLst>
            </p:cNvPr>
            <p:cNvSpPr>
              <a:spLocks noChangeArrowheads="1"/>
            </p:cNvSpPr>
            <p:nvPr/>
          </p:nvSpPr>
          <p:spPr bwMode="auto">
            <a:xfrm>
              <a:off x="6156003" y="4064465"/>
              <a:ext cx="301625" cy="31115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PH" altLang="en-US" sz="1100" dirty="0">
                  <a:latin typeface="Calibri" panose="020F0502020204030204" pitchFamily="34" charset="0"/>
                  <a:cs typeface="Times New Roman" panose="02020603050405020304" pitchFamily="18" charset="0"/>
                </a:rPr>
                <a:t>6</a:t>
              </a: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52">
              <a:extLst>
                <a:ext uri="{FF2B5EF4-FFF2-40B4-BE49-F238E27FC236}">
                  <a16:creationId xmlns:a16="http://schemas.microsoft.com/office/drawing/2014/main" id="{E615BBC6-9587-7233-7F15-DED81B622DFD}"/>
                </a:ext>
              </a:extLst>
            </p:cNvPr>
            <p:cNvSpPr>
              <a:spLocks noChangeArrowheads="1"/>
            </p:cNvSpPr>
            <p:nvPr/>
          </p:nvSpPr>
          <p:spPr bwMode="auto">
            <a:xfrm>
              <a:off x="10394628" y="3439793"/>
              <a:ext cx="809625" cy="21931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50">
              <a:extLst>
                <a:ext uri="{FF2B5EF4-FFF2-40B4-BE49-F238E27FC236}">
                  <a16:creationId xmlns:a16="http://schemas.microsoft.com/office/drawing/2014/main" id="{F09B09E9-5515-0C2F-8B2E-C58CE6F74907}"/>
                </a:ext>
              </a:extLst>
            </p:cNvPr>
            <p:cNvSpPr>
              <a:spLocks noChangeShapeType="1"/>
            </p:cNvSpPr>
            <p:nvPr/>
          </p:nvSpPr>
          <p:spPr bwMode="auto">
            <a:xfrm flipV="1">
              <a:off x="11191553" y="3451690"/>
              <a:ext cx="158750" cy="1111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51">
              <a:extLst>
                <a:ext uri="{FF2B5EF4-FFF2-40B4-BE49-F238E27FC236}">
                  <a16:creationId xmlns:a16="http://schemas.microsoft.com/office/drawing/2014/main" id="{00F3424A-CBDB-0089-147B-CE914C1DFBDD}"/>
                </a:ext>
              </a:extLst>
            </p:cNvPr>
            <p:cNvSpPr>
              <a:spLocks noChangeArrowheads="1"/>
            </p:cNvSpPr>
            <p:nvPr/>
          </p:nvSpPr>
          <p:spPr bwMode="auto">
            <a:xfrm>
              <a:off x="11350303" y="3364377"/>
              <a:ext cx="301625" cy="31115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endParaRPr kumimoji="0" lang="en-PH"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44">
              <a:extLst>
                <a:ext uri="{FF2B5EF4-FFF2-40B4-BE49-F238E27FC236}">
                  <a16:creationId xmlns:a16="http://schemas.microsoft.com/office/drawing/2014/main" id="{74ACE714-E535-69EE-D86A-7503EE4EDAEC}"/>
                </a:ext>
              </a:extLst>
            </p:cNvPr>
            <p:cNvSpPr>
              <a:spLocks noChangeArrowheads="1"/>
            </p:cNvSpPr>
            <p:nvPr/>
          </p:nvSpPr>
          <p:spPr bwMode="auto">
            <a:xfrm>
              <a:off x="6071865" y="3397173"/>
              <a:ext cx="876300" cy="2508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AutoShape 43">
              <a:extLst>
                <a:ext uri="{FF2B5EF4-FFF2-40B4-BE49-F238E27FC236}">
                  <a16:creationId xmlns:a16="http://schemas.microsoft.com/office/drawing/2014/main" id="{86F32CCE-486E-0A6F-F05B-6C116718B5DF}"/>
                </a:ext>
              </a:extLst>
            </p:cNvPr>
            <p:cNvSpPr>
              <a:spLocks noChangeShapeType="1"/>
            </p:cNvSpPr>
            <p:nvPr/>
          </p:nvSpPr>
          <p:spPr bwMode="auto">
            <a:xfrm flipV="1">
              <a:off x="6948165" y="3435273"/>
              <a:ext cx="158750" cy="1111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Rectangle 42">
              <a:extLst>
                <a:ext uri="{FF2B5EF4-FFF2-40B4-BE49-F238E27FC236}">
                  <a16:creationId xmlns:a16="http://schemas.microsoft.com/office/drawing/2014/main" id="{23DACFE6-0BB5-3629-660A-CB42A15113F6}"/>
                </a:ext>
              </a:extLst>
            </p:cNvPr>
            <p:cNvSpPr>
              <a:spLocks noChangeArrowheads="1"/>
            </p:cNvSpPr>
            <p:nvPr/>
          </p:nvSpPr>
          <p:spPr bwMode="auto">
            <a:xfrm>
              <a:off x="7106915" y="3347960"/>
              <a:ext cx="301625" cy="31115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19550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ACB8B4-A5B9-946C-3AD2-4502AED05551}"/>
              </a:ext>
            </a:extLst>
          </p:cNvPr>
          <p:cNvSpPr txBox="1"/>
          <p:nvPr/>
        </p:nvSpPr>
        <p:spPr>
          <a:xfrm>
            <a:off x="276334" y="2287723"/>
            <a:ext cx="5232275" cy="4323235"/>
          </a:xfrm>
          <a:prstGeom prst="rect">
            <a:avLst/>
          </a:prstGeom>
          <a:noFill/>
        </p:spPr>
        <p:txBody>
          <a:bodyPr wrap="square">
            <a:spAutoFit/>
          </a:bodyPr>
          <a:lstStyle/>
          <a:p>
            <a:pPr marL="228600" marR="0">
              <a:lnSpc>
                <a:spcPct val="107000"/>
              </a:lnSpc>
              <a:spcBef>
                <a:spcPts val="0"/>
              </a:spcBef>
              <a:spcAft>
                <a:spcPts val="800"/>
              </a:spcAft>
            </a:pPr>
            <a:r>
              <a:rPr lang="en-PH" sz="1100" b="1" i="1" dirty="0">
                <a:effectLst/>
                <a:latin typeface="Chivo Light" panose="020B0303030202020804" pitchFamily="34" charset="0"/>
                <a:ea typeface="Calibri" panose="020F0502020204030204" pitchFamily="34" charset="0"/>
                <a:cs typeface="Times New Roman" panose="02020603050405020304" pitchFamily="18" charset="0"/>
              </a:rPr>
              <a:t>Based On Passbook</a:t>
            </a:r>
            <a:r>
              <a:rPr lang="en-PH" sz="1100" b="1" dirty="0">
                <a:effectLst/>
                <a:latin typeface="Chivo Light" panose="020B0303030202020804" pitchFamily="34" charset="0"/>
                <a:ea typeface="Calibri" panose="020F0502020204030204" pitchFamily="34" charset="0"/>
                <a:cs typeface="Times New Roman" panose="02020603050405020304" pitchFamily="18" charset="0"/>
              </a:rPr>
              <a:t>:</a:t>
            </a:r>
            <a:r>
              <a:rPr lang="en-PH" sz="1100" dirty="0">
                <a:effectLst/>
                <a:latin typeface="Chivo Light" panose="020B0303030202020804" pitchFamily="34" charset="0"/>
                <a:ea typeface="Calibri" panose="020F0502020204030204" pitchFamily="34" charset="0"/>
                <a:cs typeface="Times New Roman" panose="02020603050405020304" pitchFamily="18" charset="0"/>
              </a:rPr>
              <a:t> Input the beginning and ending balance based on your passbook.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0"/>
              </a:spcAft>
            </a:pPr>
            <a:r>
              <a:rPr lang="en-US" sz="1100" dirty="0">
                <a:effectLst/>
                <a:latin typeface="Chivo Light" panose="020B0303030202020804" pitchFamily="34" charset="0"/>
                <a:ea typeface="Calibri" panose="020F0502020204030204" pitchFamily="34" charset="0"/>
                <a:cs typeface="Times New Roman" panose="02020603050405020304" pitchFamily="18" charset="0"/>
              </a:rPr>
              <a:t>In your </a:t>
            </a:r>
            <a:r>
              <a:rPr lang="en-US" sz="1100" u="sng" dirty="0">
                <a:effectLst/>
                <a:latin typeface="Chivo Light" panose="020B0303030202020804" pitchFamily="34" charset="0"/>
                <a:ea typeface="Calibri" panose="020F0502020204030204" pitchFamily="34" charset="0"/>
                <a:cs typeface="Times New Roman" panose="02020603050405020304" pitchFamily="18" charset="0"/>
              </a:rPr>
              <a:t>first Bank Reconciliation</a:t>
            </a:r>
            <a:r>
              <a:rPr lang="en-US" sz="1100" dirty="0">
                <a:effectLst/>
                <a:latin typeface="Chivo Light" panose="020B0303030202020804" pitchFamily="34" charset="0"/>
                <a:ea typeface="Calibri" panose="020F0502020204030204" pitchFamily="34" charset="0"/>
                <a:cs typeface="Times New Roman" panose="02020603050405020304" pitchFamily="18"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0"/>
              </a:spcAft>
            </a:pPr>
            <a:r>
              <a:rPr lang="en-US" sz="1100" dirty="0">
                <a:effectLst/>
                <a:latin typeface="Chivo Light" panose="020B0303030202020804" pitchFamily="34" charset="0"/>
                <a:ea typeface="Calibri" panose="020F0502020204030204" pitchFamily="34" charset="0"/>
                <a:cs typeface="Times New Roman" panose="02020603050405020304" pitchFamily="18" charset="0"/>
              </a:rPr>
              <a:t>Enter your beginning balance in your passbook based on your start date, and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0"/>
              </a:spcAft>
            </a:pPr>
            <a:r>
              <a:rPr lang="en-US" sz="1100" dirty="0">
                <a:effectLst/>
                <a:latin typeface="Chivo Light" panose="020B0303030202020804" pitchFamily="34" charset="0"/>
                <a:ea typeface="Calibri" panose="020F0502020204030204" pitchFamily="34" charset="0"/>
                <a:cs typeface="Times New Roman" panose="02020603050405020304" pitchFamily="18" charset="0"/>
              </a:rPr>
              <a:t>Ending balance in your passbook based on your end date.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0"/>
              </a:spcAft>
            </a:pPr>
            <a:r>
              <a:rPr lang="en-US" sz="1100" dirty="0">
                <a:effectLst/>
                <a:latin typeface="Chivo Light" panose="020B0303030202020804" pitchFamily="34" charset="0"/>
                <a:ea typeface="Calibri" panose="020F0502020204030204" pitchFamily="34" charset="0"/>
                <a:cs typeface="Times New Roman" panose="02020603050405020304" pitchFamily="18" charset="0"/>
              </a:rPr>
              <a:t>On your</a:t>
            </a:r>
            <a:r>
              <a:rPr lang="en-US" sz="1100" u="sng" dirty="0">
                <a:effectLst/>
                <a:latin typeface="Chivo Light" panose="020B0303030202020804" pitchFamily="34" charset="0"/>
                <a:ea typeface="Calibri" panose="020F0502020204030204" pitchFamily="34" charset="0"/>
                <a:cs typeface="Times New Roman" panose="02020603050405020304" pitchFamily="18" charset="0"/>
              </a:rPr>
              <a:t> Second Bank Reconciliation;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0"/>
              </a:spcAft>
            </a:pPr>
            <a:r>
              <a:rPr lang="en-US" sz="1100" dirty="0">
                <a:effectLst/>
                <a:latin typeface="Chivo Light" panose="020B0303030202020804" pitchFamily="34" charset="0"/>
                <a:ea typeface="Calibri" panose="020F0502020204030204" pitchFamily="34" charset="0"/>
                <a:cs typeface="Times New Roman" panose="02020603050405020304" pitchFamily="18" charset="0"/>
              </a:rPr>
              <a:t>Beginning balance will be automatically your ending balance from your first transaction in Bank reconciliation, and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07000"/>
              </a:lnSpc>
              <a:spcBef>
                <a:spcPts val="0"/>
              </a:spcBef>
              <a:spcAft>
                <a:spcPts val="800"/>
              </a:spcAft>
            </a:pPr>
            <a:r>
              <a:rPr lang="en-US" sz="1100" dirty="0">
                <a:effectLst/>
                <a:latin typeface="Chivo Light" panose="020B0303030202020804" pitchFamily="34" charset="0"/>
                <a:ea typeface="Calibri" panose="020F0502020204030204" pitchFamily="34" charset="0"/>
                <a:cs typeface="Times New Roman" panose="02020603050405020304" pitchFamily="18" charset="0"/>
              </a:rPr>
              <a:t>Enter your ending balance in your passbook. </a:t>
            </a:r>
            <a:r>
              <a:rPr lang="en-PH" sz="1100" cap="all" dirty="0">
                <a:solidFill>
                  <a:srgbClr val="4472C4"/>
                </a:solidFill>
                <a:effectLst/>
                <a:latin typeface="Chivo Light" panose="020B0303030202020804" pitchFamily="34" charset="0"/>
                <a:ea typeface="Calibri" panose="020F0502020204030204" pitchFamily="34" charset="0"/>
                <a:cs typeface="Times New Roman" panose="02020603050405020304" pitchFamily="18" charset="0"/>
              </a:rPr>
              <a:t> </a:t>
            </a:r>
          </a:p>
          <a:p>
            <a:pPr marL="228600" marR="0">
              <a:lnSpc>
                <a:spcPct val="107000"/>
              </a:lnSpc>
              <a:spcBef>
                <a:spcPts val="0"/>
              </a:spcBef>
              <a:spcAft>
                <a:spcPts val="800"/>
              </a:spcAft>
            </a:pPr>
            <a:r>
              <a:rPr lang="en-PH" sz="1100" b="1" i="1" dirty="0">
                <a:effectLst/>
                <a:latin typeface="Chivo Light" panose="020B0303030202020804" pitchFamily="34" charset="0"/>
                <a:ea typeface="Calibri" panose="020F0502020204030204" pitchFamily="34" charset="0"/>
                <a:cs typeface="Times New Roman" panose="02020603050405020304" pitchFamily="18" charset="0"/>
              </a:rPr>
              <a:t>Earnings and Charges:</a:t>
            </a:r>
            <a:r>
              <a:rPr lang="en-PH" sz="1100" dirty="0">
                <a:effectLst/>
                <a:latin typeface="Chivo Light" panose="020B0303030202020804" pitchFamily="34" charset="0"/>
                <a:ea typeface="Calibri" panose="020F0502020204030204" pitchFamily="34" charset="0"/>
                <a:cs typeface="Times New Roman" panose="02020603050405020304" pitchFamily="18" charset="0"/>
              </a:rPr>
              <a:t> Enter the amount of interest earned and deductions based on your bank statement.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07000"/>
              </a:lnSpc>
              <a:spcBef>
                <a:spcPts val="0"/>
              </a:spcBef>
              <a:spcAft>
                <a:spcPts val="800"/>
              </a:spcAft>
            </a:pPr>
            <a:r>
              <a:rPr lang="en-PH" sz="1100" b="1" i="1" dirty="0">
                <a:effectLst/>
                <a:latin typeface="Chivo Light" panose="020B0303030202020804" pitchFamily="34" charset="0"/>
                <a:ea typeface="Calibri" panose="020F0502020204030204" pitchFamily="34" charset="0"/>
                <a:cs typeface="Times New Roman" panose="02020603050405020304" pitchFamily="18" charset="0"/>
              </a:rPr>
              <a:t>Items Marked Cleared</a:t>
            </a:r>
            <a:r>
              <a:rPr lang="en-PH" sz="1100" b="1" dirty="0">
                <a:effectLst/>
                <a:latin typeface="Chivo Light" panose="020B0303030202020804" pitchFamily="34" charset="0"/>
                <a:ea typeface="Calibri" panose="020F0502020204030204" pitchFamily="34" charset="0"/>
                <a:cs typeface="Times New Roman" panose="02020603050405020304" pitchFamily="18" charset="0"/>
              </a:rPr>
              <a:t>:</a:t>
            </a:r>
            <a:r>
              <a:rPr lang="en-PH" sz="1100" dirty="0">
                <a:effectLst/>
                <a:latin typeface="Chivo Light" panose="020B0303030202020804" pitchFamily="34" charset="0"/>
                <a:ea typeface="Calibri" panose="020F0502020204030204" pitchFamily="34" charset="0"/>
                <a:cs typeface="Times New Roman" panose="02020603050405020304" pitchFamily="18" charset="0"/>
              </a:rPr>
              <a:t> In Deposit and Withdrawal fields, amount will be automatically the sum of cleared transactions of deposit and withdrawals.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07000"/>
              </a:lnSpc>
              <a:spcBef>
                <a:spcPts val="0"/>
              </a:spcBef>
              <a:spcAft>
                <a:spcPts val="800"/>
              </a:spcAft>
            </a:pPr>
            <a:r>
              <a:rPr lang="en-PH" sz="1100" b="1" i="1" dirty="0">
                <a:effectLst/>
                <a:latin typeface="Chivo Light" panose="020B0303030202020804" pitchFamily="34" charset="0"/>
                <a:ea typeface="Calibri" panose="020F0502020204030204" pitchFamily="34" charset="0"/>
                <a:cs typeface="Times New Roman" panose="02020603050405020304" pitchFamily="18" charset="0"/>
              </a:rPr>
              <a:t>Reconciled</a:t>
            </a:r>
            <a:r>
              <a:rPr lang="en-PH" sz="1100" i="1" dirty="0">
                <a:effectLst/>
                <a:latin typeface="Chivo Light" panose="020B0303030202020804" pitchFamily="34" charset="0"/>
                <a:ea typeface="Calibri" panose="020F0502020204030204" pitchFamily="34" charset="0"/>
                <a:cs typeface="Times New Roman" panose="02020603050405020304" pitchFamily="18" charset="0"/>
              </a:rPr>
              <a:t>:</a:t>
            </a:r>
            <a:r>
              <a:rPr lang="en-PH" sz="1100" dirty="0">
                <a:effectLst/>
                <a:latin typeface="Chivo Light" panose="020B0303030202020804" pitchFamily="34" charset="0"/>
                <a:ea typeface="Calibri" panose="020F0502020204030204" pitchFamily="34" charset="0"/>
                <a:cs typeface="Times New Roman" panose="02020603050405020304" pitchFamily="18" charset="0"/>
              </a:rPr>
              <a:t> In cleared balance field, amount is the sum of the beginning balance, deposit and interest earned less deductions and withdrawal. In difference field, amount will be the difference of ending balance and cleared balance.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15000"/>
              </a:lnSpc>
              <a:spcBef>
                <a:spcPts val="0"/>
              </a:spcBef>
              <a:spcAft>
                <a:spcPts val="1000"/>
              </a:spcAft>
            </a:pPr>
            <a:endParaRPr lang="en-PH" sz="1100" cap="all" dirty="0">
              <a:solidFill>
                <a:srgbClr val="4472C4"/>
              </a:solidFill>
              <a:effectLst/>
              <a:latin typeface="Chivo Light" panose="020B0303030202020804" pitchFamily="34" charset="0"/>
              <a:ea typeface="Calibri" panose="020F0502020204030204" pitchFamily="34" charset="0"/>
              <a:cs typeface="Times New Roman" panose="02020603050405020304" pitchFamily="18" charset="0"/>
            </a:endParaRPr>
          </a:p>
        </p:txBody>
      </p:sp>
      <p:sp>
        <p:nvSpPr>
          <p:cNvPr id="16" name="Rectangle 13">
            <a:extLst>
              <a:ext uri="{FF2B5EF4-FFF2-40B4-BE49-F238E27FC236}">
                <a16:creationId xmlns:a16="http://schemas.microsoft.com/office/drawing/2014/main" id="{D185C41C-F2E0-51EE-5181-AAD6D11CFEAF}"/>
              </a:ext>
            </a:extLst>
          </p:cNvPr>
          <p:cNvSpPr>
            <a:spLocks noChangeArrowheads="1"/>
          </p:cNvSpPr>
          <p:nvPr/>
        </p:nvSpPr>
        <p:spPr bwMode="auto">
          <a:xfrm>
            <a:off x="6096000" y="335696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8" name="TextBox 17">
            <a:extLst>
              <a:ext uri="{FF2B5EF4-FFF2-40B4-BE49-F238E27FC236}">
                <a16:creationId xmlns:a16="http://schemas.microsoft.com/office/drawing/2014/main" id="{F31803D0-0258-ABD0-97E1-31040C9771E3}"/>
              </a:ext>
            </a:extLst>
          </p:cNvPr>
          <p:cNvSpPr txBox="1"/>
          <p:nvPr/>
        </p:nvSpPr>
        <p:spPr>
          <a:xfrm>
            <a:off x="488525" y="1146385"/>
            <a:ext cx="4735260" cy="1141338"/>
          </a:xfrm>
          <a:prstGeom prst="rect">
            <a:avLst/>
          </a:prstGeom>
          <a:noFill/>
        </p:spPr>
        <p:txBody>
          <a:bodyPr wrap="square">
            <a:spAutoFit/>
          </a:bodyPr>
          <a:lstStyle/>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9.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When you are already in adjusting and balance tab, click refresh button.</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10.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Fill in the necessary fields. See descriptions and instructions to follow.</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 Box 6">
            <a:extLst>
              <a:ext uri="{FF2B5EF4-FFF2-40B4-BE49-F238E27FC236}">
                <a16:creationId xmlns:a16="http://schemas.microsoft.com/office/drawing/2014/main" id="{3C37EE87-3CC7-548A-331C-7AE5F942AE93}"/>
              </a:ext>
            </a:extLst>
          </p:cNvPr>
          <p:cNvSpPr txBox="1"/>
          <p:nvPr/>
        </p:nvSpPr>
        <p:spPr>
          <a:xfrm>
            <a:off x="0" y="-11307"/>
            <a:ext cx="5508609"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21723AF4-5F19-6A56-37B4-D807E3BE2E91}"/>
              </a:ext>
            </a:extLst>
          </p:cNvPr>
          <p:cNvSpPr txBox="1"/>
          <p:nvPr/>
        </p:nvSpPr>
        <p:spPr>
          <a:xfrm>
            <a:off x="1655790" y="64205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Clear Transactions?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21" name="TextBox 20">
            <a:extLst>
              <a:ext uri="{FF2B5EF4-FFF2-40B4-BE49-F238E27FC236}">
                <a16:creationId xmlns:a16="http://schemas.microsoft.com/office/drawing/2014/main" id="{0FE9D585-F0D7-49AB-2834-FC6F22071698}"/>
              </a:ext>
            </a:extLst>
          </p:cNvPr>
          <p:cNvSpPr txBox="1"/>
          <p:nvPr/>
        </p:nvSpPr>
        <p:spPr>
          <a:xfrm>
            <a:off x="805110" y="123167"/>
            <a:ext cx="5290890"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/Bank Reconciliation</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sp>
        <p:nvSpPr>
          <p:cNvPr id="24" name="TextBox 23">
            <a:extLst>
              <a:ext uri="{FF2B5EF4-FFF2-40B4-BE49-F238E27FC236}">
                <a16:creationId xmlns:a16="http://schemas.microsoft.com/office/drawing/2014/main" id="{607D5A5F-1176-8FA4-840D-8839F69E13A3}"/>
              </a:ext>
            </a:extLst>
          </p:cNvPr>
          <p:cNvSpPr txBox="1"/>
          <p:nvPr/>
        </p:nvSpPr>
        <p:spPr>
          <a:xfrm>
            <a:off x="6309136" y="1070276"/>
            <a:ext cx="4716323" cy="290401"/>
          </a:xfrm>
          <a:prstGeom prst="rect">
            <a:avLst/>
          </a:prstGeom>
          <a:noFill/>
        </p:spPr>
        <p:txBody>
          <a:bodyPr wrap="square">
            <a:sp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reconcile button</a:t>
            </a:r>
          </a:p>
        </p:txBody>
      </p:sp>
      <p:grpSp>
        <p:nvGrpSpPr>
          <p:cNvPr id="30" name="Group 29">
            <a:extLst>
              <a:ext uri="{FF2B5EF4-FFF2-40B4-BE49-F238E27FC236}">
                <a16:creationId xmlns:a16="http://schemas.microsoft.com/office/drawing/2014/main" id="{C0D9D28F-B6AE-F523-23EE-E2012E06E698}"/>
              </a:ext>
            </a:extLst>
          </p:cNvPr>
          <p:cNvGrpSpPr/>
          <p:nvPr/>
        </p:nvGrpSpPr>
        <p:grpSpPr>
          <a:xfrm>
            <a:off x="5995534" y="2081813"/>
            <a:ext cx="5614575" cy="3081305"/>
            <a:chOff x="6284913" y="3356961"/>
            <a:chExt cx="5343525" cy="2838450"/>
          </a:xfrm>
        </p:grpSpPr>
        <p:pic>
          <p:nvPicPr>
            <p:cNvPr id="2" name="Picture 29">
              <a:extLst>
                <a:ext uri="{FF2B5EF4-FFF2-40B4-BE49-F238E27FC236}">
                  <a16:creationId xmlns:a16="http://schemas.microsoft.com/office/drawing/2014/main" id="{F470AE8A-239F-5CF8-6987-BFC5C7C1B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8088" y="3356961"/>
              <a:ext cx="5340350" cy="28384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5D97046-EC12-F5B1-C835-1DADE41860CB}"/>
                </a:ext>
              </a:extLst>
            </p:cNvPr>
            <p:cNvSpPr>
              <a:spLocks noChangeArrowheads="1"/>
            </p:cNvSpPr>
            <p:nvPr/>
          </p:nvSpPr>
          <p:spPr bwMode="auto">
            <a:xfrm>
              <a:off x="6284913" y="5050700"/>
              <a:ext cx="2679700" cy="10175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Rectangle 5">
              <a:extLst>
                <a:ext uri="{FF2B5EF4-FFF2-40B4-BE49-F238E27FC236}">
                  <a16:creationId xmlns:a16="http://schemas.microsoft.com/office/drawing/2014/main" id="{AF5CD033-7764-2583-33B1-6C75C88724BC}"/>
                </a:ext>
              </a:extLst>
            </p:cNvPr>
            <p:cNvSpPr>
              <a:spLocks noChangeArrowheads="1"/>
            </p:cNvSpPr>
            <p:nvPr/>
          </p:nvSpPr>
          <p:spPr bwMode="auto">
            <a:xfrm>
              <a:off x="6642100" y="4795236"/>
              <a:ext cx="977900" cy="182563"/>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Rectangle 9">
              <a:extLst>
                <a:ext uri="{FF2B5EF4-FFF2-40B4-BE49-F238E27FC236}">
                  <a16:creationId xmlns:a16="http://schemas.microsoft.com/office/drawing/2014/main" id="{04F60C54-FBCA-DE34-DCC1-12F7BAC23C69}"/>
                </a:ext>
              </a:extLst>
            </p:cNvPr>
            <p:cNvSpPr>
              <a:spLocks noChangeArrowheads="1"/>
            </p:cNvSpPr>
            <p:nvPr/>
          </p:nvSpPr>
          <p:spPr bwMode="auto">
            <a:xfrm>
              <a:off x="8958262" y="4068608"/>
              <a:ext cx="438149" cy="2540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AutoShape 8">
              <a:extLst>
                <a:ext uri="{FF2B5EF4-FFF2-40B4-BE49-F238E27FC236}">
                  <a16:creationId xmlns:a16="http://schemas.microsoft.com/office/drawing/2014/main" id="{6992A750-5E81-433F-AD19-E5DAC64606EA}"/>
                </a:ext>
              </a:extLst>
            </p:cNvPr>
            <p:cNvSpPr>
              <a:spLocks noChangeShapeType="1"/>
            </p:cNvSpPr>
            <p:nvPr/>
          </p:nvSpPr>
          <p:spPr bwMode="auto">
            <a:xfrm flipV="1">
              <a:off x="9432925" y="4030061"/>
              <a:ext cx="174625" cy="1587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Rectangle 25">
              <a:extLst>
                <a:ext uri="{FF2B5EF4-FFF2-40B4-BE49-F238E27FC236}">
                  <a16:creationId xmlns:a16="http://schemas.microsoft.com/office/drawing/2014/main" id="{C0B730FD-8DC9-C823-07ED-955EB9FF8DD8}"/>
                </a:ext>
              </a:extLst>
            </p:cNvPr>
            <p:cNvSpPr>
              <a:spLocks noChangeArrowheads="1"/>
            </p:cNvSpPr>
            <p:nvPr/>
          </p:nvSpPr>
          <p:spPr bwMode="auto">
            <a:xfrm>
              <a:off x="9607550" y="3879249"/>
              <a:ext cx="438150" cy="31115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endParaRPr kumimoji="0" lang="en-PH"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4">
              <a:extLst>
                <a:ext uri="{FF2B5EF4-FFF2-40B4-BE49-F238E27FC236}">
                  <a16:creationId xmlns:a16="http://schemas.microsoft.com/office/drawing/2014/main" id="{A6D35BCC-6A61-417B-240D-552FC6A828ED}"/>
                </a:ext>
              </a:extLst>
            </p:cNvPr>
            <p:cNvSpPr>
              <a:spLocks noChangeArrowheads="1"/>
            </p:cNvSpPr>
            <p:nvPr/>
          </p:nvSpPr>
          <p:spPr bwMode="auto">
            <a:xfrm>
              <a:off x="8964613" y="4986489"/>
              <a:ext cx="469900" cy="2619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AutoShape 3">
              <a:extLst>
                <a:ext uri="{FF2B5EF4-FFF2-40B4-BE49-F238E27FC236}">
                  <a16:creationId xmlns:a16="http://schemas.microsoft.com/office/drawing/2014/main" id="{3BC7BE89-2005-C403-A05F-59647C4D22DD}"/>
                </a:ext>
              </a:extLst>
            </p:cNvPr>
            <p:cNvSpPr>
              <a:spLocks noChangeShapeType="1"/>
            </p:cNvSpPr>
            <p:nvPr/>
          </p:nvSpPr>
          <p:spPr bwMode="auto">
            <a:xfrm flipV="1">
              <a:off x="9432925" y="4980974"/>
              <a:ext cx="174625" cy="1587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Rectangle 2">
              <a:extLst>
                <a:ext uri="{FF2B5EF4-FFF2-40B4-BE49-F238E27FC236}">
                  <a16:creationId xmlns:a16="http://schemas.microsoft.com/office/drawing/2014/main" id="{6B201B9A-3DBA-BF31-0FE2-4672F7ABF31C}"/>
                </a:ext>
              </a:extLst>
            </p:cNvPr>
            <p:cNvSpPr>
              <a:spLocks noChangeArrowheads="1"/>
            </p:cNvSpPr>
            <p:nvPr/>
          </p:nvSpPr>
          <p:spPr bwMode="auto">
            <a:xfrm>
              <a:off x="9607550" y="4830161"/>
              <a:ext cx="438150" cy="31115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11</a:t>
              </a: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167388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F31803D0-0258-ABD0-97E1-31040C9771E3}"/>
              </a:ext>
            </a:extLst>
          </p:cNvPr>
          <p:cNvSpPr txBox="1"/>
          <p:nvPr/>
        </p:nvSpPr>
        <p:spPr>
          <a:xfrm>
            <a:off x="773349" y="1247576"/>
            <a:ext cx="4735260" cy="1139864"/>
          </a:xfrm>
          <a:prstGeom prst="rect">
            <a:avLst/>
          </a:prstGeom>
          <a:noFill/>
        </p:spPr>
        <p:txBody>
          <a:bodyPr wrap="square">
            <a:sp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view the bank summary, scroll down and click the arrow to minimize the bank recon- main form and view the bank summary.</a:t>
            </a: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Select the start and end date you want to view</a:t>
            </a: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14.</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Click refresh button to display the bank recon summary</a:t>
            </a:r>
          </a:p>
        </p:txBody>
      </p:sp>
      <p:sp>
        <p:nvSpPr>
          <p:cNvPr id="19" name="Text Box 6">
            <a:extLst>
              <a:ext uri="{FF2B5EF4-FFF2-40B4-BE49-F238E27FC236}">
                <a16:creationId xmlns:a16="http://schemas.microsoft.com/office/drawing/2014/main" id="{3C37EE87-3CC7-548A-331C-7AE5F942AE93}"/>
              </a:ext>
            </a:extLst>
          </p:cNvPr>
          <p:cNvSpPr txBox="1"/>
          <p:nvPr/>
        </p:nvSpPr>
        <p:spPr>
          <a:xfrm>
            <a:off x="0" y="-11307"/>
            <a:ext cx="5508609"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21723AF4-5F19-6A56-37B4-D807E3BE2E91}"/>
              </a:ext>
            </a:extLst>
          </p:cNvPr>
          <p:cNvSpPr txBox="1"/>
          <p:nvPr/>
        </p:nvSpPr>
        <p:spPr>
          <a:xfrm>
            <a:off x="1655790" y="64205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Calibri Light" panose="020F0302020204030204" pitchFamily="34" charset="0"/>
                <a:cs typeface="Calibri Light" panose="020F0302020204030204" pitchFamily="34" charset="0"/>
              </a:rPr>
              <a:t>How To Clear Transactions?</a:t>
            </a:r>
            <a:endParaRPr lang="en-US" sz="2000" dirty="0">
              <a:solidFill>
                <a:srgbClr val="007434"/>
              </a:solidFill>
              <a:latin typeface="Calibri Light" panose="020F0302020204030204" pitchFamily="34" charset="0"/>
              <a:cs typeface="Calibri Light" panose="020F0302020204030204" pitchFamily="34" charset="0"/>
            </a:endParaRPr>
          </a:p>
        </p:txBody>
      </p:sp>
      <p:sp>
        <p:nvSpPr>
          <p:cNvPr id="21" name="TextBox 20">
            <a:extLst>
              <a:ext uri="{FF2B5EF4-FFF2-40B4-BE49-F238E27FC236}">
                <a16:creationId xmlns:a16="http://schemas.microsoft.com/office/drawing/2014/main" id="{0FE9D585-F0D7-49AB-2834-FC6F22071698}"/>
              </a:ext>
            </a:extLst>
          </p:cNvPr>
          <p:cNvSpPr txBox="1"/>
          <p:nvPr/>
        </p:nvSpPr>
        <p:spPr>
          <a:xfrm>
            <a:off x="805110" y="123167"/>
            <a:ext cx="5290890"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b="1" dirty="0">
                <a:solidFill>
                  <a:schemeClr val="accent6">
                    <a:lumMod val="20000"/>
                    <a:lumOff val="80000"/>
                  </a:schemeClr>
                </a:solidFill>
                <a:latin typeface="Calibri Light" panose="020F0302020204030204" pitchFamily="34" charset="0"/>
                <a:cs typeface="Calibri Light" panose="020F0302020204030204" pitchFamily="34" charset="0"/>
              </a:rPr>
              <a:t>Accounting </a:t>
            </a:r>
            <a:r>
              <a:rPr lang="en-US" sz="2000" dirty="0">
                <a:solidFill>
                  <a:schemeClr val="accent6">
                    <a:lumMod val="20000"/>
                    <a:lumOff val="80000"/>
                  </a:schemeClr>
                </a:solidFill>
                <a:latin typeface="Calibri Light" panose="020F0302020204030204" pitchFamily="34" charset="0"/>
                <a:cs typeface="Calibri Light" panose="020F0302020204030204" pitchFamily="34" charset="0"/>
              </a:rPr>
              <a:t>/Bank Reconciliation</a:t>
            </a:r>
            <a:r>
              <a:rPr lang="en-US" sz="1900" dirty="0">
                <a:solidFill>
                  <a:schemeClr val="accent6">
                    <a:lumMod val="20000"/>
                    <a:lumOff val="80000"/>
                  </a:schemeClr>
                </a:solidFill>
                <a:latin typeface="+mj-lt"/>
              </a:rPr>
              <a:t>- Module</a:t>
            </a:r>
          </a:p>
          <a:p>
            <a:endParaRPr lang="en-US" sz="2000" dirty="0">
              <a:solidFill>
                <a:srgbClr val="007434"/>
              </a:solidFill>
              <a:latin typeface="Century Gothic" panose="020B0502020202020204" pitchFamily="34" charset="0"/>
            </a:endParaRPr>
          </a:p>
        </p:txBody>
      </p:sp>
      <p:grpSp>
        <p:nvGrpSpPr>
          <p:cNvPr id="32" name="Group 31">
            <a:extLst>
              <a:ext uri="{FF2B5EF4-FFF2-40B4-BE49-F238E27FC236}">
                <a16:creationId xmlns:a16="http://schemas.microsoft.com/office/drawing/2014/main" id="{D8A50D95-655F-7244-55F8-BDA51E1C6336}"/>
              </a:ext>
            </a:extLst>
          </p:cNvPr>
          <p:cNvGrpSpPr/>
          <p:nvPr/>
        </p:nvGrpSpPr>
        <p:grpSpPr>
          <a:xfrm>
            <a:off x="5508609" y="123167"/>
            <a:ext cx="12192000" cy="2765425"/>
            <a:chOff x="0" y="0"/>
            <a:chExt cx="12192000" cy="2765425"/>
          </a:xfrm>
        </p:grpSpPr>
        <p:pic>
          <p:nvPicPr>
            <p:cNvPr id="31745" name="Picture 34">
              <a:extLst>
                <a:ext uri="{FF2B5EF4-FFF2-40B4-BE49-F238E27FC236}">
                  <a16:creationId xmlns:a16="http://schemas.microsoft.com/office/drawing/2014/main" id="{E0668A84-83A7-9EBC-5D09-A13594E03A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688" y="557213"/>
              <a:ext cx="5640387" cy="220821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0">
              <a:extLst>
                <a:ext uri="{FF2B5EF4-FFF2-40B4-BE49-F238E27FC236}">
                  <a16:creationId xmlns:a16="http://schemas.microsoft.com/office/drawing/2014/main" id="{43B8C668-3EFA-F4D6-10F4-E5EEC9060BA9}"/>
                </a:ext>
              </a:extLst>
            </p:cNvPr>
            <p:cNvSpPr>
              <a:spLocks noChangeArrowheads="1"/>
            </p:cNvSpPr>
            <p:nvPr/>
          </p:nvSpPr>
          <p:spPr bwMode="auto">
            <a:xfrm>
              <a:off x="5835650" y="954088"/>
              <a:ext cx="250825" cy="2936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9">
              <a:extLst>
                <a:ext uri="{FF2B5EF4-FFF2-40B4-BE49-F238E27FC236}">
                  <a16:creationId xmlns:a16="http://schemas.microsoft.com/office/drawing/2014/main" id="{7B8B3429-687B-44F8-865A-25A27B6F09EE}"/>
                </a:ext>
              </a:extLst>
            </p:cNvPr>
            <p:cNvSpPr>
              <a:spLocks noChangeShapeType="1"/>
            </p:cNvSpPr>
            <p:nvPr/>
          </p:nvSpPr>
          <p:spPr bwMode="auto">
            <a:xfrm flipV="1">
              <a:off x="6067425" y="1100138"/>
              <a:ext cx="95250" cy="13811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Rectangle 8">
              <a:extLst>
                <a:ext uri="{FF2B5EF4-FFF2-40B4-BE49-F238E27FC236}">
                  <a16:creationId xmlns:a16="http://schemas.microsoft.com/office/drawing/2014/main" id="{0AF7F560-2513-4DE4-B4AF-84DF68006788}"/>
                </a:ext>
              </a:extLst>
            </p:cNvPr>
            <p:cNvSpPr>
              <a:spLocks noChangeArrowheads="1"/>
            </p:cNvSpPr>
            <p:nvPr/>
          </p:nvSpPr>
          <p:spPr bwMode="auto">
            <a:xfrm>
              <a:off x="6162675" y="954088"/>
              <a:ext cx="354013" cy="33655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12</a:t>
              </a: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5EB6F7D9-BEB2-AC2C-8776-6E685165B6EB}"/>
                </a:ext>
              </a:extLst>
            </p:cNvPr>
            <p:cNvSpPr>
              <a:spLocks noChangeArrowheads="1"/>
            </p:cNvSpPr>
            <p:nvPr/>
          </p:nvSpPr>
          <p:spPr bwMode="auto">
            <a:xfrm>
              <a:off x="544513" y="1539875"/>
              <a:ext cx="3608387" cy="5175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AutoShape 3">
              <a:extLst>
                <a:ext uri="{FF2B5EF4-FFF2-40B4-BE49-F238E27FC236}">
                  <a16:creationId xmlns:a16="http://schemas.microsoft.com/office/drawing/2014/main" id="{A28009E9-BE1B-66CC-1CFF-82C2CBEFE0CE}"/>
                </a:ext>
              </a:extLst>
            </p:cNvPr>
            <p:cNvSpPr>
              <a:spLocks noChangeShapeType="1"/>
            </p:cNvSpPr>
            <p:nvPr/>
          </p:nvSpPr>
          <p:spPr bwMode="auto">
            <a:xfrm flipV="1">
              <a:off x="3695700" y="1393825"/>
              <a:ext cx="95250" cy="13811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Rectangle 2">
              <a:extLst>
                <a:ext uri="{FF2B5EF4-FFF2-40B4-BE49-F238E27FC236}">
                  <a16:creationId xmlns:a16="http://schemas.microsoft.com/office/drawing/2014/main" id="{DE581FB7-13B8-A868-1847-D13557B9AC7E}"/>
                </a:ext>
              </a:extLst>
            </p:cNvPr>
            <p:cNvSpPr>
              <a:spLocks noChangeArrowheads="1"/>
            </p:cNvSpPr>
            <p:nvPr/>
          </p:nvSpPr>
          <p:spPr bwMode="auto">
            <a:xfrm>
              <a:off x="3800475" y="1203325"/>
              <a:ext cx="354013" cy="276225"/>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13</a:t>
              </a: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sp>
          <p:nvSpPr>
            <p:cNvPr id="27" name="AutoShape 7">
              <a:extLst>
                <a:ext uri="{FF2B5EF4-FFF2-40B4-BE49-F238E27FC236}">
                  <a16:creationId xmlns:a16="http://schemas.microsoft.com/office/drawing/2014/main" id="{31D938B4-0928-48F5-BC2B-50BF98CEE853}"/>
                </a:ext>
              </a:extLst>
            </p:cNvPr>
            <p:cNvSpPr>
              <a:spLocks noChangeShapeType="1"/>
            </p:cNvSpPr>
            <p:nvPr/>
          </p:nvSpPr>
          <p:spPr bwMode="auto">
            <a:xfrm flipV="1">
              <a:off x="4341813" y="1393825"/>
              <a:ext cx="95250" cy="13811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Rectangle 6">
              <a:extLst>
                <a:ext uri="{FF2B5EF4-FFF2-40B4-BE49-F238E27FC236}">
                  <a16:creationId xmlns:a16="http://schemas.microsoft.com/office/drawing/2014/main" id="{841FD702-47D7-8E42-E94F-0E89BF6F2264}"/>
                </a:ext>
              </a:extLst>
            </p:cNvPr>
            <p:cNvSpPr>
              <a:spLocks noChangeArrowheads="1"/>
            </p:cNvSpPr>
            <p:nvPr/>
          </p:nvSpPr>
          <p:spPr bwMode="auto">
            <a:xfrm>
              <a:off x="4446588" y="1203325"/>
              <a:ext cx="354012" cy="276225"/>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a:t>
              </a: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sp>
          <p:nvSpPr>
            <p:cNvPr id="29" name="Rectangle 5">
              <a:extLst>
                <a:ext uri="{FF2B5EF4-FFF2-40B4-BE49-F238E27FC236}">
                  <a16:creationId xmlns:a16="http://schemas.microsoft.com/office/drawing/2014/main" id="{3B8E51C9-6775-F966-8E9B-1C2AB4DEA29B}"/>
                </a:ext>
              </a:extLst>
            </p:cNvPr>
            <p:cNvSpPr>
              <a:spLocks noChangeArrowheads="1"/>
            </p:cNvSpPr>
            <p:nvPr/>
          </p:nvSpPr>
          <p:spPr bwMode="auto">
            <a:xfrm>
              <a:off x="4159544" y="1539876"/>
              <a:ext cx="447675" cy="23368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Rectangle 11">
              <a:extLst>
                <a:ext uri="{FF2B5EF4-FFF2-40B4-BE49-F238E27FC236}">
                  <a16:creationId xmlns:a16="http://schemas.microsoft.com/office/drawing/2014/main" id="{04929F2E-70D6-A5AD-4301-2A39536AA38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1" name="Rectangle 15">
              <a:extLst>
                <a:ext uri="{FF2B5EF4-FFF2-40B4-BE49-F238E27FC236}">
                  <a16:creationId xmlns:a16="http://schemas.microsoft.com/office/drawing/2014/main" id="{F932EE16-F651-E60D-D0B0-C37AAF2D4814}"/>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sp>
        <p:nvSpPr>
          <p:cNvPr id="35" name="TextBox 34">
            <a:extLst>
              <a:ext uri="{FF2B5EF4-FFF2-40B4-BE49-F238E27FC236}">
                <a16:creationId xmlns:a16="http://schemas.microsoft.com/office/drawing/2014/main" id="{B1CC88F5-DB01-4542-3E4B-B16449DDE4E9}"/>
              </a:ext>
            </a:extLst>
          </p:cNvPr>
          <p:cNvSpPr txBox="1"/>
          <p:nvPr/>
        </p:nvSpPr>
        <p:spPr>
          <a:xfrm>
            <a:off x="655874" y="3460511"/>
            <a:ext cx="4735260" cy="1776961"/>
          </a:xfrm>
          <a:prstGeom prst="rect">
            <a:avLst/>
          </a:prstGeom>
          <a:noFill/>
        </p:spPr>
        <p:txBody>
          <a:bodyPr wrap="square">
            <a:spAutoFit/>
          </a:bodyPr>
          <a:lstStyle/>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16.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view the bank book, scroll down and click the arrow to minimize the bank recon summary and view the bank book.</a:t>
            </a: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17.</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Provide the filter you want to view</a:t>
            </a:r>
          </a:p>
          <a:p>
            <a:pPr marR="0" lvl="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18.</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Click refresh button to display the bank book based on selected filter</a:t>
            </a: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R="0" lvl="0" algn="just">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1FB81B81-F9F3-DA79-2861-61F566B0A9B2}"/>
              </a:ext>
            </a:extLst>
          </p:cNvPr>
          <p:cNvGrpSpPr/>
          <p:nvPr/>
        </p:nvGrpSpPr>
        <p:grpSpPr>
          <a:xfrm>
            <a:off x="5929297" y="3448578"/>
            <a:ext cx="5451475" cy="2506662"/>
            <a:chOff x="5929297" y="3448578"/>
            <a:chExt cx="5451475" cy="2506662"/>
          </a:xfrm>
        </p:grpSpPr>
        <p:pic>
          <p:nvPicPr>
            <p:cNvPr id="4" name="Picture 37">
              <a:extLst>
                <a:ext uri="{FF2B5EF4-FFF2-40B4-BE49-F238E27FC236}">
                  <a16:creationId xmlns:a16="http://schemas.microsoft.com/office/drawing/2014/main" id="{D17345FE-6848-7118-3A64-6357C5EF06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9297" y="3448578"/>
              <a:ext cx="5451475" cy="250666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16">
              <a:extLst>
                <a:ext uri="{FF2B5EF4-FFF2-40B4-BE49-F238E27FC236}">
                  <a16:creationId xmlns:a16="http://schemas.microsoft.com/office/drawing/2014/main" id="{45EF33AE-36E0-4FB1-EC38-2C3A850FA034}"/>
                </a:ext>
              </a:extLst>
            </p:cNvPr>
            <p:cNvSpPr>
              <a:spLocks noChangeArrowheads="1"/>
            </p:cNvSpPr>
            <p:nvPr/>
          </p:nvSpPr>
          <p:spPr bwMode="auto">
            <a:xfrm>
              <a:off x="5999147" y="4507764"/>
              <a:ext cx="5219700" cy="93536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7">
              <a:extLst>
                <a:ext uri="{FF2B5EF4-FFF2-40B4-BE49-F238E27FC236}">
                  <a16:creationId xmlns:a16="http://schemas.microsoft.com/office/drawing/2014/main" id="{393B99A5-74B8-54B4-3813-7CFC2B7980BA}"/>
                </a:ext>
              </a:extLst>
            </p:cNvPr>
            <p:cNvSpPr>
              <a:spLocks noChangeShapeType="1"/>
            </p:cNvSpPr>
            <p:nvPr/>
          </p:nvSpPr>
          <p:spPr bwMode="auto">
            <a:xfrm flipV="1">
              <a:off x="10615597" y="4385527"/>
              <a:ext cx="215900" cy="1206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ectangle 18">
              <a:extLst>
                <a:ext uri="{FF2B5EF4-FFF2-40B4-BE49-F238E27FC236}">
                  <a16:creationId xmlns:a16="http://schemas.microsoft.com/office/drawing/2014/main" id="{7C8188C1-FD95-B8BC-A8DE-BBA52122E867}"/>
                </a:ext>
              </a:extLst>
            </p:cNvPr>
            <p:cNvSpPr>
              <a:spLocks noChangeArrowheads="1"/>
            </p:cNvSpPr>
            <p:nvPr/>
          </p:nvSpPr>
          <p:spPr bwMode="auto">
            <a:xfrm>
              <a:off x="10831497" y="4179152"/>
              <a:ext cx="387350" cy="285750"/>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17</a:t>
              </a:r>
              <a:endParaRPr kumimoji="0" lang="en-PH"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9">
              <a:extLst>
                <a:ext uri="{FF2B5EF4-FFF2-40B4-BE49-F238E27FC236}">
                  <a16:creationId xmlns:a16="http://schemas.microsoft.com/office/drawing/2014/main" id="{64668C78-C6FB-D203-1787-D13D3DE61EAF}"/>
                </a:ext>
              </a:extLst>
            </p:cNvPr>
            <p:cNvSpPr>
              <a:spLocks noChangeArrowheads="1"/>
            </p:cNvSpPr>
            <p:nvPr/>
          </p:nvSpPr>
          <p:spPr bwMode="auto">
            <a:xfrm>
              <a:off x="9531334" y="5137208"/>
              <a:ext cx="414338" cy="2238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0">
              <a:extLst>
                <a:ext uri="{FF2B5EF4-FFF2-40B4-BE49-F238E27FC236}">
                  <a16:creationId xmlns:a16="http://schemas.microsoft.com/office/drawing/2014/main" id="{C2D1E82C-CED4-578D-9682-03C63759E736}"/>
                </a:ext>
              </a:extLst>
            </p:cNvPr>
            <p:cNvSpPr>
              <a:spLocks noChangeShapeType="1"/>
            </p:cNvSpPr>
            <p:nvPr/>
          </p:nvSpPr>
          <p:spPr bwMode="auto">
            <a:xfrm>
              <a:off x="9738503" y="5361046"/>
              <a:ext cx="73024" cy="18970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Rectangle 21">
              <a:extLst>
                <a:ext uri="{FF2B5EF4-FFF2-40B4-BE49-F238E27FC236}">
                  <a16:creationId xmlns:a16="http://schemas.microsoft.com/office/drawing/2014/main" id="{61503E8B-5209-2B3D-DED1-12FAA91B04D8}"/>
                </a:ext>
              </a:extLst>
            </p:cNvPr>
            <p:cNvSpPr>
              <a:spLocks noChangeArrowheads="1"/>
            </p:cNvSpPr>
            <p:nvPr/>
          </p:nvSpPr>
          <p:spPr bwMode="auto">
            <a:xfrm>
              <a:off x="9702283" y="5558763"/>
              <a:ext cx="327837" cy="223838"/>
            </a:xfrm>
            <a:prstGeom prst="rect">
              <a:avLst/>
            </a:prstGeom>
            <a:solidFill>
              <a:srgbClr val="FFFF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H"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18</a:t>
              </a:r>
              <a:endParaRPr kumimoji="0" lang="en-PH"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31888089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550</Words>
  <Application>Microsoft Office PowerPoint</Application>
  <PresentationFormat>Widescreen</PresentationFormat>
  <Paragraphs>76</Paragraphs>
  <Slides>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Animosa Extra Bold</vt:lpstr>
      <vt:lpstr>Arial</vt:lpstr>
      <vt:lpstr>Bodoni MT Condensed</vt:lpstr>
      <vt:lpstr>Calibri</vt:lpstr>
      <vt:lpstr>Calibri Light</vt:lpstr>
      <vt:lpstr>Century Gothic</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4</cp:revision>
  <dcterms:created xsi:type="dcterms:W3CDTF">2023-01-12T11:31:24Z</dcterms:created>
  <dcterms:modified xsi:type="dcterms:W3CDTF">2023-01-12T11:33:54Z</dcterms:modified>
</cp:coreProperties>
</file>