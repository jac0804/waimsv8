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408" r:id="rId2"/>
    <p:sldId id="409" r:id="rId3"/>
    <p:sldId id="410" r:id="rId4"/>
    <p:sldId id="411" r:id="rId5"/>
    <p:sldId id="412" r:id="rId6"/>
    <p:sldId id="413" r:id="rId7"/>
    <p:sldId id="414" r:id="rId8"/>
    <p:sldId id="415" r:id="rId9"/>
    <p:sldId id="416" r:id="rId10"/>
    <p:sldId id="417" r:id="rId11"/>
    <p:sldId id="41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498689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46741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147810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739375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261020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697899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7793629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890323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870199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523846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676526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28887456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spcBef>
                <a:spcPts val="0"/>
              </a:spcBef>
            </a:pPr>
            <a:endParaRPr lang="en-US" sz="1400" dirty="0">
              <a:solidFill>
                <a:schemeClr val="bg1"/>
              </a:solidFill>
              <a:ea typeface="Open Sans" panose="020B0606030504020204" pitchFamily="34" charset="0"/>
              <a:cs typeface="Times New Roman" panose="02020603050405020304" pitchFamily="18" charset="0"/>
            </a:endParaRPr>
          </a:p>
          <a:p>
            <a:pPr marL="0" marR="0" algn="ctr">
              <a:spcBef>
                <a:spcPts val="0"/>
              </a:spcBef>
            </a:pPr>
            <a:r>
              <a:rPr lang="en-US" sz="1400" dirty="0">
                <a:solidFill>
                  <a:schemeClr val="bg1"/>
                </a:solidFill>
                <a:effectLst/>
                <a:ea typeface="Open Sans" panose="020B0606030504020204" pitchFamily="34" charset="0"/>
                <a:cs typeface="Times New Roman" panose="02020603050405020304" pitchFamily="18" charset="0"/>
              </a:rPr>
              <a:t>Transfer s</a:t>
            </a:r>
            <a:r>
              <a:rPr lang="en-US" sz="1400" dirty="0">
                <a:solidFill>
                  <a:schemeClr val="bg1"/>
                </a:solidFill>
                <a:ea typeface="Open Sans" panose="020B0606030504020204" pitchFamily="34" charset="0"/>
                <a:cs typeface="Times New Roman" panose="02020603050405020304" pitchFamily="18" charset="0"/>
              </a:rPr>
              <a:t>lip is used to create transaction of transferring of stocks from one warehouse to another.</a:t>
            </a: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D4A8F0E4-420B-D956-5A6B-DABBD12DDC05}"/>
              </a:ext>
            </a:extLst>
          </p:cNvPr>
          <p:cNvSpPr txBox="1"/>
          <p:nvPr/>
        </p:nvSpPr>
        <p:spPr>
          <a:xfrm>
            <a:off x="1017646" y="2105561"/>
            <a:ext cx="10289512" cy="1569660"/>
          </a:xfrm>
          <a:prstGeom prst="rect">
            <a:avLst/>
          </a:prstGeom>
          <a:noFill/>
          <a:effectLst/>
        </p:spPr>
        <p:txBody>
          <a:bodyPr wrap="square" rtlCol="0">
            <a:spAutoFit/>
          </a:bodyPr>
          <a:lstStyle/>
          <a:p>
            <a:pPr algn="ctr"/>
            <a:r>
              <a:rPr lang="en-US" sz="9600" b="1" dirty="0">
                <a:solidFill>
                  <a:srgbClr val="00B050"/>
                </a:solidFill>
                <a:latin typeface="Bodoni MT Condensed" panose="02070606080606020203" pitchFamily="18" charset="0"/>
              </a:rPr>
              <a:t>Transfer Slip</a:t>
            </a:r>
            <a:endParaRPr lang="en-US" sz="9600" dirty="0">
              <a:solidFill>
                <a:srgbClr val="00B050"/>
              </a:solidFill>
              <a:latin typeface="Bodoni MT Condensed" panose="02070606080606020203" pitchFamily="18" charset="0"/>
            </a:endParaRPr>
          </a:p>
        </p:txBody>
      </p:sp>
    </p:spTree>
    <p:extLst>
      <p:ext uri="{BB962C8B-B14F-4D97-AF65-F5344CB8AC3E}">
        <p14:creationId xmlns:p14="http://schemas.microsoft.com/office/powerpoint/2010/main" val="23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571E0C1-BED7-4917-1A9B-3715B52737F8}"/>
              </a:ext>
            </a:extLst>
          </p:cNvPr>
          <p:cNvPicPr>
            <a:picLocks noChangeAspect="1"/>
          </p:cNvPicPr>
          <p:nvPr/>
        </p:nvPicPr>
        <p:blipFill>
          <a:blip r:embed="rId2"/>
          <a:stretch>
            <a:fillRect/>
          </a:stretch>
        </p:blipFill>
        <p:spPr>
          <a:xfrm>
            <a:off x="5254177" y="2179357"/>
            <a:ext cx="6781676" cy="1940146"/>
          </a:xfrm>
          <a:prstGeom prst="rect">
            <a:avLst/>
          </a:prstGeom>
        </p:spPr>
      </p:pic>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847734"/>
            <a:ext cx="3887062" cy="1271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a:lnSpc>
                <a:spcPct val="107000"/>
              </a:lnSpc>
              <a:spcBef>
                <a:spcPts val="190"/>
              </a:spcBef>
              <a:spcAft>
                <a:spcPts val="80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When you click the Transfer Slip module under Inventory, it will display all the transactions based on filtered date and status in the Transfer Slip main window.</a:t>
            </a:r>
            <a:r>
              <a:rPr lang="en-PH" sz="1000" dirty="0">
                <a:effectLst/>
                <a:latin typeface="Chivo Light" panose="020B0303030202020804" pitchFamily="34" charset="0"/>
                <a:ea typeface="Times New Roman" panose="02020603050405020304" pitchFamily="18"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lvl="2">
              <a:lnSpc>
                <a:spcPct val="107000"/>
              </a:lnSpc>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lvl="2">
              <a:lnSpc>
                <a:spcPct val="107000"/>
              </a:lnSpc>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F18004E0-9A1A-AFE4-2288-F4A59C29D523}"/>
              </a:ext>
            </a:extLst>
          </p:cNvPr>
          <p:cNvSpPr/>
          <p:nvPr/>
        </p:nvSpPr>
        <p:spPr>
          <a:xfrm>
            <a:off x="5191125" y="3705195"/>
            <a:ext cx="990600" cy="1714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Rectangle 10">
            <a:extLst>
              <a:ext uri="{FF2B5EF4-FFF2-40B4-BE49-F238E27FC236}">
                <a16:creationId xmlns:a16="http://schemas.microsoft.com/office/drawing/2014/main" id="{BC552671-65ED-7E1B-AC75-97C8D36B9BB8}"/>
              </a:ext>
            </a:extLst>
          </p:cNvPr>
          <p:cNvSpPr/>
          <p:nvPr/>
        </p:nvSpPr>
        <p:spPr>
          <a:xfrm>
            <a:off x="6096000" y="3008626"/>
            <a:ext cx="5929280" cy="57172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2" name="Straight Arrow Connector 11">
            <a:extLst>
              <a:ext uri="{FF2B5EF4-FFF2-40B4-BE49-F238E27FC236}">
                <a16:creationId xmlns:a16="http://schemas.microsoft.com/office/drawing/2014/main" id="{23FA76C3-E2F6-5DC0-0C3F-7CB8267E6B98}"/>
              </a:ext>
            </a:extLst>
          </p:cNvPr>
          <p:cNvCxnSpPr>
            <a:cxnSpLocks/>
          </p:cNvCxnSpPr>
          <p:nvPr/>
        </p:nvCxnSpPr>
        <p:spPr>
          <a:xfrm flipV="1">
            <a:off x="5990221" y="3481153"/>
            <a:ext cx="230541" cy="2706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22ED6AA6-ECD7-3D0B-1150-534D5CACE223}"/>
              </a:ext>
            </a:extLst>
          </p:cNvPr>
          <p:cNvSpPr txBox="1"/>
          <p:nvPr/>
        </p:nvSpPr>
        <p:spPr>
          <a:xfrm>
            <a:off x="594804" y="123167"/>
            <a:ext cx="4596321"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Inventory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Transfer Slip </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15" name="TextBox 14">
            <a:extLst>
              <a:ext uri="{FF2B5EF4-FFF2-40B4-BE49-F238E27FC236}">
                <a16:creationId xmlns:a16="http://schemas.microsoft.com/office/drawing/2014/main" id="{EE5D6CF7-FAFF-975C-AEE7-A62CEE60DAC4}"/>
              </a:ext>
            </a:extLst>
          </p:cNvPr>
          <p:cNvSpPr txBox="1"/>
          <p:nvPr/>
        </p:nvSpPr>
        <p:spPr>
          <a:xfrm>
            <a:off x="7525333" y="4654973"/>
            <a:ext cx="2772763"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Transfer Sli</a:t>
            </a:r>
            <a:r>
              <a:rPr lang="en-PH" sz="1200" b="1" dirty="0">
                <a:latin typeface="Calibri" panose="020F0502020204030204" pitchFamily="34" charset="0"/>
                <a:ea typeface="Calibri" panose="020F0502020204030204" pitchFamily="34" charset="0"/>
                <a:cs typeface="Calibri" panose="020F0502020204030204" pitchFamily="34" charset="0"/>
              </a:rPr>
              <a:t>p</a:t>
            </a:r>
            <a:r>
              <a:rPr lang="en-PH" sz="1200" b="1" dirty="0">
                <a:effectLst/>
                <a:latin typeface="Calibri" panose="020F0502020204030204" pitchFamily="34" charset="0"/>
                <a:ea typeface="Calibri" panose="020F0502020204030204" pitchFamily="34" charset="0"/>
                <a:cs typeface="Calibri" panose="020F0502020204030204" pitchFamily="34" charset="0"/>
              </a:rPr>
              <a:t> –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484B9B92-9883-DF31-8BE0-526AE3D823D9}"/>
              </a:ext>
            </a:extLst>
          </p:cNvPr>
          <p:cNvSpPr txBox="1"/>
          <p:nvPr/>
        </p:nvSpPr>
        <p:spPr>
          <a:xfrm>
            <a:off x="832872" y="2179356"/>
            <a:ext cx="3887062" cy="307777"/>
          </a:xfrm>
          <a:prstGeom prst="rect">
            <a:avLst/>
          </a:prstGeom>
          <a:solidFill>
            <a:srgbClr val="00B050"/>
          </a:solidFill>
          <a:effectLst/>
        </p:spPr>
        <p:txBody>
          <a:bodyPr wrap="square" rtlCol="0">
            <a:spAutoFit/>
          </a:bodyPr>
          <a:lstStyle/>
          <a:p>
            <a:pPr algn="ctr"/>
            <a:r>
              <a:rPr lang="en-US" sz="1400" dirty="0">
                <a:solidFill>
                  <a:schemeClr val="bg1"/>
                </a:solidFill>
                <a:latin typeface="Calibri Light" panose="020F0302020204030204" pitchFamily="34" charset="0"/>
                <a:cs typeface="Calibri Light" panose="020F0302020204030204" pitchFamily="34" charset="0"/>
              </a:rPr>
              <a:t>Main Window</a:t>
            </a:r>
            <a:endParaRPr lang="en-US" dirty="0">
              <a:solidFill>
                <a:srgbClr val="007434"/>
              </a:solidFill>
              <a:latin typeface="Calibri Light" panose="020F0302020204030204" pitchFamily="34" charset="0"/>
              <a:cs typeface="Calibri Light" panose="020F0302020204030204" pitchFamily="34" charset="0"/>
            </a:endParaRPr>
          </a:p>
        </p:txBody>
      </p:sp>
      <p:sp>
        <p:nvSpPr>
          <p:cNvPr id="3" name="Slide Number Placeholder 9">
            <a:extLst>
              <a:ext uri="{FF2B5EF4-FFF2-40B4-BE49-F238E27FC236}">
                <a16:creationId xmlns:a16="http://schemas.microsoft.com/office/drawing/2014/main" id="{840E07BC-8C83-4CB9-5DF6-07D30C4F9625}"/>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780925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492FC23-7F03-157F-31F3-C5FF20301C8F}"/>
              </a:ext>
            </a:extLst>
          </p:cNvPr>
          <p:cNvPicPr>
            <a:picLocks noChangeAspect="1"/>
          </p:cNvPicPr>
          <p:nvPr/>
        </p:nvPicPr>
        <p:blipFill>
          <a:blip r:embed="rId2"/>
          <a:stretch>
            <a:fillRect/>
          </a:stretch>
        </p:blipFill>
        <p:spPr>
          <a:xfrm>
            <a:off x="5106289" y="1934316"/>
            <a:ext cx="6960497" cy="2702785"/>
          </a:xfrm>
          <a:prstGeom prst="rect">
            <a:avLst/>
          </a:prstGeom>
        </p:spPr>
      </p:pic>
      <p:sp>
        <p:nvSpPr>
          <p:cNvPr id="23" name="TextBox 22">
            <a:extLst>
              <a:ext uri="{FF2B5EF4-FFF2-40B4-BE49-F238E27FC236}">
                <a16:creationId xmlns:a16="http://schemas.microsoft.com/office/drawing/2014/main" id="{2384804B-EE2E-A346-8D83-E2034F24A0DC}"/>
              </a:ext>
            </a:extLst>
          </p:cNvPr>
          <p:cNvSpPr txBox="1"/>
          <p:nvPr/>
        </p:nvSpPr>
        <p:spPr>
          <a:xfrm>
            <a:off x="805110" y="1329093"/>
            <a:ext cx="3852819" cy="307777"/>
          </a:xfrm>
          <a:prstGeom prst="rect">
            <a:avLst/>
          </a:prstGeom>
          <a:solidFill>
            <a:srgbClr val="00B050"/>
          </a:solidFill>
          <a:effectLst/>
        </p:spPr>
        <p:txBody>
          <a:bodyPr wrap="square" rtlCol="0">
            <a:spAutoFit/>
          </a:bodyPr>
          <a:lstStyle/>
          <a:p>
            <a:pPr algn="ctr"/>
            <a:r>
              <a:rPr lang="en-US" sz="1400" dirty="0">
                <a:solidFill>
                  <a:schemeClr val="bg1"/>
                </a:solidFill>
                <a:latin typeface="Calibri Light" panose="020F0302020204030204" pitchFamily="34" charset="0"/>
                <a:cs typeface="Calibri Light" panose="020F0302020204030204" pitchFamily="34" charset="0"/>
              </a:rPr>
              <a:t>How To Create Transfer Slip Transaction?</a:t>
            </a:r>
            <a:endParaRPr lang="en-US" sz="1400" dirty="0">
              <a:solidFill>
                <a:srgbClr val="007434"/>
              </a:solidFill>
              <a:latin typeface="Calibri Light" panose="020F0302020204030204" pitchFamily="34" charset="0"/>
              <a:cs typeface="Calibri Light" panose="020F0302020204030204" pitchFamily="34" charset="0"/>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89597" y="2031938"/>
            <a:ext cx="4179346" cy="301919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457200" marR="0" indent="-228600">
              <a:lnSpc>
                <a:spcPct val="115000"/>
              </a:lnSpc>
              <a:spcBef>
                <a:spcPts val="0"/>
              </a:spcBef>
              <a:spcAft>
                <a:spcPts val="0"/>
              </a:spcAft>
              <a:buClr>
                <a:srgbClr val="00863D"/>
              </a:buClr>
              <a:buSzPct val="102000"/>
              <a:buFont typeface="+mj-lt"/>
              <a:buAutoNum type="arabicPeriod"/>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In </a:t>
            </a:r>
            <a:r>
              <a:rPr lang="en-US" sz="1200" dirty="0">
                <a:latin typeface="Chivo Light" panose="020B0303030202020804" pitchFamily="34" charset="0"/>
                <a:ea typeface="Times New Roman" panose="02020603050405020304" pitchFamily="18" charset="0"/>
                <a:cs typeface="Times New Roman" panose="02020603050405020304" pitchFamily="18" charset="0"/>
              </a:rPr>
              <a:t>Transfer Slip</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Main Window, you will notice a create button in the upper left of the window. Click the create button and you will be redirect in Transfer Slip – main form.</a:t>
            </a:r>
          </a:p>
          <a:p>
            <a:pPr marL="457200" marR="0" indent="-228600">
              <a:lnSpc>
                <a:spcPct val="115000"/>
              </a:lnSpc>
              <a:spcBef>
                <a:spcPts val="0"/>
              </a:spcBef>
              <a:spcAft>
                <a:spcPts val="0"/>
              </a:spcAft>
              <a:buClr>
                <a:srgbClr val="00863D"/>
              </a:buClr>
              <a:buSzPct val="102000"/>
              <a:buFont typeface="+mj-lt"/>
              <a:buAutoNum type="arabicPeriod"/>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457200" indent="-228600">
              <a:lnSpc>
                <a:spcPct val="115000"/>
              </a:lnSpc>
              <a:buClr>
                <a:srgbClr val="00863D"/>
              </a:buClr>
              <a:buSzPct val="102000"/>
              <a:buFont typeface="+mj-lt"/>
              <a:buAutoNum type="arabicPeriod"/>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click the create button, the system will automatically create a document # and plot the default warehouse on the Source warehouse field and promp</a:t>
            </a:r>
            <a:r>
              <a:rPr lang="en-US" sz="1200" dirty="0">
                <a:latin typeface="Chivo Light" panose="020B0303030202020804" pitchFamily="34" charset="0"/>
                <a:ea typeface="Times New Roman" panose="02020603050405020304" pitchFamily="18" charset="0"/>
                <a:cs typeface="Times New Roman" panose="02020603050405020304" pitchFamily="18" charset="0"/>
              </a:rPr>
              <a:t>t the selection of warehouse,</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search and select a destination warehouse where you will be transferring the items.</a:t>
            </a:r>
            <a:endParaRPr lang="en-US" sz="1100" cap="all" dirty="0">
              <a:solidFill>
                <a:srgbClr val="4472C4"/>
              </a:solidFill>
              <a:latin typeface="Calibri" panose="020F0502020204030204" pitchFamily="34" charset="0"/>
              <a:ea typeface="Calibri" panose="020F0502020204030204" pitchFamily="34" charset="0"/>
              <a:cs typeface="Times New Roman" panose="02020603050405020304" pitchFamily="18" charset="0"/>
            </a:endParaRPr>
          </a:p>
          <a:p>
            <a:pPr marL="457200" marR="0" indent="-228600">
              <a:lnSpc>
                <a:spcPct val="115000"/>
              </a:lnSpc>
              <a:spcBef>
                <a:spcPts val="0"/>
              </a:spcBef>
              <a:spcAft>
                <a:spcPts val="0"/>
              </a:spcAft>
              <a:buClr>
                <a:srgbClr val="00863D"/>
              </a:buClr>
              <a:buSzPct val="102000"/>
              <a:buFont typeface="+mj-lt"/>
              <a:buAutoNum type="arabicPeriod"/>
            </a:pPr>
            <a:endParaRPr kumimoji="0" lang="en-US" sz="1100" b="0" i="0" u="none" strike="noStrike" kern="1200" cap="all" spc="0" normalizeH="0" baseline="0" noProof="0" dirty="0">
              <a:ln>
                <a:noFill/>
              </a:ln>
              <a:solidFill>
                <a:srgbClr val="4472C4"/>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a:p>
            <a:pPr marL="457200" marR="0" indent="-228600">
              <a:lnSpc>
                <a:spcPct val="115000"/>
              </a:lnSpc>
              <a:spcBef>
                <a:spcPts val="0"/>
              </a:spcBef>
              <a:spcAft>
                <a:spcPts val="0"/>
              </a:spcAft>
              <a:buClr>
                <a:srgbClr val="00863D"/>
              </a:buClr>
              <a:buSzPct val="102000"/>
              <a:buFont typeface="+mj-lt"/>
              <a:buAutoNum type="arabicPeriod"/>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in header, click save button.</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grpSp>
        <p:nvGrpSpPr>
          <p:cNvPr id="7" name="Group 6">
            <a:extLst>
              <a:ext uri="{FF2B5EF4-FFF2-40B4-BE49-F238E27FC236}">
                <a16:creationId xmlns:a16="http://schemas.microsoft.com/office/drawing/2014/main" id="{930FFB15-3E6A-F366-5CEF-A595FC680DBB}"/>
              </a:ext>
            </a:extLst>
          </p:cNvPr>
          <p:cNvGrpSpPr/>
          <p:nvPr/>
        </p:nvGrpSpPr>
        <p:grpSpPr>
          <a:xfrm>
            <a:off x="5119020" y="846499"/>
            <a:ext cx="6918665" cy="905009"/>
            <a:chOff x="5106289" y="885167"/>
            <a:chExt cx="6918665" cy="905009"/>
          </a:xfrm>
        </p:grpSpPr>
        <p:pic>
          <p:nvPicPr>
            <p:cNvPr id="6" name="Picture 5">
              <a:extLst>
                <a:ext uri="{FF2B5EF4-FFF2-40B4-BE49-F238E27FC236}">
                  <a16:creationId xmlns:a16="http://schemas.microsoft.com/office/drawing/2014/main" id="{93A340F2-FD1B-E4CD-12A8-BB13862C704E}"/>
                </a:ext>
              </a:extLst>
            </p:cNvPr>
            <p:cNvPicPr>
              <a:picLocks noChangeAspect="1"/>
            </p:cNvPicPr>
            <p:nvPr/>
          </p:nvPicPr>
          <p:blipFill>
            <a:blip r:embed="rId3"/>
            <a:stretch>
              <a:fillRect/>
            </a:stretch>
          </p:blipFill>
          <p:spPr>
            <a:xfrm>
              <a:off x="5106289" y="885167"/>
              <a:ext cx="6918665" cy="905009"/>
            </a:xfrm>
            <a:prstGeom prst="rect">
              <a:avLst/>
            </a:prstGeom>
          </p:spPr>
        </p:pic>
        <p:grpSp>
          <p:nvGrpSpPr>
            <p:cNvPr id="37" name="Group 36">
              <a:extLst>
                <a:ext uri="{FF2B5EF4-FFF2-40B4-BE49-F238E27FC236}">
                  <a16:creationId xmlns:a16="http://schemas.microsoft.com/office/drawing/2014/main" id="{F0CBA4B8-FE60-879F-A50D-EFE3456D6BB9}"/>
                </a:ext>
              </a:extLst>
            </p:cNvPr>
            <p:cNvGrpSpPr/>
            <p:nvPr/>
          </p:nvGrpSpPr>
          <p:grpSpPr>
            <a:xfrm>
              <a:off x="5119020" y="896251"/>
              <a:ext cx="1244829" cy="280959"/>
              <a:chOff x="-41832" y="-1342088"/>
              <a:chExt cx="1244829" cy="333375"/>
            </a:xfrm>
          </p:grpSpPr>
          <p:sp>
            <p:nvSpPr>
              <p:cNvPr id="39" name="Rectangle 38">
                <a:extLst>
                  <a:ext uri="{FF2B5EF4-FFF2-40B4-BE49-F238E27FC236}">
                    <a16:creationId xmlns:a16="http://schemas.microsoft.com/office/drawing/2014/main" id="{87CCF5BE-7018-0302-D4E7-ABA17640CBA8}"/>
                  </a:ext>
                </a:extLst>
              </p:cNvPr>
              <p:cNvSpPr/>
              <p:nvPr/>
            </p:nvSpPr>
            <p:spPr>
              <a:xfrm>
                <a:off x="-41832" y="-1342088"/>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0" name="Straight Arrow Connector 39">
                <a:extLst>
                  <a:ext uri="{FF2B5EF4-FFF2-40B4-BE49-F238E27FC236}">
                    <a16:creationId xmlns:a16="http://schemas.microsoft.com/office/drawing/2014/main" id="{62633670-1FBD-4149-FAB1-66951CB3915E}"/>
                  </a:ext>
                </a:extLst>
              </p:cNvPr>
              <p:cNvCxnSpPr/>
              <p:nvPr/>
            </p:nvCxnSpPr>
            <p:spPr>
              <a:xfrm>
                <a:off x="793422" y="-1180578"/>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 Box 355">
                <a:extLst>
                  <a:ext uri="{FF2B5EF4-FFF2-40B4-BE49-F238E27FC236}">
                    <a16:creationId xmlns:a16="http://schemas.microsoft.com/office/drawing/2014/main" id="{6AA2D00E-0A25-569D-331D-16D775C28166}"/>
                  </a:ext>
                </a:extLst>
              </p:cNvPr>
              <p:cNvSpPr txBox="1"/>
              <p:nvPr/>
            </p:nvSpPr>
            <p:spPr>
              <a:xfrm>
                <a:off x="1002972" y="-1285353"/>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a:t>
                </a:r>
              </a:p>
            </p:txBody>
          </p:sp>
        </p:grpSp>
      </p:grpSp>
      <p:pic>
        <p:nvPicPr>
          <p:cNvPr id="49" name="Picture 48">
            <a:extLst>
              <a:ext uri="{FF2B5EF4-FFF2-40B4-BE49-F238E27FC236}">
                <a16:creationId xmlns:a16="http://schemas.microsoft.com/office/drawing/2014/main" id="{693359DA-0E35-C2AE-7680-F17A03960CEF}"/>
              </a:ext>
            </a:extLst>
          </p:cNvPr>
          <p:cNvPicPr>
            <a:picLocks noChangeAspect="1"/>
          </p:cNvPicPr>
          <p:nvPr/>
        </p:nvPicPr>
        <p:blipFill>
          <a:blip r:embed="rId4"/>
          <a:stretch>
            <a:fillRect/>
          </a:stretch>
        </p:blipFill>
        <p:spPr>
          <a:xfrm>
            <a:off x="10780479" y="6391410"/>
            <a:ext cx="1047454" cy="267619"/>
          </a:xfrm>
          <a:prstGeom prst="rect">
            <a:avLst/>
          </a:prstGeom>
          <a:effectLst/>
        </p:spPr>
      </p:pic>
      <p:sp>
        <p:nvSpPr>
          <p:cNvPr id="17" name="Rectangle 16">
            <a:extLst>
              <a:ext uri="{FF2B5EF4-FFF2-40B4-BE49-F238E27FC236}">
                <a16:creationId xmlns:a16="http://schemas.microsoft.com/office/drawing/2014/main" id="{AA0412FC-15A8-A8E5-CA65-245346A381B8}"/>
              </a:ext>
            </a:extLst>
          </p:cNvPr>
          <p:cNvSpPr/>
          <p:nvPr/>
        </p:nvSpPr>
        <p:spPr>
          <a:xfrm>
            <a:off x="5499990" y="2730504"/>
            <a:ext cx="6290370" cy="184521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 name="Text Box 388">
            <a:extLst>
              <a:ext uri="{FF2B5EF4-FFF2-40B4-BE49-F238E27FC236}">
                <a16:creationId xmlns:a16="http://schemas.microsoft.com/office/drawing/2014/main" id="{2C36A3CD-3535-E490-58B1-D72F7D3F2E09}"/>
              </a:ext>
            </a:extLst>
          </p:cNvPr>
          <p:cNvSpPr txBox="1"/>
          <p:nvPr/>
        </p:nvSpPr>
        <p:spPr>
          <a:xfrm>
            <a:off x="10305500" y="3441290"/>
            <a:ext cx="474979" cy="2374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2</a:t>
            </a:r>
          </a:p>
        </p:txBody>
      </p:sp>
      <p:sp>
        <p:nvSpPr>
          <p:cNvPr id="2" name="TextBox 1">
            <a:extLst>
              <a:ext uri="{FF2B5EF4-FFF2-40B4-BE49-F238E27FC236}">
                <a16:creationId xmlns:a16="http://schemas.microsoft.com/office/drawing/2014/main" id="{1C90DC54-BD70-6A30-F546-8E32A8F14B28}"/>
              </a:ext>
            </a:extLst>
          </p:cNvPr>
          <p:cNvSpPr txBox="1"/>
          <p:nvPr/>
        </p:nvSpPr>
        <p:spPr>
          <a:xfrm>
            <a:off x="805110" y="103461"/>
            <a:ext cx="4596321"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Inventory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Transfer Slip </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pic>
        <p:nvPicPr>
          <p:cNvPr id="10" name="Picture 9">
            <a:extLst>
              <a:ext uri="{FF2B5EF4-FFF2-40B4-BE49-F238E27FC236}">
                <a16:creationId xmlns:a16="http://schemas.microsoft.com/office/drawing/2014/main" id="{DF2FD6EB-CB6C-FBCD-8445-5291748F7588}"/>
              </a:ext>
            </a:extLst>
          </p:cNvPr>
          <p:cNvPicPr>
            <a:picLocks noChangeAspect="1"/>
          </p:cNvPicPr>
          <p:nvPr/>
        </p:nvPicPr>
        <p:blipFill>
          <a:blip r:embed="rId5"/>
          <a:stretch>
            <a:fillRect/>
          </a:stretch>
        </p:blipFill>
        <p:spPr>
          <a:xfrm>
            <a:off x="5106289" y="5056298"/>
            <a:ext cx="6960497" cy="1280969"/>
          </a:xfrm>
          <a:prstGeom prst="rect">
            <a:avLst/>
          </a:prstGeom>
        </p:spPr>
      </p:pic>
      <p:sp>
        <p:nvSpPr>
          <p:cNvPr id="21" name="Rectangle 20">
            <a:extLst>
              <a:ext uri="{FF2B5EF4-FFF2-40B4-BE49-F238E27FC236}">
                <a16:creationId xmlns:a16="http://schemas.microsoft.com/office/drawing/2014/main" id="{62005AA1-7459-0A2B-1329-995C1DC3DBD0}"/>
              </a:ext>
            </a:extLst>
          </p:cNvPr>
          <p:cNvSpPr/>
          <p:nvPr/>
        </p:nvSpPr>
        <p:spPr>
          <a:xfrm>
            <a:off x="6841437" y="5792755"/>
            <a:ext cx="1724184" cy="19408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2" name="Rectangle 21">
            <a:extLst>
              <a:ext uri="{FF2B5EF4-FFF2-40B4-BE49-F238E27FC236}">
                <a16:creationId xmlns:a16="http://schemas.microsoft.com/office/drawing/2014/main" id="{CE168B3A-C569-3FED-8302-33AFAA654807}"/>
              </a:ext>
            </a:extLst>
          </p:cNvPr>
          <p:cNvSpPr/>
          <p:nvPr/>
        </p:nvSpPr>
        <p:spPr>
          <a:xfrm>
            <a:off x="5119020" y="5583007"/>
            <a:ext cx="1724184" cy="22306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4" name="Rectangle 23">
            <a:extLst>
              <a:ext uri="{FF2B5EF4-FFF2-40B4-BE49-F238E27FC236}">
                <a16:creationId xmlns:a16="http://schemas.microsoft.com/office/drawing/2014/main" id="{FAE8A265-EF67-4E41-CC80-BF393C835F7B}"/>
              </a:ext>
            </a:extLst>
          </p:cNvPr>
          <p:cNvSpPr/>
          <p:nvPr/>
        </p:nvSpPr>
        <p:spPr>
          <a:xfrm>
            <a:off x="5119020" y="5792755"/>
            <a:ext cx="1724184" cy="19408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5" name="Text Box 388">
            <a:extLst>
              <a:ext uri="{FF2B5EF4-FFF2-40B4-BE49-F238E27FC236}">
                <a16:creationId xmlns:a16="http://schemas.microsoft.com/office/drawing/2014/main" id="{C16F4AAD-5A4F-FDAF-8FEB-D3FE8C8C9F5C}"/>
              </a:ext>
            </a:extLst>
          </p:cNvPr>
          <p:cNvSpPr txBox="1"/>
          <p:nvPr/>
        </p:nvSpPr>
        <p:spPr>
          <a:xfrm>
            <a:off x="6618445" y="5223536"/>
            <a:ext cx="474979" cy="2374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2</a:t>
            </a:r>
          </a:p>
        </p:txBody>
      </p:sp>
      <p:cxnSp>
        <p:nvCxnSpPr>
          <p:cNvPr id="26" name="Straight Arrow Connector 25">
            <a:extLst>
              <a:ext uri="{FF2B5EF4-FFF2-40B4-BE49-F238E27FC236}">
                <a16:creationId xmlns:a16="http://schemas.microsoft.com/office/drawing/2014/main" id="{658EA4E7-BB39-A684-0D40-83B0D18996B6}"/>
              </a:ext>
            </a:extLst>
          </p:cNvPr>
          <p:cNvCxnSpPr>
            <a:cxnSpLocks/>
          </p:cNvCxnSpPr>
          <p:nvPr/>
        </p:nvCxnSpPr>
        <p:spPr>
          <a:xfrm flipV="1">
            <a:off x="6296721" y="5325746"/>
            <a:ext cx="306103" cy="21646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 Box 388">
            <a:extLst>
              <a:ext uri="{FF2B5EF4-FFF2-40B4-BE49-F238E27FC236}">
                <a16:creationId xmlns:a16="http://schemas.microsoft.com/office/drawing/2014/main" id="{A76BB3C9-F0FE-E841-12D1-73CD6C1082F9}"/>
              </a:ext>
            </a:extLst>
          </p:cNvPr>
          <p:cNvSpPr txBox="1"/>
          <p:nvPr/>
        </p:nvSpPr>
        <p:spPr>
          <a:xfrm>
            <a:off x="11192554" y="5515248"/>
            <a:ext cx="474979" cy="2374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3</a:t>
            </a:r>
          </a:p>
        </p:txBody>
      </p:sp>
      <p:cxnSp>
        <p:nvCxnSpPr>
          <p:cNvPr id="31" name="Straight Arrow Connector 30">
            <a:extLst>
              <a:ext uri="{FF2B5EF4-FFF2-40B4-BE49-F238E27FC236}">
                <a16:creationId xmlns:a16="http://schemas.microsoft.com/office/drawing/2014/main" id="{F2540BB2-C74E-C4B1-7544-C68C01FC5936}"/>
              </a:ext>
            </a:extLst>
          </p:cNvPr>
          <p:cNvCxnSpPr>
            <a:cxnSpLocks/>
          </p:cNvCxnSpPr>
          <p:nvPr/>
        </p:nvCxnSpPr>
        <p:spPr>
          <a:xfrm>
            <a:off x="10981678" y="5568229"/>
            <a:ext cx="210876" cy="657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Rectangle 31">
            <a:extLst>
              <a:ext uri="{FF2B5EF4-FFF2-40B4-BE49-F238E27FC236}">
                <a16:creationId xmlns:a16="http://schemas.microsoft.com/office/drawing/2014/main" id="{077F7B5A-6852-E1FB-AA71-FDB52564FBD2}"/>
              </a:ext>
            </a:extLst>
          </p:cNvPr>
          <p:cNvSpPr/>
          <p:nvPr/>
        </p:nvSpPr>
        <p:spPr>
          <a:xfrm>
            <a:off x="10548901" y="5298781"/>
            <a:ext cx="548186" cy="23740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 name="Slide Number Placeholder 9">
            <a:extLst>
              <a:ext uri="{FF2B5EF4-FFF2-40B4-BE49-F238E27FC236}">
                <a16:creationId xmlns:a16="http://schemas.microsoft.com/office/drawing/2014/main" id="{111D2346-1FFC-05DA-A427-50CDDC489BFD}"/>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411393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608034" y="2481926"/>
            <a:ext cx="4179346" cy="179882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457200" marR="0" indent="-228600">
              <a:lnSpc>
                <a:spcPct val="115000"/>
              </a:lnSpc>
              <a:spcBef>
                <a:spcPts val="0"/>
              </a:spcBef>
              <a:spcAft>
                <a:spcPts val="0"/>
              </a:spcAft>
              <a:buClr>
                <a:srgbClr val="00863D"/>
              </a:buClr>
              <a:buFont typeface="+mj-lt"/>
              <a:buAutoNum type="arabicPeriod" startAt="4"/>
            </a:pPr>
            <a:r>
              <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rPr>
              <a:t>After saving the header, you may now add the items you want to transfer the stocks in the Inventory tab by clicking add item button. </a:t>
            </a:r>
          </a:p>
          <a:p>
            <a:pPr marL="457200" marR="0" indent="-228600">
              <a:lnSpc>
                <a:spcPct val="115000"/>
              </a:lnSpc>
              <a:spcBef>
                <a:spcPts val="0"/>
              </a:spcBef>
              <a:spcAft>
                <a:spcPts val="0"/>
              </a:spcAft>
              <a:buClr>
                <a:srgbClr val="00863D"/>
              </a:buClr>
              <a:buFont typeface="+mj-lt"/>
              <a:buAutoNum type="arabicPeriod" startAt="4"/>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457200" marR="0" indent="-228600">
              <a:lnSpc>
                <a:spcPct val="115000"/>
              </a:lnSpc>
              <a:spcBef>
                <a:spcPts val="0"/>
              </a:spcBef>
              <a:spcAft>
                <a:spcPts val="0"/>
              </a:spcAft>
              <a:buClr>
                <a:srgbClr val="00863D"/>
              </a:buClr>
              <a:buFont typeface="+mj-lt"/>
              <a:buAutoNum type="arabicPeriod" startAt="4"/>
            </a:pPr>
            <a:r>
              <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rPr>
              <a:t>After you click the add item button, a dialog box with item list pop out, search and select the item</a:t>
            </a:r>
          </a:p>
          <a:p>
            <a:pPr marL="228600" marR="0">
              <a:lnSpc>
                <a:spcPct val="115000"/>
              </a:lnSpc>
              <a:spcBef>
                <a:spcPts val="0"/>
              </a:spcBef>
              <a:spcAft>
                <a:spcPts val="0"/>
              </a:spcAft>
            </a:pP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14" name="Group 13">
            <a:extLst>
              <a:ext uri="{FF2B5EF4-FFF2-40B4-BE49-F238E27FC236}">
                <a16:creationId xmlns:a16="http://schemas.microsoft.com/office/drawing/2014/main" id="{32F26187-350A-14E2-F2C1-54118FB63E89}"/>
              </a:ext>
            </a:extLst>
          </p:cNvPr>
          <p:cNvGrpSpPr/>
          <p:nvPr/>
        </p:nvGrpSpPr>
        <p:grpSpPr>
          <a:xfrm>
            <a:off x="5070440" y="1494549"/>
            <a:ext cx="6994038" cy="2283251"/>
            <a:chOff x="5070440" y="1494549"/>
            <a:chExt cx="6994038" cy="2283251"/>
          </a:xfrm>
        </p:grpSpPr>
        <p:pic>
          <p:nvPicPr>
            <p:cNvPr id="11" name="Picture 10">
              <a:extLst>
                <a:ext uri="{FF2B5EF4-FFF2-40B4-BE49-F238E27FC236}">
                  <a16:creationId xmlns:a16="http://schemas.microsoft.com/office/drawing/2014/main" id="{61493A8A-C191-45E7-929E-2EC5CC1FCCC1}"/>
                </a:ext>
              </a:extLst>
            </p:cNvPr>
            <p:cNvPicPr>
              <a:picLocks noChangeAspect="1"/>
            </p:cNvPicPr>
            <p:nvPr/>
          </p:nvPicPr>
          <p:blipFill>
            <a:blip r:embed="rId2"/>
            <a:stretch>
              <a:fillRect/>
            </a:stretch>
          </p:blipFill>
          <p:spPr>
            <a:xfrm>
              <a:off x="5373172" y="1494549"/>
              <a:ext cx="6691306" cy="2283251"/>
            </a:xfrm>
            <a:prstGeom prst="rect">
              <a:avLst/>
            </a:prstGeom>
          </p:spPr>
        </p:pic>
        <p:sp>
          <p:nvSpPr>
            <p:cNvPr id="9" name="Rectangle 8">
              <a:extLst>
                <a:ext uri="{FF2B5EF4-FFF2-40B4-BE49-F238E27FC236}">
                  <a16:creationId xmlns:a16="http://schemas.microsoft.com/office/drawing/2014/main" id="{F2AE684C-E214-8751-1D5F-00C020BE18EE}"/>
                </a:ext>
              </a:extLst>
            </p:cNvPr>
            <p:cNvSpPr/>
            <p:nvPr/>
          </p:nvSpPr>
          <p:spPr>
            <a:xfrm>
              <a:off x="5356442" y="2405849"/>
              <a:ext cx="6708035" cy="1077243"/>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 name="Text Box 465">
              <a:extLst>
                <a:ext uri="{FF2B5EF4-FFF2-40B4-BE49-F238E27FC236}">
                  <a16:creationId xmlns:a16="http://schemas.microsoft.com/office/drawing/2014/main" id="{94C679E0-B882-8A7E-A21F-A4A45FA9790B}"/>
                </a:ext>
              </a:extLst>
            </p:cNvPr>
            <p:cNvSpPr txBox="1"/>
            <p:nvPr/>
          </p:nvSpPr>
          <p:spPr>
            <a:xfrm>
              <a:off x="5070440" y="2757693"/>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Stock</a:t>
              </a:r>
            </a:p>
          </p:txBody>
        </p:sp>
        <p:sp>
          <p:nvSpPr>
            <p:cNvPr id="20" name="Rectangle 19">
              <a:extLst>
                <a:ext uri="{FF2B5EF4-FFF2-40B4-BE49-F238E27FC236}">
                  <a16:creationId xmlns:a16="http://schemas.microsoft.com/office/drawing/2014/main" id="{1CC44169-3E2B-F7E4-F98A-C59721EE58F7}"/>
                </a:ext>
              </a:extLst>
            </p:cNvPr>
            <p:cNvSpPr/>
            <p:nvPr/>
          </p:nvSpPr>
          <p:spPr>
            <a:xfrm>
              <a:off x="9699450" y="2520287"/>
              <a:ext cx="574149" cy="1841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9" name="Straight Arrow Connector 28">
              <a:extLst>
                <a:ext uri="{FF2B5EF4-FFF2-40B4-BE49-F238E27FC236}">
                  <a16:creationId xmlns:a16="http://schemas.microsoft.com/office/drawing/2014/main" id="{CF6F27EA-FF73-A013-6D5A-BDB5F9031912}"/>
                </a:ext>
              </a:extLst>
            </p:cNvPr>
            <p:cNvCxnSpPr/>
            <p:nvPr/>
          </p:nvCxnSpPr>
          <p:spPr>
            <a:xfrm>
              <a:off x="10273599" y="2617153"/>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 Box 454">
              <a:extLst>
                <a:ext uri="{FF2B5EF4-FFF2-40B4-BE49-F238E27FC236}">
                  <a16:creationId xmlns:a16="http://schemas.microsoft.com/office/drawing/2014/main" id="{7224715B-1E23-7A83-F488-04431D885CF7}"/>
                </a:ext>
              </a:extLst>
            </p:cNvPr>
            <p:cNvSpPr txBox="1"/>
            <p:nvPr/>
          </p:nvSpPr>
          <p:spPr>
            <a:xfrm>
              <a:off x="10474118" y="247194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4</a:t>
              </a:r>
            </a:p>
          </p:txBody>
        </p:sp>
      </p:grpSp>
      <p:grpSp>
        <p:nvGrpSpPr>
          <p:cNvPr id="32" name="Group 31">
            <a:extLst>
              <a:ext uri="{FF2B5EF4-FFF2-40B4-BE49-F238E27FC236}">
                <a16:creationId xmlns:a16="http://schemas.microsoft.com/office/drawing/2014/main" id="{C4F38157-C361-DA5C-BACD-03EADEDACB52}"/>
              </a:ext>
            </a:extLst>
          </p:cNvPr>
          <p:cNvGrpSpPr/>
          <p:nvPr/>
        </p:nvGrpSpPr>
        <p:grpSpPr>
          <a:xfrm>
            <a:off x="5721100" y="4356126"/>
            <a:ext cx="5995451" cy="1448759"/>
            <a:chOff x="0" y="0"/>
            <a:chExt cx="6189345" cy="1583690"/>
          </a:xfrm>
        </p:grpSpPr>
        <p:pic>
          <p:nvPicPr>
            <p:cNvPr id="33" name="Picture 32">
              <a:extLst>
                <a:ext uri="{FF2B5EF4-FFF2-40B4-BE49-F238E27FC236}">
                  <a16:creationId xmlns:a16="http://schemas.microsoft.com/office/drawing/2014/main" id="{453211E4-1924-B39E-3A89-41A6CD1C4B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6189345" cy="1583690"/>
            </a:xfrm>
            <a:prstGeom prst="rect">
              <a:avLst/>
            </a:prstGeom>
          </p:spPr>
        </p:pic>
        <p:sp>
          <p:nvSpPr>
            <p:cNvPr id="34" name="Rectangle 33">
              <a:extLst>
                <a:ext uri="{FF2B5EF4-FFF2-40B4-BE49-F238E27FC236}">
                  <a16:creationId xmlns:a16="http://schemas.microsoft.com/office/drawing/2014/main" id="{D3D42B14-48EB-7076-2456-FEA478C1979F}"/>
                </a:ext>
              </a:extLst>
            </p:cNvPr>
            <p:cNvSpPr/>
            <p:nvPr/>
          </p:nvSpPr>
          <p:spPr>
            <a:xfrm>
              <a:off x="241300" y="438150"/>
              <a:ext cx="1482280" cy="3794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35" name="Straight Arrow Connector 34">
              <a:extLst>
                <a:ext uri="{FF2B5EF4-FFF2-40B4-BE49-F238E27FC236}">
                  <a16:creationId xmlns:a16="http://schemas.microsoft.com/office/drawing/2014/main" id="{B9D8555A-E7BD-846E-C722-511BEF2F509A}"/>
                </a:ext>
              </a:extLst>
            </p:cNvPr>
            <p:cNvCxnSpPr/>
            <p:nvPr/>
          </p:nvCxnSpPr>
          <p:spPr>
            <a:xfrm>
              <a:off x="1695450" y="736600"/>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Text Box 545">
              <a:extLst>
                <a:ext uri="{FF2B5EF4-FFF2-40B4-BE49-F238E27FC236}">
                  <a16:creationId xmlns:a16="http://schemas.microsoft.com/office/drawing/2014/main" id="{5DB3DB5A-D751-CE69-635C-30B4D142F278}"/>
                </a:ext>
              </a:extLst>
            </p:cNvPr>
            <p:cNvSpPr txBox="1"/>
            <p:nvPr/>
          </p:nvSpPr>
          <p:spPr>
            <a:xfrm>
              <a:off x="1898650" y="51435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5</a:t>
              </a:r>
            </a:p>
          </p:txBody>
        </p:sp>
        <p:cxnSp>
          <p:nvCxnSpPr>
            <p:cNvPr id="37" name="Straight Arrow Connector 36">
              <a:extLst>
                <a:ext uri="{FF2B5EF4-FFF2-40B4-BE49-F238E27FC236}">
                  <a16:creationId xmlns:a16="http://schemas.microsoft.com/office/drawing/2014/main" id="{2BEA4194-F4AA-7675-95AC-7B559650D6F2}"/>
                </a:ext>
              </a:extLst>
            </p:cNvPr>
            <p:cNvCxnSpPr/>
            <p:nvPr/>
          </p:nvCxnSpPr>
          <p:spPr>
            <a:xfrm>
              <a:off x="3913970" y="1169850"/>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 Box 548">
              <a:extLst>
                <a:ext uri="{FF2B5EF4-FFF2-40B4-BE49-F238E27FC236}">
                  <a16:creationId xmlns:a16="http://schemas.microsoft.com/office/drawing/2014/main" id="{AC7C03D1-4077-3038-55A9-D1FADAFE3CE6}"/>
                </a:ext>
              </a:extLst>
            </p:cNvPr>
            <p:cNvSpPr txBox="1"/>
            <p:nvPr/>
          </p:nvSpPr>
          <p:spPr>
            <a:xfrm>
              <a:off x="4107011" y="1007326"/>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5</a:t>
              </a:r>
            </a:p>
          </p:txBody>
        </p:sp>
      </p:grpSp>
      <p:sp>
        <p:nvSpPr>
          <p:cNvPr id="2" name="TextBox 1">
            <a:extLst>
              <a:ext uri="{FF2B5EF4-FFF2-40B4-BE49-F238E27FC236}">
                <a16:creationId xmlns:a16="http://schemas.microsoft.com/office/drawing/2014/main" id="{D69E60F1-BA63-A8A6-EC03-36C3ADE0A9AC}"/>
              </a:ext>
            </a:extLst>
          </p:cNvPr>
          <p:cNvSpPr txBox="1"/>
          <p:nvPr/>
        </p:nvSpPr>
        <p:spPr>
          <a:xfrm>
            <a:off x="1522069" y="641652"/>
            <a:ext cx="3852819" cy="307777"/>
          </a:xfrm>
          <a:prstGeom prst="rect">
            <a:avLst/>
          </a:prstGeom>
          <a:solidFill>
            <a:srgbClr val="00B050"/>
          </a:solidFill>
          <a:effectLst/>
        </p:spPr>
        <p:txBody>
          <a:bodyPr wrap="square" rtlCol="0">
            <a:spAutoFit/>
          </a:bodyPr>
          <a:lstStyle/>
          <a:p>
            <a:pPr algn="ctr"/>
            <a:r>
              <a:rPr lang="en-US" sz="1400" dirty="0">
                <a:solidFill>
                  <a:schemeClr val="bg1"/>
                </a:solidFill>
                <a:latin typeface="Calibri Light" panose="020F0302020204030204" pitchFamily="34" charset="0"/>
                <a:cs typeface="Calibri Light" panose="020F0302020204030204" pitchFamily="34" charset="0"/>
              </a:rPr>
              <a:t>How To Create Transfer Slip Transaction?</a:t>
            </a:r>
            <a:endParaRPr lang="en-US" sz="1400" dirty="0">
              <a:solidFill>
                <a:srgbClr val="007434"/>
              </a:solidFill>
              <a:latin typeface="Calibri Light" panose="020F0302020204030204" pitchFamily="34" charset="0"/>
              <a:cs typeface="Calibri Light" panose="020F0302020204030204" pitchFamily="34" charset="0"/>
            </a:endParaRPr>
          </a:p>
        </p:txBody>
      </p:sp>
      <p:sp>
        <p:nvSpPr>
          <p:cNvPr id="6" name="TextBox 5">
            <a:extLst>
              <a:ext uri="{FF2B5EF4-FFF2-40B4-BE49-F238E27FC236}">
                <a16:creationId xmlns:a16="http://schemas.microsoft.com/office/drawing/2014/main" id="{F57526C6-45AA-6420-1D94-DEC227183FF1}"/>
              </a:ext>
            </a:extLst>
          </p:cNvPr>
          <p:cNvSpPr txBox="1"/>
          <p:nvPr/>
        </p:nvSpPr>
        <p:spPr>
          <a:xfrm>
            <a:off x="1150317" y="96532"/>
            <a:ext cx="4596321"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Inventory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Transfer Slip </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5" name="Slide Number Placeholder 9">
            <a:extLst>
              <a:ext uri="{FF2B5EF4-FFF2-40B4-BE49-F238E27FC236}">
                <a16:creationId xmlns:a16="http://schemas.microsoft.com/office/drawing/2014/main" id="{31BCF647-2809-17FC-6328-83F3749CC424}"/>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2579557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498199" y="1534309"/>
            <a:ext cx="4179346" cy="468521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7" name="Text Box 18">
            <a:extLst>
              <a:ext uri="{FF2B5EF4-FFF2-40B4-BE49-F238E27FC236}">
                <a16:creationId xmlns:a16="http://schemas.microsoft.com/office/drawing/2014/main" id="{099D3CDB-CFB5-7113-F83E-473C98B007A9}"/>
              </a:ext>
            </a:extLst>
          </p:cNvPr>
          <p:cNvSpPr txBox="1"/>
          <p:nvPr/>
        </p:nvSpPr>
        <p:spPr>
          <a:xfrm>
            <a:off x="498199" y="2543365"/>
            <a:ext cx="4179346" cy="192569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5.1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the item, a dialog box where item details will be encoded will pop out.</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Enter the necessary quantity, change the amount, </a:t>
            </a:r>
            <a:r>
              <a:rPr lang="en-US" sz="1200" dirty="0" err="1">
                <a:effectLst/>
                <a:latin typeface="Chivo Light" panose="020B0303030202020804" pitchFamily="34" charset="0"/>
                <a:ea typeface="Times New Roman" panose="02020603050405020304" pitchFamily="18" charset="0"/>
                <a:cs typeface="Times New Roman" panose="02020603050405020304" pitchFamily="18" charset="0"/>
              </a:rPr>
              <a:t>uom</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warehouse.</a:t>
            </a: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5.3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done, click add to cart button.</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46" name="Group 45">
            <a:extLst>
              <a:ext uri="{FF2B5EF4-FFF2-40B4-BE49-F238E27FC236}">
                <a16:creationId xmlns:a16="http://schemas.microsoft.com/office/drawing/2014/main" id="{429E73B2-666F-4673-085D-8006A91D7328}"/>
              </a:ext>
            </a:extLst>
          </p:cNvPr>
          <p:cNvGrpSpPr/>
          <p:nvPr/>
        </p:nvGrpSpPr>
        <p:grpSpPr>
          <a:xfrm>
            <a:off x="5504456" y="1481274"/>
            <a:ext cx="6189345" cy="4335145"/>
            <a:chOff x="5504456" y="638477"/>
            <a:chExt cx="6189345" cy="4335145"/>
          </a:xfrm>
        </p:grpSpPr>
        <p:pic>
          <p:nvPicPr>
            <p:cNvPr id="38" name="Picture 37">
              <a:extLst>
                <a:ext uri="{FF2B5EF4-FFF2-40B4-BE49-F238E27FC236}">
                  <a16:creationId xmlns:a16="http://schemas.microsoft.com/office/drawing/2014/main" id="{633A6C2C-9BDF-9F9A-91D7-DBE8C6CD2D7F}"/>
                </a:ext>
              </a:extLst>
            </p:cNvPr>
            <p:cNvPicPr>
              <a:picLocks noChangeAspect="1"/>
            </p:cNvPicPr>
            <p:nvPr/>
          </p:nvPicPr>
          <p:blipFill>
            <a:blip r:embed="rId2"/>
            <a:stretch>
              <a:fillRect/>
            </a:stretch>
          </p:blipFill>
          <p:spPr>
            <a:xfrm>
              <a:off x="5504456" y="638477"/>
              <a:ext cx="6189345" cy="4335145"/>
            </a:xfrm>
            <a:prstGeom prst="rect">
              <a:avLst/>
            </a:prstGeom>
          </p:spPr>
        </p:pic>
        <p:grpSp>
          <p:nvGrpSpPr>
            <p:cNvPr id="45" name="Group 44">
              <a:extLst>
                <a:ext uri="{FF2B5EF4-FFF2-40B4-BE49-F238E27FC236}">
                  <a16:creationId xmlns:a16="http://schemas.microsoft.com/office/drawing/2014/main" id="{71367F95-1354-0905-C40C-A41E8CF4A1BC}"/>
                </a:ext>
              </a:extLst>
            </p:cNvPr>
            <p:cNvGrpSpPr/>
            <p:nvPr/>
          </p:nvGrpSpPr>
          <p:grpSpPr>
            <a:xfrm>
              <a:off x="5574338" y="1908625"/>
              <a:ext cx="5694045" cy="2943860"/>
              <a:chOff x="3248977" y="1957070"/>
              <a:chExt cx="5694045" cy="2943860"/>
            </a:xfrm>
          </p:grpSpPr>
          <p:sp>
            <p:nvSpPr>
              <p:cNvPr id="39" name="Rectangle 38">
                <a:extLst>
                  <a:ext uri="{FF2B5EF4-FFF2-40B4-BE49-F238E27FC236}">
                    <a16:creationId xmlns:a16="http://schemas.microsoft.com/office/drawing/2014/main" id="{27281933-B6C6-A621-0991-22EBD1C6797F}"/>
                  </a:ext>
                </a:extLst>
              </p:cNvPr>
              <p:cNvSpPr/>
              <p:nvPr/>
            </p:nvSpPr>
            <p:spPr>
              <a:xfrm>
                <a:off x="3248977" y="1957070"/>
                <a:ext cx="3120390" cy="2492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0" name="Straight Arrow Connector 39">
                <a:extLst>
                  <a:ext uri="{FF2B5EF4-FFF2-40B4-BE49-F238E27FC236}">
                    <a16:creationId xmlns:a16="http://schemas.microsoft.com/office/drawing/2014/main" id="{1D7AF9E1-9ADC-BDB0-5F74-A8E603390554}"/>
                  </a:ext>
                </a:extLst>
              </p:cNvPr>
              <p:cNvCxnSpPr/>
              <p:nvPr/>
            </p:nvCxnSpPr>
            <p:spPr>
              <a:xfrm flipV="1">
                <a:off x="6360477" y="4344035"/>
                <a:ext cx="201295" cy="590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 Box 562">
                <a:extLst>
                  <a:ext uri="{FF2B5EF4-FFF2-40B4-BE49-F238E27FC236}">
                    <a16:creationId xmlns:a16="http://schemas.microsoft.com/office/drawing/2014/main" id="{04E3F1E6-6D2F-6EF1-13E8-EB0BD9B6845A}"/>
                  </a:ext>
                </a:extLst>
              </p:cNvPr>
              <p:cNvSpPr txBox="1"/>
              <p:nvPr/>
            </p:nvSpPr>
            <p:spPr>
              <a:xfrm>
                <a:off x="6567487" y="411353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5.2.</a:t>
                </a:r>
              </a:p>
            </p:txBody>
          </p:sp>
          <p:sp>
            <p:nvSpPr>
              <p:cNvPr id="42" name="Rectangle 41">
                <a:extLst>
                  <a:ext uri="{FF2B5EF4-FFF2-40B4-BE49-F238E27FC236}">
                    <a16:creationId xmlns:a16="http://schemas.microsoft.com/office/drawing/2014/main" id="{ADF6A383-4782-8266-E380-4D28BB9F2261}"/>
                  </a:ext>
                </a:extLst>
              </p:cNvPr>
              <p:cNvSpPr/>
              <p:nvPr/>
            </p:nvSpPr>
            <p:spPr>
              <a:xfrm>
                <a:off x="7132002" y="4569460"/>
                <a:ext cx="1161415" cy="3314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3" name="Straight Arrow Connector 42">
                <a:extLst>
                  <a:ext uri="{FF2B5EF4-FFF2-40B4-BE49-F238E27FC236}">
                    <a16:creationId xmlns:a16="http://schemas.microsoft.com/office/drawing/2014/main" id="{ACE004F7-1066-3A86-7E86-842193EC2FEC}"/>
                  </a:ext>
                </a:extLst>
              </p:cNvPr>
              <p:cNvCxnSpPr/>
              <p:nvPr/>
            </p:nvCxnSpPr>
            <p:spPr>
              <a:xfrm flipV="1">
                <a:off x="8283257" y="4819015"/>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4" name="Text Box 569">
                <a:extLst>
                  <a:ext uri="{FF2B5EF4-FFF2-40B4-BE49-F238E27FC236}">
                    <a16:creationId xmlns:a16="http://schemas.microsoft.com/office/drawing/2014/main" id="{838A991B-E7C8-B0F6-64BC-1111F62102B1}"/>
                  </a:ext>
                </a:extLst>
              </p:cNvPr>
              <p:cNvSpPr txBox="1"/>
              <p:nvPr/>
            </p:nvSpPr>
            <p:spPr>
              <a:xfrm>
                <a:off x="8468042" y="459994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5.3</a:t>
                </a:r>
              </a:p>
            </p:txBody>
          </p:sp>
        </p:grpSp>
      </p:grpSp>
      <p:sp>
        <p:nvSpPr>
          <p:cNvPr id="2" name="TextBox 1">
            <a:extLst>
              <a:ext uri="{FF2B5EF4-FFF2-40B4-BE49-F238E27FC236}">
                <a16:creationId xmlns:a16="http://schemas.microsoft.com/office/drawing/2014/main" id="{4452DDE7-29A3-552D-ADCF-A0BA88DE8712}"/>
              </a:ext>
            </a:extLst>
          </p:cNvPr>
          <p:cNvSpPr txBox="1"/>
          <p:nvPr/>
        </p:nvSpPr>
        <p:spPr>
          <a:xfrm>
            <a:off x="1522069" y="641652"/>
            <a:ext cx="3852819" cy="307777"/>
          </a:xfrm>
          <a:prstGeom prst="rect">
            <a:avLst/>
          </a:prstGeom>
          <a:solidFill>
            <a:srgbClr val="00B050"/>
          </a:solidFill>
          <a:effectLst/>
        </p:spPr>
        <p:txBody>
          <a:bodyPr wrap="square" rtlCol="0">
            <a:spAutoFit/>
          </a:bodyPr>
          <a:lstStyle/>
          <a:p>
            <a:pPr algn="ctr"/>
            <a:r>
              <a:rPr lang="en-US" sz="1400" dirty="0">
                <a:solidFill>
                  <a:schemeClr val="bg1"/>
                </a:solidFill>
                <a:latin typeface="Calibri Light" panose="020F0302020204030204" pitchFamily="34" charset="0"/>
                <a:cs typeface="Calibri Light" panose="020F0302020204030204" pitchFamily="34" charset="0"/>
              </a:rPr>
              <a:t>How To Create Transfer Slip Transaction?</a:t>
            </a:r>
            <a:endParaRPr lang="en-US" sz="1400" dirty="0">
              <a:solidFill>
                <a:srgbClr val="007434"/>
              </a:solidFill>
              <a:latin typeface="Calibri Light" panose="020F0302020204030204" pitchFamily="34" charset="0"/>
              <a:cs typeface="Calibri Light" panose="020F0302020204030204" pitchFamily="34" charset="0"/>
            </a:endParaRPr>
          </a:p>
        </p:txBody>
      </p:sp>
      <p:sp>
        <p:nvSpPr>
          <p:cNvPr id="7" name="TextBox 6">
            <a:extLst>
              <a:ext uri="{FF2B5EF4-FFF2-40B4-BE49-F238E27FC236}">
                <a16:creationId xmlns:a16="http://schemas.microsoft.com/office/drawing/2014/main" id="{AC50F682-A30D-E492-AF62-9886439EEFD7}"/>
              </a:ext>
            </a:extLst>
          </p:cNvPr>
          <p:cNvSpPr txBox="1"/>
          <p:nvPr/>
        </p:nvSpPr>
        <p:spPr>
          <a:xfrm>
            <a:off x="1150317" y="96532"/>
            <a:ext cx="4596321"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Inventory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Transfer Slip </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5" name="Slide Number Placeholder 9">
            <a:extLst>
              <a:ext uri="{FF2B5EF4-FFF2-40B4-BE49-F238E27FC236}">
                <a16:creationId xmlns:a16="http://schemas.microsoft.com/office/drawing/2014/main" id="{5BD5C810-D703-E939-F2B0-B56B4DBA15FA}"/>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754064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498199" y="1534309"/>
            <a:ext cx="4179346" cy="468521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7" name="Text Box 18">
            <a:extLst>
              <a:ext uri="{FF2B5EF4-FFF2-40B4-BE49-F238E27FC236}">
                <a16:creationId xmlns:a16="http://schemas.microsoft.com/office/drawing/2014/main" id="{099D3CDB-CFB5-7113-F83E-473C98B007A9}"/>
              </a:ext>
            </a:extLst>
          </p:cNvPr>
          <p:cNvSpPr txBox="1"/>
          <p:nvPr/>
        </p:nvSpPr>
        <p:spPr>
          <a:xfrm>
            <a:off x="597771" y="2667614"/>
            <a:ext cx="4179346" cy="144780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5.4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click the add to cart button, you will notice in the upper right of item list an icon of add to cart. Click that, then click accept button to plot the items in the stock.</a:t>
            </a: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58" name="Group 57">
            <a:extLst>
              <a:ext uri="{FF2B5EF4-FFF2-40B4-BE49-F238E27FC236}">
                <a16:creationId xmlns:a16="http://schemas.microsoft.com/office/drawing/2014/main" id="{2662E337-33A0-AE58-A245-7088FC3B965A}"/>
              </a:ext>
            </a:extLst>
          </p:cNvPr>
          <p:cNvGrpSpPr/>
          <p:nvPr/>
        </p:nvGrpSpPr>
        <p:grpSpPr>
          <a:xfrm>
            <a:off x="5037659" y="2667614"/>
            <a:ext cx="6601017" cy="1690769"/>
            <a:chOff x="4924701" y="4661196"/>
            <a:chExt cx="6769100" cy="1803718"/>
          </a:xfrm>
        </p:grpSpPr>
        <p:pic>
          <p:nvPicPr>
            <p:cNvPr id="56" name="Picture 55">
              <a:extLst>
                <a:ext uri="{FF2B5EF4-FFF2-40B4-BE49-F238E27FC236}">
                  <a16:creationId xmlns:a16="http://schemas.microsoft.com/office/drawing/2014/main" id="{23F78448-DA05-1D67-4599-7B62557415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6151" y="4661196"/>
              <a:ext cx="6189345" cy="1699895"/>
            </a:xfrm>
            <a:prstGeom prst="rect">
              <a:avLst/>
            </a:prstGeom>
          </p:spPr>
        </p:pic>
        <p:grpSp>
          <p:nvGrpSpPr>
            <p:cNvPr id="55" name="Group 54">
              <a:extLst>
                <a:ext uri="{FF2B5EF4-FFF2-40B4-BE49-F238E27FC236}">
                  <a16:creationId xmlns:a16="http://schemas.microsoft.com/office/drawing/2014/main" id="{73B3167C-4235-F3A7-BC79-48D397340B4D}"/>
                </a:ext>
              </a:extLst>
            </p:cNvPr>
            <p:cNvGrpSpPr/>
            <p:nvPr/>
          </p:nvGrpSpPr>
          <p:grpSpPr>
            <a:xfrm>
              <a:off x="4924701" y="4666594"/>
              <a:ext cx="6769100" cy="1798320"/>
              <a:chOff x="2711450" y="2846388"/>
              <a:chExt cx="6769100" cy="1798320"/>
            </a:xfrm>
          </p:grpSpPr>
          <p:pic>
            <p:nvPicPr>
              <p:cNvPr id="48" name="Picture 47">
                <a:extLst>
                  <a:ext uri="{FF2B5EF4-FFF2-40B4-BE49-F238E27FC236}">
                    <a16:creationId xmlns:a16="http://schemas.microsoft.com/office/drawing/2014/main" id="{A023C2B2-67E3-BE78-223E-39899EE962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1450" y="3515043"/>
                <a:ext cx="6189345" cy="1129665"/>
              </a:xfrm>
              <a:prstGeom prst="rect">
                <a:avLst/>
              </a:prstGeom>
              <a:ln>
                <a:noFill/>
              </a:ln>
              <a:effectLst>
                <a:outerShdw blurRad="292100" dist="139700" dir="2700000" algn="tl" rotWithShape="0">
                  <a:srgbClr val="333333">
                    <a:alpha val="65000"/>
                  </a:srgbClr>
                </a:outerShdw>
              </a:effectLst>
            </p:spPr>
          </p:pic>
          <p:sp>
            <p:nvSpPr>
              <p:cNvPr id="49" name="Rectangle 48">
                <a:extLst>
                  <a:ext uri="{FF2B5EF4-FFF2-40B4-BE49-F238E27FC236}">
                    <a16:creationId xmlns:a16="http://schemas.microsoft.com/office/drawing/2014/main" id="{D20C851F-E33F-8811-CCD8-56F7B3149F7A}"/>
                  </a:ext>
                </a:extLst>
              </p:cNvPr>
              <p:cNvSpPr/>
              <p:nvPr/>
            </p:nvSpPr>
            <p:spPr>
              <a:xfrm>
                <a:off x="8302625" y="2846388"/>
                <a:ext cx="531495" cy="3314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50" name="Straight Arrow Connector 49">
                <a:extLst>
                  <a:ext uri="{FF2B5EF4-FFF2-40B4-BE49-F238E27FC236}">
                    <a16:creationId xmlns:a16="http://schemas.microsoft.com/office/drawing/2014/main" id="{5FBF3449-DCBC-730B-70C2-F308F86A50B0}"/>
                  </a:ext>
                </a:extLst>
              </p:cNvPr>
              <p:cNvCxnSpPr/>
              <p:nvPr/>
            </p:nvCxnSpPr>
            <p:spPr>
              <a:xfrm flipV="1">
                <a:off x="8820785" y="3129598"/>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1" name="Text Box 588">
                <a:extLst>
                  <a:ext uri="{FF2B5EF4-FFF2-40B4-BE49-F238E27FC236}">
                    <a16:creationId xmlns:a16="http://schemas.microsoft.com/office/drawing/2014/main" id="{3B8B6686-1C68-E095-94C3-A2D224CBF851}"/>
                  </a:ext>
                </a:extLst>
              </p:cNvPr>
              <p:cNvSpPr txBox="1"/>
              <p:nvPr/>
            </p:nvSpPr>
            <p:spPr>
              <a:xfrm>
                <a:off x="9005570" y="287242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5.6</a:t>
                </a:r>
              </a:p>
            </p:txBody>
          </p:sp>
          <p:sp>
            <p:nvSpPr>
              <p:cNvPr id="52" name="Rectangle 51">
                <a:extLst>
                  <a:ext uri="{FF2B5EF4-FFF2-40B4-BE49-F238E27FC236}">
                    <a16:creationId xmlns:a16="http://schemas.microsoft.com/office/drawing/2014/main" id="{A667FB6D-E2C9-45B7-0466-487BAF188BA8}"/>
                  </a:ext>
                </a:extLst>
              </p:cNvPr>
              <p:cNvSpPr/>
              <p:nvPr/>
            </p:nvSpPr>
            <p:spPr>
              <a:xfrm>
                <a:off x="8373745" y="4414838"/>
                <a:ext cx="459740" cy="2120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53" name="Straight Arrow Connector 52">
                <a:extLst>
                  <a:ext uri="{FF2B5EF4-FFF2-40B4-BE49-F238E27FC236}">
                    <a16:creationId xmlns:a16="http://schemas.microsoft.com/office/drawing/2014/main" id="{89FE8166-1861-FB1A-FBA7-7B446816AEDC}"/>
                  </a:ext>
                </a:extLst>
              </p:cNvPr>
              <p:cNvCxnSpPr/>
              <p:nvPr/>
            </p:nvCxnSpPr>
            <p:spPr>
              <a:xfrm flipV="1">
                <a:off x="8829040" y="4518343"/>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4" name="Text Box 592">
                <a:extLst>
                  <a:ext uri="{FF2B5EF4-FFF2-40B4-BE49-F238E27FC236}">
                    <a16:creationId xmlns:a16="http://schemas.microsoft.com/office/drawing/2014/main" id="{E37D6C15-2F9F-E097-993D-9C33415B49EC}"/>
                  </a:ext>
                </a:extLst>
              </p:cNvPr>
              <p:cNvSpPr txBox="1"/>
              <p:nvPr/>
            </p:nvSpPr>
            <p:spPr>
              <a:xfrm>
                <a:off x="9002395" y="4319588"/>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5.6</a:t>
                </a:r>
              </a:p>
            </p:txBody>
          </p:sp>
        </p:grpSp>
        <p:sp>
          <p:nvSpPr>
            <p:cNvPr id="57" name="Curved Right Arrow 589">
              <a:extLst>
                <a:ext uri="{FF2B5EF4-FFF2-40B4-BE49-F238E27FC236}">
                  <a16:creationId xmlns:a16="http://schemas.microsoft.com/office/drawing/2014/main" id="{C048120B-7530-6489-8FC2-06EFF6D2EE36}"/>
                </a:ext>
              </a:extLst>
            </p:cNvPr>
            <p:cNvSpPr/>
            <p:nvPr/>
          </p:nvSpPr>
          <p:spPr>
            <a:xfrm>
              <a:off x="10040578" y="4905988"/>
              <a:ext cx="474345" cy="605155"/>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 name="TextBox 1">
            <a:extLst>
              <a:ext uri="{FF2B5EF4-FFF2-40B4-BE49-F238E27FC236}">
                <a16:creationId xmlns:a16="http://schemas.microsoft.com/office/drawing/2014/main" id="{DAEB2491-ABCC-5933-6705-3D9CE51EF775}"/>
              </a:ext>
            </a:extLst>
          </p:cNvPr>
          <p:cNvSpPr txBox="1"/>
          <p:nvPr/>
        </p:nvSpPr>
        <p:spPr>
          <a:xfrm>
            <a:off x="1150317" y="96532"/>
            <a:ext cx="4596321"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Inventory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Transfer Slip </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7" name="TextBox 6">
            <a:extLst>
              <a:ext uri="{FF2B5EF4-FFF2-40B4-BE49-F238E27FC236}">
                <a16:creationId xmlns:a16="http://schemas.microsoft.com/office/drawing/2014/main" id="{FE590335-0A1B-9CAE-9F8F-AAD8D2E19F43}"/>
              </a:ext>
            </a:extLst>
          </p:cNvPr>
          <p:cNvSpPr txBox="1"/>
          <p:nvPr/>
        </p:nvSpPr>
        <p:spPr>
          <a:xfrm>
            <a:off x="1522069" y="641652"/>
            <a:ext cx="3852819" cy="307777"/>
          </a:xfrm>
          <a:prstGeom prst="rect">
            <a:avLst/>
          </a:prstGeom>
          <a:solidFill>
            <a:srgbClr val="00B050"/>
          </a:solidFill>
          <a:effectLst/>
        </p:spPr>
        <p:txBody>
          <a:bodyPr wrap="square" rtlCol="0">
            <a:spAutoFit/>
          </a:bodyPr>
          <a:lstStyle/>
          <a:p>
            <a:pPr algn="ctr"/>
            <a:r>
              <a:rPr lang="en-US" sz="1400" dirty="0">
                <a:solidFill>
                  <a:schemeClr val="bg1"/>
                </a:solidFill>
                <a:latin typeface="Calibri Light" panose="020F0302020204030204" pitchFamily="34" charset="0"/>
                <a:cs typeface="Calibri Light" panose="020F0302020204030204" pitchFamily="34" charset="0"/>
              </a:rPr>
              <a:t>How To Create Transfer Slip Transaction?</a:t>
            </a:r>
            <a:endParaRPr lang="en-US" sz="1400" dirty="0">
              <a:solidFill>
                <a:srgbClr val="007434"/>
              </a:solidFill>
              <a:latin typeface="Calibri Light" panose="020F0302020204030204" pitchFamily="34" charset="0"/>
              <a:cs typeface="Calibri Light" panose="020F0302020204030204" pitchFamily="34" charset="0"/>
            </a:endParaRPr>
          </a:p>
        </p:txBody>
      </p:sp>
      <p:sp>
        <p:nvSpPr>
          <p:cNvPr id="5" name="Slide Number Placeholder 9">
            <a:extLst>
              <a:ext uri="{FF2B5EF4-FFF2-40B4-BE49-F238E27FC236}">
                <a16:creationId xmlns:a16="http://schemas.microsoft.com/office/drawing/2014/main" id="{940A24D3-5684-73BE-D68D-3B0E94A4B0E0}"/>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842457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08B76976-63DE-69F6-0BD5-C3DFC66B6CCF}"/>
              </a:ext>
            </a:extLst>
          </p:cNvPr>
          <p:cNvPicPr>
            <a:picLocks noChangeAspect="1"/>
          </p:cNvPicPr>
          <p:nvPr/>
        </p:nvPicPr>
        <p:blipFill>
          <a:blip r:embed="rId2"/>
          <a:stretch>
            <a:fillRect/>
          </a:stretch>
        </p:blipFill>
        <p:spPr>
          <a:xfrm>
            <a:off x="5424985" y="3399544"/>
            <a:ext cx="6445362" cy="2313819"/>
          </a:xfrm>
          <a:prstGeom prst="rect">
            <a:avLst/>
          </a:prstGeom>
        </p:spPr>
      </p:pic>
      <p:pic>
        <p:nvPicPr>
          <p:cNvPr id="12" name="Picture 11">
            <a:extLst>
              <a:ext uri="{FF2B5EF4-FFF2-40B4-BE49-F238E27FC236}">
                <a16:creationId xmlns:a16="http://schemas.microsoft.com/office/drawing/2014/main" id="{C9B60D86-DFB9-6886-338C-5254C76533EA}"/>
              </a:ext>
            </a:extLst>
          </p:cNvPr>
          <p:cNvPicPr>
            <a:picLocks noChangeAspect="1"/>
          </p:cNvPicPr>
          <p:nvPr/>
        </p:nvPicPr>
        <p:blipFill>
          <a:blip r:embed="rId2"/>
          <a:stretch>
            <a:fillRect/>
          </a:stretch>
        </p:blipFill>
        <p:spPr>
          <a:xfrm>
            <a:off x="5424985" y="965623"/>
            <a:ext cx="6377917" cy="2289607"/>
          </a:xfrm>
          <a:prstGeom prst="rect">
            <a:avLst/>
          </a:prstGeom>
        </p:spPr>
      </p:pic>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37" name="Text Box 18">
            <a:extLst>
              <a:ext uri="{FF2B5EF4-FFF2-40B4-BE49-F238E27FC236}">
                <a16:creationId xmlns:a16="http://schemas.microsoft.com/office/drawing/2014/main" id="{099D3CDB-CFB5-7113-F83E-473C98B007A9}"/>
              </a:ext>
            </a:extLst>
          </p:cNvPr>
          <p:cNvSpPr txBox="1"/>
          <p:nvPr/>
        </p:nvSpPr>
        <p:spPr>
          <a:xfrm>
            <a:off x="458440" y="1685111"/>
            <a:ext cx="4179346" cy="402093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5.5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add more items, repeat 5 to 5.3 before doing 5.4</a:t>
            </a:r>
          </a:p>
          <a:p>
            <a:pPr marL="228600" marR="0">
              <a:lnSpc>
                <a:spcPct val="115000"/>
              </a:lnSpc>
              <a:spcBef>
                <a:spcPts val="0"/>
              </a:spcBef>
              <a:spcAft>
                <a:spcPts val="0"/>
              </a:spcAft>
            </a:pPr>
            <a:endPar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5.7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click the accept button in the dialog box of selected items in 5.5., the items selected will be plotted in the stock as shown below.</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5.8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You may still edit the details per item in the stock. Change directly the details needed to be change.</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5.9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done, click save item button</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5.10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Click the maximize arrow to enable the post button.</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5.11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finalize, the transaction, click post button located in the header.</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B9E27BAA-C0B1-2B1F-AA4B-1622CC463E67}"/>
              </a:ext>
            </a:extLst>
          </p:cNvPr>
          <p:cNvSpPr/>
          <p:nvPr/>
        </p:nvSpPr>
        <p:spPr>
          <a:xfrm>
            <a:off x="10640224" y="1421701"/>
            <a:ext cx="589915" cy="2254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8" name="Straight Arrow Connector 7">
            <a:extLst>
              <a:ext uri="{FF2B5EF4-FFF2-40B4-BE49-F238E27FC236}">
                <a16:creationId xmlns:a16="http://schemas.microsoft.com/office/drawing/2014/main" id="{DA6529EC-A443-8D91-4C29-3406C88F6F7C}"/>
              </a:ext>
            </a:extLst>
          </p:cNvPr>
          <p:cNvCxnSpPr>
            <a:cxnSpLocks/>
          </p:cNvCxnSpPr>
          <p:nvPr/>
        </p:nvCxnSpPr>
        <p:spPr>
          <a:xfrm>
            <a:off x="10838467" y="1592266"/>
            <a:ext cx="68947" cy="1515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 Box 672">
            <a:extLst>
              <a:ext uri="{FF2B5EF4-FFF2-40B4-BE49-F238E27FC236}">
                <a16:creationId xmlns:a16="http://schemas.microsoft.com/office/drawing/2014/main" id="{CC9BF2D1-3F27-ED78-C541-41D1A839711D}"/>
              </a:ext>
            </a:extLst>
          </p:cNvPr>
          <p:cNvSpPr txBox="1"/>
          <p:nvPr/>
        </p:nvSpPr>
        <p:spPr>
          <a:xfrm>
            <a:off x="10838467" y="1743816"/>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5.9</a:t>
            </a:r>
          </a:p>
        </p:txBody>
      </p:sp>
      <p:sp>
        <p:nvSpPr>
          <p:cNvPr id="19" name="Rectangle 18">
            <a:extLst>
              <a:ext uri="{FF2B5EF4-FFF2-40B4-BE49-F238E27FC236}">
                <a16:creationId xmlns:a16="http://schemas.microsoft.com/office/drawing/2014/main" id="{94929149-BD3E-8281-EC17-02592CBE1056}"/>
              </a:ext>
            </a:extLst>
          </p:cNvPr>
          <p:cNvSpPr/>
          <p:nvPr/>
        </p:nvSpPr>
        <p:spPr>
          <a:xfrm>
            <a:off x="11230139" y="3586523"/>
            <a:ext cx="216162" cy="21931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0" name="Straight Arrow Connector 19">
            <a:extLst>
              <a:ext uri="{FF2B5EF4-FFF2-40B4-BE49-F238E27FC236}">
                <a16:creationId xmlns:a16="http://schemas.microsoft.com/office/drawing/2014/main" id="{D476FF34-3AC6-E694-0021-386679FBD91D}"/>
              </a:ext>
            </a:extLst>
          </p:cNvPr>
          <p:cNvCxnSpPr>
            <a:cxnSpLocks/>
          </p:cNvCxnSpPr>
          <p:nvPr/>
        </p:nvCxnSpPr>
        <p:spPr>
          <a:xfrm>
            <a:off x="11343611" y="3779005"/>
            <a:ext cx="213348" cy="1067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 Box 689">
            <a:extLst>
              <a:ext uri="{FF2B5EF4-FFF2-40B4-BE49-F238E27FC236}">
                <a16:creationId xmlns:a16="http://schemas.microsoft.com/office/drawing/2014/main" id="{98EF624B-EF9E-FF8C-CFB5-2E670F4B42A0}"/>
              </a:ext>
            </a:extLst>
          </p:cNvPr>
          <p:cNvSpPr txBox="1"/>
          <p:nvPr/>
        </p:nvSpPr>
        <p:spPr>
          <a:xfrm>
            <a:off x="11364283" y="3921245"/>
            <a:ext cx="438619" cy="281237"/>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5.10</a:t>
            </a:r>
          </a:p>
        </p:txBody>
      </p:sp>
      <p:sp>
        <p:nvSpPr>
          <p:cNvPr id="6" name="TextBox 5">
            <a:extLst>
              <a:ext uri="{FF2B5EF4-FFF2-40B4-BE49-F238E27FC236}">
                <a16:creationId xmlns:a16="http://schemas.microsoft.com/office/drawing/2014/main" id="{1EE07728-BDB8-80BD-AC85-61944A072778}"/>
              </a:ext>
            </a:extLst>
          </p:cNvPr>
          <p:cNvSpPr txBox="1"/>
          <p:nvPr/>
        </p:nvSpPr>
        <p:spPr>
          <a:xfrm>
            <a:off x="1522067" y="636541"/>
            <a:ext cx="3852819" cy="307777"/>
          </a:xfrm>
          <a:prstGeom prst="rect">
            <a:avLst/>
          </a:prstGeom>
          <a:solidFill>
            <a:srgbClr val="00B050"/>
          </a:solidFill>
          <a:effectLst/>
        </p:spPr>
        <p:txBody>
          <a:bodyPr wrap="square" rtlCol="0">
            <a:spAutoFit/>
          </a:bodyPr>
          <a:lstStyle/>
          <a:p>
            <a:pPr algn="ctr"/>
            <a:r>
              <a:rPr lang="en-US" sz="1400" dirty="0">
                <a:solidFill>
                  <a:schemeClr val="bg1"/>
                </a:solidFill>
                <a:latin typeface="Calibri Light" panose="020F0302020204030204" pitchFamily="34" charset="0"/>
                <a:cs typeface="Calibri Light" panose="020F0302020204030204" pitchFamily="34" charset="0"/>
              </a:rPr>
              <a:t>How To Create Transfer Slip Transaction?</a:t>
            </a:r>
            <a:endParaRPr lang="en-US" sz="1400" dirty="0">
              <a:solidFill>
                <a:srgbClr val="007434"/>
              </a:solidFill>
              <a:latin typeface="Calibri Light" panose="020F0302020204030204" pitchFamily="34" charset="0"/>
              <a:cs typeface="Calibri Light" panose="020F0302020204030204" pitchFamily="34" charset="0"/>
            </a:endParaRPr>
          </a:p>
        </p:txBody>
      </p:sp>
      <p:sp>
        <p:nvSpPr>
          <p:cNvPr id="10" name="TextBox 9">
            <a:extLst>
              <a:ext uri="{FF2B5EF4-FFF2-40B4-BE49-F238E27FC236}">
                <a16:creationId xmlns:a16="http://schemas.microsoft.com/office/drawing/2014/main" id="{8AE8E7F4-6815-A465-6C87-A3DD08D512A9}"/>
              </a:ext>
            </a:extLst>
          </p:cNvPr>
          <p:cNvSpPr txBox="1"/>
          <p:nvPr/>
        </p:nvSpPr>
        <p:spPr>
          <a:xfrm>
            <a:off x="1150317" y="96532"/>
            <a:ext cx="4596321"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Inventory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Transfer Slip </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pic>
        <p:nvPicPr>
          <p:cNvPr id="18" name="Picture 17">
            <a:extLst>
              <a:ext uri="{FF2B5EF4-FFF2-40B4-BE49-F238E27FC236}">
                <a16:creationId xmlns:a16="http://schemas.microsoft.com/office/drawing/2014/main" id="{E5F750F8-507B-F8C2-DE79-3B592E193B46}"/>
              </a:ext>
            </a:extLst>
          </p:cNvPr>
          <p:cNvPicPr>
            <a:picLocks noChangeAspect="1"/>
          </p:cNvPicPr>
          <p:nvPr/>
        </p:nvPicPr>
        <p:blipFill>
          <a:blip r:embed="rId3"/>
          <a:stretch>
            <a:fillRect/>
          </a:stretch>
        </p:blipFill>
        <p:spPr>
          <a:xfrm>
            <a:off x="5820058" y="4197657"/>
            <a:ext cx="5655215" cy="2429521"/>
          </a:xfrm>
          <a:prstGeom prst="rect">
            <a:avLst/>
          </a:prstGeom>
        </p:spPr>
      </p:pic>
      <p:sp>
        <p:nvSpPr>
          <p:cNvPr id="22" name="Curved Right Arrow 691">
            <a:extLst>
              <a:ext uri="{FF2B5EF4-FFF2-40B4-BE49-F238E27FC236}">
                <a16:creationId xmlns:a16="http://schemas.microsoft.com/office/drawing/2014/main" id="{AF71E09E-A1BE-6A82-3E62-40D6DEAB8C9D}"/>
              </a:ext>
            </a:extLst>
          </p:cNvPr>
          <p:cNvSpPr/>
          <p:nvPr/>
        </p:nvSpPr>
        <p:spPr>
          <a:xfrm>
            <a:off x="10791520" y="3586523"/>
            <a:ext cx="438619" cy="949966"/>
          </a:xfrm>
          <a:prstGeom prst="curvedRightArrow">
            <a:avLst>
              <a:gd name="adj1" fmla="val 21871"/>
              <a:gd name="adj2" fmla="val 37549"/>
              <a:gd name="adj3" fmla="val 47920"/>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Rectangle 12">
            <a:extLst>
              <a:ext uri="{FF2B5EF4-FFF2-40B4-BE49-F238E27FC236}">
                <a16:creationId xmlns:a16="http://schemas.microsoft.com/office/drawing/2014/main" id="{22D6CAC1-E02A-F65E-60B4-72EB5286F19E}"/>
              </a:ext>
            </a:extLst>
          </p:cNvPr>
          <p:cNvSpPr/>
          <p:nvPr/>
        </p:nvSpPr>
        <p:spPr>
          <a:xfrm>
            <a:off x="9297930" y="4344655"/>
            <a:ext cx="336558" cy="23814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4" name="Straight Arrow Connector 13">
            <a:extLst>
              <a:ext uri="{FF2B5EF4-FFF2-40B4-BE49-F238E27FC236}">
                <a16:creationId xmlns:a16="http://schemas.microsoft.com/office/drawing/2014/main" id="{8DD4B660-E5F3-6AF1-8378-8EF225E81C2F}"/>
              </a:ext>
            </a:extLst>
          </p:cNvPr>
          <p:cNvCxnSpPr/>
          <p:nvPr/>
        </p:nvCxnSpPr>
        <p:spPr>
          <a:xfrm flipV="1">
            <a:off x="9674584" y="4397508"/>
            <a:ext cx="136081" cy="6804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Text Box 694">
            <a:extLst>
              <a:ext uri="{FF2B5EF4-FFF2-40B4-BE49-F238E27FC236}">
                <a16:creationId xmlns:a16="http://schemas.microsoft.com/office/drawing/2014/main" id="{9EFAF573-37E8-50E0-9659-BD77BC29FC75}"/>
              </a:ext>
            </a:extLst>
          </p:cNvPr>
          <p:cNvSpPr txBox="1"/>
          <p:nvPr/>
        </p:nvSpPr>
        <p:spPr>
          <a:xfrm>
            <a:off x="9794870" y="4280867"/>
            <a:ext cx="454414" cy="27337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5.11</a:t>
            </a:r>
          </a:p>
        </p:txBody>
      </p:sp>
      <p:sp>
        <p:nvSpPr>
          <p:cNvPr id="2" name="Slide Number Placeholder 9">
            <a:extLst>
              <a:ext uri="{FF2B5EF4-FFF2-40B4-BE49-F238E27FC236}">
                <a16:creationId xmlns:a16="http://schemas.microsoft.com/office/drawing/2014/main" id="{516528CF-8637-6620-F10F-F12BDDAF6904}"/>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261234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427250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1.1.</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the transfer slip– main window, search the  transaction you wish to edit its information in the search bar. Or,</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1.2</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In  Transfer Slip– main form, click the lookup button and select the transaction you wish to edit its information by typing its transaction number in the search bar.</a:t>
            </a: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the transaction, if you wish to edit the header of the transaction click edit button. </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3.</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If you are done editing, click save button in the upper side of the header.</a:t>
            </a: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grpSp>
        <p:nvGrpSpPr>
          <p:cNvPr id="16" name="Group 15">
            <a:extLst>
              <a:ext uri="{FF2B5EF4-FFF2-40B4-BE49-F238E27FC236}">
                <a16:creationId xmlns:a16="http://schemas.microsoft.com/office/drawing/2014/main" id="{A43EACB0-D076-C5D2-727C-DD124597F17C}"/>
              </a:ext>
            </a:extLst>
          </p:cNvPr>
          <p:cNvGrpSpPr/>
          <p:nvPr/>
        </p:nvGrpSpPr>
        <p:grpSpPr>
          <a:xfrm>
            <a:off x="4971495" y="728419"/>
            <a:ext cx="6937246" cy="2683730"/>
            <a:chOff x="4971495" y="728419"/>
            <a:chExt cx="6937246" cy="2683730"/>
          </a:xfrm>
        </p:grpSpPr>
        <p:pic>
          <p:nvPicPr>
            <p:cNvPr id="8" name="Picture 7">
              <a:extLst>
                <a:ext uri="{FF2B5EF4-FFF2-40B4-BE49-F238E27FC236}">
                  <a16:creationId xmlns:a16="http://schemas.microsoft.com/office/drawing/2014/main" id="{CBFF6D93-35F0-9F6A-CB3F-B3657FCFF795}"/>
                </a:ext>
              </a:extLst>
            </p:cNvPr>
            <p:cNvPicPr>
              <a:picLocks noChangeAspect="1"/>
            </p:cNvPicPr>
            <p:nvPr/>
          </p:nvPicPr>
          <p:blipFill>
            <a:blip r:embed="rId2"/>
            <a:stretch>
              <a:fillRect/>
            </a:stretch>
          </p:blipFill>
          <p:spPr>
            <a:xfrm>
              <a:off x="4971495" y="728419"/>
              <a:ext cx="6937246" cy="2683730"/>
            </a:xfrm>
            <a:prstGeom prst="rect">
              <a:avLst/>
            </a:prstGeom>
          </p:spPr>
        </p:pic>
        <p:grpSp>
          <p:nvGrpSpPr>
            <p:cNvPr id="17" name="Group 16">
              <a:extLst>
                <a:ext uri="{FF2B5EF4-FFF2-40B4-BE49-F238E27FC236}">
                  <a16:creationId xmlns:a16="http://schemas.microsoft.com/office/drawing/2014/main" id="{20336060-7936-AF0F-787C-E6433EDAE074}"/>
                </a:ext>
              </a:extLst>
            </p:cNvPr>
            <p:cNvGrpSpPr/>
            <p:nvPr/>
          </p:nvGrpSpPr>
          <p:grpSpPr>
            <a:xfrm>
              <a:off x="5929169" y="1472347"/>
              <a:ext cx="1533858" cy="255506"/>
              <a:chOff x="0" y="0"/>
              <a:chExt cx="1476374" cy="361950"/>
            </a:xfrm>
          </p:grpSpPr>
          <p:sp>
            <p:nvSpPr>
              <p:cNvPr id="18" name="Rectangle 17">
                <a:extLst>
                  <a:ext uri="{FF2B5EF4-FFF2-40B4-BE49-F238E27FC236}">
                    <a16:creationId xmlns:a16="http://schemas.microsoft.com/office/drawing/2014/main" id="{17E3F88F-F0CF-FD38-5B2C-F1C5F035C97E}"/>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9" name="Straight Arrow Connector 18">
                <a:extLst>
                  <a:ext uri="{FF2B5EF4-FFF2-40B4-BE49-F238E27FC236}">
                    <a16:creationId xmlns:a16="http://schemas.microsoft.com/office/drawing/2014/main" id="{B4D25E9A-0678-9DD4-6B7A-020DF8A5A057}"/>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 Box 734">
                <a:extLst>
                  <a:ext uri="{FF2B5EF4-FFF2-40B4-BE49-F238E27FC236}">
                    <a16:creationId xmlns:a16="http://schemas.microsoft.com/office/drawing/2014/main" id="{3142913A-2290-8BF2-A952-476D2175D9D6}"/>
                  </a:ext>
                </a:extLst>
              </p:cNvPr>
              <p:cNvSpPr txBox="1"/>
              <p:nvPr/>
            </p:nvSpPr>
            <p:spPr>
              <a:xfrm>
                <a:off x="1009649" y="28575"/>
                <a:ext cx="466725" cy="333375"/>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1.1.</a:t>
                </a:r>
              </a:p>
            </p:txBody>
          </p:sp>
        </p:grpSp>
      </p:grpSp>
      <p:grpSp>
        <p:nvGrpSpPr>
          <p:cNvPr id="20" name="Group 19">
            <a:extLst>
              <a:ext uri="{FF2B5EF4-FFF2-40B4-BE49-F238E27FC236}">
                <a16:creationId xmlns:a16="http://schemas.microsoft.com/office/drawing/2014/main" id="{0676B44C-FD02-9C10-56C3-51D111B64484}"/>
              </a:ext>
            </a:extLst>
          </p:cNvPr>
          <p:cNvGrpSpPr/>
          <p:nvPr/>
        </p:nvGrpSpPr>
        <p:grpSpPr>
          <a:xfrm>
            <a:off x="4971495" y="3534722"/>
            <a:ext cx="6552517" cy="2882938"/>
            <a:chOff x="4971495" y="3534722"/>
            <a:chExt cx="6552517" cy="2882938"/>
          </a:xfrm>
        </p:grpSpPr>
        <p:pic>
          <p:nvPicPr>
            <p:cNvPr id="15" name="Picture 14">
              <a:extLst>
                <a:ext uri="{FF2B5EF4-FFF2-40B4-BE49-F238E27FC236}">
                  <a16:creationId xmlns:a16="http://schemas.microsoft.com/office/drawing/2014/main" id="{2ED23E18-2AC8-FB1C-9A27-353F2CACD9CE}"/>
                </a:ext>
              </a:extLst>
            </p:cNvPr>
            <p:cNvPicPr>
              <a:picLocks noChangeAspect="1"/>
            </p:cNvPicPr>
            <p:nvPr/>
          </p:nvPicPr>
          <p:blipFill>
            <a:blip r:embed="rId3"/>
            <a:stretch>
              <a:fillRect/>
            </a:stretch>
          </p:blipFill>
          <p:spPr>
            <a:xfrm>
              <a:off x="4971495" y="3602649"/>
              <a:ext cx="6552517" cy="2815011"/>
            </a:xfrm>
            <a:prstGeom prst="rect">
              <a:avLst/>
            </a:prstGeom>
          </p:spPr>
        </p:pic>
        <p:grpSp>
          <p:nvGrpSpPr>
            <p:cNvPr id="25" name="Group 24">
              <a:extLst>
                <a:ext uri="{FF2B5EF4-FFF2-40B4-BE49-F238E27FC236}">
                  <a16:creationId xmlns:a16="http://schemas.microsoft.com/office/drawing/2014/main" id="{75C33D07-BBCC-8D02-2F53-17367C29E947}"/>
                </a:ext>
              </a:extLst>
            </p:cNvPr>
            <p:cNvGrpSpPr/>
            <p:nvPr/>
          </p:nvGrpSpPr>
          <p:grpSpPr>
            <a:xfrm>
              <a:off x="6344795" y="3998272"/>
              <a:ext cx="952500" cy="304800"/>
              <a:chOff x="523874" y="28575"/>
              <a:chExt cx="952500" cy="304800"/>
            </a:xfrm>
          </p:grpSpPr>
          <p:sp>
            <p:nvSpPr>
              <p:cNvPr id="43" name="Rectangle 42">
                <a:extLst>
                  <a:ext uri="{FF2B5EF4-FFF2-40B4-BE49-F238E27FC236}">
                    <a16:creationId xmlns:a16="http://schemas.microsoft.com/office/drawing/2014/main" id="{983A04F5-A004-B6D9-3EF0-78211965BA23}"/>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4" name="Straight Arrow Connector 43">
                <a:extLst>
                  <a:ext uri="{FF2B5EF4-FFF2-40B4-BE49-F238E27FC236}">
                    <a16:creationId xmlns:a16="http://schemas.microsoft.com/office/drawing/2014/main" id="{AE00018E-715F-7CF3-7545-9D7258461039}"/>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Text Box 746">
                <a:extLst>
                  <a:ext uri="{FF2B5EF4-FFF2-40B4-BE49-F238E27FC236}">
                    <a16:creationId xmlns:a16="http://schemas.microsoft.com/office/drawing/2014/main" id="{ED705FE3-23BB-69C5-B77F-993F27D00181}"/>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1.2.</a:t>
                </a:r>
              </a:p>
            </p:txBody>
          </p:sp>
        </p:grpSp>
        <p:grpSp>
          <p:nvGrpSpPr>
            <p:cNvPr id="26" name="Group 25">
              <a:extLst>
                <a:ext uri="{FF2B5EF4-FFF2-40B4-BE49-F238E27FC236}">
                  <a16:creationId xmlns:a16="http://schemas.microsoft.com/office/drawing/2014/main" id="{D2225BD8-F3F0-4BB5-91AA-BCAF1CA1A078}"/>
                </a:ext>
              </a:extLst>
            </p:cNvPr>
            <p:cNvGrpSpPr/>
            <p:nvPr/>
          </p:nvGrpSpPr>
          <p:grpSpPr>
            <a:xfrm>
              <a:off x="10175101" y="3739236"/>
              <a:ext cx="981076" cy="304800"/>
              <a:chOff x="333374" y="28575"/>
              <a:chExt cx="981076" cy="304800"/>
            </a:xfrm>
          </p:grpSpPr>
          <p:sp>
            <p:nvSpPr>
              <p:cNvPr id="40" name="Rectangle 39">
                <a:extLst>
                  <a:ext uri="{FF2B5EF4-FFF2-40B4-BE49-F238E27FC236}">
                    <a16:creationId xmlns:a16="http://schemas.microsoft.com/office/drawing/2014/main" id="{B56BC8B7-7F59-8F01-5368-4897AB727497}"/>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1" name="Straight Arrow Connector 40">
                <a:extLst>
                  <a:ext uri="{FF2B5EF4-FFF2-40B4-BE49-F238E27FC236}">
                    <a16:creationId xmlns:a16="http://schemas.microsoft.com/office/drawing/2014/main" id="{349FAC0E-98A9-5389-21B8-F99551498BFA}"/>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 Box 739">
                <a:extLst>
                  <a:ext uri="{FF2B5EF4-FFF2-40B4-BE49-F238E27FC236}">
                    <a16:creationId xmlns:a16="http://schemas.microsoft.com/office/drawing/2014/main" id="{37943493-E1D8-16BB-76D9-34289990385E}"/>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2.</a:t>
                </a:r>
              </a:p>
            </p:txBody>
          </p:sp>
        </p:grpSp>
        <p:sp>
          <p:nvSpPr>
            <p:cNvPr id="27" name="Text Box 241">
              <a:extLst>
                <a:ext uri="{FF2B5EF4-FFF2-40B4-BE49-F238E27FC236}">
                  <a16:creationId xmlns:a16="http://schemas.microsoft.com/office/drawing/2014/main" id="{A16BE8EA-4542-BAE6-D889-1975280FA2FC}"/>
                </a:ext>
              </a:extLst>
            </p:cNvPr>
            <p:cNvSpPr txBox="1">
              <a:spLocks noChangeArrowheads="1"/>
            </p:cNvSpPr>
            <p:nvPr/>
          </p:nvSpPr>
          <p:spPr bwMode="auto">
            <a:xfrm>
              <a:off x="7303876" y="4646751"/>
              <a:ext cx="2301875"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a:lnSpc>
                  <a:spcPct val="107000"/>
                </a:lnSpc>
                <a:spcBef>
                  <a:spcPts val="440"/>
                </a:spcBef>
                <a:spcAft>
                  <a:spcPts val="800"/>
                </a:spcAft>
              </a:pPr>
              <a:r>
                <a:rPr lang="en-PH" sz="1000" i="1" dirty="0">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search transaction?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indent="-228600">
                <a:lnSpc>
                  <a:spcPct val="115000"/>
                </a:lnSpc>
                <a:spcBef>
                  <a:spcPts val="0"/>
                </a:spcBef>
                <a:spcAft>
                  <a:spcPts val="0"/>
                </a:spcAft>
                <a:tabLst>
                  <a:tab pos="22733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indent="-228600">
                <a:lnSpc>
                  <a:spcPts val="975"/>
                </a:lnSpc>
                <a:spcBef>
                  <a:spcPts val="5"/>
                </a:spcBef>
                <a:spcAft>
                  <a:spcPts val="0"/>
                </a:spcAft>
                <a:tabLst>
                  <a:tab pos="20320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Click ‘enter’ in the keyboard to</a:t>
              </a:r>
              <a:r>
                <a:rPr lang="en-US" sz="8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search.</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202565" marR="0" indent="-101600">
                <a:lnSpc>
                  <a:spcPts val="975"/>
                </a:lnSpc>
                <a:spcBef>
                  <a:spcPts val="0"/>
                </a:spcBef>
                <a:spcAft>
                  <a:spcPts val="0"/>
                </a:spcAft>
                <a:tabLst>
                  <a:tab pos="203200" algn="l"/>
                </a:tabLst>
              </a:pPr>
              <a:r>
                <a:rPr lang="en-PH" sz="800" dirty="0">
                  <a:effectLst/>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8" name="Text Box 735">
              <a:extLst>
                <a:ext uri="{FF2B5EF4-FFF2-40B4-BE49-F238E27FC236}">
                  <a16:creationId xmlns:a16="http://schemas.microsoft.com/office/drawing/2014/main" id="{8194CCE8-9127-96C7-C026-CAD2EA7AD4FF}"/>
                </a:ext>
              </a:extLst>
            </p:cNvPr>
            <p:cNvSpPr txBox="1"/>
            <p:nvPr/>
          </p:nvSpPr>
          <p:spPr>
            <a:xfrm>
              <a:off x="5112254" y="3534722"/>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HEADER</a:t>
              </a:r>
            </a:p>
          </p:txBody>
        </p:sp>
      </p:grpSp>
      <p:pic>
        <p:nvPicPr>
          <p:cNvPr id="47" name="Picture 46">
            <a:extLst>
              <a:ext uri="{FF2B5EF4-FFF2-40B4-BE49-F238E27FC236}">
                <a16:creationId xmlns:a16="http://schemas.microsoft.com/office/drawing/2014/main" id="{EB9667B4-7753-B2D9-D672-63734C0C4A2E}"/>
              </a:ext>
            </a:extLst>
          </p:cNvPr>
          <p:cNvPicPr>
            <a:picLocks noChangeAspect="1"/>
          </p:cNvPicPr>
          <p:nvPr/>
        </p:nvPicPr>
        <p:blipFill>
          <a:blip r:embed="rId4"/>
          <a:stretch>
            <a:fillRect/>
          </a:stretch>
        </p:blipFill>
        <p:spPr>
          <a:xfrm>
            <a:off x="10780479" y="6391410"/>
            <a:ext cx="1047454" cy="267619"/>
          </a:xfrm>
          <a:prstGeom prst="rect">
            <a:avLst/>
          </a:prstGeom>
          <a:effectLst/>
        </p:spPr>
      </p:pic>
      <p:sp>
        <p:nvSpPr>
          <p:cNvPr id="4" name="TextBox 3">
            <a:extLst>
              <a:ext uri="{FF2B5EF4-FFF2-40B4-BE49-F238E27FC236}">
                <a16:creationId xmlns:a16="http://schemas.microsoft.com/office/drawing/2014/main" id="{83F8A514-1865-7953-28EA-8819840885F2}"/>
              </a:ext>
            </a:extLst>
          </p:cNvPr>
          <p:cNvSpPr txBox="1"/>
          <p:nvPr/>
        </p:nvSpPr>
        <p:spPr>
          <a:xfrm>
            <a:off x="805110" y="940347"/>
            <a:ext cx="3852819" cy="307777"/>
          </a:xfrm>
          <a:prstGeom prst="rect">
            <a:avLst/>
          </a:prstGeom>
          <a:solidFill>
            <a:srgbClr val="00B050"/>
          </a:solidFill>
          <a:effectLst/>
        </p:spPr>
        <p:txBody>
          <a:bodyPr wrap="square" rtlCol="0">
            <a:spAutoFit/>
          </a:bodyPr>
          <a:lstStyle/>
          <a:p>
            <a:pPr algn="ctr"/>
            <a:r>
              <a:rPr lang="en-US" sz="1400" dirty="0">
                <a:solidFill>
                  <a:schemeClr val="bg1"/>
                </a:solidFill>
                <a:latin typeface="Calibri Light" panose="020F0302020204030204" pitchFamily="34" charset="0"/>
                <a:cs typeface="Calibri Light" panose="020F0302020204030204" pitchFamily="34" charset="0"/>
              </a:rPr>
              <a:t>How To Edit Transfer Slip Transaction?</a:t>
            </a:r>
            <a:endParaRPr lang="en-US" sz="1400" dirty="0">
              <a:solidFill>
                <a:srgbClr val="007434"/>
              </a:solidFill>
              <a:latin typeface="Calibri Light" panose="020F0302020204030204" pitchFamily="34" charset="0"/>
              <a:cs typeface="Calibri Light" panose="020F0302020204030204" pitchFamily="34" charset="0"/>
            </a:endParaRPr>
          </a:p>
        </p:txBody>
      </p:sp>
      <p:sp>
        <p:nvSpPr>
          <p:cNvPr id="13" name="TextBox 12">
            <a:extLst>
              <a:ext uri="{FF2B5EF4-FFF2-40B4-BE49-F238E27FC236}">
                <a16:creationId xmlns:a16="http://schemas.microsoft.com/office/drawing/2014/main" id="{528FE090-4319-7BB8-AE02-F05D92FAA5E5}"/>
              </a:ext>
            </a:extLst>
          </p:cNvPr>
          <p:cNvSpPr txBox="1"/>
          <p:nvPr/>
        </p:nvSpPr>
        <p:spPr>
          <a:xfrm>
            <a:off x="7543090" y="2784512"/>
            <a:ext cx="2737252"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latin typeface="Calibri" panose="020F0502020204030204" pitchFamily="34" charset="0"/>
                <a:ea typeface="Calibri" panose="020F0502020204030204" pitchFamily="34" charset="0"/>
                <a:cs typeface="Calibri" panose="020F0502020204030204" pitchFamily="34" charset="0"/>
              </a:rPr>
              <a:t>Transfer Slip</a:t>
            </a:r>
            <a:r>
              <a:rPr lang="en-PH" sz="1200" b="1" dirty="0">
                <a:effectLst/>
                <a:latin typeface="Calibri" panose="020F0502020204030204" pitchFamily="34" charset="0"/>
                <a:ea typeface="Calibri" panose="020F0502020204030204" pitchFamily="34" charset="0"/>
                <a:cs typeface="Calibri" panose="020F0502020204030204" pitchFamily="34" charset="0"/>
              </a:rPr>
              <a:t> –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A4B46384-654B-DFB9-A43A-8A5CC731E8AA}"/>
              </a:ext>
            </a:extLst>
          </p:cNvPr>
          <p:cNvSpPr txBox="1"/>
          <p:nvPr/>
        </p:nvSpPr>
        <p:spPr>
          <a:xfrm>
            <a:off x="7516380" y="6243988"/>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latin typeface="Calibri" panose="020F0502020204030204" pitchFamily="34" charset="0"/>
                <a:ea typeface="Calibri" panose="020F0502020204030204" pitchFamily="34" charset="0"/>
                <a:cs typeface="Calibri" panose="020F0502020204030204" pitchFamily="34" charset="0"/>
              </a:rPr>
              <a:t>Transfer Slip </a:t>
            </a:r>
            <a:r>
              <a:rPr lang="en-PH" sz="1200" b="1" dirty="0">
                <a:effectLst/>
                <a:latin typeface="Calibri" panose="020F0502020204030204" pitchFamily="34" charset="0"/>
                <a:ea typeface="Calibri" panose="020F0502020204030204" pitchFamily="34" charset="0"/>
                <a:cs typeface="Calibri" panose="020F0502020204030204" pitchFamily="34" charset="0"/>
              </a:rPr>
              <a:t>– Main </a:t>
            </a:r>
            <a:r>
              <a:rPr lang="en-PH" sz="1200" b="1" dirty="0">
                <a:latin typeface="Calibri" panose="020F0502020204030204" pitchFamily="34" charset="0"/>
                <a:ea typeface="Calibri" panose="020F0502020204030204" pitchFamily="34" charset="0"/>
                <a:cs typeface="Calibri" panose="020F0502020204030204" pitchFamily="34" charset="0"/>
              </a:rPr>
              <a:t>Form</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BA852905-FC48-17B0-ADAD-0FB12BEA9EE9}"/>
              </a:ext>
            </a:extLst>
          </p:cNvPr>
          <p:cNvSpPr txBox="1"/>
          <p:nvPr/>
        </p:nvSpPr>
        <p:spPr>
          <a:xfrm>
            <a:off x="1150317" y="96532"/>
            <a:ext cx="4596321"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Inventory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Transfer Slip </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5" name="Slide Number Placeholder 9">
            <a:extLst>
              <a:ext uri="{FF2B5EF4-FFF2-40B4-BE49-F238E27FC236}">
                <a16:creationId xmlns:a16="http://schemas.microsoft.com/office/drawing/2014/main" id="{8948166E-4490-5C32-2C50-9C0864E87E19}"/>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598528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8">
            <a:extLst>
              <a:ext uri="{FF2B5EF4-FFF2-40B4-BE49-F238E27FC236}">
                <a16:creationId xmlns:a16="http://schemas.microsoft.com/office/drawing/2014/main" id="{9A8214E9-BA24-C1CD-FE2E-59471D8D7178}"/>
              </a:ext>
            </a:extLst>
          </p:cNvPr>
          <p:cNvSpPr txBox="1"/>
          <p:nvPr/>
        </p:nvSpPr>
        <p:spPr>
          <a:xfrm>
            <a:off x="540588" y="2203928"/>
            <a:ext cx="4179346" cy="2785321"/>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4.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 want to edit the items in stock, edit right away the details you want to change and you will notice that after you change the details, the item you edited will be highlighted into blue. </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you’re done editing, click save item button to save the changes you made in the items.</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6</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delete all items in the stock, click delete item button.</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7</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delete a specific item on the table, click the delete icon next to the item to delete it.</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47" name="Picture 46">
            <a:extLst>
              <a:ext uri="{FF2B5EF4-FFF2-40B4-BE49-F238E27FC236}">
                <a16:creationId xmlns:a16="http://schemas.microsoft.com/office/drawing/2014/main" id="{EB9667B4-7753-B2D9-D672-63734C0C4A2E}"/>
              </a:ext>
            </a:extLst>
          </p:cNvPr>
          <p:cNvPicPr>
            <a:picLocks noChangeAspect="1"/>
          </p:cNvPicPr>
          <p:nvPr/>
        </p:nvPicPr>
        <p:blipFill>
          <a:blip r:embed="rId2"/>
          <a:stretch>
            <a:fillRect/>
          </a:stretch>
        </p:blipFill>
        <p:spPr>
          <a:xfrm>
            <a:off x="10780479" y="6391410"/>
            <a:ext cx="1047454" cy="267619"/>
          </a:xfrm>
          <a:prstGeom prst="rect">
            <a:avLst/>
          </a:prstGeom>
          <a:effectLst/>
        </p:spPr>
      </p:pic>
      <p:grpSp>
        <p:nvGrpSpPr>
          <p:cNvPr id="37" name="Group 36">
            <a:extLst>
              <a:ext uri="{FF2B5EF4-FFF2-40B4-BE49-F238E27FC236}">
                <a16:creationId xmlns:a16="http://schemas.microsoft.com/office/drawing/2014/main" id="{12A44C92-CADE-0A3F-55FB-46D46E71C72D}"/>
              </a:ext>
            </a:extLst>
          </p:cNvPr>
          <p:cNvGrpSpPr/>
          <p:nvPr/>
        </p:nvGrpSpPr>
        <p:grpSpPr>
          <a:xfrm>
            <a:off x="5171495" y="2046996"/>
            <a:ext cx="6440200" cy="2332990"/>
            <a:chOff x="5171495" y="941067"/>
            <a:chExt cx="6440200" cy="2332990"/>
          </a:xfrm>
        </p:grpSpPr>
        <p:grpSp>
          <p:nvGrpSpPr>
            <p:cNvPr id="2" name="Group 1">
              <a:extLst>
                <a:ext uri="{FF2B5EF4-FFF2-40B4-BE49-F238E27FC236}">
                  <a16:creationId xmlns:a16="http://schemas.microsoft.com/office/drawing/2014/main" id="{9DD2F1C1-AD26-DAF6-1518-3D69C1C1561E}"/>
                </a:ext>
              </a:extLst>
            </p:cNvPr>
            <p:cNvGrpSpPr/>
            <p:nvPr/>
          </p:nvGrpSpPr>
          <p:grpSpPr>
            <a:xfrm>
              <a:off x="5365200" y="992929"/>
              <a:ext cx="6246495" cy="1636131"/>
              <a:chOff x="31914" y="226272"/>
              <a:chExt cx="6246768" cy="1636749"/>
            </a:xfrm>
          </p:grpSpPr>
          <p:pic>
            <p:nvPicPr>
              <p:cNvPr id="4" name="Picture 3">
                <a:extLst>
                  <a:ext uri="{FF2B5EF4-FFF2-40B4-BE49-F238E27FC236}">
                    <a16:creationId xmlns:a16="http://schemas.microsoft.com/office/drawing/2014/main" id="{E2D85EC2-9AF2-00ED-A5B7-B54B9FA7E4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14" y="226272"/>
                <a:ext cx="6246768" cy="1636749"/>
              </a:xfrm>
              <a:prstGeom prst="rect">
                <a:avLst/>
              </a:prstGeom>
            </p:spPr>
          </p:pic>
          <p:sp>
            <p:nvSpPr>
              <p:cNvPr id="6" name="Rectangle 5">
                <a:extLst>
                  <a:ext uri="{FF2B5EF4-FFF2-40B4-BE49-F238E27FC236}">
                    <a16:creationId xmlns:a16="http://schemas.microsoft.com/office/drawing/2014/main" id="{7005D413-A128-D1FF-480B-005B6443269C}"/>
                  </a:ext>
                </a:extLst>
              </p:cNvPr>
              <p:cNvSpPr/>
              <p:nvPr/>
            </p:nvSpPr>
            <p:spPr>
              <a:xfrm>
                <a:off x="510637" y="1116963"/>
                <a:ext cx="2157714" cy="72470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32" name="Group 31">
              <a:extLst>
                <a:ext uri="{FF2B5EF4-FFF2-40B4-BE49-F238E27FC236}">
                  <a16:creationId xmlns:a16="http://schemas.microsoft.com/office/drawing/2014/main" id="{FA4F012E-CA8C-35E6-9B3C-0C2F32B5D5ED}"/>
                </a:ext>
              </a:extLst>
            </p:cNvPr>
            <p:cNvGrpSpPr/>
            <p:nvPr/>
          </p:nvGrpSpPr>
          <p:grpSpPr>
            <a:xfrm>
              <a:off x="5171495" y="941067"/>
              <a:ext cx="3176904" cy="2332990"/>
              <a:chOff x="0" y="0"/>
              <a:chExt cx="3177391" cy="2332990"/>
            </a:xfrm>
          </p:grpSpPr>
          <p:sp>
            <p:nvSpPr>
              <p:cNvPr id="33" name="Text Box 749">
                <a:extLst>
                  <a:ext uri="{FF2B5EF4-FFF2-40B4-BE49-F238E27FC236}">
                    <a16:creationId xmlns:a16="http://schemas.microsoft.com/office/drawing/2014/main" id="{1505071B-2C57-07B5-96FC-DD72EA149204}"/>
                  </a:ext>
                </a:extLst>
              </p:cNvPr>
              <p:cNvSpPr txBox="1"/>
              <p:nvPr/>
            </p:nvSpPr>
            <p:spPr>
              <a:xfrm>
                <a:off x="76200" y="0"/>
                <a:ext cx="914400" cy="2850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STOCK</a:t>
                </a:r>
              </a:p>
            </p:txBody>
          </p:sp>
          <p:pic>
            <p:nvPicPr>
              <p:cNvPr id="34" name="Picture 33">
                <a:extLst>
                  <a:ext uri="{FF2B5EF4-FFF2-40B4-BE49-F238E27FC236}">
                    <a16:creationId xmlns:a16="http://schemas.microsoft.com/office/drawing/2014/main" id="{3C86A8D0-A2A4-E89A-E92E-568B439FED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6829" y="1714500"/>
                <a:ext cx="2893060" cy="618490"/>
              </a:xfrm>
              <a:prstGeom prst="rect">
                <a:avLst/>
              </a:prstGeom>
              <a:ln>
                <a:noFill/>
              </a:ln>
              <a:effectLst>
                <a:outerShdw blurRad="292100" dist="139700" dir="2700000" algn="tl" rotWithShape="0">
                  <a:srgbClr val="333333">
                    <a:alpha val="65000"/>
                  </a:srgbClr>
                </a:outerShdw>
              </a:effectLst>
            </p:spPr>
          </p:pic>
          <p:sp>
            <p:nvSpPr>
              <p:cNvPr id="35" name="Curved Left Arrow 758">
                <a:extLst>
                  <a:ext uri="{FF2B5EF4-FFF2-40B4-BE49-F238E27FC236}">
                    <a16:creationId xmlns:a16="http://schemas.microsoft.com/office/drawing/2014/main" id="{A6C917EE-8813-0D38-FA2F-0CD68D5132F6}"/>
                  </a:ext>
                </a:extLst>
              </p:cNvPr>
              <p:cNvSpPr/>
              <p:nvPr/>
            </p:nvSpPr>
            <p:spPr>
              <a:xfrm>
                <a:off x="2833007" y="1415143"/>
                <a:ext cx="344384" cy="593766"/>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6" name="Text Box 757">
                <a:extLst>
                  <a:ext uri="{FF2B5EF4-FFF2-40B4-BE49-F238E27FC236}">
                    <a16:creationId xmlns:a16="http://schemas.microsoft.com/office/drawing/2014/main" id="{15EE30EA-34E4-FCA1-BAFA-3A3939FA4CA0}"/>
                  </a:ext>
                </a:extLst>
              </p:cNvPr>
              <p:cNvSpPr txBox="1"/>
              <p:nvPr/>
            </p:nvSpPr>
            <p:spPr>
              <a:xfrm>
                <a:off x="0" y="1594757"/>
                <a:ext cx="200025" cy="24756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4</a:t>
                </a:r>
              </a:p>
            </p:txBody>
          </p:sp>
        </p:grpSp>
      </p:grpSp>
      <p:sp>
        <p:nvSpPr>
          <p:cNvPr id="7" name="TextBox 6">
            <a:extLst>
              <a:ext uri="{FF2B5EF4-FFF2-40B4-BE49-F238E27FC236}">
                <a16:creationId xmlns:a16="http://schemas.microsoft.com/office/drawing/2014/main" id="{946951B1-AA27-EA0F-A5E4-DC4DAC1379BE}"/>
              </a:ext>
            </a:extLst>
          </p:cNvPr>
          <p:cNvSpPr txBox="1"/>
          <p:nvPr/>
        </p:nvSpPr>
        <p:spPr>
          <a:xfrm>
            <a:off x="1150317" y="96532"/>
            <a:ext cx="4596321"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Inventory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Transfer Slip </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15" name="TextBox 14">
            <a:extLst>
              <a:ext uri="{FF2B5EF4-FFF2-40B4-BE49-F238E27FC236}">
                <a16:creationId xmlns:a16="http://schemas.microsoft.com/office/drawing/2014/main" id="{7BB2F764-5EE1-6B79-B90B-B766DEA32A00}"/>
              </a:ext>
            </a:extLst>
          </p:cNvPr>
          <p:cNvSpPr txBox="1"/>
          <p:nvPr/>
        </p:nvSpPr>
        <p:spPr>
          <a:xfrm>
            <a:off x="1521259" y="640251"/>
            <a:ext cx="3852819" cy="307777"/>
          </a:xfrm>
          <a:prstGeom prst="rect">
            <a:avLst/>
          </a:prstGeom>
          <a:solidFill>
            <a:srgbClr val="00B050"/>
          </a:solidFill>
          <a:effectLst/>
        </p:spPr>
        <p:txBody>
          <a:bodyPr wrap="square" rtlCol="0">
            <a:spAutoFit/>
          </a:bodyPr>
          <a:lstStyle/>
          <a:p>
            <a:pPr algn="ctr"/>
            <a:r>
              <a:rPr lang="en-US" sz="1400" dirty="0">
                <a:solidFill>
                  <a:schemeClr val="bg1"/>
                </a:solidFill>
                <a:latin typeface="Calibri Light" panose="020F0302020204030204" pitchFamily="34" charset="0"/>
                <a:cs typeface="Calibri Light" panose="020F0302020204030204" pitchFamily="34" charset="0"/>
              </a:rPr>
              <a:t>How To Edit Transfer Slip Transaction?</a:t>
            </a:r>
            <a:endParaRPr lang="en-US" sz="1400" dirty="0">
              <a:solidFill>
                <a:srgbClr val="007434"/>
              </a:solidFill>
              <a:latin typeface="Calibri Light" panose="020F0302020204030204" pitchFamily="34" charset="0"/>
              <a:cs typeface="Calibri Light" panose="020F0302020204030204" pitchFamily="34" charset="0"/>
            </a:endParaRPr>
          </a:p>
        </p:txBody>
      </p:sp>
      <p:sp>
        <p:nvSpPr>
          <p:cNvPr id="5" name="Slide Number Placeholder 9">
            <a:extLst>
              <a:ext uri="{FF2B5EF4-FFF2-40B4-BE49-F238E27FC236}">
                <a16:creationId xmlns:a16="http://schemas.microsoft.com/office/drawing/2014/main" id="{E01809B6-F4A0-5333-C3BF-9D152557187C}"/>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13" name="Rectangle 12">
            <a:extLst>
              <a:ext uri="{FF2B5EF4-FFF2-40B4-BE49-F238E27FC236}">
                <a16:creationId xmlns:a16="http://schemas.microsoft.com/office/drawing/2014/main" id="{2336D7B1-0944-EFFE-518B-6523B0F39D15}"/>
              </a:ext>
            </a:extLst>
          </p:cNvPr>
          <p:cNvSpPr/>
          <p:nvPr/>
        </p:nvSpPr>
        <p:spPr>
          <a:xfrm>
            <a:off x="10282960" y="2098858"/>
            <a:ext cx="647700" cy="2856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14" name="Straight Arrow Connector 13">
            <a:extLst>
              <a:ext uri="{FF2B5EF4-FFF2-40B4-BE49-F238E27FC236}">
                <a16:creationId xmlns:a16="http://schemas.microsoft.com/office/drawing/2014/main" id="{D1A71901-0748-5895-2DB0-D0037625A977}"/>
              </a:ext>
            </a:extLst>
          </p:cNvPr>
          <p:cNvCxnSpPr>
            <a:cxnSpLocks/>
          </p:cNvCxnSpPr>
          <p:nvPr/>
        </p:nvCxnSpPr>
        <p:spPr>
          <a:xfrm>
            <a:off x="10546069" y="2371410"/>
            <a:ext cx="0" cy="2505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Text Box 62">
            <a:extLst>
              <a:ext uri="{FF2B5EF4-FFF2-40B4-BE49-F238E27FC236}">
                <a16:creationId xmlns:a16="http://schemas.microsoft.com/office/drawing/2014/main" id="{C9FBE41C-73C3-99D0-F197-E63ABF3EB71F}"/>
              </a:ext>
            </a:extLst>
          </p:cNvPr>
          <p:cNvSpPr txBox="1"/>
          <p:nvPr/>
        </p:nvSpPr>
        <p:spPr>
          <a:xfrm>
            <a:off x="10446056" y="2624741"/>
            <a:ext cx="200025" cy="247563"/>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dirty="0">
                <a:effectLst/>
                <a:ea typeface="Calibri" panose="020F0502020204030204" pitchFamily="34" charset="0"/>
                <a:cs typeface="Times New Roman" panose="02020603050405020304" pitchFamily="18" charset="0"/>
              </a:rPr>
              <a:t>5</a:t>
            </a:r>
            <a:endParaRPr lang="en-PH" sz="1100" dirty="0">
              <a:effectLst/>
              <a:ea typeface="Calibri" panose="020F0502020204030204" pitchFamily="34" charset="0"/>
              <a:cs typeface="Times New Roman" panose="02020603050405020304" pitchFamily="18" charset="0"/>
            </a:endParaRPr>
          </a:p>
        </p:txBody>
      </p:sp>
      <p:sp>
        <p:nvSpPr>
          <p:cNvPr id="17" name="Rectangle 16">
            <a:extLst>
              <a:ext uri="{FF2B5EF4-FFF2-40B4-BE49-F238E27FC236}">
                <a16:creationId xmlns:a16="http://schemas.microsoft.com/office/drawing/2014/main" id="{4AD754A0-0648-AE27-446D-F3FE352256F2}"/>
              </a:ext>
            </a:extLst>
          </p:cNvPr>
          <p:cNvSpPr/>
          <p:nvPr/>
        </p:nvSpPr>
        <p:spPr>
          <a:xfrm>
            <a:off x="10963995" y="2089980"/>
            <a:ext cx="647700" cy="2856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18" name="Straight Arrow Connector 17">
            <a:extLst>
              <a:ext uri="{FF2B5EF4-FFF2-40B4-BE49-F238E27FC236}">
                <a16:creationId xmlns:a16="http://schemas.microsoft.com/office/drawing/2014/main" id="{E581B9DC-8763-0841-02B2-B36886576A3A}"/>
              </a:ext>
            </a:extLst>
          </p:cNvPr>
          <p:cNvCxnSpPr>
            <a:cxnSpLocks/>
          </p:cNvCxnSpPr>
          <p:nvPr/>
        </p:nvCxnSpPr>
        <p:spPr>
          <a:xfrm>
            <a:off x="11227104" y="2362532"/>
            <a:ext cx="0" cy="2505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 Box 62">
            <a:extLst>
              <a:ext uri="{FF2B5EF4-FFF2-40B4-BE49-F238E27FC236}">
                <a16:creationId xmlns:a16="http://schemas.microsoft.com/office/drawing/2014/main" id="{AA8D20E2-7A53-CA2B-FF09-07424B1045FD}"/>
              </a:ext>
            </a:extLst>
          </p:cNvPr>
          <p:cNvSpPr txBox="1"/>
          <p:nvPr/>
        </p:nvSpPr>
        <p:spPr>
          <a:xfrm>
            <a:off x="11127091" y="2615863"/>
            <a:ext cx="200025" cy="247563"/>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dirty="0">
                <a:ea typeface="Calibri" panose="020F0502020204030204" pitchFamily="34" charset="0"/>
                <a:cs typeface="Times New Roman" panose="02020603050405020304" pitchFamily="18" charset="0"/>
              </a:rPr>
              <a:t>6</a:t>
            </a:r>
            <a:endParaRPr lang="en-PH" sz="1100" dirty="0">
              <a:effectLst/>
              <a:ea typeface="Calibri" panose="020F0502020204030204" pitchFamily="34" charset="0"/>
              <a:cs typeface="Times New Roman" panose="02020603050405020304" pitchFamily="18" charset="0"/>
            </a:endParaRPr>
          </a:p>
        </p:txBody>
      </p:sp>
      <p:sp>
        <p:nvSpPr>
          <p:cNvPr id="20" name="Rectangle 19">
            <a:extLst>
              <a:ext uri="{FF2B5EF4-FFF2-40B4-BE49-F238E27FC236}">
                <a16:creationId xmlns:a16="http://schemas.microsoft.com/office/drawing/2014/main" id="{AA426EAF-7142-9FA8-1770-A908285A7DEF}"/>
              </a:ext>
            </a:extLst>
          </p:cNvPr>
          <p:cNvSpPr/>
          <p:nvPr/>
        </p:nvSpPr>
        <p:spPr>
          <a:xfrm>
            <a:off x="5567442" y="2988050"/>
            <a:ext cx="200025" cy="20496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21" name="Straight Arrow Connector 20">
            <a:extLst>
              <a:ext uri="{FF2B5EF4-FFF2-40B4-BE49-F238E27FC236}">
                <a16:creationId xmlns:a16="http://schemas.microsoft.com/office/drawing/2014/main" id="{62E8A5E9-5013-C397-B258-B451DE728F8F}"/>
              </a:ext>
            </a:extLst>
          </p:cNvPr>
          <p:cNvCxnSpPr>
            <a:cxnSpLocks/>
          </p:cNvCxnSpPr>
          <p:nvPr/>
        </p:nvCxnSpPr>
        <p:spPr>
          <a:xfrm>
            <a:off x="5667454" y="3193017"/>
            <a:ext cx="0" cy="2505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 Box 62">
            <a:extLst>
              <a:ext uri="{FF2B5EF4-FFF2-40B4-BE49-F238E27FC236}">
                <a16:creationId xmlns:a16="http://schemas.microsoft.com/office/drawing/2014/main" id="{D7499CFA-0181-EC46-C984-5CC3953CC027}"/>
              </a:ext>
            </a:extLst>
          </p:cNvPr>
          <p:cNvSpPr txBox="1"/>
          <p:nvPr/>
        </p:nvSpPr>
        <p:spPr>
          <a:xfrm>
            <a:off x="5567442" y="3452428"/>
            <a:ext cx="200025" cy="247563"/>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PH" sz="1100" dirty="0">
                <a:effectLst/>
                <a:ea typeface="Calibri" panose="020F0502020204030204" pitchFamily="34" charset="0"/>
                <a:cs typeface="Times New Roman" panose="02020603050405020304" pitchFamily="18" charset="0"/>
              </a:rPr>
              <a:t>7</a:t>
            </a:r>
          </a:p>
        </p:txBody>
      </p:sp>
    </p:spTree>
    <p:extLst>
      <p:ext uri="{BB962C8B-B14F-4D97-AF65-F5344CB8AC3E}">
        <p14:creationId xmlns:p14="http://schemas.microsoft.com/office/powerpoint/2010/main" val="1494024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8">
            <a:extLst>
              <a:ext uri="{FF2B5EF4-FFF2-40B4-BE49-F238E27FC236}">
                <a16:creationId xmlns:a16="http://schemas.microsoft.com/office/drawing/2014/main" id="{9A8214E9-BA24-C1CD-FE2E-59471D8D7178}"/>
              </a:ext>
            </a:extLst>
          </p:cNvPr>
          <p:cNvSpPr txBox="1"/>
          <p:nvPr/>
        </p:nvSpPr>
        <p:spPr>
          <a:xfrm>
            <a:off x="540588" y="2650501"/>
            <a:ext cx="4179346" cy="286383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1.1.</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the transfer slip – main window, search the transaction you want to delete.</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1.2.</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In transfer slip - main form, click the lookup button and select the transaction you want to delete.</a:t>
            </a: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done, click delete button.</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94EC8BBB-ABF4-E5BD-2132-C9FFD3FADA25}"/>
              </a:ext>
            </a:extLst>
          </p:cNvPr>
          <p:cNvSpPr txBox="1"/>
          <p:nvPr/>
        </p:nvSpPr>
        <p:spPr>
          <a:xfrm>
            <a:off x="867115" y="1343662"/>
            <a:ext cx="3852819" cy="307777"/>
          </a:xfrm>
          <a:prstGeom prst="rect">
            <a:avLst/>
          </a:prstGeom>
          <a:solidFill>
            <a:srgbClr val="00B050"/>
          </a:solidFill>
          <a:effectLst/>
        </p:spPr>
        <p:txBody>
          <a:bodyPr wrap="square" rtlCol="0">
            <a:spAutoFit/>
          </a:bodyPr>
          <a:lstStyle/>
          <a:p>
            <a:pPr algn="ctr"/>
            <a:r>
              <a:rPr lang="en-US" sz="1400" dirty="0">
                <a:solidFill>
                  <a:schemeClr val="bg1"/>
                </a:solidFill>
                <a:latin typeface="Calibri Light" panose="020F0302020204030204" pitchFamily="34" charset="0"/>
                <a:cs typeface="Calibri Light" panose="020F0302020204030204" pitchFamily="34" charset="0"/>
              </a:rPr>
              <a:t>How To Delete Transfer Slip Transaction?</a:t>
            </a:r>
            <a:endParaRPr lang="en-US" sz="1400" dirty="0">
              <a:solidFill>
                <a:srgbClr val="007434"/>
              </a:solidFill>
              <a:latin typeface="Calibri Light" panose="020F0302020204030204" pitchFamily="34" charset="0"/>
              <a:cs typeface="Calibri Light" panose="020F0302020204030204" pitchFamily="34" charset="0"/>
            </a:endParaRPr>
          </a:p>
        </p:txBody>
      </p:sp>
      <p:sp>
        <p:nvSpPr>
          <p:cNvPr id="4" name="TextBox 3">
            <a:extLst>
              <a:ext uri="{FF2B5EF4-FFF2-40B4-BE49-F238E27FC236}">
                <a16:creationId xmlns:a16="http://schemas.microsoft.com/office/drawing/2014/main" id="{6B488E5F-5F7A-731A-EFDB-D506D20A701A}"/>
              </a:ext>
            </a:extLst>
          </p:cNvPr>
          <p:cNvSpPr txBox="1"/>
          <p:nvPr/>
        </p:nvSpPr>
        <p:spPr>
          <a:xfrm>
            <a:off x="1150317" y="96532"/>
            <a:ext cx="4596321"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Inventory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Transfer Slip </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grpSp>
        <p:nvGrpSpPr>
          <p:cNvPr id="43" name="Group 42">
            <a:extLst>
              <a:ext uri="{FF2B5EF4-FFF2-40B4-BE49-F238E27FC236}">
                <a16:creationId xmlns:a16="http://schemas.microsoft.com/office/drawing/2014/main" id="{BC502D74-6B00-92FA-71DC-AF92D0AA1384}"/>
              </a:ext>
            </a:extLst>
          </p:cNvPr>
          <p:cNvGrpSpPr/>
          <p:nvPr/>
        </p:nvGrpSpPr>
        <p:grpSpPr>
          <a:xfrm>
            <a:off x="5003946" y="704279"/>
            <a:ext cx="6937246" cy="2683730"/>
            <a:chOff x="4971495" y="728419"/>
            <a:chExt cx="6937246" cy="2683730"/>
          </a:xfrm>
        </p:grpSpPr>
        <p:pic>
          <p:nvPicPr>
            <p:cNvPr id="44" name="Picture 43">
              <a:extLst>
                <a:ext uri="{FF2B5EF4-FFF2-40B4-BE49-F238E27FC236}">
                  <a16:creationId xmlns:a16="http://schemas.microsoft.com/office/drawing/2014/main" id="{8B8028F2-FA94-56A0-0AEF-3EECF46EAC4B}"/>
                </a:ext>
              </a:extLst>
            </p:cNvPr>
            <p:cNvPicPr>
              <a:picLocks noChangeAspect="1"/>
            </p:cNvPicPr>
            <p:nvPr/>
          </p:nvPicPr>
          <p:blipFill>
            <a:blip r:embed="rId2"/>
            <a:stretch>
              <a:fillRect/>
            </a:stretch>
          </p:blipFill>
          <p:spPr>
            <a:xfrm>
              <a:off x="4971495" y="728419"/>
              <a:ext cx="6937246" cy="2683730"/>
            </a:xfrm>
            <a:prstGeom prst="rect">
              <a:avLst/>
            </a:prstGeom>
          </p:spPr>
        </p:pic>
        <p:grpSp>
          <p:nvGrpSpPr>
            <p:cNvPr id="45" name="Group 44">
              <a:extLst>
                <a:ext uri="{FF2B5EF4-FFF2-40B4-BE49-F238E27FC236}">
                  <a16:creationId xmlns:a16="http://schemas.microsoft.com/office/drawing/2014/main" id="{47FBA4EB-76BB-86AD-F841-AD3B4F470542}"/>
                </a:ext>
              </a:extLst>
            </p:cNvPr>
            <p:cNvGrpSpPr/>
            <p:nvPr/>
          </p:nvGrpSpPr>
          <p:grpSpPr>
            <a:xfrm>
              <a:off x="5929169" y="1472347"/>
              <a:ext cx="1533858" cy="255506"/>
              <a:chOff x="0" y="0"/>
              <a:chExt cx="1476374" cy="361950"/>
            </a:xfrm>
          </p:grpSpPr>
          <p:sp>
            <p:nvSpPr>
              <p:cNvPr id="46" name="Rectangle 45">
                <a:extLst>
                  <a:ext uri="{FF2B5EF4-FFF2-40B4-BE49-F238E27FC236}">
                    <a16:creationId xmlns:a16="http://schemas.microsoft.com/office/drawing/2014/main" id="{78099A39-07EA-63CF-DC98-63DCFE9C56A9}"/>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7" name="Straight Arrow Connector 46">
                <a:extLst>
                  <a:ext uri="{FF2B5EF4-FFF2-40B4-BE49-F238E27FC236}">
                    <a16:creationId xmlns:a16="http://schemas.microsoft.com/office/drawing/2014/main" id="{80ADF620-84FC-90EC-B74E-70001D768CD2}"/>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8" name="Text Box 734">
                <a:extLst>
                  <a:ext uri="{FF2B5EF4-FFF2-40B4-BE49-F238E27FC236}">
                    <a16:creationId xmlns:a16="http://schemas.microsoft.com/office/drawing/2014/main" id="{2374057C-EC92-F6E0-26A8-AE58AA089014}"/>
                  </a:ext>
                </a:extLst>
              </p:cNvPr>
              <p:cNvSpPr txBox="1"/>
              <p:nvPr/>
            </p:nvSpPr>
            <p:spPr>
              <a:xfrm>
                <a:off x="1009649" y="28575"/>
                <a:ext cx="466725" cy="333375"/>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1.1.</a:t>
                </a:r>
              </a:p>
            </p:txBody>
          </p:sp>
        </p:grpSp>
      </p:grpSp>
      <p:grpSp>
        <p:nvGrpSpPr>
          <p:cNvPr id="49" name="Group 48">
            <a:extLst>
              <a:ext uri="{FF2B5EF4-FFF2-40B4-BE49-F238E27FC236}">
                <a16:creationId xmlns:a16="http://schemas.microsoft.com/office/drawing/2014/main" id="{4BC1B5C8-5E69-02DF-7DBB-D46EA40E60A6}"/>
              </a:ext>
            </a:extLst>
          </p:cNvPr>
          <p:cNvGrpSpPr/>
          <p:nvPr/>
        </p:nvGrpSpPr>
        <p:grpSpPr>
          <a:xfrm>
            <a:off x="5003946" y="3516362"/>
            <a:ext cx="6552517" cy="2882938"/>
            <a:chOff x="4971495" y="3534722"/>
            <a:chExt cx="6552517" cy="2882938"/>
          </a:xfrm>
        </p:grpSpPr>
        <p:pic>
          <p:nvPicPr>
            <p:cNvPr id="50" name="Picture 49">
              <a:extLst>
                <a:ext uri="{FF2B5EF4-FFF2-40B4-BE49-F238E27FC236}">
                  <a16:creationId xmlns:a16="http://schemas.microsoft.com/office/drawing/2014/main" id="{B970EE52-DB1E-56A1-E062-7BC9DE1B122F}"/>
                </a:ext>
              </a:extLst>
            </p:cNvPr>
            <p:cNvPicPr>
              <a:picLocks noChangeAspect="1"/>
            </p:cNvPicPr>
            <p:nvPr/>
          </p:nvPicPr>
          <p:blipFill>
            <a:blip r:embed="rId3"/>
            <a:stretch>
              <a:fillRect/>
            </a:stretch>
          </p:blipFill>
          <p:spPr>
            <a:xfrm>
              <a:off x="4971495" y="3602649"/>
              <a:ext cx="6552517" cy="2815011"/>
            </a:xfrm>
            <a:prstGeom prst="rect">
              <a:avLst/>
            </a:prstGeom>
          </p:spPr>
        </p:pic>
        <p:grpSp>
          <p:nvGrpSpPr>
            <p:cNvPr id="51" name="Group 50">
              <a:extLst>
                <a:ext uri="{FF2B5EF4-FFF2-40B4-BE49-F238E27FC236}">
                  <a16:creationId xmlns:a16="http://schemas.microsoft.com/office/drawing/2014/main" id="{4AE63E53-0458-7BAA-5C73-A729A9A3B559}"/>
                </a:ext>
              </a:extLst>
            </p:cNvPr>
            <p:cNvGrpSpPr/>
            <p:nvPr/>
          </p:nvGrpSpPr>
          <p:grpSpPr>
            <a:xfrm>
              <a:off x="6344795" y="3998272"/>
              <a:ext cx="952500" cy="304800"/>
              <a:chOff x="523874" y="28575"/>
              <a:chExt cx="952500" cy="304800"/>
            </a:xfrm>
          </p:grpSpPr>
          <p:sp>
            <p:nvSpPr>
              <p:cNvPr id="58" name="Rectangle 57">
                <a:extLst>
                  <a:ext uri="{FF2B5EF4-FFF2-40B4-BE49-F238E27FC236}">
                    <a16:creationId xmlns:a16="http://schemas.microsoft.com/office/drawing/2014/main" id="{F38D2CF2-3F68-71F1-080E-7D24DBED092F}"/>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59" name="Straight Arrow Connector 58">
                <a:extLst>
                  <a:ext uri="{FF2B5EF4-FFF2-40B4-BE49-F238E27FC236}">
                    <a16:creationId xmlns:a16="http://schemas.microsoft.com/office/drawing/2014/main" id="{BEF80C92-E6FF-CD15-912A-37A7F818E75C}"/>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0" name="Text Box 746">
                <a:extLst>
                  <a:ext uri="{FF2B5EF4-FFF2-40B4-BE49-F238E27FC236}">
                    <a16:creationId xmlns:a16="http://schemas.microsoft.com/office/drawing/2014/main" id="{1EFFBBD6-37B3-987B-2613-745A852B44C7}"/>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1.2.</a:t>
                </a:r>
              </a:p>
            </p:txBody>
          </p:sp>
        </p:grpSp>
        <p:grpSp>
          <p:nvGrpSpPr>
            <p:cNvPr id="52" name="Group 51">
              <a:extLst>
                <a:ext uri="{FF2B5EF4-FFF2-40B4-BE49-F238E27FC236}">
                  <a16:creationId xmlns:a16="http://schemas.microsoft.com/office/drawing/2014/main" id="{76390DD7-CDF2-A2DF-7634-8FD5B854CFE1}"/>
                </a:ext>
              </a:extLst>
            </p:cNvPr>
            <p:cNvGrpSpPr/>
            <p:nvPr/>
          </p:nvGrpSpPr>
          <p:grpSpPr>
            <a:xfrm>
              <a:off x="8146388" y="3755317"/>
              <a:ext cx="981076" cy="304800"/>
              <a:chOff x="-1695339" y="44656"/>
              <a:chExt cx="981076" cy="304800"/>
            </a:xfrm>
          </p:grpSpPr>
          <p:sp>
            <p:nvSpPr>
              <p:cNvPr id="55" name="Rectangle 54">
                <a:extLst>
                  <a:ext uri="{FF2B5EF4-FFF2-40B4-BE49-F238E27FC236}">
                    <a16:creationId xmlns:a16="http://schemas.microsoft.com/office/drawing/2014/main" id="{E17C2424-4CD2-822C-7FD5-F6227FA6B585}"/>
                  </a:ext>
                </a:extLst>
              </p:cNvPr>
              <p:cNvSpPr/>
              <p:nvPr/>
            </p:nvSpPr>
            <p:spPr>
              <a:xfrm>
                <a:off x="-1695339" y="44656"/>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56" name="Straight Arrow Connector 55">
                <a:extLst>
                  <a:ext uri="{FF2B5EF4-FFF2-40B4-BE49-F238E27FC236}">
                    <a16:creationId xmlns:a16="http://schemas.microsoft.com/office/drawing/2014/main" id="{4AA598C1-C01B-40C8-FF3E-F37B92B1C53B}"/>
                  </a:ext>
                </a:extLst>
              </p:cNvPr>
              <p:cNvCxnSpPr/>
              <p:nvPr/>
            </p:nvCxnSpPr>
            <p:spPr>
              <a:xfrm>
                <a:off x="-1228613" y="149431"/>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7" name="Text Box 739">
                <a:extLst>
                  <a:ext uri="{FF2B5EF4-FFF2-40B4-BE49-F238E27FC236}">
                    <a16:creationId xmlns:a16="http://schemas.microsoft.com/office/drawing/2014/main" id="{54C89721-C4C0-A785-111A-164958C887F9}"/>
                  </a:ext>
                </a:extLst>
              </p:cNvPr>
              <p:cNvSpPr txBox="1"/>
              <p:nvPr/>
            </p:nvSpPr>
            <p:spPr>
              <a:xfrm>
                <a:off x="-1019063" y="44656"/>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2.</a:t>
                </a:r>
              </a:p>
            </p:txBody>
          </p:sp>
        </p:grpSp>
        <p:sp>
          <p:nvSpPr>
            <p:cNvPr id="53" name="Text Box 241">
              <a:extLst>
                <a:ext uri="{FF2B5EF4-FFF2-40B4-BE49-F238E27FC236}">
                  <a16:creationId xmlns:a16="http://schemas.microsoft.com/office/drawing/2014/main" id="{04EED3B2-4499-21E8-686B-E49BEDDD228A}"/>
                </a:ext>
              </a:extLst>
            </p:cNvPr>
            <p:cNvSpPr txBox="1">
              <a:spLocks noChangeArrowheads="1"/>
            </p:cNvSpPr>
            <p:nvPr/>
          </p:nvSpPr>
          <p:spPr bwMode="auto">
            <a:xfrm>
              <a:off x="7303876" y="4646751"/>
              <a:ext cx="2301875"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a:lnSpc>
                  <a:spcPct val="107000"/>
                </a:lnSpc>
                <a:spcBef>
                  <a:spcPts val="440"/>
                </a:spcBef>
                <a:spcAft>
                  <a:spcPts val="800"/>
                </a:spcAft>
              </a:pPr>
              <a:r>
                <a:rPr lang="en-PH" sz="1000" i="1" dirty="0">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search transaction?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indent="-228600">
                <a:lnSpc>
                  <a:spcPct val="115000"/>
                </a:lnSpc>
                <a:spcBef>
                  <a:spcPts val="0"/>
                </a:spcBef>
                <a:spcAft>
                  <a:spcPts val="0"/>
                </a:spcAft>
                <a:tabLst>
                  <a:tab pos="22733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indent="-228600">
                <a:lnSpc>
                  <a:spcPts val="975"/>
                </a:lnSpc>
                <a:spcBef>
                  <a:spcPts val="5"/>
                </a:spcBef>
                <a:spcAft>
                  <a:spcPts val="0"/>
                </a:spcAft>
                <a:tabLst>
                  <a:tab pos="20320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Click ‘enter’ in the keyboard to</a:t>
              </a:r>
              <a:r>
                <a:rPr lang="en-US" sz="8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search.</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202565" marR="0" indent="-101600">
                <a:lnSpc>
                  <a:spcPts val="975"/>
                </a:lnSpc>
                <a:spcBef>
                  <a:spcPts val="0"/>
                </a:spcBef>
                <a:spcAft>
                  <a:spcPts val="0"/>
                </a:spcAft>
                <a:tabLst>
                  <a:tab pos="203200" algn="l"/>
                </a:tabLst>
              </a:pPr>
              <a:r>
                <a:rPr lang="en-PH" sz="800" dirty="0">
                  <a:effectLst/>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4" name="Text Box 735">
              <a:extLst>
                <a:ext uri="{FF2B5EF4-FFF2-40B4-BE49-F238E27FC236}">
                  <a16:creationId xmlns:a16="http://schemas.microsoft.com/office/drawing/2014/main" id="{66ECD307-46E0-9639-5983-04565233A06B}"/>
                </a:ext>
              </a:extLst>
            </p:cNvPr>
            <p:cNvSpPr txBox="1"/>
            <p:nvPr/>
          </p:nvSpPr>
          <p:spPr>
            <a:xfrm>
              <a:off x="5112254" y="3534722"/>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HEADER</a:t>
              </a:r>
            </a:p>
          </p:txBody>
        </p:sp>
      </p:grpSp>
      <p:sp>
        <p:nvSpPr>
          <p:cNvPr id="61" name="TextBox 60">
            <a:extLst>
              <a:ext uri="{FF2B5EF4-FFF2-40B4-BE49-F238E27FC236}">
                <a16:creationId xmlns:a16="http://schemas.microsoft.com/office/drawing/2014/main" id="{4EAF0216-1506-E390-3955-DB87637CBF70}"/>
              </a:ext>
            </a:extLst>
          </p:cNvPr>
          <p:cNvSpPr txBox="1"/>
          <p:nvPr/>
        </p:nvSpPr>
        <p:spPr>
          <a:xfrm>
            <a:off x="7543090" y="2784512"/>
            <a:ext cx="2737252"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latin typeface="Calibri" panose="020F0502020204030204" pitchFamily="34" charset="0"/>
                <a:ea typeface="Calibri" panose="020F0502020204030204" pitchFamily="34" charset="0"/>
                <a:cs typeface="Calibri" panose="020F0502020204030204" pitchFamily="34" charset="0"/>
              </a:rPr>
              <a:t>Transfer Slip</a:t>
            </a:r>
            <a:r>
              <a:rPr lang="en-PH" sz="1200" b="1" dirty="0">
                <a:effectLst/>
                <a:latin typeface="Calibri" panose="020F0502020204030204" pitchFamily="34" charset="0"/>
                <a:ea typeface="Calibri" panose="020F0502020204030204" pitchFamily="34" charset="0"/>
                <a:cs typeface="Calibri" panose="020F0502020204030204" pitchFamily="34" charset="0"/>
              </a:rPr>
              <a:t> –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62" name="TextBox 61">
            <a:extLst>
              <a:ext uri="{FF2B5EF4-FFF2-40B4-BE49-F238E27FC236}">
                <a16:creationId xmlns:a16="http://schemas.microsoft.com/office/drawing/2014/main" id="{44439AAD-012F-725E-0507-70A045A0296C}"/>
              </a:ext>
            </a:extLst>
          </p:cNvPr>
          <p:cNvSpPr txBox="1"/>
          <p:nvPr/>
        </p:nvSpPr>
        <p:spPr>
          <a:xfrm>
            <a:off x="7543090" y="6434511"/>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latin typeface="Calibri" panose="020F0502020204030204" pitchFamily="34" charset="0"/>
                <a:ea typeface="Calibri" panose="020F0502020204030204" pitchFamily="34" charset="0"/>
                <a:cs typeface="Calibri" panose="020F0502020204030204" pitchFamily="34" charset="0"/>
              </a:rPr>
              <a:t>Transfer Slip </a:t>
            </a:r>
            <a:r>
              <a:rPr lang="en-PH" sz="1200" b="1" dirty="0">
                <a:effectLst/>
                <a:latin typeface="Calibri" panose="020F0502020204030204" pitchFamily="34" charset="0"/>
                <a:ea typeface="Calibri" panose="020F0502020204030204" pitchFamily="34" charset="0"/>
                <a:cs typeface="Calibri" panose="020F0502020204030204" pitchFamily="34" charset="0"/>
              </a:rPr>
              <a:t>– Main </a:t>
            </a:r>
            <a:r>
              <a:rPr lang="en-PH" sz="1200" b="1" dirty="0">
                <a:latin typeface="Calibri" panose="020F0502020204030204" pitchFamily="34" charset="0"/>
                <a:ea typeface="Calibri" panose="020F0502020204030204" pitchFamily="34" charset="0"/>
                <a:cs typeface="Calibri" panose="020F0502020204030204" pitchFamily="34" charset="0"/>
              </a:rPr>
              <a:t>Form</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2" name="Slide Number Placeholder 9">
            <a:extLst>
              <a:ext uri="{FF2B5EF4-FFF2-40B4-BE49-F238E27FC236}">
                <a16:creationId xmlns:a16="http://schemas.microsoft.com/office/drawing/2014/main" id="{CC63B3AF-1791-35A6-9B27-BF653355F230}"/>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1815596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105354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Other Information</a:t>
            </a:r>
            <a:endParaRPr lang="en-US" sz="1600" dirty="0">
              <a:solidFill>
                <a:srgbClr val="007434"/>
              </a:solidFill>
              <a:latin typeface="Calibri Light" panose="020F0302020204030204" pitchFamily="34" charset="0"/>
              <a:cs typeface="Calibri Light" panose="020F0302020204030204" pitchFamily="34" charset="0"/>
            </a:endParaRPr>
          </a:p>
        </p:txBody>
      </p:sp>
      <p:sp>
        <p:nvSpPr>
          <p:cNvPr id="65" name="TextBox 64">
            <a:extLst>
              <a:ext uri="{FF2B5EF4-FFF2-40B4-BE49-F238E27FC236}">
                <a16:creationId xmlns:a16="http://schemas.microsoft.com/office/drawing/2014/main" id="{E7777D04-D73F-74AB-C30B-7D3C9397264F}"/>
              </a:ext>
            </a:extLst>
          </p:cNvPr>
          <p:cNvSpPr txBox="1"/>
          <p:nvPr/>
        </p:nvSpPr>
        <p:spPr>
          <a:xfrm>
            <a:off x="805109" y="4516141"/>
            <a:ext cx="3852819" cy="307777"/>
          </a:xfrm>
          <a:prstGeom prst="rect">
            <a:avLst/>
          </a:prstGeom>
          <a:solidFill>
            <a:srgbClr val="00B050"/>
          </a:solidFill>
          <a:effectLst/>
        </p:spPr>
        <p:txBody>
          <a:bodyPr wrap="square" rtlCol="0">
            <a:spAutoFit/>
          </a:bodyPr>
          <a:lstStyle/>
          <a:p>
            <a:pPr algn="ctr"/>
            <a:r>
              <a:rPr lang="en-US" sz="1400" dirty="0">
                <a:solidFill>
                  <a:schemeClr val="bg1"/>
                </a:solidFill>
                <a:latin typeface="Calibri Light" panose="020F0302020204030204" pitchFamily="34" charset="0"/>
                <a:cs typeface="Calibri Light" panose="020F0302020204030204" pitchFamily="34" charset="0"/>
              </a:rPr>
              <a:t>Other Buttons</a:t>
            </a:r>
            <a:endParaRPr lang="en-US" sz="1400" dirty="0">
              <a:solidFill>
                <a:srgbClr val="007434"/>
              </a:solidFill>
              <a:latin typeface="Calibri Light" panose="020F0302020204030204" pitchFamily="34" charset="0"/>
              <a:cs typeface="Calibri Light" panose="020F0302020204030204" pitchFamily="34" charset="0"/>
            </a:endParaRPr>
          </a:p>
        </p:txBody>
      </p:sp>
      <p:sp>
        <p:nvSpPr>
          <p:cNvPr id="8" name="Text Box 102">
            <a:extLst>
              <a:ext uri="{FF2B5EF4-FFF2-40B4-BE49-F238E27FC236}">
                <a16:creationId xmlns:a16="http://schemas.microsoft.com/office/drawing/2014/main" id="{9C27B11D-33B2-DB7D-A894-E01425B3F550}"/>
              </a:ext>
            </a:extLst>
          </p:cNvPr>
          <p:cNvSpPr txBox="1"/>
          <p:nvPr/>
        </p:nvSpPr>
        <p:spPr>
          <a:xfrm>
            <a:off x="805109" y="1589414"/>
            <a:ext cx="3852820" cy="2121974"/>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a:lnSpc>
                <a:spcPct val="107000"/>
              </a:lnSpc>
              <a:spcBef>
                <a:spcPts val="19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When you click the arrow up icon parallel in the main form on the upper right, and the Transfer Slip – main form will be minimize and the other information will be displayed as shown in the photo below.</a:t>
            </a:r>
          </a:p>
          <a:p>
            <a:pPr marL="0" marR="227330">
              <a:lnSpc>
                <a:spcPct val="107000"/>
              </a:lnSpc>
              <a:spcBef>
                <a:spcPts val="19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Click the arrow parallel to what information you want to open and provide the necessary filter to generate the data you want to display.</a:t>
            </a:r>
          </a:p>
          <a:p>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227330">
              <a:lnSpc>
                <a:spcPct val="107000"/>
              </a:lnSpc>
              <a:spcBef>
                <a:spcPts val="190"/>
              </a:spcBef>
              <a:spcAft>
                <a:spcPts val="80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96E78E19-4025-2CF4-0152-5EE4A8E0C0E1}"/>
              </a:ext>
            </a:extLst>
          </p:cNvPr>
          <p:cNvPicPr>
            <a:picLocks noChangeAspect="1"/>
          </p:cNvPicPr>
          <p:nvPr/>
        </p:nvPicPr>
        <p:blipFill>
          <a:blip r:embed="rId3"/>
          <a:stretch>
            <a:fillRect/>
          </a:stretch>
        </p:blipFill>
        <p:spPr>
          <a:xfrm>
            <a:off x="5278170" y="2106525"/>
            <a:ext cx="6108721" cy="280440"/>
          </a:xfrm>
          <a:prstGeom prst="rect">
            <a:avLst/>
          </a:prstGeom>
        </p:spPr>
      </p:pic>
      <p:graphicFrame>
        <p:nvGraphicFramePr>
          <p:cNvPr id="9" name="Table 8">
            <a:extLst>
              <a:ext uri="{FF2B5EF4-FFF2-40B4-BE49-F238E27FC236}">
                <a16:creationId xmlns:a16="http://schemas.microsoft.com/office/drawing/2014/main" id="{2CC38310-1171-651E-3978-D224B3AE1462}"/>
              </a:ext>
            </a:extLst>
          </p:cNvPr>
          <p:cNvGraphicFramePr>
            <a:graphicFrameLocks noGrp="1"/>
          </p:cNvGraphicFramePr>
          <p:nvPr/>
        </p:nvGraphicFramePr>
        <p:xfrm>
          <a:off x="5362815" y="2852637"/>
          <a:ext cx="6186170" cy="2670175"/>
        </p:xfrm>
        <a:graphic>
          <a:graphicData uri="http://schemas.openxmlformats.org/drawingml/2006/table">
            <a:tbl>
              <a:tblPr firstRow="1" firstCol="1" bandRow="1">
                <a:tableStyleId>{5940675A-B579-460E-94D1-54222C63F5DA}</a:tableStyleId>
              </a:tblPr>
              <a:tblGrid>
                <a:gridCol w="993597">
                  <a:extLst>
                    <a:ext uri="{9D8B030D-6E8A-4147-A177-3AD203B41FA5}">
                      <a16:colId xmlns:a16="http://schemas.microsoft.com/office/drawing/2014/main" val="3415315536"/>
                    </a:ext>
                  </a:extLst>
                </a:gridCol>
                <a:gridCol w="1171852">
                  <a:extLst>
                    <a:ext uri="{9D8B030D-6E8A-4147-A177-3AD203B41FA5}">
                      <a16:colId xmlns:a16="http://schemas.microsoft.com/office/drawing/2014/main" val="906130530"/>
                    </a:ext>
                  </a:extLst>
                </a:gridCol>
                <a:gridCol w="4020721">
                  <a:extLst>
                    <a:ext uri="{9D8B030D-6E8A-4147-A177-3AD203B41FA5}">
                      <a16:colId xmlns:a16="http://schemas.microsoft.com/office/drawing/2014/main" val="1098265409"/>
                    </a:ext>
                  </a:extLst>
                </a:gridCol>
              </a:tblGrid>
              <a:tr h="336550">
                <a:tc>
                  <a:txBody>
                    <a:bodyPr/>
                    <a:lstStyle/>
                    <a:p>
                      <a:pPr>
                        <a:lnSpc>
                          <a:spcPct val="107000"/>
                        </a:lnSpc>
                        <a:spcAft>
                          <a:spcPts val="800"/>
                        </a:spcAft>
                        <a:tabLst>
                          <a:tab pos="1162050" algn="l"/>
                        </a:tabLst>
                      </a:pPr>
                      <a:endParaRPr lang="en-PH" sz="900">
                        <a:effectLst/>
                        <a:latin typeface="Chivo Light"/>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Print Button</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PH" sz="900" dirty="0">
                          <a:effectLst/>
                        </a:rPr>
                        <a:t>Print button is use to print transaction.</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5848879"/>
                  </a:ext>
                </a:extLst>
              </a:tr>
              <a:tr h="365125">
                <a:tc>
                  <a:txBody>
                    <a:bodyPr/>
                    <a:lstStyle/>
                    <a:p>
                      <a:pPr>
                        <a:lnSpc>
                          <a:spcPct val="107000"/>
                        </a:lnSpc>
                        <a:spcAft>
                          <a:spcPts val="800"/>
                        </a:spcAft>
                        <a:tabLst>
                          <a:tab pos="1162050" algn="l"/>
                        </a:tabLst>
                      </a:pPr>
                      <a:endParaRPr lang="en-PH" sz="900">
                        <a:effectLst/>
                        <a:latin typeface="Chivo Light"/>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Logs Button</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Logs Button is use to monitor the activities made in the module.</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98493135"/>
                  </a:ext>
                </a:extLst>
              </a:tr>
              <a:tr h="393700">
                <a:tc>
                  <a:txBody>
                    <a:bodyPr/>
                    <a:lstStyle/>
                    <a:p>
                      <a:pPr>
                        <a:lnSpc>
                          <a:spcPct val="107000"/>
                        </a:lnSpc>
                        <a:spcAft>
                          <a:spcPts val="800"/>
                        </a:spcAft>
                        <a:tabLst>
                          <a:tab pos="1162050" algn="l"/>
                        </a:tabLst>
                      </a:pP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Lock Button</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Lock button is use to lock the transaction to refrain from changing the details in the transaction</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94974876"/>
                  </a:ext>
                </a:extLst>
              </a:tr>
              <a:tr h="393700">
                <a:tc>
                  <a:txBody>
                    <a:bodyPr/>
                    <a:lstStyle/>
                    <a:p>
                      <a:pPr>
                        <a:lnSpc>
                          <a:spcPct val="107000"/>
                        </a:lnSpc>
                        <a:spcAft>
                          <a:spcPts val="800"/>
                        </a:spcAft>
                        <a:tabLst>
                          <a:tab pos="1162050" algn="l"/>
                        </a:tabLst>
                      </a:pPr>
                      <a:endParaRPr lang="en-PH" sz="900">
                        <a:effectLst/>
                        <a:latin typeface="Chivo Light"/>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Back to Listing Button</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Back to Listing Button is use to go back from main form to main window</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71412428"/>
                  </a:ext>
                </a:extLst>
              </a:tr>
              <a:tr h="393700">
                <a:tc>
                  <a:txBody>
                    <a:bodyPr/>
                    <a:lstStyle/>
                    <a:p>
                      <a:pPr>
                        <a:lnSpc>
                          <a:spcPct val="107000"/>
                        </a:lnSpc>
                        <a:spcAft>
                          <a:spcPts val="800"/>
                        </a:spcAft>
                        <a:tabLst>
                          <a:tab pos="1162050" algn="l"/>
                        </a:tabLst>
                      </a:pPr>
                      <a:endParaRPr lang="en-PH" sz="900">
                        <a:effectLst/>
                        <a:latin typeface="Chivo Light"/>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Hide Head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Hide Head Button is use to minimize the main form.</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99672917"/>
                  </a:ext>
                </a:extLst>
              </a:tr>
              <a:tr h="393700">
                <a:tc>
                  <a:txBody>
                    <a:bodyPr/>
                    <a:lstStyle/>
                    <a:p>
                      <a:pPr>
                        <a:lnSpc>
                          <a:spcPct val="107000"/>
                        </a:lnSpc>
                        <a:spcAft>
                          <a:spcPts val="800"/>
                        </a:spcAft>
                        <a:tabLst>
                          <a:tab pos="1162050" algn="l"/>
                        </a:tabLst>
                      </a:pP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Full Screen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Full Screen Button is use to allow the main form to full screen.</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74682782"/>
                  </a:ext>
                </a:extLst>
              </a:tr>
              <a:tr h="393700">
                <a:tc>
                  <a:txBody>
                    <a:bodyPr/>
                    <a:lstStyle/>
                    <a:p>
                      <a:pPr>
                        <a:lnSpc>
                          <a:spcPct val="107000"/>
                        </a:lnSpc>
                        <a:spcAft>
                          <a:spcPts val="800"/>
                        </a:spcAft>
                        <a:tabLst>
                          <a:tab pos="1162050" algn="l"/>
                        </a:tabLs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Open New Tab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Open New Tab Button is use to open new tab module you currently using.</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23038834"/>
                  </a:ext>
                </a:extLst>
              </a:tr>
            </a:tbl>
          </a:graphicData>
        </a:graphic>
      </p:graphicFrame>
      <p:pic>
        <p:nvPicPr>
          <p:cNvPr id="2055" name="Picture 91">
            <a:extLst>
              <a:ext uri="{FF2B5EF4-FFF2-40B4-BE49-F238E27FC236}">
                <a16:creationId xmlns:a16="http://schemas.microsoft.com/office/drawing/2014/main" id="{3938FAF1-901C-1849-ADB2-1B95F1F970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27243" y="2871953"/>
            <a:ext cx="866775" cy="2857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92">
            <a:extLst>
              <a:ext uri="{FF2B5EF4-FFF2-40B4-BE49-F238E27FC236}">
                <a16:creationId xmlns:a16="http://schemas.microsoft.com/office/drawing/2014/main" id="{1611F7B4-4D21-E1B1-616F-DAFC192AAB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8536" y="3225623"/>
            <a:ext cx="866775" cy="2857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93">
            <a:extLst>
              <a:ext uri="{FF2B5EF4-FFF2-40B4-BE49-F238E27FC236}">
                <a16:creationId xmlns:a16="http://schemas.microsoft.com/office/drawing/2014/main" id="{7897DD70-24B4-F416-F0F6-E59F74E0406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20601" y="4006165"/>
            <a:ext cx="846137" cy="285750"/>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94">
            <a:extLst>
              <a:ext uri="{FF2B5EF4-FFF2-40B4-BE49-F238E27FC236}">
                <a16:creationId xmlns:a16="http://schemas.microsoft.com/office/drawing/2014/main" id="{AEF9AD98-279B-982E-3454-92C107FD52B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15044" y="4406259"/>
            <a:ext cx="838200" cy="28575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96">
            <a:extLst>
              <a:ext uri="{FF2B5EF4-FFF2-40B4-BE49-F238E27FC236}">
                <a16:creationId xmlns:a16="http://schemas.microsoft.com/office/drawing/2014/main" id="{C1F2970D-EEC7-6580-761C-EFA812B9FBB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20601" y="4806353"/>
            <a:ext cx="827087" cy="284163"/>
          </a:xfrm>
          <a:prstGeom prst="rect">
            <a:avLst/>
          </a:prstGeom>
          <a:noFill/>
          <a:extLst>
            <a:ext uri="{909E8E84-426E-40DD-AFC4-6F175D3DCCD1}">
              <a14:hiddenFill xmlns:a14="http://schemas.microsoft.com/office/drawing/2010/main">
                <a:solidFill>
                  <a:srgbClr val="FFFFFF"/>
                </a:solidFill>
              </a14:hiddenFill>
            </a:ext>
          </a:extLst>
        </p:spPr>
      </p:pic>
      <p:pic>
        <p:nvPicPr>
          <p:cNvPr id="2049" name="Picture 97">
            <a:extLst>
              <a:ext uri="{FF2B5EF4-FFF2-40B4-BE49-F238E27FC236}">
                <a16:creationId xmlns:a16="http://schemas.microsoft.com/office/drawing/2014/main" id="{DB98C824-E1DF-AB33-7C10-506CFCAE5C3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21248" y="5174247"/>
            <a:ext cx="817562" cy="284163"/>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329">
            <a:extLst>
              <a:ext uri="{FF2B5EF4-FFF2-40B4-BE49-F238E27FC236}">
                <a16:creationId xmlns:a16="http://schemas.microsoft.com/office/drawing/2014/main" id="{1EB27DB7-82D9-E3D3-D3F2-1DEE67711A5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28536" y="3580064"/>
            <a:ext cx="828675" cy="3429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F24C072E-854A-8265-96A4-0A53EED44AA7}"/>
              </a:ext>
            </a:extLst>
          </p:cNvPr>
          <p:cNvPicPr>
            <a:picLocks noChangeAspect="1"/>
          </p:cNvPicPr>
          <p:nvPr/>
        </p:nvPicPr>
        <p:blipFill>
          <a:blip r:embed="rId11"/>
          <a:stretch>
            <a:fillRect/>
          </a:stretch>
        </p:blipFill>
        <p:spPr>
          <a:xfrm>
            <a:off x="5362815" y="838049"/>
            <a:ext cx="5938459" cy="1202681"/>
          </a:xfrm>
          <a:prstGeom prst="rect">
            <a:avLst/>
          </a:prstGeom>
        </p:spPr>
      </p:pic>
      <p:sp>
        <p:nvSpPr>
          <p:cNvPr id="2" name="TextBox 1">
            <a:extLst>
              <a:ext uri="{FF2B5EF4-FFF2-40B4-BE49-F238E27FC236}">
                <a16:creationId xmlns:a16="http://schemas.microsoft.com/office/drawing/2014/main" id="{07912DD9-0D89-DC84-36FE-86C1E272C40D}"/>
              </a:ext>
            </a:extLst>
          </p:cNvPr>
          <p:cNvSpPr txBox="1"/>
          <p:nvPr/>
        </p:nvSpPr>
        <p:spPr>
          <a:xfrm>
            <a:off x="1150317" y="96532"/>
            <a:ext cx="4596321"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Inventory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Transfer Slip </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3" name="Slide Number Placeholder 9">
            <a:extLst>
              <a:ext uri="{FF2B5EF4-FFF2-40B4-BE49-F238E27FC236}">
                <a16:creationId xmlns:a16="http://schemas.microsoft.com/office/drawing/2014/main" id="{309965AF-241B-D78F-1950-9E26593E401D}"/>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1085952617"/>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1076</Words>
  <Application>Microsoft Office PowerPoint</Application>
  <PresentationFormat>Widescreen</PresentationFormat>
  <Paragraphs>170</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Animosa Extra Bold</vt:lpstr>
      <vt:lpstr>Arial</vt:lpstr>
      <vt:lpstr>Bodoni MT Condensed</vt:lpstr>
      <vt:lpstr>Calibri</vt:lpstr>
      <vt:lpstr>Calibri Light</vt:lpstr>
      <vt:lpstr>Century Gothic</vt:lpstr>
      <vt:lpstr>Chivo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3</cp:revision>
  <dcterms:created xsi:type="dcterms:W3CDTF">2023-01-10T07:01:46Z</dcterms:created>
  <dcterms:modified xsi:type="dcterms:W3CDTF">2023-01-10T07:02:45Z</dcterms:modified>
</cp:coreProperties>
</file>