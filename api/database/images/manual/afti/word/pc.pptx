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358" r:id="rId2"/>
    <p:sldId id="359" r:id="rId3"/>
    <p:sldId id="360" r:id="rId4"/>
    <p:sldId id="390" r:id="rId5"/>
    <p:sldId id="391" r:id="rId6"/>
    <p:sldId id="392" r:id="rId7"/>
    <p:sldId id="393" r:id="rId8"/>
    <p:sldId id="394" r:id="rId9"/>
    <p:sldId id="366" r:id="rId10"/>
    <p:sldId id="372" r:id="rId11"/>
    <p:sldId id="368" r:id="rId12"/>
    <p:sldId id="395"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1" d="100"/>
          <a:sy n="111" d="100"/>
        </p:scale>
        <p:origin x="456"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1EB4A-3408-1B97-1B34-05AE5640F81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24CE41D-ED3A-FB15-B2CB-48AE9AE258A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472DF44-2CFE-99D1-62FB-C419C3595772}"/>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5" name="Footer Placeholder 4">
            <a:extLst>
              <a:ext uri="{FF2B5EF4-FFF2-40B4-BE49-F238E27FC236}">
                <a16:creationId xmlns:a16="http://schemas.microsoft.com/office/drawing/2014/main" id="{BC42A000-96DA-5E5F-9A77-6569656A31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EFD326-4FC0-72EB-DF56-0FD78B9EE4C3}"/>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24986893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F9D75-E04D-B634-D919-617757394C0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D56432A-85F7-6833-67C8-01C4E721644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C57A2C-3294-4947-A3DE-F536E8B16E5E}"/>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5" name="Footer Placeholder 4">
            <a:extLst>
              <a:ext uri="{FF2B5EF4-FFF2-40B4-BE49-F238E27FC236}">
                <a16:creationId xmlns:a16="http://schemas.microsoft.com/office/drawing/2014/main" id="{A2215DCA-9125-891E-96C8-87AF8FF5A0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F9F385-A188-DB80-34AE-99BFE377262E}"/>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3467415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9F34D8-AC3A-C1B6-226A-B0342CC953D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40A1E8B-24DF-615A-8729-9497B6EA1ED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7F1F83F-6442-4F8D-A89C-5E43D4324093}"/>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5" name="Footer Placeholder 4">
            <a:extLst>
              <a:ext uri="{FF2B5EF4-FFF2-40B4-BE49-F238E27FC236}">
                <a16:creationId xmlns:a16="http://schemas.microsoft.com/office/drawing/2014/main" id="{1E5243A9-4120-4241-6DD2-BB67522C9E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C42F45-390E-7F61-65CB-09F84E0C7E2B}"/>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41478105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6E399-2560-08C2-7560-8CDD4F0BE6B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7AC3219-FB0A-90C1-5347-5D8D63A15A9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616AE50-4292-C9EB-8B25-09DE0EA0284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0B747A3-5AAE-74E5-58AC-112C24B4D162}"/>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6" name="Footer Placeholder 5">
            <a:extLst>
              <a:ext uri="{FF2B5EF4-FFF2-40B4-BE49-F238E27FC236}">
                <a16:creationId xmlns:a16="http://schemas.microsoft.com/office/drawing/2014/main" id="{17245C81-CA6F-521E-53EF-EEB98F96FDD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2839E4-86AD-5375-DD4F-F846EF925060}"/>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7393750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7C6130-117C-998F-E56B-57FCF1096B7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C6E80B8-EA33-707F-EC6C-EBC7B135276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8F28F7F-ECE8-BAAD-7338-2D78A59EE1E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ADAF716-F429-44D0-6E93-815FF3C4FDF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82A37D0-605C-BB9A-385B-6A85770C865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E3F5C74-EA7F-FDB3-FB93-77C9E914F0FA}"/>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8" name="Footer Placeholder 7">
            <a:extLst>
              <a:ext uri="{FF2B5EF4-FFF2-40B4-BE49-F238E27FC236}">
                <a16:creationId xmlns:a16="http://schemas.microsoft.com/office/drawing/2014/main" id="{F4E1775E-89CF-943A-9CDA-597023CE8F5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5E9C5D8-2060-0E24-EC81-3C64B264C76B}"/>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22610207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4B700E-1F64-71E3-B8E2-5003EE14F25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D92E4C6-4425-4600-DADA-0FAA915F0C36}"/>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4" name="Footer Placeholder 3">
            <a:extLst>
              <a:ext uri="{FF2B5EF4-FFF2-40B4-BE49-F238E27FC236}">
                <a16:creationId xmlns:a16="http://schemas.microsoft.com/office/drawing/2014/main" id="{19525CC1-1CF0-5FE6-B23F-FC064081510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4A12A78-3142-4A2A-6A14-2861FE0556F0}"/>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16978996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018CDC6-AE80-3C7C-7A54-83C4F8A35515}"/>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3" name="Footer Placeholder 2">
            <a:extLst>
              <a:ext uri="{FF2B5EF4-FFF2-40B4-BE49-F238E27FC236}">
                <a16:creationId xmlns:a16="http://schemas.microsoft.com/office/drawing/2014/main" id="{E3C87A10-784A-0882-62A6-ACF915286A8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95B3EFA-8AAD-4032-2084-C183504C0548}"/>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17793629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606DDE-4887-BBF0-A054-1795A60261F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EAA9F60-2E86-61FF-D6C4-8EEFEF4FBBB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B7C98BF-6198-66C9-1808-3E0DE1D9B5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FA3C433-2EF0-6879-AA30-D7F23FA1DE7E}"/>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6" name="Footer Placeholder 5">
            <a:extLst>
              <a:ext uri="{FF2B5EF4-FFF2-40B4-BE49-F238E27FC236}">
                <a16:creationId xmlns:a16="http://schemas.microsoft.com/office/drawing/2014/main" id="{E5DB4456-36C8-9DCF-5C14-8BA06584B5B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0CFA8EE-1367-107D-033E-8A0158C5E42D}"/>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38903232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9698BA-7366-CA58-0AE4-D2030C175DB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A964958-D645-44EB-2EDC-93CCA39A19E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02D1894-31E7-5B16-FAA4-8794FE1039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ACEEAB6-A5F9-0B9E-BFB9-37D999F612AF}"/>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6" name="Footer Placeholder 5">
            <a:extLst>
              <a:ext uri="{FF2B5EF4-FFF2-40B4-BE49-F238E27FC236}">
                <a16:creationId xmlns:a16="http://schemas.microsoft.com/office/drawing/2014/main" id="{07F57A55-6F18-17DA-8716-BC16F3F9CC1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9847226-21F6-2D27-6044-9FC188E6705B}"/>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38701990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426E2-26EB-63EF-501D-68A4434E77B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DC8B2B9-8CC9-2B50-B062-946D7E785A4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442974C-952F-86C3-A75E-105A3A2EFC9B}"/>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5" name="Footer Placeholder 4">
            <a:extLst>
              <a:ext uri="{FF2B5EF4-FFF2-40B4-BE49-F238E27FC236}">
                <a16:creationId xmlns:a16="http://schemas.microsoft.com/office/drawing/2014/main" id="{787495DF-D0C7-812E-EDA8-AEA85D8757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4DC9A3-8AF0-8B35-01FB-6FDA728B4F0C}"/>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25238467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759C450-90ED-272A-E463-AAA21A2E5F6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75DA328-475F-1FE7-6643-FADC6BE1FD4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E27D1A-7BFF-DDEC-3AEE-1846C4553D33}"/>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5" name="Footer Placeholder 4">
            <a:extLst>
              <a:ext uri="{FF2B5EF4-FFF2-40B4-BE49-F238E27FC236}">
                <a16:creationId xmlns:a16="http://schemas.microsoft.com/office/drawing/2014/main" id="{AC9493FD-135D-1E5D-ED17-848900B651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AE65E1-7A80-1403-F41E-7FDEAAED11C4}"/>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36765268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BDF1DB1-AAB5-C0D6-F8F5-5C3D1F05CD2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DE64012-DD5E-82B0-E0A6-F22247B5BC9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1C52C1-D777-85DB-34DD-7DB776F29AE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C6C0FA6-4BE5-4630-BD3F-BA92F18B1BA2}" type="datetimeFigureOut">
              <a:rPr lang="en-US" smtClean="0"/>
              <a:t>1/10/2023</a:t>
            </a:fld>
            <a:endParaRPr lang="en-US"/>
          </a:p>
        </p:txBody>
      </p:sp>
      <p:sp>
        <p:nvSpPr>
          <p:cNvPr id="5" name="Footer Placeholder 4">
            <a:extLst>
              <a:ext uri="{FF2B5EF4-FFF2-40B4-BE49-F238E27FC236}">
                <a16:creationId xmlns:a16="http://schemas.microsoft.com/office/drawing/2014/main" id="{D2BBF4A8-E610-C555-2196-67DC47368D2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E477A19-A289-6A34-54CB-69755ED1436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16086AB-602C-49A8-AF1B-7C398AACFC06}" type="slidenum">
              <a:rPr lang="en-US" smtClean="0"/>
              <a:t>‹#›</a:t>
            </a:fld>
            <a:endParaRPr lang="en-US"/>
          </a:p>
        </p:txBody>
      </p:sp>
    </p:spTree>
    <p:extLst>
      <p:ext uri="{BB962C8B-B14F-4D97-AF65-F5344CB8AC3E}">
        <p14:creationId xmlns:p14="http://schemas.microsoft.com/office/powerpoint/2010/main" val="288874562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6.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png"/><Relationship Id="rId1" Type="http://schemas.openxmlformats.org/officeDocument/2006/relationships/slideLayout" Target="../slideLayouts/slideLayout6.xml"/><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Layout" Target="../slideLayouts/slideLayout6.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6.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 Id="rId9"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Box 6">
            <a:extLst>
              <a:ext uri="{FF2B5EF4-FFF2-40B4-BE49-F238E27FC236}">
                <a16:creationId xmlns:a16="http://schemas.microsoft.com/office/drawing/2014/main" id="{F98AB504-F121-820A-CAC3-1E72B851128C}"/>
              </a:ext>
            </a:extLst>
          </p:cNvPr>
          <p:cNvSpPr txBox="1"/>
          <p:nvPr/>
        </p:nvSpPr>
        <p:spPr>
          <a:xfrm>
            <a:off x="0" y="5769429"/>
            <a:ext cx="12191999" cy="1088572"/>
          </a:xfrm>
          <a:prstGeom prst="rect">
            <a:avLst/>
          </a:prstGeom>
          <a:solidFill>
            <a:srgbClr val="00863D"/>
          </a:solid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white"/>
              </a:solidFill>
              <a:effectLst/>
              <a:uLnTx/>
              <a:uFillTx/>
              <a:latin typeface="Calibri" panose="020F0502020204030204"/>
              <a:ea typeface="Open Sans" panose="020B0606030504020204" pitchFamily="34"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panose="020F0502020204030204"/>
                <a:ea typeface="Open Sans" panose="020B0606030504020204" pitchFamily="34" charset="0"/>
                <a:cs typeface="Times New Roman" panose="02020603050405020304" pitchFamily="18" charset="0"/>
              </a:rPr>
              <a:t>Is used to enter actual physical count of item as of given period.</a:t>
            </a: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D4A8F0E4-420B-D956-5A6B-DABBD12DDC05}"/>
              </a:ext>
            </a:extLst>
          </p:cNvPr>
          <p:cNvSpPr txBox="1"/>
          <p:nvPr/>
        </p:nvSpPr>
        <p:spPr>
          <a:xfrm>
            <a:off x="1017646" y="2105561"/>
            <a:ext cx="10289512" cy="1569660"/>
          </a:xfrm>
          <a:prstGeom prst="rect">
            <a:avLst/>
          </a:prstGeom>
          <a:no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600" b="1" i="0" u="none" strike="noStrike" kern="1200" cap="none" spc="0" normalizeH="0" baseline="0" noProof="0" dirty="0">
                <a:ln>
                  <a:noFill/>
                </a:ln>
                <a:solidFill>
                  <a:srgbClr val="00B050"/>
                </a:solidFill>
                <a:effectLst/>
                <a:uLnTx/>
                <a:uFillTx/>
                <a:latin typeface="Bodoni MT Condensed" panose="02070606080606020203" pitchFamily="18" charset="0"/>
                <a:ea typeface="+mn-ea"/>
                <a:cs typeface="+mn-cs"/>
              </a:rPr>
              <a:t>Physical Count</a:t>
            </a:r>
            <a:endParaRPr kumimoji="0" lang="en-US" sz="9600" b="0" i="0" u="none" strike="noStrike" kern="1200" cap="none" spc="0" normalizeH="0" baseline="0" noProof="0" dirty="0">
              <a:ln>
                <a:noFill/>
              </a:ln>
              <a:solidFill>
                <a:srgbClr val="00B050"/>
              </a:solidFill>
              <a:effectLst/>
              <a:uLnTx/>
              <a:uFillTx/>
              <a:latin typeface="Bodoni MT Condensed" panose="02070606080606020203" pitchFamily="18" charset="0"/>
              <a:ea typeface="+mn-ea"/>
              <a:cs typeface="+mn-cs"/>
            </a:endParaRPr>
          </a:p>
        </p:txBody>
      </p:sp>
    </p:spTree>
    <p:extLst>
      <p:ext uri="{BB962C8B-B14F-4D97-AF65-F5344CB8AC3E}">
        <p14:creationId xmlns:p14="http://schemas.microsoft.com/office/powerpoint/2010/main" val="42043779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 Box 6">
            <a:extLst>
              <a:ext uri="{FF2B5EF4-FFF2-40B4-BE49-F238E27FC236}">
                <a16:creationId xmlns:a16="http://schemas.microsoft.com/office/drawing/2014/main" id="{54861942-378E-F979-6642-00E02D67C1A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20" name="Text Box 15">
            <a:extLst>
              <a:ext uri="{FF2B5EF4-FFF2-40B4-BE49-F238E27FC236}">
                <a16:creationId xmlns:a16="http://schemas.microsoft.com/office/drawing/2014/main" id="{E1DF78E5-41B8-4843-8426-68AD1D115D04}"/>
              </a:ext>
            </a:extLst>
          </p:cNvPr>
          <p:cNvSpPr txBox="1"/>
          <p:nvPr/>
        </p:nvSpPr>
        <p:spPr>
          <a:xfrm>
            <a:off x="832872" y="2847734"/>
            <a:ext cx="3887062" cy="1271768"/>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227330" lvl="2" indent="0" algn="l" defTabSz="914400" rtl="0" eaLnBrk="1" fontAlgn="auto" latinLnBrk="0" hangingPunct="1">
              <a:lnSpc>
                <a:spcPct val="107000"/>
              </a:lnSpc>
              <a:spcBef>
                <a:spcPts val="190"/>
              </a:spcBef>
              <a:spcAft>
                <a:spcPts val="80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When you click the Physical Count module under Inventory, it will display all the transactions based on filtered date and status in the physical count main window.</a:t>
            </a:r>
            <a:r>
              <a:rPr kumimoji="0" lang="en-PH" sz="10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2"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2"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grpSp>
        <p:nvGrpSpPr>
          <p:cNvPr id="17" name="Group 16">
            <a:extLst>
              <a:ext uri="{FF2B5EF4-FFF2-40B4-BE49-F238E27FC236}">
                <a16:creationId xmlns:a16="http://schemas.microsoft.com/office/drawing/2014/main" id="{453826BA-55E2-5CED-C24F-AA8A49F97DF5}"/>
              </a:ext>
            </a:extLst>
          </p:cNvPr>
          <p:cNvGrpSpPr/>
          <p:nvPr/>
        </p:nvGrpSpPr>
        <p:grpSpPr>
          <a:xfrm>
            <a:off x="5374888" y="1750321"/>
            <a:ext cx="6958917" cy="2475616"/>
            <a:chOff x="5374888" y="1750321"/>
            <a:chExt cx="6958917" cy="2475616"/>
          </a:xfrm>
        </p:grpSpPr>
        <p:pic>
          <p:nvPicPr>
            <p:cNvPr id="8" name="Picture 7">
              <a:extLst>
                <a:ext uri="{FF2B5EF4-FFF2-40B4-BE49-F238E27FC236}">
                  <a16:creationId xmlns:a16="http://schemas.microsoft.com/office/drawing/2014/main" id="{342E8646-EE7D-9070-A428-4B7B5D72E5A4}"/>
                </a:ext>
              </a:extLst>
            </p:cNvPr>
            <p:cNvPicPr>
              <a:picLocks noChangeAspect="1"/>
            </p:cNvPicPr>
            <p:nvPr/>
          </p:nvPicPr>
          <p:blipFill>
            <a:blip r:embed="rId3"/>
            <a:stretch>
              <a:fillRect/>
            </a:stretch>
          </p:blipFill>
          <p:spPr>
            <a:xfrm>
              <a:off x="5440559" y="1750321"/>
              <a:ext cx="6893246" cy="2475616"/>
            </a:xfrm>
            <a:prstGeom prst="rect">
              <a:avLst/>
            </a:prstGeom>
          </p:spPr>
        </p:pic>
        <p:sp>
          <p:nvSpPr>
            <p:cNvPr id="10" name="Rectangle 9">
              <a:extLst>
                <a:ext uri="{FF2B5EF4-FFF2-40B4-BE49-F238E27FC236}">
                  <a16:creationId xmlns:a16="http://schemas.microsoft.com/office/drawing/2014/main" id="{F18004E0-9A1A-AFE4-2288-F4A59C29D523}"/>
                </a:ext>
              </a:extLst>
            </p:cNvPr>
            <p:cNvSpPr/>
            <p:nvPr/>
          </p:nvSpPr>
          <p:spPr>
            <a:xfrm>
              <a:off x="5374888" y="3272472"/>
              <a:ext cx="990600" cy="17145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BC552671-65ED-7E1B-AC75-97C8D36B9BB8}"/>
                </a:ext>
              </a:extLst>
            </p:cNvPr>
            <p:cNvSpPr/>
            <p:nvPr/>
          </p:nvSpPr>
          <p:spPr>
            <a:xfrm>
              <a:off x="6404525" y="2179356"/>
              <a:ext cx="5929280" cy="126456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2" name="Straight Arrow Connector 11">
              <a:extLst>
                <a:ext uri="{FF2B5EF4-FFF2-40B4-BE49-F238E27FC236}">
                  <a16:creationId xmlns:a16="http://schemas.microsoft.com/office/drawing/2014/main" id="{23FA76C3-E2F6-5DC0-0C3F-7CB8267E6B98}"/>
                </a:ext>
              </a:extLst>
            </p:cNvPr>
            <p:cNvCxnSpPr>
              <a:cxnSpLocks/>
            </p:cNvCxnSpPr>
            <p:nvPr/>
          </p:nvCxnSpPr>
          <p:spPr>
            <a:xfrm flipV="1">
              <a:off x="6173984" y="3048430"/>
              <a:ext cx="230541" cy="27065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
        <p:nvSpPr>
          <p:cNvPr id="2" name="TextBox 1">
            <a:extLst>
              <a:ext uri="{FF2B5EF4-FFF2-40B4-BE49-F238E27FC236}">
                <a16:creationId xmlns:a16="http://schemas.microsoft.com/office/drawing/2014/main" id="{22ED6AA6-ECD7-3D0B-1150-534D5CACE223}"/>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Inventory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 Physical Count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entury Gothic" panose="020B0502020202020204" pitchFamily="34" charset="0"/>
              <a:ea typeface="+mn-ea"/>
              <a:cs typeface="+mn-cs"/>
            </a:endParaRPr>
          </a:p>
        </p:txBody>
      </p:sp>
      <p:sp>
        <p:nvSpPr>
          <p:cNvPr id="15" name="TextBox 14">
            <a:extLst>
              <a:ext uri="{FF2B5EF4-FFF2-40B4-BE49-F238E27FC236}">
                <a16:creationId xmlns:a16="http://schemas.microsoft.com/office/drawing/2014/main" id="{EE5D6CF7-FAFF-975C-AEE7-A62CEE60DAC4}"/>
              </a:ext>
            </a:extLst>
          </p:cNvPr>
          <p:cNvSpPr txBox="1"/>
          <p:nvPr/>
        </p:nvSpPr>
        <p:spPr>
          <a:xfrm>
            <a:off x="7525334" y="4654972"/>
            <a:ext cx="2552700" cy="281231"/>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PH"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Physical Count– Main Window</a:t>
            </a:r>
            <a:endParaRPr kumimoji="0" lang="en-US"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16" name="TextBox 15">
            <a:extLst>
              <a:ext uri="{FF2B5EF4-FFF2-40B4-BE49-F238E27FC236}">
                <a16:creationId xmlns:a16="http://schemas.microsoft.com/office/drawing/2014/main" id="{484B9B92-9883-DF31-8BE0-526AE3D823D9}"/>
              </a:ext>
            </a:extLst>
          </p:cNvPr>
          <p:cNvSpPr txBox="1"/>
          <p:nvPr/>
        </p:nvSpPr>
        <p:spPr>
          <a:xfrm>
            <a:off x="832872" y="2179356"/>
            <a:ext cx="3887062" cy="307777"/>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Main Window</a:t>
            </a:r>
            <a:endParaRPr kumimoji="0" lang="en-US" sz="1800" b="0" i="0" u="none" strike="noStrike" kern="1200" cap="none" spc="0" normalizeH="0" baseline="0" noProof="0" dirty="0">
              <a:ln>
                <a:noFill/>
              </a:ln>
              <a:solidFill>
                <a:srgbClr val="007434"/>
              </a:solidFill>
              <a:effectLst/>
              <a:uLnTx/>
              <a:uFillTx/>
              <a:latin typeface="Calibri Light" panose="020F0302020204030204" pitchFamily="34" charset="0"/>
              <a:ea typeface="+mn-ea"/>
              <a:cs typeface="Calibri Light" panose="020F0302020204030204" pitchFamily="34" charset="0"/>
            </a:endParaRPr>
          </a:p>
        </p:txBody>
      </p:sp>
      <p:sp>
        <p:nvSpPr>
          <p:cNvPr id="3" name="Slide Number Placeholder 9">
            <a:extLst>
              <a:ext uri="{FF2B5EF4-FFF2-40B4-BE49-F238E27FC236}">
                <a16:creationId xmlns:a16="http://schemas.microsoft.com/office/drawing/2014/main" id="{A23F8444-671F-6B01-E059-7404969D24C7}"/>
              </a:ext>
            </a:extLst>
          </p:cNvPr>
          <p:cNvSpPr>
            <a:spLocks noGrp="1"/>
          </p:cNvSpPr>
          <p:nvPr>
            <p:ph type="sldNum" sz="quarter" idx="12"/>
          </p:nvPr>
        </p:nvSpPr>
        <p:spPr>
          <a:xfrm>
            <a:off x="110541" y="6356350"/>
            <a:ext cx="540917"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6868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2384804B-EE2E-A346-8D83-E2034F24A0DC}"/>
              </a:ext>
            </a:extLst>
          </p:cNvPr>
          <p:cNvSpPr txBox="1"/>
          <p:nvPr/>
        </p:nvSpPr>
        <p:spPr>
          <a:xfrm>
            <a:off x="805110" y="1329093"/>
            <a:ext cx="3852819" cy="307777"/>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How To Create Physical Count Transaction?</a:t>
            </a:r>
            <a:endParaRPr kumimoji="0" lang="en-US" sz="1400" b="0" i="0" u="none" strike="noStrike" kern="1200" cap="none" spc="0" normalizeH="0" baseline="0" noProof="0" dirty="0">
              <a:ln>
                <a:noFill/>
              </a:ln>
              <a:solidFill>
                <a:srgbClr val="007434"/>
              </a:solidFill>
              <a:effectLst/>
              <a:uLnTx/>
              <a:uFillTx/>
              <a:latin typeface="Calibri Light" panose="020F0302020204030204" pitchFamily="34" charset="0"/>
              <a:ea typeface="+mn-ea"/>
              <a:cs typeface="Calibri Light" panose="020F0302020204030204" pitchFamily="34" charset="0"/>
            </a:endParaRPr>
          </a:p>
        </p:txBody>
      </p:sp>
      <p:sp>
        <p:nvSpPr>
          <p:cNvPr id="12" name="Text Box 18">
            <a:extLst>
              <a:ext uri="{FF2B5EF4-FFF2-40B4-BE49-F238E27FC236}">
                <a16:creationId xmlns:a16="http://schemas.microsoft.com/office/drawing/2014/main" id="{9A8214E9-BA24-C1CD-FE2E-59471D8D7178}"/>
              </a:ext>
            </a:extLst>
          </p:cNvPr>
          <p:cNvSpPr txBox="1"/>
          <p:nvPr/>
        </p:nvSpPr>
        <p:spPr>
          <a:xfrm>
            <a:off x="589597" y="2031938"/>
            <a:ext cx="4179346" cy="3019197"/>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457200" marR="0" lvl="0" indent="-228600" algn="l" defTabSz="914400" rtl="0" eaLnBrk="1" fontAlgn="auto" latinLnBrk="0" hangingPunct="1">
              <a:lnSpc>
                <a:spcPct val="115000"/>
              </a:lnSpc>
              <a:spcBef>
                <a:spcPts val="0"/>
              </a:spcBef>
              <a:spcAft>
                <a:spcPts val="0"/>
              </a:spcAft>
              <a:buClr>
                <a:srgbClr val="00863D"/>
              </a:buClr>
              <a:buSzPct val="102000"/>
              <a:buFont typeface="+mj-lt"/>
              <a:buAutoNum type="arabicPeriod"/>
              <a:tabLst/>
              <a:defRPr/>
            </a:pP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In Physical Count – Main Window, you will notice a create button in the upper left of the window. Click the create button and you will be redirect in physical count – main form.</a:t>
            </a:r>
          </a:p>
          <a:p>
            <a:pPr marL="457200" marR="0" lvl="0" indent="-228600" algn="l" defTabSz="914400" rtl="0" eaLnBrk="1" fontAlgn="auto" latinLnBrk="0" hangingPunct="1">
              <a:lnSpc>
                <a:spcPct val="115000"/>
              </a:lnSpc>
              <a:spcBef>
                <a:spcPts val="0"/>
              </a:spcBef>
              <a:spcAft>
                <a:spcPts val="0"/>
              </a:spcAft>
              <a:buClr>
                <a:srgbClr val="00863D"/>
              </a:buClr>
              <a:buSzPct val="102000"/>
              <a:buFont typeface="+mj-lt"/>
              <a:buAutoNum type="arabicPeriod"/>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457200" marR="0" lvl="0" indent="-228600" algn="l" defTabSz="914400" rtl="0" eaLnBrk="1" fontAlgn="auto" latinLnBrk="0" hangingPunct="1">
              <a:lnSpc>
                <a:spcPct val="115000"/>
              </a:lnSpc>
              <a:spcBef>
                <a:spcPts val="0"/>
              </a:spcBef>
              <a:spcAft>
                <a:spcPts val="0"/>
              </a:spcAft>
              <a:buClr>
                <a:srgbClr val="00863D"/>
              </a:buClr>
              <a:buSzPct val="102000"/>
              <a:buFont typeface="+mj-lt"/>
              <a:buAutoNum type="arabicPeriod"/>
              <a:tabLst/>
              <a:defRPr/>
            </a:pP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After you click the create button, the system will generate automatic document # and plot the default warehouse. You may encode other details needed for your transaction.</a:t>
            </a:r>
            <a:r>
              <a:rPr kumimoji="0" lang="en-PH" sz="12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457200" marR="0" lvl="0" indent="-228600" algn="l" defTabSz="914400" rtl="0" eaLnBrk="1" fontAlgn="auto" latinLnBrk="0" hangingPunct="1">
              <a:lnSpc>
                <a:spcPct val="115000"/>
              </a:lnSpc>
              <a:spcBef>
                <a:spcPts val="0"/>
              </a:spcBef>
              <a:spcAft>
                <a:spcPts val="0"/>
              </a:spcAft>
              <a:buClr>
                <a:srgbClr val="00863D"/>
              </a:buClr>
              <a:buSzPct val="102000"/>
              <a:buFont typeface="+mj-lt"/>
              <a:buAutoNum type="arabicPeriod"/>
              <a:tabLst/>
              <a:defRPr/>
            </a:pPr>
            <a:endParaRPr kumimoji="0" lang="en-US" sz="1100" b="0" i="0" u="none" strike="noStrike" kern="1200" cap="all" spc="0" normalizeH="0" baseline="0" noProof="0" dirty="0">
              <a:ln>
                <a:noFill/>
              </a:ln>
              <a:solidFill>
                <a:srgbClr val="4472C4"/>
              </a:solidFill>
              <a:effectLst/>
              <a:uLnTx/>
              <a:uFillTx/>
              <a:latin typeface="Calibri" panose="020F0502020204030204" pitchFamily="34" charset="0"/>
              <a:ea typeface="Times New Roman" panose="02020603050405020304" pitchFamily="18" charset="0"/>
              <a:cs typeface="Times New Roman" panose="02020603050405020304" pitchFamily="18" charset="0"/>
            </a:endParaRPr>
          </a:p>
          <a:p>
            <a:pPr marL="457200" marR="0" lvl="0" indent="-228600" algn="l" defTabSz="914400" rtl="0" eaLnBrk="1" fontAlgn="auto" latinLnBrk="0" hangingPunct="1">
              <a:lnSpc>
                <a:spcPct val="115000"/>
              </a:lnSpc>
              <a:spcBef>
                <a:spcPts val="0"/>
              </a:spcBef>
              <a:spcAft>
                <a:spcPts val="0"/>
              </a:spcAft>
              <a:buClr>
                <a:srgbClr val="00863D"/>
              </a:buClr>
              <a:buSzPct val="102000"/>
              <a:buFont typeface="+mj-lt"/>
              <a:buAutoNum type="arabicPeriod"/>
              <a:tabLst/>
              <a:defRPr/>
            </a:pP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If done in header, click save button.</a:t>
            </a:r>
            <a:endParaRPr kumimoji="0" lang="en-US" sz="105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grpSp>
        <p:nvGrpSpPr>
          <p:cNvPr id="9" name="Group 8">
            <a:extLst>
              <a:ext uri="{FF2B5EF4-FFF2-40B4-BE49-F238E27FC236}">
                <a16:creationId xmlns:a16="http://schemas.microsoft.com/office/drawing/2014/main" id="{0955C99F-A1EC-CD1D-7124-6B08DF587A03}"/>
              </a:ext>
            </a:extLst>
          </p:cNvPr>
          <p:cNvGrpSpPr/>
          <p:nvPr/>
        </p:nvGrpSpPr>
        <p:grpSpPr>
          <a:xfrm>
            <a:off x="5209109" y="1003114"/>
            <a:ext cx="6412637" cy="1085873"/>
            <a:chOff x="5178038" y="-51605"/>
            <a:chExt cx="6412637" cy="1085873"/>
          </a:xfrm>
        </p:grpSpPr>
        <p:pic>
          <p:nvPicPr>
            <p:cNvPr id="8" name="Picture 7">
              <a:extLst>
                <a:ext uri="{FF2B5EF4-FFF2-40B4-BE49-F238E27FC236}">
                  <a16:creationId xmlns:a16="http://schemas.microsoft.com/office/drawing/2014/main" id="{888011C5-016E-27C0-0B1D-B6309AF999CB}"/>
                </a:ext>
              </a:extLst>
            </p:cNvPr>
            <p:cNvPicPr>
              <a:picLocks noChangeAspect="1"/>
            </p:cNvPicPr>
            <p:nvPr/>
          </p:nvPicPr>
          <p:blipFill>
            <a:blip r:embed="rId2"/>
            <a:stretch>
              <a:fillRect/>
            </a:stretch>
          </p:blipFill>
          <p:spPr>
            <a:xfrm>
              <a:off x="5178038" y="-51605"/>
              <a:ext cx="6412637" cy="1085873"/>
            </a:xfrm>
            <a:prstGeom prst="rect">
              <a:avLst/>
            </a:prstGeom>
          </p:spPr>
        </p:pic>
        <p:grpSp>
          <p:nvGrpSpPr>
            <p:cNvPr id="37" name="Group 36">
              <a:extLst>
                <a:ext uri="{FF2B5EF4-FFF2-40B4-BE49-F238E27FC236}">
                  <a16:creationId xmlns:a16="http://schemas.microsoft.com/office/drawing/2014/main" id="{F0CBA4B8-FE60-879F-A50D-EFE3456D6BB9}"/>
                </a:ext>
              </a:extLst>
            </p:cNvPr>
            <p:cNvGrpSpPr/>
            <p:nvPr/>
          </p:nvGrpSpPr>
          <p:grpSpPr>
            <a:xfrm>
              <a:off x="5178038" y="115588"/>
              <a:ext cx="1209675" cy="333375"/>
              <a:chOff x="0" y="-1055020"/>
              <a:chExt cx="1209675" cy="333375"/>
            </a:xfrm>
          </p:grpSpPr>
          <p:sp>
            <p:nvSpPr>
              <p:cNvPr id="39" name="Rectangle 38">
                <a:extLst>
                  <a:ext uri="{FF2B5EF4-FFF2-40B4-BE49-F238E27FC236}">
                    <a16:creationId xmlns:a16="http://schemas.microsoft.com/office/drawing/2014/main" id="{87CCF5BE-7018-0302-D4E7-ABA17640CBA8}"/>
                  </a:ext>
                </a:extLst>
              </p:cNvPr>
              <p:cNvSpPr/>
              <p:nvPr/>
            </p:nvSpPr>
            <p:spPr>
              <a:xfrm>
                <a:off x="0" y="-1055020"/>
                <a:ext cx="800100" cy="33337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40" name="Straight Arrow Connector 39">
                <a:extLst>
                  <a:ext uri="{FF2B5EF4-FFF2-40B4-BE49-F238E27FC236}">
                    <a16:creationId xmlns:a16="http://schemas.microsoft.com/office/drawing/2014/main" id="{62633670-1FBD-4149-FAB1-66951CB3915E}"/>
                  </a:ext>
                </a:extLst>
              </p:cNvPr>
              <p:cNvCxnSpPr/>
              <p:nvPr/>
            </p:nvCxnSpPr>
            <p:spPr>
              <a:xfrm>
                <a:off x="800100" y="-92167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1" name="Text Box 355">
                <a:extLst>
                  <a:ext uri="{FF2B5EF4-FFF2-40B4-BE49-F238E27FC236}">
                    <a16:creationId xmlns:a16="http://schemas.microsoft.com/office/drawing/2014/main" id="{6AA2D00E-0A25-569D-331D-16D775C28166}"/>
                  </a:ext>
                </a:extLst>
              </p:cNvPr>
              <p:cNvSpPr txBox="1"/>
              <p:nvPr/>
            </p:nvSpPr>
            <p:spPr>
              <a:xfrm>
                <a:off x="1009650" y="-1026445"/>
                <a:ext cx="2000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a:t>
                </a:r>
              </a:p>
            </p:txBody>
          </p:sp>
        </p:grpSp>
      </p:grpSp>
      <p:pic>
        <p:nvPicPr>
          <p:cNvPr id="49" name="Picture 48">
            <a:extLst>
              <a:ext uri="{FF2B5EF4-FFF2-40B4-BE49-F238E27FC236}">
                <a16:creationId xmlns:a16="http://schemas.microsoft.com/office/drawing/2014/main" id="{693359DA-0E35-C2AE-7680-F17A03960CEF}"/>
              </a:ext>
            </a:extLst>
          </p:cNvPr>
          <p:cNvPicPr>
            <a:picLocks noChangeAspect="1"/>
          </p:cNvPicPr>
          <p:nvPr/>
        </p:nvPicPr>
        <p:blipFill>
          <a:blip r:embed="rId3"/>
          <a:stretch>
            <a:fillRect/>
          </a:stretch>
        </p:blipFill>
        <p:spPr>
          <a:xfrm>
            <a:off x="10780479" y="6391410"/>
            <a:ext cx="1047454" cy="267619"/>
          </a:xfrm>
          <a:prstGeom prst="rect">
            <a:avLst/>
          </a:prstGeom>
          <a:effectLst/>
        </p:spPr>
      </p:pic>
      <p:sp>
        <p:nvSpPr>
          <p:cNvPr id="2" name="TextBox 1">
            <a:extLst>
              <a:ext uri="{FF2B5EF4-FFF2-40B4-BE49-F238E27FC236}">
                <a16:creationId xmlns:a16="http://schemas.microsoft.com/office/drawing/2014/main" id="{310E81AA-5D48-07FE-D45B-613BEC4C42B3}"/>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Inventory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 Physical Count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entury Gothic" panose="020B0502020202020204" pitchFamily="34" charset="0"/>
              <a:ea typeface="+mn-ea"/>
              <a:cs typeface="+mn-cs"/>
            </a:endParaRPr>
          </a:p>
        </p:txBody>
      </p:sp>
      <p:pic>
        <p:nvPicPr>
          <p:cNvPr id="11" name="Picture 10">
            <a:extLst>
              <a:ext uri="{FF2B5EF4-FFF2-40B4-BE49-F238E27FC236}">
                <a16:creationId xmlns:a16="http://schemas.microsoft.com/office/drawing/2014/main" id="{8DE242EA-F8FE-3245-FE4C-953362E74B39}"/>
              </a:ext>
            </a:extLst>
          </p:cNvPr>
          <p:cNvPicPr>
            <a:picLocks noChangeAspect="1"/>
          </p:cNvPicPr>
          <p:nvPr/>
        </p:nvPicPr>
        <p:blipFill>
          <a:blip r:embed="rId4"/>
          <a:stretch>
            <a:fillRect/>
          </a:stretch>
        </p:blipFill>
        <p:spPr>
          <a:xfrm>
            <a:off x="5209109" y="3042674"/>
            <a:ext cx="6412637" cy="2095256"/>
          </a:xfrm>
          <a:prstGeom prst="rect">
            <a:avLst/>
          </a:prstGeom>
        </p:spPr>
      </p:pic>
      <p:sp>
        <p:nvSpPr>
          <p:cNvPr id="13" name="Text Box 406">
            <a:extLst>
              <a:ext uri="{FF2B5EF4-FFF2-40B4-BE49-F238E27FC236}">
                <a16:creationId xmlns:a16="http://schemas.microsoft.com/office/drawing/2014/main" id="{52013C73-A8D9-C5F5-5F53-3C1ABC1F7DF0}"/>
              </a:ext>
            </a:extLst>
          </p:cNvPr>
          <p:cNvSpPr txBox="1"/>
          <p:nvPr/>
        </p:nvSpPr>
        <p:spPr>
          <a:xfrm>
            <a:off x="5148121" y="2756924"/>
            <a:ext cx="78740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Header</a:t>
            </a:r>
          </a:p>
        </p:txBody>
      </p:sp>
      <p:sp>
        <p:nvSpPr>
          <p:cNvPr id="14" name="Rectangle 13">
            <a:extLst>
              <a:ext uri="{FF2B5EF4-FFF2-40B4-BE49-F238E27FC236}">
                <a16:creationId xmlns:a16="http://schemas.microsoft.com/office/drawing/2014/main" id="{B4255341-A947-78AE-AADE-C65F636EF14A}"/>
              </a:ext>
            </a:extLst>
          </p:cNvPr>
          <p:cNvSpPr/>
          <p:nvPr/>
        </p:nvSpPr>
        <p:spPr>
          <a:xfrm>
            <a:off x="9821398" y="3233882"/>
            <a:ext cx="482979" cy="237408"/>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5" name="Straight Arrow Connector 14">
            <a:extLst>
              <a:ext uri="{FF2B5EF4-FFF2-40B4-BE49-F238E27FC236}">
                <a16:creationId xmlns:a16="http://schemas.microsoft.com/office/drawing/2014/main" id="{7258A838-7300-DDCB-B20A-3EBF435C4AFE}"/>
              </a:ext>
            </a:extLst>
          </p:cNvPr>
          <p:cNvCxnSpPr/>
          <p:nvPr/>
        </p:nvCxnSpPr>
        <p:spPr>
          <a:xfrm>
            <a:off x="10281517" y="3243407"/>
            <a:ext cx="193040" cy="76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6" name="Text Box 388">
            <a:extLst>
              <a:ext uri="{FF2B5EF4-FFF2-40B4-BE49-F238E27FC236}">
                <a16:creationId xmlns:a16="http://schemas.microsoft.com/office/drawing/2014/main" id="{397CEA4E-2ED3-FF52-B3CD-DBCE5C2EDF22}"/>
              </a:ext>
            </a:extLst>
          </p:cNvPr>
          <p:cNvSpPr txBox="1"/>
          <p:nvPr/>
        </p:nvSpPr>
        <p:spPr>
          <a:xfrm>
            <a:off x="10484082" y="3130377"/>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3</a:t>
            </a:r>
          </a:p>
        </p:txBody>
      </p:sp>
      <p:sp>
        <p:nvSpPr>
          <p:cNvPr id="17" name="Rectangle 16">
            <a:extLst>
              <a:ext uri="{FF2B5EF4-FFF2-40B4-BE49-F238E27FC236}">
                <a16:creationId xmlns:a16="http://schemas.microsoft.com/office/drawing/2014/main" id="{AA0412FC-15A8-A8E5-CA65-245346A381B8}"/>
              </a:ext>
            </a:extLst>
          </p:cNvPr>
          <p:cNvSpPr/>
          <p:nvPr/>
        </p:nvSpPr>
        <p:spPr>
          <a:xfrm>
            <a:off x="5273335" y="3486530"/>
            <a:ext cx="6329067" cy="592094"/>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 name="Text Box 388">
            <a:extLst>
              <a:ext uri="{FF2B5EF4-FFF2-40B4-BE49-F238E27FC236}">
                <a16:creationId xmlns:a16="http://schemas.microsoft.com/office/drawing/2014/main" id="{2C36A3CD-3535-E490-58B1-D72F7D3F2E09}"/>
              </a:ext>
            </a:extLst>
          </p:cNvPr>
          <p:cNvSpPr txBox="1"/>
          <p:nvPr/>
        </p:nvSpPr>
        <p:spPr>
          <a:xfrm>
            <a:off x="7866649" y="3782577"/>
            <a:ext cx="474979" cy="237408"/>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2</a:t>
            </a:r>
          </a:p>
        </p:txBody>
      </p:sp>
      <p:sp>
        <p:nvSpPr>
          <p:cNvPr id="4" name="Slide Number Placeholder 9">
            <a:extLst>
              <a:ext uri="{FF2B5EF4-FFF2-40B4-BE49-F238E27FC236}">
                <a16:creationId xmlns:a16="http://schemas.microsoft.com/office/drawing/2014/main" id="{5482324E-FEEB-9C7C-820E-30B7C513090B}"/>
              </a:ext>
            </a:extLst>
          </p:cNvPr>
          <p:cNvSpPr>
            <a:spLocks noGrp="1"/>
          </p:cNvSpPr>
          <p:nvPr>
            <p:ph type="sldNum" sz="quarter" idx="12"/>
          </p:nvPr>
        </p:nvSpPr>
        <p:spPr>
          <a:xfrm>
            <a:off x="110541" y="6356350"/>
            <a:ext cx="540917"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563159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FC496B6-2101-BF2A-8C8D-ABD12D277700}"/>
              </a:ext>
            </a:extLst>
          </p:cNvPr>
          <p:cNvPicPr>
            <a:picLocks noChangeAspect="1"/>
          </p:cNvPicPr>
          <p:nvPr/>
        </p:nvPicPr>
        <p:blipFill>
          <a:blip r:embed="rId2"/>
          <a:stretch>
            <a:fillRect/>
          </a:stretch>
        </p:blipFill>
        <p:spPr>
          <a:xfrm>
            <a:off x="5444211" y="1466517"/>
            <a:ext cx="6412637" cy="2095256"/>
          </a:xfrm>
          <a:prstGeom prst="rect">
            <a:avLst/>
          </a:prstGeom>
        </p:spPr>
      </p:pic>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4" name="Text Box 18">
            <a:extLst>
              <a:ext uri="{FF2B5EF4-FFF2-40B4-BE49-F238E27FC236}">
                <a16:creationId xmlns:a16="http://schemas.microsoft.com/office/drawing/2014/main" id="{5F604CD2-37AD-720F-6809-08E563572769}"/>
              </a:ext>
            </a:extLst>
          </p:cNvPr>
          <p:cNvSpPr txBox="1"/>
          <p:nvPr/>
        </p:nvSpPr>
        <p:spPr>
          <a:xfrm>
            <a:off x="608034" y="2481926"/>
            <a:ext cx="4179346" cy="1798820"/>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457200" marR="0" lvl="0" indent="-228600" algn="l" defTabSz="914400" rtl="0" eaLnBrk="1" fontAlgn="auto" latinLnBrk="0" hangingPunct="1">
              <a:lnSpc>
                <a:spcPct val="115000"/>
              </a:lnSpc>
              <a:spcBef>
                <a:spcPts val="0"/>
              </a:spcBef>
              <a:spcAft>
                <a:spcPts val="0"/>
              </a:spcAft>
              <a:buClr>
                <a:srgbClr val="00863D"/>
              </a:buClr>
              <a:buSzTx/>
              <a:buFont typeface="+mj-lt"/>
              <a:buAutoNum type="arabicPeriod" startAt="4"/>
              <a:tabLst/>
              <a:defRPr/>
            </a:pPr>
            <a:r>
              <a:rPr kumimoji="0" lang="en-US" sz="1200" b="0"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rPr>
              <a:t>After saving the header, you may now add the item in the stock by clicking add button. </a:t>
            </a:r>
          </a:p>
          <a:p>
            <a:pPr marL="457200" marR="0" lvl="0" indent="-228600" algn="l" defTabSz="914400" rtl="0" eaLnBrk="1" fontAlgn="auto" latinLnBrk="0" hangingPunct="1">
              <a:lnSpc>
                <a:spcPct val="115000"/>
              </a:lnSpc>
              <a:spcBef>
                <a:spcPts val="0"/>
              </a:spcBef>
              <a:spcAft>
                <a:spcPts val="0"/>
              </a:spcAft>
              <a:buClr>
                <a:srgbClr val="00863D"/>
              </a:buClr>
              <a:buSzTx/>
              <a:buFont typeface="+mj-lt"/>
              <a:buAutoNum type="arabicPeriod" startAt="4"/>
              <a:tabLst/>
              <a:defRPr/>
            </a:pPr>
            <a:endParaRPr kumimoji="0" lang="en-US" sz="1200" b="0"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457200" marR="0" lvl="0" indent="-228600" algn="l" defTabSz="914400" rtl="0" eaLnBrk="1" fontAlgn="auto" latinLnBrk="0" hangingPunct="1">
              <a:lnSpc>
                <a:spcPct val="115000"/>
              </a:lnSpc>
              <a:spcBef>
                <a:spcPts val="0"/>
              </a:spcBef>
              <a:spcAft>
                <a:spcPts val="0"/>
              </a:spcAft>
              <a:buClr>
                <a:srgbClr val="00863D"/>
              </a:buClr>
              <a:buSzTx/>
              <a:buFont typeface="+mj-lt"/>
              <a:buAutoNum type="arabicPeriod" startAt="4"/>
              <a:tabLst/>
              <a:defRPr/>
            </a:pPr>
            <a:r>
              <a:rPr kumimoji="0" lang="en-US" sz="1200" b="0"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rPr>
              <a:t>After you click the add button, a dialog box with item list pop out, search and select the item</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9" name="Rectangle 8">
            <a:extLst>
              <a:ext uri="{FF2B5EF4-FFF2-40B4-BE49-F238E27FC236}">
                <a16:creationId xmlns:a16="http://schemas.microsoft.com/office/drawing/2014/main" id="{F2AE684C-E214-8751-1D5F-00C020BE18EE}"/>
              </a:ext>
            </a:extLst>
          </p:cNvPr>
          <p:cNvSpPr/>
          <p:nvPr/>
        </p:nvSpPr>
        <p:spPr>
          <a:xfrm>
            <a:off x="5534346" y="2628680"/>
            <a:ext cx="6322502" cy="941355"/>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Text Box 465">
            <a:extLst>
              <a:ext uri="{FF2B5EF4-FFF2-40B4-BE49-F238E27FC236}">
                <a16:creationId xmlns:a16="http://schemas.microsoft.com/office/drawing/2014/main" id="{94C679E0-B882-8A7E-A21F-A4A45FA9790B}"/>
              </a:ext>
            </a:extLst>
          </p:cNvPr>
          <p:cNvSpPr txBox="1"/>
          <p:nvPr/>
        </p:nvSpPr>
        <p:spPr>
          <a:xfrm>
            <a:off x="4725831" y="3095586"/>
            <a:ext cx="78740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Stock</a:t>
            </a:r>
          </a:p>
        </p:txBody>
      </p:sp>
      <p:sp>
        <p:nvSpPr>
          <p:cNvPr id="20" name="Rectangle 19">
            <a:extLst>
              <a:ext uri="{FF2B5EF4-FFF2-40B4-BE49-F238E27FC236}">
                <a16:creationId xmlns:a16="http://schemas.microsoft.com/office/drawing/2014/main" id="{1CC44169-3E2B-F7E4-F98A-C59721EE58F7}"/>
              </a:ext>
            </a:extLst>
          </p:cNvPr>
          <p:cNvSpPr/>
          <p:nvPr/>
        </p:nvSpPr>
        <p:spPr>
          <a:xfrm>
            <a:off x="9590594" y="2591532"/>
            <a:ext cx="574149" cy="18415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9" name="Straight Arrow Connector 28">
            <a:extLst>
              <a:ext uri="{FF2B5EF4-FFF2-40B4-BE49-F238E27FC236}">
                <a16:creationId xmlns:a16="http://schemas.microsoft.com/office/drawing/2014/main" id="{CF6F27EA-FF73-A013-6D5A-BDB5F9031912}"/>
              </a:ext>
            </a:extLst>
          </p:cNvPr>
          <p:cNvCxnSpPr/>
          <p:nvPr/>
        </p:nvCxnSpPr>
        <p:spPr>
          <a:xfrm>
            <a:off x="10164743" y="2688398"/>
            <a:ext cx="193040" cy="76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0" name="Text Box 454">
            <a:extLst>
              <a:ext uri="{FF2B5EF4-FFF2-40B4-BE49-F238E27FC236}">
                <a16:creationId xmlns:a16="http://schemas.microsoft.com/office/drawing/2014/main" id="{7224715B-1E23-7A83-F488-04431D885CF7}"/>
              </a:ext>
            </a:extLst>
          </p:cNvPr>
          <p:cNvSpPr txBox="1"/>
          <p:nvPr/>
        </p:nvSpPr>
        <p:spPr>
          <a:xfrm>
            <a:off x="10365262" y="2543188"/>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4</a:t>
            </a:r>
          </a:p>
        </p:txBody>
      </p:sp>
      <p:grpSp>
        <p:nvGrpSpPr>
          <p:cNvPr id="32" name="Group 31">
            <a:extLst>
              <a:ext uri="{FF2B5EF4-FFF2-40B4-BE49-F238E27FC236}">
                <a16:creationId xmlns:a16="http://schemas.microsoft.com/office/drawing/2014/main" id="{C4F38157-C361-DA5C-BACD-03EADEDACB52}"/>
              </a:ext>
            </a:extLst>
          </p:cNvPr>
          <p:cNvGrpSpPr/>
          <p:nvPr/>
        </p:nvGrpSpPr>
        <p:grpSpPr>
          <a:xfrm>
            <a:off x="5721100" y="4356126"/>
            <a:ext cx="5995451" cy="1448759"/>
            <a:chOff x="0" y="0"/>
            <a:chExt cx="6189345" cy="1583690"/>
          </a:xfrm>
        </p:grpSpPr>
        <p:pic>
          <p:nvPicPr>
            <p:cNvPr id="33" name="Picture 32">
              <a:extLst>
                <a:ext uri="{FF2B5EF4-FFF2-40B4-BE49-F238E27FC236}">
                  <a16:creationId xmlns:a16="http://schemas.microsoft.com/office/drawing/2014/main" id="{453211E4-1924-B39E-3A89-41A6CD1C4B4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6189345" cy="1583690"/>
            </a:xfrm>
            <a:prstGeom prst="rect">
              <a:avLst/>
            </a:prstGeom>
          </p:spPr>
        </p:pic>
        <p:sp>
          <p:nvSpPr>
            <p:cNvPr id="34" name="Rectangle 33">
              <a:extLst>
                <a:ext uri="{FF2B5EF4-FFF2-40B4-BE49-F238E27FC236}">
                  <a16:creationId xmlns:a16="http://schemas.microsoft.com/office/drawing/2014/main" id="{D3D42B14-48EB-7076-2456-FEA478C1979F}"/>
                </a:ext>
              </a:extLst>
            </p:cNvPr>
            <p:cNvSpPr/>
            <p:nvPr/>
          </p:nvSpPr>
          <p:spPr>
            <a:xfrm>
              <a:off x="241300" y="438150"/>
              <a:ext cx="1482280" cy="37942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35" name="Straight Arrow Connector 34">
              <a:extLst>
                <a:ext uri="{FF2B5EF4-FFF2-40B4-BE49-F238E27FC236}">
                  <a16:creationId xmlns:a16="http://schemas.microsoft.com/office/drawing/2014/main" id="{B9D8555A-E7BD-846E-C722-511BEF2F509A}"/>
                </a:ext>
              </a:extLst>
            </p:cNvPr>
            <p:cNvCxnSpPr/>
            <p:nvPr/>
          </p:nvCxnSpPr>
          <p:spPr>
            <a:xfrm>
              <a:off x="1695450" y="736600"/>
              <a:ext cx="193040" cy="76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6" name="Text Box 545">
              <a:extLst>
                <a:ext uri="{FF2B5EF4-FFF2-40B4-BE49-F238E27FC236}">
                  <a16:creationId xmlns:a16="http://schemas.microsoft.com/office/drawing/2014/main" id="{5DB3DB5A-D751-CE69-635C-30B4D142F278}"/>
                </a:ext>
              </a:extLst>
            </p:cNvPr>
            <p:cNvSpPr txBox="1"/>
            <p:nvPr/>
          </p:nvSpPr>
          <p:spPr>
            <a:xfrm>
              <a:off x="1898650" y="514350"/>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5</a:t>
              </a:r>
            </a:p>
          </p:txBody>
        </p:sp>
        <p:cxnSp>
          <p:nvCxnSpPr>
            <p:cNvPr id="37" name="Straight Arrow Connector 36">
              <a:extLst>
                <a:ext uri="{FF2B5EF4-FFF2-40B4-BE49-F238E27FC236}">
                  <a16:creationId xmlns:a16="http://schemas.microsoft.com/office/drawing/2014/main" id="{2BEA4194-F4AA-7675-95AC-7B559650D6F2}"/>
                </a:ext>
              </a:extLst>
            </p:cNvPr>
            <p:cNvCxnSpPr/>
            <p:nvPr/>
          </p:nvCxnSpPr>
          <p:spPr>
            <a:xfrm>
              <a:off x="4070350" y="1257300"/>
              <a:ext cx="193040" cy="76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8" name="Text Box 548">
              <a:extLst>
                <a:ext uri="{FF2B5EF4-FFF2-40B4-BE49-F238E27FC236}">
                  <a16:creationId xmlns:a16="http://schemas.microsoft.com/office/drawing/2014/main" id="{AC7C03D1-4077-3038-55A9-D1FADAFE3CE6}"/>
                </a:ext>
              </a:extLst>
            </p:cNvPr>
            <p:cNvSpPr txBox="1"/>
            <p:nvPr/>
          </p:nvSpPr>
          <p:spPr>
            <a:xfrm>
              <a:off x="4273550" y="1022350"/>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5</a:t>
              </a:r>
            </a:p>
          </p:txBody>
        </p:sp>
      </p:grpSp>
      <p:sp>
        <p:nvSpPr>
          <p:cNvPr id="2" name="TextBox 1">
            <a:extLst>
              <a:ext uri="{FF2B5EF4-FFF2-40B4-BE49-F238E27FC236}">
                <a16:creationId xmlns:a16="http://schemas.microsoft.com/office/drawing/2014/main" id="{ABEB4BCF-E384-47BE-FACA-CD74EB009DB1}"/>
              </a:ext>
            </a:extLst>
          </p:cNvPr>
          <p:cNvSpPr txBox="1"/>
          <p:nvPr/>
        </p:nvSpPr>
        <p:spPr>
          <a:xfrm>
            <a:off x="1522069" y="635946"/>
            <a:ext cx="3852819" cy="307777"/>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How To Create Physical Count Transaction?</a:t>
            </a:r>
            <a:endParaRPr kumimoji="0" lang="en-US" sz="1400" b="0" i="0" u="none" strike="noStrike" kern="1200" cap="none" spc="0" normalizeH="0" baseline="0" noProof="0" dirty="0">
              <a:ln>
                <a:noFill/>
              </a:ln>
              <a:solidFill>
                <a:srgbClr val="007434"/>
              </a:solidFill>
              <a:effectLst/>
              <a:uLnTx/>
              <a:uFillTx/>
              <a:latin typeface="Calibri Light" panose="020F0302020204030204" pitchFamily="34" charset="0"/>
              <a:ea typeface="+mn-ea"/>
              <a:cs typeface="Calibri Light" panose="020F0302020204030204" pitchFamily="34" charset="0"/>
            </a:endParaRPr>
          </a:p>
        </p:txBody>
      </p:sp>
      <p:sp>
        <p:nvSpPr>
          <p:cNvPr id="6" name="TextBox 5">
            <a:extLst>
              <a:ext uri="{FF2B5EF4-FFF2-40B4-BE49-F238E27FC236}">
                <a16:creationId xmlns:a16="http://schemas.microsoft.com/office/drawing/2014/main" id="{65DBF08D-A638-5B22-EEBC-DBDBA0FEFF62}"/>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Inventory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 Physical Count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entury Gothic" panose="020B0502020202020204" pitchFamily="34" charset="0"/>
              <a:ea typeface="+mn-ea"/>
              <a:cs typeface="+mn-cs"/>
            </a:endParaRPr>
          </a:p>
        </p:txBody>
      </p:sp>
      <p:sp>
        <p:nvSpPr>
          <p:cNvPr id="5" name="Slide Number Placeholder 9">
            <a:extLst>
              <a:ext uri="{FF2B5EF4-FFF2-40B4-BE49-F238E27FC236}">
                <a16:creationId xmlns:a16="http://schemas.microsoft.com/office/drawing/2014/main" id="{42A502F3-F600-D237-3C61-845362C10961}"/>
              </a:ext>
            </a:extLst>
          </p:cNvPr>
          <p:cNvSpPr>
            <a:spLocks noGrp="1"/>
          </p:cNvSpPr>
          <p:nvPr>
            <p:ph type="sldNum" sz="quarter" idx="12"/>
          </p:nvPr>
        </p:nvSpPr>
        <p:spPr>
          <a:xfrm>
            <a:off x="110541" y="6356350"/>
            <a:ext cx="540917"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775720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4" name="Text Box 18">
            <a:extLst>
              <a:ext uri="{FF2B5EF4-FFF2-40B4-BE49-F238E27FC236}">
                <a16:creationId xmlns:a16="http://schemas.microsoft.com/office/drawing/2014/main" id="{5F604CD2-37AD-720F-6809-08E563572769}"/>
              </a:ext>
            </a:extLst>
          </p:cNvPr>
          <p:cNvSpPr txBox="1"/>
          <p:nvPr/>
        </p:nvSpPr>
        <p:spPr>
          <a:xfrm>
            <a:off x="498199" y="1534309"/>
            <a:ext cx="4179346" cy="4685214"/>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37" name="Text Box 18">
            <a:extLst>
              <a:ext uri="{FF2B5EF4-FFF2-40B4-BE49-F238E27FC236}">
                <a16:creationId xmlns:a16="http://schemas.microsoft.com/office/drawing/2014/main" id="{099D3CDB-CFB5-7113-F83E-473C98B007A9}"/>
              </a:ext>
            </a:extLst>
          </p:cNvPr>
          <p:cNvSpPr txBox="1"/>
          <p:nvPr/>
        </p:nvSpPr>
        <p:spPr>
          <a:xfrm>
            <a:off x="498199" y="2543365"/>
            <a:ext cx="4179346" cy="1925690"/>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5.1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After you select the item, a dialog box where item details will be encoded will pop out.</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5.2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Enter the necessary quantity, change the amount, </a:t>
            </a:r>
            <a:r>
              <a:rPr kumimoji="0" lang="en-US" sz="1200" b="0" i="0" u="none" strike="noStrike" kern="1200" cap="none" spc="0" normalizeH="0" baseline="0" noProof="0" dirty="0" err="1">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uom</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warehouse.</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5.3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If done, click add to cart button.</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grpSp>
        <p:nvGrpSpPr>
          <p:cNvPr id="46" name="Group 45">
            <a:extLst>
              <a:ext uri="{FF2B5EF4-FFF2-40B4-BE49-F238E27FC236}">
                <a16:creationId xmlns:a16="http://schemas.microsoft.com/office/drawing/2014/main" id="{429E73B2-666F-4673-085D-8006A91D7328}"/>
              </a:ext>
            </a:extLst>
          </p:cNvPr>
          <p:cNvGrpSpPr/>
          <p:nvPr/>
        </p:nvGrpSpPr>
        <p:grpSpPr>
          <a:xfrm>
            <a:off x="5504456" y="1481274"/>
            <a:ext cx="6189345" cy="4335145"/>
            <a:chOff x="5504456" y="638477"/>
            <a:chExt cx="6189345" cy="4335145"/>
          </a:xfrm>
        </p:grpSpPr>
        <p:pic>
          <p:nvPicPr>
            <p:cNvPr id="38" name="Picture 37">
              <a:extLst>
                <a:ext uri="{FF2B5EF4-FFF2-40B4-BE49-F238E27FC236}">
                  <a16:creationId xmlns:a16="http://schemas.microsoft.com/office/drawing/2014/main" id="{633A6C2C-9BDF-9F9A-91D7-DBE8C6CD2D7F}"/>
                </a:ext>
              </a:extLst>
            </p:cNvPr>
            <p:cNvPicPr>
              <a:picLocks noChangeAspect="1"/>
            </p:cNvPicPr>
            <p:nvPr/>
          </p:nvPicPr>
          <p:blipFill>
            <a:blip r:embed="rId2"/>
            <a:stretch>
              <a:fillRect/>
            </a:stretch>
          </p:blipFill>
          <p:spPr>
            <a:xfrm>
              <a:off x="5504456" y="638477"/>
              <a:ext cx="6189345" cy="4335145"/>
            </a:xfrm>
            <a:prstGeom prst="rect">
              <a:avLst/>
            </a:prstGeom>
          </p:spPr>
        </p:pic>
        <p:grpSp>
          <p:nvGrpSpPr>
            <p:cNvPr id="45" name="Group 44">
              <a:extLst>
                <a:ext uri="{FF2B5EF4-FFF2-40B4-BE49-F238E27FC236}">
                  <a16:creationId xmlns:a16="http://schemas.microsoft.com/office/drawing/2014/main" id="{71367F95-1354-0905-C40C-A41E8CF4A1BC}"/>
                </a:ext>
              </a:extLst>
            </p:cNvPr>
            <p:cNvGrpSpPr/>
            <p:nvPr/>
          </p:nvGrpSpPr>
          <p:grpSpPr>
            <a:xfrm>
              <a:off x="5574338" y="1908625"/>
              <a:ext cx="5694045" cy="2943860"/>
              <a:chOff x="3248977" y="1957070"/>
              <a:chExt cx="5694045" cy="2943860"/>
            </a:xfrm>
          </p:grpSpPr>
          <p:sp>
            <p:nvSpPr>
              <p:cNvPr id="39" name="Rectangle 38">
                <a:extLst>
                  <a:ext uri="{FF2B5EF4-FFF2-40B4-BE49-F238E27FC236}">
                    <a16:creationId xmlns:a16="http://schemas.microsoft.com/office/drawing/2014/main" id="{27281933-B6C6-A621-0991-22EBD1C6797F}"/>
                  </a:ext>
                </a:extLst>
              </p:cNvPr>
              <p:cNvSpPr/>
              <p:nvPr/>
            </p:nvSpPr>
            <p:spPr>
              <a:xfrm>
                <a:off x="3248977" y="1957070"/>
                <a:ext cx="3120390" cy="249237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40" name="Straight Arrow Connector 39">
                <a:extLst>
                  <a:ext uri="{FF2B5EF4-FFF2-40B4-BE49-F238E27FC236}">
                    <a16:creationId xmlns:a16="http://schemas.microsoft.com/office/drawing/2014/main" id="{1D7AF9E1-9ADC-BDB0-5F74-A8E603390554}"/>
                  </a:ext>
                </a:extLst>
              </p:cNvPr>
              <p:cNvCxnSpPr/>
              <p:nvPr/>
            </p:nvCxnSpPr>
            <p:spPr>
              <a:xfrm flipV="1">
                <a:off x="6360477" y="4344035"/>
                <a:ext cx="201295" cy="5905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1" name="Text Box 562">
                <a:extLst>
                  <a:ext uri="{FF2B5EF4-FFF2-40B4-BE49-F238E27FC236}">
                    <a16:creationId xmlns:a16="http://schemas.microsoft.com/office/drawing/2014/main" id="{04E3F1E6-6D2F-6EF1-13E8-EB0BD9B6845A}"/>
                  </a:ext>
                </a:extLst>
              </p:cNvPr>
              <p:cNvSpPr txBox="1"/>
              <p:nvPr/>
            </p:nvSpPr>
            <p:spPr>
              <a:xfrm>
                <a:off x="6567487" y="4113530"/>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5.2.</a:t>
                </a:r>
              </a:p>
            </p:txBody>
          </p:sp>
          <p:sp>
            <p:nvSpPr>
              <p:cNvPr id="42" name="Rectangle 41">
                <a:extLst>
                  <a:ext uri="{FF2B5EF4-FFF2-40B4-BE49-F238E27FC236}">
                    <a16:creationId xmlns:a16="http://schemas.microsoft.com/office/drawing/2014/main" id="{ADF6A383-4782-8266-E380-4D28BB9F2261}"/>
                  </a:ext>
                </a:extLst>
              </p:cNvPr>
              <p:cNvSpPr/>
              <p:nvPr/>
            </p:nvSpPr>
            <p:spPr>
              <a:xfrm>
                <a:off x="7132002" y="4569460"/>
                <a:ext cx="1161415" cy="33147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43" name="Straight Arrow Connector 42">
                <a:extLst>
                  <a:ext uri="{FF2B5EF4-FFF2-40B4-BE49-F238E27FC236}">
                    <a16:creationId xmlns:a16="http://schemas.microsoft.com/office/drawing/2014/main" id="{ACE004F7-1066-3A86-7E86-842193EC2FEC}"/>
                  </a:ext>
                </a:extLst>
              </p:cNvPr>
              <p:cNvCxnSpPr/>
              <p:nvPr/>
            </p:nvCxnSpPr>
            <p:spPr>
              <a:xfrm flipV="1">
                <a:off x="8283257" y="4819015"/>
                <a:ext cx="142240" cy="711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4" name="Text Box 569">
                <a:extLst>
                  <a:ext uri="{FF2B5EF4-FFF2-40B4-BE49-F238E27FC236}">
                    <a16:creationId xmlns:a16="http://schemas.microsoft.com/office/drawing/2014/main" id="{838A991B-E7C8-B0F6-64BC-1111F62102B1}"/>
                  </a:ext>
                </a:extLst>
              </p:cNvPr>
              <p:cNvSpPr txBox="1"/>
              <p:nvPr/>
            </p:nvSpPr>
            <p:spPr>
              <a:xfrm>
                <a:off x="8468042" y="4599940"/>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5.3</a:t>
                </a:r>
              </a:p>
            </p:txBody>
          </p:sp>
        </p:grpSp>
      </p:grpSp>
      <p:sp>
        <p:nvSpPr>
          <p:cNvPr id="2" name="TextBox 1">
            <a:extLst>
              <a:ext uri="{FF2B5EF4-FFF2-40B4-BE49-F238E27FC236}">
                <a16:creationId xmlns:a16="http://schemas.microsoft.com/office/drawing/2014/main" id="{3FE83D80-C31B-C823-2D99-EDE5CB3DA368}"/>
              </a:ext>
            </a:extLst>
          </p:cNvPr>
          <p:cNvSpPr txBox="1"/>
          <p:nvPr/>
        </p:nvSpPr>
        <p:spPr>
          <a:xfrm>
            <a:off x="1522069" y="635946"/>
            <a:ext cx="3852819" cy="307777"/>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How To Create Physical Count Transaction?</a:t>
            </a:r>
            <a:endParaRPr kumimoji="0" lang="en-US" sz="1400" b="0" i="0" u="none" strike="noStrike" kern="1200" cap="none" spc="0" normalizeH="0" baseline="0" noProof="0" dirty="0">
              <a:ln>
                <a:noFill/>
              </a:ln>
              <a:solidFill>
                <a:srgbClr val="007434"/>
              </a:solidFill>
              <a:effectLst/>
              <a:uLnTx/>
              <a:uFillTx/>
              <a:latin typeface="Calibri Light" panose="020F0302020204030204" pitchFamily="34" charset="0"/>
              <a:ea typeface="+mn-ea"/>
              <a:cs typeface="Calibri Light" panose="020F0302020204030204" pitchFamily="34" charset="0"/>
            </a:endParaRPr>
          </a:p>
        </p:txBody>
      </p:sp>
      <p:sp>
        <p:nvSpPr>
          <p:cNvPr id="7" name="TextBox 6">
            <a:extLst>
              <a:ext uri="{FF2B5EF4-FFF2-40B4-BE49-F238E27FC236}">
                <a16:creationId xmlns:a16="http://schemas.microsoft.com/office/drawing/2014/main" id="{6315DE1E-4FE0-D2EE-0792-F1F96AD2A3C3}"/>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Inventory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 Physical Count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entury Gothic" panose="020B0502020202020204" pitchFamily="34" charset="0"/>
              <a:ea typeface="+mn-ea"/>
              <a:cs typeface="+mn-cs"/>
            </a:endParaRPr>
          </a:p>
        </p:txBody>
      </p:sp>
      <p:sp>
        <p:nvSpPr>
          <p:cNvPr id="5" name="Slide Number Placeholder 9">
            <a:extLst>
              <a:ext uri="{FF2B5EF4-FFF2-40B4-BE49-F238E27FC236}">
                <a16:creationId xmlns:a16="http://schemas.microsoft.com/office/drawing/2014/main" id="{FBDC7E02-1138-E4E3-0A78-8E5459ECBE3A}"/>
              </a:ext>
            </a:extLst>
          </p:cNvPr>
          <p:cNvSpPr>
            <a:spLocks noGrp="1"/>
          </p:cNvSpPr>
          <p:nvPr>
            <p:ph type="sldNum" sz="quarter" idx="12"/>
          </p:nvPr>
        </p:nvSpPr>
        <p:spPr>
          <a:xfrm>
            <a:off x="110541" y="6356350"/>
            <a:ext cx="540917"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114480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4" name="Text Box 18">
            <a:extLst>
              <a:ext uri="{FF2B5EF4-FFF2-40B4-BE49-F238E27FC236}">
                <a16:creationId xmlns:a16="http://schemas.microsoft.com/office/drawing/2014/main" id="{5F604CD2-37AD-720F-6809-08E563572769}"/>
              </a:ext>
            </a:extLst>
          </p:cNvPr>
          <p:cNvSpPr txBox="1"/>
          <p:nvPr/>
        </p:nvSpPr>
        <p:spPr>
          <a:xfrm>
            <a:off x="498199" y="1534309"/>
            <a:ext cx="4179346" cy="4685214"/>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37" name="Text Box 18">
            <a:extLst>
              <a:ext uri="{FF2B5EF4-FFF2-40B4-BE49-F238E27FC236}">
                <a16:creationId xmlns:a16="http://schemas.microsoft.com/office/drawing/2014/main" id="{099D3CDB-CFB5-7113-F83E-473C98B007A9}"/>
              </a:ext>
            </a:extLst>
          </p:cNvPr>
          <p:cNvSpPr txBox="1"/>
          <p:nvPr/>
        </p:nvSpPr>
        <p:spPr>
          <a:xfrm>
            <a:off x="597771" y="2667614"/>
            <a:ext cx="4179346" cy="1447802"/>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5.4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After you click the add to cart button, you will notice in the upper right of item list an icon of add to cart. Click that, then click accept button to plot the items in the stock.</a:t>
            </a:r>
            <a:endParaRPr kumimoji="0" lang="en-US" sz="1200" b="0"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grpSp>
        <p:nvGrpSpPr>
          <p:cNvPr id="58" name="Group 57">
            <a:extLst>
              <a:ext uri="{FF2B5EF4-FFF2-40B4-BE49-F238E27FC236}">
                <a16:creationId xmlns:a16="http://schemas.microsoft.com/office/drawing/2014/main" id="{2662E337-33A0-AE58-A245-7088FC3B965A}"/>
              </a:ext>
            </a:extLst>
          </p:cNvPr>
          <p:cNvGrpSpPr/>
          <p:nvPr/>
        </p:nvGrpSpPr>
        <p:grpSpPr>
          <a:xfrm>
            <a:off x="5037659" y="2667614"/>
            <a:ext cx="6601017" cy="1690769"/>
            <a:chOff x="4924701" y="4661196"/>
            <a:chExt cx="6769100" cy="1803718"/>
          </a:xfrm>
        </p:grpSpPr>
        <p:pic>
          <p:nvPicPr>
            <p:cNvPr id="56" name="Picture 55">
              <a:extLst>
                <a:ext uri="{FF2B5EF4-FFF2-40B4-BE49-F238E27FC236}">
                  <a16:creationId xmlns:a16="http://schemas.microsoft.com/office/drawing/2014/main" id="{23F78448-DA05-1D67-4599-7B62557415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96151" y="4661196"/>
              <a:ext cx="6189345" cy="1699895"/>
            </a:xfrm>
            <a:prstGeom prst="rect">
              <a:avLst/>
            </a:prstGeom>
          </p:spPr>
        </p:pic>
        <p:grpSp>
          <p:nvGrpSpPr>
            <p:cNvPr id="55" name="Group 54">
              <a:extLst>
                <a:ext uri="{FF2B5EF4-FFF2-40B4-BE49-F238E27FC236}">
                  <a16:creationId xmlns:a16="http://schemas.microsoft.com/office/drawing/2014/main" id="{73B3167C-4235-F3A7-BC79-48D397340B4D}"/>
                </a:ext>
              </a:extLst>
            </p:cNvPr>
            <p:cNvGrpSpPr/>
            <p:nvPr/>
          </p:nvGrpSpPr>
          <p:grpSpPr>
            <a:xfrm>
              <a:off x="4924701" y="4666594"/>
              <a:ext cx="6769100" cy="1798320"/>
              <a:chOff x="2711450" y="2846388"/>
              <a:chExt cx="6769100" cy="1798320"/>
            </a:xfrm>
          </p:grpSpPr>
          <p:pic>
            <p:nvPicPr>
              <p:cNvPr id="48" name="Picture 47">
                <a:extLst>
                  <a:ext uri="{FF2B5EF4-FFF2-40B4-BE49-F238E27FC236}">
                    <a16:creationId xmlns:a16="http://schemas.microsoft.com/office/drawing/2014/main" id="{A023C2B2-67E3-BE78-223E-39899EE962E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11450" y="3515043"/>
                <a:ext cx="6189345" cy="1129665"/>
              </a:xfrm>
              <a:prstGeom prst="rect">
                <a:avLst/>
              </a:prstGeom>
              <a:ln>
                <a:noFill/>
              </a:ln>
              <a:effectLst>
                <a:outerShdw blurRad="292100" dist="139700" dir="2700000" algn="tl" rotWithShape="0">
                  <a:srgbClr val="333333">
                    <a:alpha val="65000"/>
                  </a:srgbClr>
                </a:outerShdw>
              </a:effectLst>
            </p:spPr>
          </p:pic>
          <p:sp>
            <p:nvSpPr>
              <p:cNvPr id="49" name="Rectangle 48">
                <a:extLst>
                  <a:ext uri="{FF2B5EF4-FFF2-40B4-BE49-F238E27FC236}">
                    <a16:creationId xmlns:a16="http://schemas.microsoft.com/office/drawing/2014/main" id="{D20C851F-E33F-8811-CCD8-56F7B3149F7A}"/>
                  </a:ext>
                </a:extLst>
              </p:cNvPr>
              <p:cNvSpPr/>
              <p:nvPr/>
            </p:nvSpPr>
            <p:spPr>
              <a:xfrm>
                <a:off x="8302625" y="2846388"/>
                <a:ext cx="531495" cy="33147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50" name="Straight Arrow Connector 49">
                <a:extLst>
                  <a:ext uri="{FF2B5EF4-FFF2-40B4-BE49-F238E27FC236}">
                    <a16:creationId xmlns:a16="http://schemas.microsoft.com/office/drawing/2014/main" id="{5FBF3449-DCBC-730B-70C2-F308F86A50B0}"/>
                  </a:ext>
                </a:extLst>
              </p:cNvPr>
              <p:cNvCxnSpPr/>
              <p:nvPr/>
            </p:nvCxnSpPr>
            <p:spPr>
              <a:xfrm flipV="1">
                <a:off x="8820785" y="3129598"/>
                <a:ext cx="142240" cy="711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1" name="Text Box 588">
                <a:extLst>
                  <a:ext uri="{FF2B5EF4-FFF2-40B4-BE49-F238E27FC236}">
                    <a16:creationId xmlns:a16="http://schemas.microsoft.com/office/drawing/2014/main" id="{3B8B6686-1C68-E095-94C3-A2D224CBF851}"/>
                  </a:ext>
                </a:extLst>
              </p:cNvPr>
              <p:cNvSpPr txBox="1"/>
              <p:nvPr/>
            </p:nvSpPr>
            <p:spPr>
              <a:xfrm>
                <a:off x="9005570" y="2872423"/>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5.6</a:t>
                </a:r>
              </a:p>
            </p:txBody>
          </p:sp>
          <p:sp>
            <p:nvSpPr>
              <p:cNvPr id="52" name="Rectangle 51">
                <a:extLst>
                  <a:ext uri="{FF2B5EF4-FFF2-40B4-BE49-F238E27FC236}">
                    <a16:creationId xmlns:a16="http://schemas.microsoft.com/office/drawing/2014/main" id="{A667FB6D-E2C9-45B7-0466-487BAF188BA8}"/>
                  </a:ext>
                </a:extLst>
              </p:cNvPr>
              <p:cNvSpPr/>
              <p:nvPr/>
            </p:nvSpPr>
            <p:spPr>
              <a:xfrm>
                <a:off x="8373745" y="4414838"/>
                <a:ext cx="459740" cy="21209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53" name="Straight Arrow Connector 52">
                <a:extLst>
                  <a:ext uri="{FF2B5EF4-FFF2-40B4-BE49-F238E27FC236}">
                    <a16:creationId xmlns:a16="http://schemas.microsoft.com/office/drawing/2014/main" id="{89FE8166-1861-FB1A-FBA7-7B446816AEDC}"/>
                  </a:ext>
                </a:extLst>
              </p:cNvPr>
              <p:cNvCxnSpPr/>
              <p:nvPr/>
            </p:nvCxnSpPr>
            <p:spPr>
              <a:xfrm flipV="1">
                <a:off x="8829040" y="4518343"/>
                <a:ext cx="142240" cy="711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4" name="Text Box 592">
                <a:extLst>
                  <a:ext uri="{FF2B5EF4-FFF2-40B4-BE49-F238E27FC236}">
                    <a16:creationId xmlns:a16="http://schemas.microsoft.com/office/drawing/2014/main" id="{E37D6C15-2F9F-E097-993D-9C33415B49EC}"/>
                  </a:ext>
                </a:extLst>
              </p:cNvPr>
              <p:cNvSpPr txBox="1"/>
              <p:nvPr/>
            </p:nvSpPr>
            <p:spPr>
              <a:xfrm>
                <a:off x="9002395" y="4319588"/>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5.6</a:t>
                </a:r>
              </a:p>
            </p:txBody>
          </p:sp>
        </p:grpSp>
        <p:sp>
          <p:nvSpPr>
            <p:cNvPr id="57" name="Curved Right Arrow 589">
              <a:extLst>
                <a:ext uri="{FF2B5EF4-FFF2-40B4-BE49-F238E27FC236}">
                  <a16:creationId xmlns:a16="http://schemas.microsoft.com/office/drawing/2014/main" id="{C048120B-7530-6489-8FC2-06EFF6D2EE36}"/>
                </a:ext>
              </a:extLst>
            </p:cNvPr>
            <p:cNvSpPr/>
            <p:nvPr/>
          </p:nvSpPr>
          <p:spPr>
            <a:xfrm>
              <a:off x="10040578" y="4905988"/>
              <a:ext cx="474345" cy="605155"/>
            </a:xfrm>
            <a:prstGeom prst="curvedRightArrow">
              <a:avLst/>
            </a:prstGeom>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2" name="TextBox 1">
            <a:extLst>
              <a:ext uri="{FF2B5EF4-FFF2-40B4-BE49-F238E27FC236}">
                <a16:creationId xmlns:a16="http://schemas.microsoft.com/office/drawing/2014/main" id="{8B2102B0-3230-588F-4DE5-C7CB6BD9D41D}"/>
              </a:ext>
            </a:extLst>
          </p:cNvPr>
          <p:cNvSpPr txBox="1"/>
          <p:nvPr/>
        </p:nvSpPr>
        <p:spPr>
          <a:xfrm>
            <a:off x="1522069" y="635946"/>
            <a:ext cx="3852819" cy="307777"/>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How To Create Physical Count Transaction?</a:t>
            </a:r>
            <a:endParaRPr kumimoji="0" lang="en-US" sz="1400" b="0" i="0" u="none" strike="noStrike" kern="1200" cap="none" spc="0" normalizeH="0" baseline="0" noProof="0" dirty="0">
              <a:ln>
                <a:noFill/>
              </a:ln>
              <a:solidFill>
                <a:srgbClr val="007434"/>
              </a:solidFill>
              <a:effectLst/>
              <a:uLnTx/>
              <a:uFillTx/>
              <a:latin typeface="Calibri Light" panose="020F0302020204030204" pitchFamily="34" charset="0"/>
              <a:ea typeface="+mn-ea"/>
              <a:cs typeface="Calibri Light" panose="020F0302020204030204" pitchFamily="34" charset="0"/>
            </a:endParaRPr>
          </a:p>
        </p:txBody>
      </p:sp>
      <p:sp>
        <p:nvSpPr>
          <p:cNvPr id="7" name="TextBox 6">
            <a:extLst>
              <a:ext uri="{FF2B5EF4-FFF2-40B4-BE49-F238E27FC236}">
                <a16:creationId xmlns:a16="http://schemas.microsoft.com/office/drawing/2014/main" id="{92B2B540-DCDA-928F-E184-66A77143E718}"/>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Inventory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 Physical Count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entury Gothic" panose="020B0502020202020204" pitchFamily="34" charset="0"/>
              <a:ea typeface="+mn-ea"/>
              <a:cs typeface="+mn-cs"/>
            </a:endParaRPr>
          </a:p>
        </p:txBody>
      </p:sp>
      <p:sp>
        <p:nvSpPr>
          <p:cNvPr id="5" name="Slide Number Placeholder 9">
            <a:extLst>
              <a:ext uri="{FF2B5EF4-FFF2-40B4-BE49-F238E27FC236}">
                <a16:creationId xmlns:a16="http://schemas.microsoft.com/office/drawing/2014/main" id="{01886FDC-29EB-E8DA-913E-22E3126183F4}"/>
              </a:ext>
            </a:extLst>
          </p:cNvPr>
          <p:cNvSpPr>
            <a:spLocks noGrp="1"/>
          </p:cNvSpPr>
          <p:nvPr>
            <p:ph type="sldNum" sz="quarter" idx="12"/>
          </p:nvPr>
        </p:nvSpPr>
        <p:spPr>
          <a:xfrm>
            <a:off x="110541" y="6356350"/>
            <a:ext cx="540917"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239386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37" name="Text Box 18">
            <a:extLst>
              <a:ext uri="{FF2B5EF4-FFF2-40B4-BE49-F238E27FC236}">
                <a16:creationId xmlns:a16="http://schemas.microsoft.com/office/drawing/2014/main" id="{099D3CDB-CFB5-7113-F83E-473C98B007A9}"/>
              </a:ext>
            </a:extLst>
          </p:cNvPr>
          <p:cNvSpPr txBox="1"/>
          <p:nvPr/>
        </p:nvSpPr>
        <p:spPr>
          <a:xfrm>
            <a:off x="458440" y="1685111"/>
            <a:ext cx="4179346" cy="4020937"/>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5.5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To add more items, repeat 5 to 5.3 before doing 5.4</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5.7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After you click the accept button in the dialog box of selected items in 5.5., the items selected will be plotted in the stock as shown below.</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5.8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You may still edit the details per item in the stock. Change directly the details needed to be change.</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5.9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If done, click save item button</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5.10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Click the maximize arrow to enable the post button.</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5.11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To finalize, the transaction, click post button located in the header.</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grpSp>
        <p:nvGrpSpPr>
          <p:cNvPr id="15" name="Group 14">
            <a:extLst>
              <a:ext uri="{FF2B5EF4-FFF2-40B4-BE49-F238E27FC236}">
                <a16:creationId xmlns:a16="http://schemas.microsoft.com/office/drawing/2014/main" id="{A84BC3A3-8380-C777-2C01-EFCB8CDC6FBE}"/>
              </a:ext>
            </a:extLst>
          </p:cNvPr>
          <p:cNvGrpSpPr/>
          <p:nvPr/>
        </p:nvGrpSpPr>
        <p:grpSpPr>
          <a:xfrm>
            <a:off x="5191125" y="1004995"/>
            <a:ext cx="6542435" cy="1842547"/>
            <a:chOff x="5388760" y="2507726"/>
            <a:chExt cx="6542435" cy="1842547"/>
          </a:xfrm>
        </p:grpSpPr>
        <p:pic>
          <p:nvPicPr>
            <p:cNvPr id="12" name="Picture 11">
              <a:extLst>
                <a:ext uri="{FF2B5EF4-FFF2-40B4-BE49-F238E27FC236}">
                  <a16:creationId xmlns:a16="http://schemas.microsoft.com/office/drawing/2014/main" id="{E55BBFA0-30D9-C690-CE05-36A8E220079B}"/>
                </a:ext>
              </a:extLst>
            </p:cNvPr>
            <p:cNvPicPr>
              <a:picLocks noChangeAspect="1"/>
            </p:cNvPicPr>
            <p:nvPr/>
          </p:nvPicPr>
          <p:blipFill>
            <a:blip r:embed="rId2"/>
            <a:stretch>
              <a:fillRect/>
            </a:stretch>
          </p:blipFill>
          <p:spPr>
            <a:xfrm>
              <a:off x="5388760" y="2507726"/>
              <a:ext cx="6542435" cy="1842547"/>
            </a:xfrm>
            <a:prstGeom prst="rect">
              <a:avLst/>
            </a:prstGeom>
          </p:spPr>
        </p:pic>
        <p:sp>
          <p:nvSpPr>
            <p:cNvPr id="7" name="Rectangle 6">
              <a:extLst>
                <a:ext uri="{FF2B5EF4-FFF2-40B4-BE49-F238E27FC236}">
                  <a16:creationId xmlns:a16="http://schemas.microsoft.com/office/drawing/2014/main" id="{B9E27BAA-C0B1-2B1F-AA4B-1622CC463E67}"/>
                </a:ext>
              </a:extLst>
            </p:cNvPr>
            <p:cNvSpPr/>
            <p:nvPr/>
          </p:nvSpPr>
          <p:spPr>
            <a:xfrm>
              <a:off x="10821960" y="2962417"/>
              <a:ext cx="589915" cy="22542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8" name="Straight Arrow Connector 7">
              <a:extLst>
                <a:ext uri="{FF2B5EF4-FFF2-40B4-BE49-F238E27FC236}">
                  <a16:creationId xmlns:a16="http://schemas.microsoft.com/office/drawing/2014/main" id="{DA6529EC-A443-8D91-4C29-3406C88F6F7C}"/>
                </a:ext>
              </a:extLst>
            </p:cNvPr>
            <p:cNvCxnSpPr>
              <a:cxnSpLocks/>
            </p:cNvCxnSpPr>
            <p:nvPr/>
          </p:nvCxnSpPr>
          <p:spPr>
            <a:xfrm>
              <a:off x="11116917" y="3205233"/>
              <a:ext cx="68947" cy="15155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9" name="Text Box 672">
              <a:extLst>
                <a:ext uri="{FF2B5EF4-FFF2-40B4-BE49-F238E27FC236}">
                  <a16:creationId xmlns:a16="http://schemas.microsoft.com/office/drawing/2014/main" id="{CC9BF2D1-3F27-ED78-C541-41D1A839711D}"/>
                </a:ext>
              </a:extLst>
            </p:cNvPr>
            <p:cNvSpPr txBox="1"/>
            <p:nvPr/>
          </p:nvSpPr>
          <p:spPr>
            <a:xfrm>
              <a:off x="11116917" y="3356783"/>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5.9</a:t>
              </a:r>
            </a:p>
          </p:txBody>
        </p:sp>
      </p:grpSp>
      <p:sp>
        <p:nvSpPr>
          <p:cNvPr id="2" name="TextBox 1">
            <a:extLst>
              <a:ext uri="{FF2B5EF4-FFF2-40B4-BE49-F238E27FC236}">
                <a16:creationId xmlns:a16="http://schemas.microsoft.com/office/drawing/2014/main" id="{514C785B-D1A6-2525-B7F1-C52937F2CA98}"/>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Inventory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 Physical Count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entury Gothic" panose="020B0502020202020204" pitchFamily="34" charset="0"/>
              <a:ea typeface="+mn-ea"/>
              <a:cs typeface="+mn-cs"/>
            </a:endParaRPr>
          </a:p>
        </p:txBody>
      </p:sp>
      <p:sp>
        <p:nvSpPr>
          <p:cNvPr id="6" name="TextBox 5">
            <a:extLst>
              <a:ext uri="{FF2B5EF4-FFF2-40B4-BE49-F238E27FC236}">
                <a16:creationId xmlns:a16="http://schemas.microsoft.com/office/drawing/2014/main" id="{B5972402-76C8-376B-F3E1-F1C67771C76D}"/>
              </a:ext>
            </a:extLst>
          </p:cNvPr>
          <p:cNvSpPr txBox="1"/>
          <p:nvPr/>
        </p:nvSpPr>
        <p:spPr>
          <a:xfrm>
            <a:off x="1522069" y="635946"/>
            <a:ext cx="3852819" cy="307777"/>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How To Create Physical Count Transaction?</a:t>
            </a:r>
            <a:endParaRPr kumimoji="0" lang="en-US" sz="1400" b="0" i="0" u="none" strike="noStrike" kern="1200" cap="none" spc="0" normalizeH="0" baseline="0" noProof="0" dirty="0">
              <a:ln>
                <a:noFill/>
              </a:ln>
              <a:solidFill>
                <a:srgbClr val="007434"/>
              </a:solidFill>
              <a:effectLst/>
              <a:uLnTx/>
              <a:uFillTx/>
              <a:latin typeface="Calibri Light" panose="020F0302020204030204" pitchFamily="34" charset="0"/>
              <a:ea typeface="+mn-ea"/>
              <a:cs typeface="Calibri Light" panose="020F0302020204030204" pitchFamily="34" charset="0"/>
            </a:endParaRPr>
          </a:p>
        </p:txBody>
      </p:sp>
      <p:grpSp>
        <p:nvGrpSpPr>
          <p:cNvPr id="10" name="Group 9">
            <a:extLst>
              <a:ext uri="{FF2B5EF4-FFF2-40B4-BE49-F238E27FC236}">
                <a16:creationId xmlns:a16="http://schemas.microsoft.com/office/drawing/2014/main" id="{07972EC5-DDD7-F1BA-8594-6FD38DE3BACA}"/>
              </a:ext>
            </a:extLst>
          </p:cNvPr>
          <p:cNvGrpSpPr/>
          <p:nvPr/>
        </p:nvGrpSpPr>
        <p:grpSpPr>
          <a:xfrm>
            <a:off x="5326604" y="3144179"/>
            <a:ext cx="6328163" cy="3439851"/>
            <a:chOff x="5294989" y="2001653"/>
            <a:chExt cx="6614560" cy="3595530"/>
          </a:xfrm>
        </p:grpSpPr>
        <p:grpSp>
          <p:nvGrpSpPr>
            <p:cNvPr id="11" name="Group 10">
              <a:extLst>
                <a:ext uri="{FF2B5EF4-FFF2-40B4-BE49-F238E27FC236}">
                  <a16:creationId xmlns:a16="http://schemas.microsoft.com/office/drawing/2014/main" id="{FCD561DF-4407-F706-AC97-E97B08704D6B}"/>
                </a:ext>
              </a:extLst>
            </p:cNvPr>
            <p:cNvGrpSpPr/>
            <p:nvPr/>
          </p:nvGrpSpPr>
          <p:grpSpPr>
            <a:xfrm>
              <a:off x="5294989" y="2001653"/>
              <a:ext cx="6614560" cy="3595530"/>
              <a:chOff x="5294989" y="2001653"/>
              <a:chExt cx="6614560" cy="3595530"/>
            </a:xfrm>
          </p:grpSpPr>
          <p:pic>
            <p:nvPicPr>
              <p:cNvPr id="17" name="Picture 16">
                <a:extLst>
                  <a:ext uri="{FF2B5EF4-FFF2-40B4-BE49-F238E27FC236}">
                    <a16:creationId xmlns:a16="http://schemas.microsoft.com/office/drawing/2014/main" id="{65DFEDE0-4E2D-3F49-2616-5C3A63B9D918}"/>
                  </a:ext>
                </a:extLst>
              </p:cNvPr>
              <p:cNvPicPr>
                <a:picLocks noChangeAspect="1"/>
              </p:cNvPicPr>
              <p:nvPr/>
            </p:nvPicPr>
            <p:blipFill>
              <a:blip r:embed="rId3"/>
              <a:stretch>
                <a:fillRect/>
              </a:stretch>
            </p:blipFill>
            <p:spPr>
              <a:xfrm>
                <a:off x="5294989" y="2001653"/>
                <a:ext cx="6614560" cy="2286564"/>
              </a:xfrm>
              <a:prstGeom prst="rect">
                <a:avLst/>
              </a:prstGeom>
            </p:spPr>
          </p:pic>
          <p:pic>
            <p:nvPicPr>
              <p:cNvPr id="18" name="Picture 17">
                <a:extLst>
                  <a:ext uri="{FF2B5EF4-FFF2-40B4-BE49-F238E27FC236}">
                    <a16:creationId xmlns:a16="http://schemas.microsoft.com/office/drawing/2014/main" id="{606BC81A-FF3C-09E8-D89B-2B7E408D59E8}"/>
                  </a:ext>
                </a:extLst>
              </p:cNvPr>
              <p:cNvPicPr>
                <a:picLocks noChangeAspect="1"/>
              </p:cNvPicPr>
              <p:nvPr/>
            </p:nvPicPr>
            <p:blipFill>
              <a:blip r:embed="rId4"/>
              <a:stretch>
                <a:fillRect/>
              </a:stretch>
            </p:blipFill>
            <p:spPr>
              <a:xfrm>
                <a:off x="5744144" y="3063070"/>
                <a:ext cx="5716249" cy="2534113"/>
              </a:xfrm>
              <a:prstGeom prst="rect">
                <a:avLst/>
              </a:prstGeom>
            </p:spPr>
          </p:pic>
          <p:sp>
            <p:nvSpPr>
              <p:cNvPr id="19" name="Rectangle 18">
                <a:extLst>
                  <a:ext uri="{FF2B5EF4-FFF2-40B4-BE49-F238E27FC236}">
                    <a16:creationId xmlns:a16="http://schemas.microsoft.com/office/drawing/2014/main" id="{94929149-BD3E-8281-EC17-02592CBE1056}"/>
                  </a:ext>
                </a:extLst>
              </p:cNvPr>
              <p:cNvSpPr/>
              <p:nvPr/>
            </p:nvSpPr>
            <p:spPr>
              <a:xfrm>
                <a:off x="10799261" y="2425120"/>
                <a:ext cx="268605" cy="29654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0" name="Straight Arrow Connector 19">
                <a:extLst>
                  <a:ext uri="{FF2B5EF4-FFF2-40B4-BE49-F238E27FC236}">
                    <a16:creationId xmlns:a16="http://schemas.microsoft.com/office/drawing/2014/main" id="{D476FF34-3AC6-E694-0021-386679FBD91D}"/>
                  </a:ext>
                </a:extLst>
              </p:cNvPr>
              <p:cNvCxnSpPr/>
              <p:nvPr/>
            </p:nvCxnSpPr>
            <p:spPr>
              <a:xfrm flipV="1">
                <a:off x="11097711" y="2501955"/>
                <a:ext cx="142240" cy="711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1" name="Text Box 689">
                <a:extLst>
                  <a:ext uri="{FF2B5EF4-FFF2-40B4-BE49-F238E27FC236}">
                    <a16:creationId xmlns:a16="http://schemas.microsoft.com/office/drawing/2014/main" id="{98EF624B-EF9E-FF8C-CFB5-2E670F4B42A0}"/>
                  </a:ext>
                </a:extLst>
              </p:cNvPr>
              <p:cNvSpPr txBox="1"/>
              <p:nvPr/>
            </p:nvSpPr>
            <p:spPr>
              <a:xfrm>
                <a:off x="11223441" y="2368605"/>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5.10</a:t>
                </a:r>
              </a:p>
            </p:txBody>
          </p:sp>
          <p:sp>
            <p:nvSpPr>
              <p:cNvPr id="22" name="Curved Right Arrow 691">
                <a:extLst>
                  <a:ext uri="{FF2B5EF4-FFF2-40B4-BE49-F238E27FC236}">
                    <a16:creationId xmlns:a16="http://schemas.microsoft.com/office/drawing/2014/main" id="{AF71E09E-A1BE-6A82-3E62-40D6DEAB8C9D}"/>
                  </a:ext>
                </a:extLst>
              </p:cNvPr>
              <p:cNvSpPr/>
              <p:nvPr/>
            </p:nvSpPr>
            <p:spPr>
              <a:xfrm>
                <a:off x="10118976" y="2573075"/>
                <a:ext cx="523784" cy="711663"/>
              </a:xfrm>
              <a:prstGeom prst="curvedRightArrow">
                <a:avLst>
                  <a:gd name="adj1" fmla="val 21871"/>
                  <a:gd name="adj2" fmla="val 53602"/>
                  <a:gd name="adj3" fmla="val 35612"/>
                </a:avLst>
              </a:prstGeom>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3" name="Rectangle 12">
              <a:extLst>
                <a:ext uri="{FF2B5EF4-FFF2-40B4-BE49-F238E27FC236}">
                  <a16:creationId xmlns:a16="http://schemas.microsoft.com/office/drawing/2014/main" id="{22D6CAC1-E02A-F65E-60B4-72EB5286F19E}"/>
                </a:ext>
              </a:extLst>
            </p:cNvPr>
            <p:cNvSpPr/>
            <p:nvPr/>
          </p:nvSpPr>
          <p:spPr>
            <a:xfrm>
              <a:off x="8877764" y="3352800"/>
              <a:ext cx="351790" cy="24892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4" name="Straight Arrow Connector 13">
              <a:extLst>
                <a:ext uri="{FF2B5EF4-FFF2-40B4-BE49-F238E27FC236}">
                  <a16:creationId xmlns:a16="http://schemas.microsoft.com/office/drawing/2014/main" id="{8DD4B660-E5F3-6AF1-8378-8EF225E81C2F}"/>
                </a:ext>
              </a:extLst>
            </p:cNvPr>
            <p:cNvCxnSpPr/>
            <p:nvPr/>
          </p:nvCxnSpPr>
          <p:spPr>
            <a:xfrm flipV="1">
              <a:off x="9271464" y="3408045"/>
              <a:ext cx="142240" cy="711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6" name="Text Box 694">
              <a:extLst>
                <a:ext uri="{FF2B5EF4-FFF2-40B4-BE49-F238E27FC236}">
                  <a16:creationId xmlns:a16="http://schemas.microsoft.com/office/drawing/2014/main" id="{9EFAF573-37E8-50E0-9659-BD77BC29FC75}"/>
                </a:ext>
              </a:extLst>
            </p:cNvPr>
            <p:cNvSpPr txBox="1"/>
            <p:nvPr/>
          </p:nvSpPr>
          <p:spPr>
            <a:xfrm>
              <a:off x="9397194" y="3286125"/>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5.11</a:t>
              </a:r>
            </a:p>
          </p:txBody>
        </p:sp>
      </p:grpSp>
      <p:sp>
        <p:nvSpPr>
          <p:cNvPr id="4" name="Slide Number Placeholder 9">
            <a:extLst>
              <a:ext uri="{FF2B5EF4-FFF2-40B4-BE49-F238E27FC236}">
                <a16:creationId xmlns:a16="http://schemas.microsoft.com/office/drawing/2014/main" id="{EA68F7FC-B7AC-DCE5-A9B5-C1A6C164DBD4}"/>
              </a:ext>
            </a:extLst>
          </p:cNvPr>
          <p:cNvSpPr>
            <a:spLocks noGrp="1"/>
          </p:cNvSpPr>
          <p:nvPr>
            <p:ph type="sldNum" sz="quarter" idx="12"/>
          </p:nvPr>
        </p:nvSpPr>
        <p:spPr>
          <a:xfrm>
            <a:off x="110541" y="6356350"/>
            <a:ext cx="540917"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619881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37" name="Text Box 18">
            <a:extLst>
              <a:ext uri="{FF2B5EF4-FFF2-40B4-BE49-F238E27FC236}">
                <a16:creationId xmlns:a16="http://schemas.microsoft.com/office/drawing/2014/main" id="{099D3CDB-CFB5-7113-F83E-473C98B007A9}"/>
              </a:ext>
            </a:extLst>
          </p:cNvPr>
          <p:cNvSpPr txBox="1"/>
          <p:nvPr/>
        </p:nvSpPr>
        <p:spPr>
          <a:xfrm>
            <a:off x="680010" y="1873187"/>
            <a:ext cx="4089788" cy="2831977"/>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5.12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After posting, you may click the Adjust Inventory Button to automatically create Inventory Adjustment between System count and Physical Count encoded.</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F330DC7E-14F9-D472-650A-8A60B32261B0}"/>
              </a:ext>
            </a:extLst>
          </p:cNvPr>
          <p:cNvSpPr txBox="1"/>
          <p:nvPr/>
        </p:nvSpPr>
        <p:spPr>
          <a:xfrm>
            <a:off x="1522069" y="635946"/>
            <a:ext cx="3852819" cy="307777"/>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How To Create Physical Count Transaction?</a:t>
            </a:r>
            <a:endParaRPr kumimoji="0" lang="en-US" sz="1400" b="0" i="0" u="none" strike="noStrike" kern="1200" cap="none" spc="0" normalizeH="0" baseline="0" noProof="0" dirty="0">
              <a:ln>
                <a:noFill/>
              </a:ln>
              <a:solidFill>
                <a:srgbClr val="007434"/>
              </a:solidFill>
              <a:effectLst/>
              <a:uLnTx/>
              <a:uFillTx/>
              <a:latin typeface="Calibri Light" panose="020F0302020204030204" pitchFamily="34" charset="0"/>
              <a:ea typeface="+mn-ea"/>
              <a:cs typeface="Calibri Light" panose="020F0302020204030204" pitchFamily="34" charset="0"/>
            </a:endParaRPr>
          </a:p>
        </p:txBody>
      </p:sp>
      <p:sp>
        <p:nvSpPr>
          <p:cNvPr id="6" name="TextBox 5">
            <a:extLst>
              <a:ext uri="{FF2B5EF4-FFF2-40B4-BE49-F238E27FC236}">
                <a16:creationId xmlns:a16="http://schemas.microsoft.com/office/drawing/2014/main" id="{78DF3284-9EB9-68EA-9F6C-61679864CCBE}"/>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Inventory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 Physical Count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entury Gothic" panose="020B0502020202020204" pitchFamily="34" charset="0"/>
              <a:ea typeface="+mn-ea"/>
              <a:cs typeface="+mn-cs"/>
            </a:endParaRPr>
          </a:p>
        </p:txBody>
      </p:sp>
      <p:pic>
        <p:nvPicPr>
          <p:cNvPr id="24" name="Picture 23">
            <a:extLst>
              <a:ext uri="{FF2B5EF4-FFF2-40B4-BE49-F238E27FC236}">
                <a16:creationId xmlns:a16="http://schemas.microsoft.com/office/drawing/2014/main" id="{6954401F-D80D-7A73-A9D4-A47652DD6D4F}"/>
              </a:ext>
            </a:extLst>
          </p:cNvPr>
          <p:cNvPicPr>
            <a:picLocks noChangeAspect="1"/>
          </p:cNvPicPr>
          <p:nvPr/>
        </p:nvPicPr>
        <p:blipFill>
          <a:blip r:embed="rId2"/>
          <a:stretch>
            <a:fillRect/>
          </a:stretch>
        </p:blipFill>
        <p:spPr>
          <a:xfrm>
            <a:off x="4885462" y="1590976"/>
            <a:ext cx="6963879" cy="3087209"/>
          </a:xfrm>
          <a:prstGeom prst="rect">
            <a:avLst/>
          </a:prstGeom>
        </p:spPr>
      </p:pic>
      <p:sp>
        <p:nvSpPr>
          <p:cNvPr id="25" name="Rectangle 24">
            <a:extLst>
              <a:ext uri="{FF2B5EF4-FFF2-40B4-BE49-F238E27FC236}">
                <a16:creationId xmlns:a16="http://schemas.microsoft.com/office/drawing/2014/main" id="{E7F6A09F-2774-AA4A-D208-30DB40539E8C}"/>
              </a:ext>
            </a:extLst>
          </p:cNvPr>
          <p:cNvSpPr/>
          <p:nvPr/>
        </p:nvSpPr>
        <p:spPr>
          <a:xfrm>
            <a:off x="5566300" y="3508900"/>
            <a:ext cx="923277" cy="237477"/>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H"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Slide Number Placeholder 9">
            <a:extLst>
              <a:ext uri="{FF2B5EF4-FFF2-40B4-BE49-F238E27FC236}">
                <a16:creationId xmlns:a16="http://schemas.microsoft.com/office/drawing/2014/main" id="{D53CCCF0-101B-C38E-F6EA-8459FF1D82CB}"/>
              </a:ext>
            </a:extLst>
          </p:cNvPr>
          <p:cNvSpPr>
            <a:spLocks noGrp="1"/>
          </p:cNvSpPr>
          <p:nvPr>
            <p:ph type="sldNum" sz="quarter" idx="12"/>
          </p:nvPr>
        </p:nvSpPr>
        <p:spPr>
          <a:xfrm>
            <a:off x="110541" y="6356350"/>
            <a:ext cx="540917"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150988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532E0528-45BA-96DE-70E3-1E0572725037}"/>
              </a:ext>
            </a:extLst>
          </p:cNvPr>
          <p:cNvPicPr>
            <a:picLocks noChangeAspect="1"/>
          </p:cNvPicPr>
          <p:nvPr/>
        </p:nvPicPr>
        <p:blipFill>
          <a:blip r:embed="rId2"/>
          <a:stretch>
            <a:fillRect/>
          </a:stretch>
        </p:blipFill>
        <p:spPr>
          <a:xfrm>
            <a:off x="5083194" y="701726"/>
            <a:ext cx="6893246" cy="2475616"/>
          </a:xfrm>
          <a:prstGeom prst="rect">
            <a:avLst/>
          </a:prstGeom>
        </p:spPr>
      </p:pic>
      <p:sp>
        <p:nvSpPr>
          <p:cNvPr id="12" name="Text Box 18">
            <a:extLst>
              <a:ext uri="{FF2B5EF4-FFF2-40B4-BE49-F238E27FC236}">
                <a16:creationId xmlns:a16="http://schemas.microsoft.com/office/drawing/2014/main" id="{9A8214E9-BA24-C1CD-FE2E-59471D8D7178}"/>
              </a:ext>
            </a:extLst>
          </p:cNvPr>
          <p:cNvSpPr txBox="1"/>
          <p:nvPr/>
        </p:nvSpPr>
        <p:spPr>
          <a:xfrm>
            <a:off x="540588" y="1491920"/>
            <a:ext cx="4179346" cy="4272507"/>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1.1.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In the physical count – main window, search the  transaction you wish to edit its information in the search bar. Or,</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1.2</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In physical count – main form, click the lookup button and select the transaction you wish to edit its information by typing its transaction number in the search bar.</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2.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After you select the transaction, if you wish to edit the header of the transaction click edit button. </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3.</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If you are done editing, click save button in the upper side of the header.</a:t>
            </a: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grpSp>
        <p:nvGrpSpPr>
          <p:cNvPr id="17" name="Group 16">
            <a:extLst>
              <a:ext uri="{FF2B5EF4-FFF2-40B4-BE49-F238E27FC236}">
                <a16:creationId xmlns:a16="http://schemas.microsoft.com/office/drawing/2014/main" id="{20336060-7936-AF0F-787C-E6433EDAE074}"/>
              </a:ext>
            </a:extLst>
          </p:cNvPr>
          <p:cNvGrpSpPr/>
          <p:nvPr/>
        </p:nvGrpSpPr>
        <p:grpSpPr>
          <a:xfrm>
            <a:off x="6061399" y="1425913"/>
            <a:ext cx="1475739" cy="333375"/>
            <a:chOff x="0" y="0"/>
            <a:chExt cx="1476374" cy="333375"/>
          </a:xfrm>
        </p:grpSpPr>
        <p:sp>
          <p:nvSpPr>
            <p:cNvPr id="18" name="Rectangle 17">
              <a:extLst>
                <a:ext uri="{FF2B5EF4-FFF2-40B4-BE49-F238E27FC236}">
                  <a16:creationId xmlns:a16="http://schemas.microsoft.com/office/drawing/2014/main" id="{17E3F88F-F0CF-FD38-5B2C-F1C5F035C97E}"/>
                </a:ext>
              </a:extLst>
            </p:cNvPr>
            <p:cNvSpPr/>
            <p:nvPr/>
          </p:nvSpPr>
          <p:spPr>
            <a:xfrm>
              <a:off x="0" y="0"/>
              <a:ext cx="800100" cy="33337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9" name="Straight Arrow Connector 18">
              <a:extLst>
                <a:ext uri="{FF2B5EF4-FFF2-40B4-BE49-F238E27FC236}">
                  <a16:creationId xmlns:a16="http://schemas.microsoft.com/office/drawing/2014/main" id="{B4D25E9A-0678-9DD4-6B7A-020DF8A5A057}"/>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1" name="Text Box 734">
              <a:extLst>
                <a:ext uri="{FF2B5EF4-FFF2-40B4-BE49-F238E27FC236}">
                  <a16:creationId xmlns:a16="http://schemas.microsoft.com/office/drawing/2014/main" id="{3142913A-2290-8BF2-A952-476D2175D9D6}"/>
                </a:ext>
              </a:extLst>
            </p:cNvPr>
            <p:cNvSpPr txBox="1"/>
            <p:nvPr/>
          </p:nvSpPr>
          <p:spPr>
            <a:xfrm>
              <a:off x="1009649" y="28575"/>
              <a:ext cx="4667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1.1.</a:t>
              </a:r>
            </a:p>
          </p:txBody>
        </p:sp>
      </p:grpSp>
      <p:grpSp>
        <p:nvGrpSpPr>
          <p:cNvPr id="29" name="Group 28">
            <a:extLst>
              <a:ext uri="{FF2B5EF4-FFF2-40B4-BE49-F238E27FC236}">
                <a16:creationId xmlns:a16="http://schemas.microsoft.com/office/drawing/2014/main" id="{55B202AE-AA71-ADCD-6412-7A6122DDB23F}"/>
              </a:ext>
            </a:extLst>
          </p:cNvPr>
          <p:cNvGrpSpPr/>
          <p:nvPr/>
        </p:nvGrpSpPr>
        <p:grpSpPr>
          <a:xfrm>
            <a:off x="5083194" y="3406234"/>
            <a:ext cx="6744739" cy="2626872"/>
            <a:chOff x="5083194" y="3406234"/>
            <a:chExt cx="6744739" cy="2626872"/>
          </a:xfrm>
        </p:grpSpPr>
        <p:pic>
          <p:nvPicPr>
            <p:cNvPr id="20" name="Picture 19">
              <a:extLst>
                <a:ext uri="{FF2B5EF4-FFF2-40B4-BE49-F238E27FC236}">
                  <a16:creationId xmlns:a16="http://schemas.microsoft.com/office/drawing/2014/main" id="{E47BF0F2-2178-AE30-9B48-D589C136EF14}"/>
                </a:ext>
              </a:extLst>
            </p:cNvPr>
            <p:cNvPicPr>
              <a:picLocks noChangeAspect="1"/>
            </p:cNvPicPr>
            <p:nvPr/>
          </p:nvPicPr>
          <p:blipFill>
            <a:blip r:embed="rId3"/>
            <a:stretch>
              <a:fillRect/>
            </a:stretch>
          </p:blipFill>
          <p:spPr>
            <a:xfrm>
              <a:off x="5086822" y="3482854"/>
              <a:ext cx="6741111" cy="2550252"/>
            </a:xfrm>
            <a:prstGeom prst="rect">
              <a:avLst/>
            </a:prstGeom>
          </p:spPr>
        </p:pic>
        <p:grpSp>
          <p:nvGrpSpPr>
            <p:cNvPr id="25" name="Group 24">
              <a:extLst>
                <a:ext uri="{FF2B5EF4-FFF2-40B4-BE49-F238E27FC236}">
                  <a16:creationId xmlns:a16="http://schemas.microsoft.com/office/drawing/2014/main" id="{75C33D07-BBCC-8D02-2F53-17367C29E947}"/>
                </a:ext>
              </a:extLst>
            </p:cNvPr>
            <p:cNvGrpSpPr/>
            <p:nvPr/>
          </p:nvGrpSpPr>
          <p:grpSpPr>
            <a:xfrm>
              <a:off x="6484874" y="3903312"/>
              <a:ext cx="952500" cy="304800"/>
              <a:chOff x="523874" y="28575"/>
              <a:chExt cx="952500" cy="304800"/>
            </a:xfrm>
          </p:grpSpPr>
          <p:sp>
            <p:nvSpPr>
              <p:cNvPr id="43" name="Rectangle 42">
                <a:extLst>
                  <a:ext uri="{FF2B5EF4-FFF2-40B4-BE49-F238E27FC236}">
                    <a16:creationId xmlns:a16="http://schemas.microsoft.com/office/drawing/2014/main" id="{983A04F5-A004-B6D9-3EF0-78211965BA23}"/>
                  </a:ext>
                </a:extLst>
              </p:cNvPr>
              <p:cNvSpPr/>
              <p:nvPr/>
            </p:nvSpPr>
            <p:spPr>
              <a:xfrm>
                <a:off x="523874" y="28575"/>
                <a:ext cx="275881" cy="3048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44" name="Straight Arrow Connector 43">
                <a:extLst>
                  <a:ext uri="{FF2B5EF4-FFF2-40B4-BE49-F238E27FC236}">
                    <a16:creationId xmlns:a16="http://schemas.microsoft.com/office/drawing/2014/main" id="{AE00018E-715F-7CF3-7545-9D7258461039}"/>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5" name="Text Box 746">
                <a:extLst>
                  <a:ext uri="{FF2B5EF4-FFF2-40B4-BE49-F238E27FC236}">
                    <a16:creationId xmlns:a16="http://schemas.microsoft.com/office/drawing/2014/main" id="{ED705FE3-23BB-69C5-B77F-993F27D00181}"/>
                  </a:ext>
                </a:extLst>
              </p:cNvPr>
              <p:cNvSpPr txBox="1"/>
              <p:nvPr/>
            </p:nvSpPr>
            <p:spPr>
              <a:xfrm>
                <a:off x="1009649" y="28575"/>
                <a:ext cx="4667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1.2.</a:t>
                </a:r>
              </a:p>
            </p:txBody>
          </p:sp>
        </p:grpSp>
        <p:grpSp>
          <p:nvGrpSpPr>
            <p:cNvPr id="26" name="Group 25">
              <a:extLst>
                <a:ext uri="{FF2B5EF4-FFF2-40B4-BE49-F238E27FC236}">
                  <a16:creationId xmlns:a16="http://schemas.microsoft.com/office/drawing/2014/main" id="{D2225BD8-F3F0-4BB5-91AA-BCAF1CA1A078}"/>
                </a:ext>
              </a:extLst>
            </p:cNvPr>
            <p:cNvGrpSpPr/>
            <p:nvPr/>
          </p:nvGrpSpPr>
          <p:grpSpPr>
            <a:xfrm>
              <a:off x="10068472" y="3679284"/>
              <a:ext cx="981076" cy="304800"/>
              <a:chOff x="333374" y="28575"/>
              <a:chExt cx="981076" cy="304800"/>
            </a:xfrm>
          </p:grpSpPr>
          <p:sp>
            <p:nvSpPr>
              <p:cNvPr id="40" name="Rectangle 39">
                <a:extLst>
                  <a:ext uri="{FF2B5EF4-FFF2-40B4-BE49-F238E27FC236}">
                    <a16:creationId xmlns:a16="http://schemas.microsoft.com/office/drawing/2014/main" id="{B56BC8B7-7F59-8F01-5368-4897AB727497}"/>
                  </a:ext>
                </a:extLst>
              </p:cNvPr>
              <p:cNvSpPr/>
              <p:nvPr/>
            </p:nvSpPr>
            <p:spPr>
              <a:xfrm>
                <a:off x="333374" y="28575"/>
                <a:ext cx="466381" cy="3048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41" name="Straight Arrow Connector 40">
                <a:extLst>
                  <a:ext uri="{FF2B5EF4-FFF2-40B4-BE49-F238E27FC236}">
                    <a16:creationId xmlns:a16="http://schemas.microsoft.com/office/drawing/2014/main" id="{349FAC0E-98A9-5389-21B8-F99551498BFA}"/>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2" name="Text Box 739">
                <a:extLst>
                  <a:ext uri="{FF2B5EF4-FFF2-40B4-BE49-F238E27FC236}">
                    <a16:creationId xmlns:a16="http://schemas.microsoft.com/office/drawing/2014/main" id="{37943493-E1D8-16BB-76D9-34289990385E}"/>
                  </a:ext>
                </a:extLst>
              </p:cNvPr>
              <p:cNvSpPr txBox="1"/>
              <p:nvPr/>
            </p:nvSpPr>
            <p:spPr>
              <a:xfrm>
                <a:off x="1009650" y="28575"/>
                <a:ext cx="304800"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2.</a:t>
                </a:r>
              </a:p>
            </p:txBody>
          </p:sp>
        </p:grpSp>
        <p:sp>
          <p:nvSpPr>
            <p:cNvPr id="27" name="Text Box 241">
              <a:extLst>
                <a:ext uri="{FF2B5EF4-FFF2-40B4-BE49-F238E27FC236}">
                  <a16:creationId xmlns:a16="http://schemas.microsoft.com/office/drawing/2014/main" id="{A16BE8EA-4542-BAE6-D889-1975280FA2FC}"/>
                </a:ext>
              </a:extLst>
            </p:cNvPr>
            <p:cNvSpPr txBox="1">
              <a:spLocks noChangeArrowheads="1"/>
            </p:cNvSpPr>
            <p:nvPr/>
          </p:nvSpPr>
          <p:spPr bwMode="auto">
            <a:xfrm>
              <a:off x="7303876" y="4646751"/>
              <a:ext cx="2301875" cy="879475"/>
            </a:xfrm>
            <a:prstGeom prst="rect">
              <a:avLst/>
            </a:prstGeom>
            <a:solidFill>
              <a:schemeClr val="accent4">
                <a:lumMod val="20000"/>
                <a:lumOff val="80000"/>
              </a:schemeClr>
            </a:solidFill>
            <a:ln w="9525">
              <a:solidFill>
                <a:srgbClr val="000000"/>
              </a:solidFill>
              <a:miter lim="800000"/>
              <a:headEnd/>
              <a:tailEnd/>
            </a:ln>
          </p:spPr>
          <p:txBody>
            <a:bodyPr rot="0" vert="horz" wrap="square" lIns="0" tIns="0" rIns="0" bIns="0" anchor="t" anchorCtr="0" upright="1">
              <a:noAutofit/>
            </a:bodyPr>
            <a:lstStyle/>
            <a:p>
              <a:pPr marL="101600" marR="0" lvl="0" indent="0" algn="l" defTabSz="914400" rtl="0" eaLnBrk="1" fontAlgn="auto" latinLnBrk="0" hangingPunct="1">
                <a:lnSpc>
                  <a:spcPct val="107000"/>
                </a:lnSpc>
                <a:spcBef>
                  <a:spcPts val="440"/>
                </a:spcBef>
                <a:spcAft>
                  <a:spcPts val="800"/>
                </a:spcAft>
                <a:buClrTx/>
                <a:buSzTx/>
                <a:buFontTx/>
                <a:buNone/>
                <a:tabLst/>
                <a:defRPr/>
              </a:pPr>
              <a:r>
                <a:rPr kumimoji="0" lang="en-PH" sz="1000" b="0" i="1" u="none" strike="noStrike" kern="1200" cap="none" spc="0" normalizeH="0" baseline="0" noProof="0" dirty="0">
                  <a:ln>
                    <a:noFill/>
                  </a:ln>
                  <a:solidFill>
                    <a:srgbClr val="4F6128"/>
                  </a:solidFill>
                  <a:effectLst/>
                  <a:uLnTx/>
                  <a:uFillTx/>
                  <a:latin typeface="Calibri" panose="020F0502020204030204" pitchFamily="34" charset="0"/>
                  <a:ea typeface="Calibri" panose="020F0502020204030204" pitchFamily="34" charset="0"/>
                  <a:cs typeface="Times New Roman" panose="02020603050405020304" pitchFamily="18" charset="0"/>
                </a:rPr>
                <a:t>How to search transaction?</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342900" marR="0" lvl="0" indent="-228600" algn="l" defTabSz="914400" rtl="0" eaLnBrk="1" fontAlgn="auto" latinLnBrk="0" hangingPunct="1">
                <a:lnSpc>
                  <a:spcPct val="115000"/>
                </a:lnSpc>
                <a:spcBef>
                  <a:spcPts val="0"/>
                </a:spcBef>
                <a:spcAft>
                  <a:spcPts val="0"/>
                </a:spcAft>
                <a:buClrTx/>
                <a:buSzTx/>
                <a:buFontTx/>
                <a:buNone/>
                <a:tabLst>
                  <a:tab pos="227330" algn="l"/>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Type the transaction number in the search bar.</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342900" marR="0" lvl="0" indent="-228600" algn="l" defTabSz="914400" rtl="0" eaLnBrk="1" fontAlgn="auto" latinLnBrk="0" hangingPunct="1">
                <a:lnSpc>
                  <a:spcPts val="975"/>
                </a:lnSpc>
                <a:spcBef>
                  <a:spcPts val="5"/>
                </a:spcBef>
                <a:spcAft>
                  <a:spcPts val="0"/>
                </a:spcAft>
                <a:buClrTx/>
                <a:buSzTx/>
                <a:buFontTx/>
                <a:buNone/>
                <a:tabLst>
                  <a:tab pos="203200" algn="l"/>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Click ‘enter’ in the keyboard to</a:t>
              </a:r>
              <a:r>
                <a:rPr kumimoji="0" lang="en-US" sz="800" b="0" i="0" u="none" strike="noStrike" kern="1200" cap="none" spc="-4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a:t>
              </a: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search.</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202565" marR="0" lvl="0" indent="-101600" algn="l" defTabSz="914400" rtl="0" eaLnBrk="1" fontAlgn="auto" latinLnBrk="0" hangingPunct="1">
                <a:lnSpc>
                  <a:spcPts val="975"/>
                </a:lnSpc>
                <a:spcBef>
                  <a:spcPts val="0"/>
                </a:spcBef>
                <a:spcAft>
                  <a:spcPts val="0"/>
                </a:spcAft>
                <a:buClrTx/>
                <a:buSzTx/>
                <a:buFontTx/>
                <a:buNone/>
                <a:tabLst>
                  <a:tab pos="203200" algn="l"/>
                </a:tabLst>
                <a:defRPr/>
              </a:pPr>
              <a:r>
                <a:rPr kumimoji="0" lang="en-PH"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Click to select the transaction you want to edit</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28" name="Text Box 735">
              <a:extLst>
                <a:ext uri="{FF2B5EF4-FFF2-40B4-BE49-F238E27FC236}">
                  <a16:creationId xmlns:a16="http://schemas.microsoft.com/office/drawing/2014/main" id="{8194CCE8-9127-96C7-C026-CAD2EA7AD4FF}"/>
                </a:ext>
              </a:extLst>
            </p:cNvPr>
            <p:cNvSpPr txBox="1"/>
            <p:nvPr/>
          </p:nvSpPr>
          <p:spPr>
            <a:xfrm>
              <a:off x="5083194" y="3406234"/>
              <a:ext cx="1306195" cy="2730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HEADER</a:t>
              </a:r>
            </a:p>
          </p:txBody>
        </p:sp>
      </p:grpSp>
      <p:pic>
        <p:nvPicPr>
          <p:cNvPr id="47" name="Picture 46">
            <a:extLst>
              <a:ext uri="{FF2B5EF4-FFF2-40B4-BE49-F238E27FC236}">
                <a16:creationId xmlns:a16="http://schemas.microsoft.com/office/drawing/2014/main" id="{EB9667B4-7753-B2D9-D672-63734C0C4A2E}"/>
              </a:ext>
            </a:extLst>
          </p:cNvPr>
          <p:cNvPicPr>
            <a:picLocks noChangeAspect="1"/>
          </p:cNvPicPr>
          <p:nvPr/>
        </p:nvPicPr>
        <p:blipFill>
          <a:blip r:embed="rId4"/>
          <a:stretch>
            <a:fillRect/>
          </a:stretch>
        </p:blipFill>
        <p:spPr>
          <a:xfrm>
            <a:off x="10780479" y="6391410"/>
            <a:ext cx="1047454" cy="267619"/>
          </a:xfrm>
          <a:prstGeom prst="rect">
            <a:avLst/>
          </a:prstGeom>
          <a:effectLst/>
        </p:spPr>
      </p:pic>
      <p:sp>
        <p:nvSpPr>
          <p:cNvPr id="2" name="TextBox 1">
            <a:extLst>
              <a:ext uri="{FF2B5EF4-FFF2-40B4-BE49-F238E27FC236}">
                <a16:creationId xmlns:a16="http://schemas.microsoft.com/office/drawing/2014/main" id="{F728849D-97D2-11ED-1F03-631819270D3B}"/>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Inventory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 Physical Count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entury Gothic" panose="020B0502020202020204" pitchFamily="34" charset="0"/>
              <a:ea typeface="+mn-ea"/>
              <a:cs typeface="+mn-cs"/>
            </a:endParaRPr>
          </a:p>
        </p:txBody>
      </p:sp>
      <p:sp>
        <p:nvSpPr>
          <p:cNvPr id="4" name="TextBox 3">
            <a:extLst>
              <a:ext uri="{FF2B5EF4-FFF2-40B4-BE49-F238E27FC236}">
                <a16:creationId xmlns:a16="http://schemas.microsoft.com/office/drawing/2014/main" id="{83F8A514-1865-7953-28EA-8819840885F2}"/>
              </a:ext>
            </a:extLst>
          </p:cNvPr>
          <p:cNvSpPr txBox="1"/>
          <p:nvPr/>
        </p:nvSpPr>
        <p:spPr>
          <a:xfrm>
            <a:off x="805110" y="940347"/>
            <a:ext cx="3852819" cy="307777"/>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How To Edit Physical Count Transaction?</a:t>
            </a:r>
            <a:endParaRPr kumimoji="0" lang="en-US" sz="1400" b="0" i="0" u="none" strike="noStrike" kern="1200" cap="none" spc="0" normalizeH="0" baseline="0" noProof="0" dirty="0">
              <a:ln>
                <a:noFill/>
              </a:ln>
              <a:solidFill>
                <a:srgbClr val="007434"/>
              </a:solidFill>
              <a:effectLst/>
              <a:uLnTx/>
              <a:uFillTx/>
              <a:latin typeface="Calibri Light" panose="020F0302020204030204" pitchFamily="34" charset="0"/>
              <a:ea typeface="+mn-ea"/>
              <a:cs typeface="Calibri Light" panose="020F0302020204030204" pitchFamily="34" charset="0"/>
            </a:endParaRPr>
          </a:p>
        </p:txBody>
      </p:sp>
      <p:sp>
        <p:nvSpPr>
          <p:cNvPr id="13" name="TextBox 12">
            <a:extLst>
              <a:ext uri="{FF2B5EF4-FFF2-40B4-BE49-F238E27FC236}">
                <a16:creationId xmlns:a16="http://schemas.microsoft.com/office/drawing/2014/main" id="{528FE090-4319-7BB8-AE02-F05D92FAA5E5}"/>
              </a:ext>
            </a:extLst>
          </p:cNvPr>
          <p:cNvSpPr txBox="1"/>
          <p:nvPr/>
        </p:nvSpPr>
        <p:spPr>
          <a:xfrm>
            <a:off x="7543090" y="2784512"/>
            <a:ext cx="2552700" cy="281231"/>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PH"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Physical Count– Main Window</a:t>
            </a:r>
            <a:endParaRPr kumimoji="0" lang="en-US"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14" name="TextBox 13">
            <a:extLst>
              <a:ext uri="{FF2B5EF4-FFF2-40B4-BE49-F238E27FC236}">
                <a16:creationId xmlns:a16="http://schemas.microsoft.com/office/drawing/2014/main" id="{A4B46384-654B-DFB9-A43A-8A5CC731E8AA}"/>
              </a:ext>
            </a:extLst>
          </p:cNvPr>
          <p:cNvSpPr txBox="1"/>
          <p:nvPr/>
        </p:nvSpPr>
        <p:spPr>
          <a:xfrm>
            <a:off x="7543090" y="5963107"/>
            <a:ext cx="2552700" cy="281231"/>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PH"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Physical Count– Main Form</a:t>
            </a:r>
            <a:endParaRPr kumimoji="0" lang="en-US"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5" name="Slide Number Placeholder 9">
            <a:extLst>
              <a:ext uri="{FF2B5EF4-FFF2-40B4-BE49-F238E27FC236}">
                <a16:creationId xmlns:a16="http://schemas.microsoft.com/office/drawing/2014/main" id="{BFEBF91F-8946-29E8-8F75-7079414121CE}"/>
              </a:ext>
            </a:extLst>
          </p:cNvPr>
          <p:cNvSpPr>
            <a:spLocks noGrp="1"/>
          </p:cNvSpPr>
          <p:nvPr>
            <p:ph type="sldNum" sz="quarter" idx="12"/>
          </p:nvPr>
        </p:nvSpPr>
        <p:spPr>
          <a:xfrm>
            <a:off x="110541" y="6356350"/>
            <a:ext cx="540917"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026009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Box 18">
            <a:extLst>
              <a:ext uri="{FF2B5EF4-FFF2-40B4-BE49-F238E27FC236}">
                <a16:creationId xmlns:a16="http://schemas.microsoft.com/office/drawing/2014/main" id="{9A8214E9-BA24-C1CD-FE2E-59471D8D7178}"/>
              </a:ext>
            </a:extLst>
          </p:cNvPr>
          <p:cNvSpPr txBox="1"/>
          <p:nvPr/>
        </p:nvSpPr>
        <p:spPr>
          <a:xfrm>
            <a:off x="540588" y="2203929"/>
            <a:ext cx="4179346" cy="2838588"/>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4.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If you want to edit the items in stock, edit right away the details you want to change and you will notice that after you change the details, the item you edited will be highlighted into blue. </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5.</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If you’re done editing, click save item button to save the changes you made in the items.</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6.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To delete all items in the stock, click delete item button.</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7.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To delete a specific item on the table, click the delete icon next to the item to delete it.</a:t>
            </a: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pic>
        <p:nvPicPr>
          <p:cNvPr id="47" name="Picture 46">
            <a:extLst>
              <a:ext uri="{FF2B5EF4-FFF2-40B4-BE49-F238E27FC236}">
                <a16:creationId xmlns:a16="http://schemas.microsoft.com/office/drawing/2014/main" id="{EB9667B4-7753-B2D9-D672-63734C0C4A2E}"/>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7" name="TextBox 6">
            <a:extLst>
              <a:ext uri="{FF2B5EF4-FFF2-40B4-BE49-F238E27FC236}">
                <a16:creationId xmlns:a16="http://schemas.microsoft.com/office/drawing/2014/main" id="{8E326912-08B2-CCAC-928C-A40A624DF852}"/>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Inventory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 Physical Count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entury Gothic" panose="020B0502020202020204" pitchFamily="34" charset="0"/>
              <a:ea typeface="+mn-ea"/>
              <a:cs typeface="+mn-cs"/>
            </a:endParaRPr>
          </a:p>
        </p:txBody>
      </p:sp>
      <p:sp>
        <p:nvSpPr>
          <p:cNvPr id="13" name="TextBox 12">
            <a:extLst>
              <a:ext uri="{FF2B5EF4-FFF2-40B4-BE49-F238E27FC236}">
                <a16:creationId xmlns:a16="http://schemas.microsoft.com/office/drawing/2014/main" id="{DB68D763-266E-F207-C13F-79177A4E249B}"/>
              </a:ext>
            </a:extLst>
          </p:cNvPr>
          <p:cNvSpPr txBox="1"/>
          <p:nvPr/>
        </p:nvSpPr>
        <p:spPr>
          <a:xfrm>
            <a:off x="1521259" y="640393"/>
            <a:ext cx="3852819" cy="307777"/>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How To Edit Physical Count Transaction?</a:t>
            </a:r>
            <a:endParaRPr kumimoji="0" lang="en-US" sz="1400" b="0" i="0" u="none" strike="noStrike" kern="1200" cap="none" spc="0" normalizeH="0" baseline="0" noProof="0" dirty="0">
              <a:ln>
                <a:noFill/>
              </a:ln>
              <a:solidFill>
                <a:srgbClr val="007434"/>
              </a:solidFill>
              <a:effectLst/>
              <a:uLnTx/>
              <a:uFillTx/>
              <a:latin typeface="Calibri Light" panose="020F0302020204030204" pitchFamily="34" charset="0"/>
              <a:ea typeface="+mn-ea"/>
              <a:cs typeface="Calibri Light" panose="020F0302020204030204" pitchFamily="34" charset="0"/>
            </a:endParaRPr>
          </a:p>
        </p:txBody>
      </p:sp>
      <p:sp>
        <p:nvSpPr>
          <p:cNvPr id="5" name="Slide Number Placeholder 9">
            <a:extLst>
              <a:ext uri="{FF2B5EF4-FFF2-40B4-BE49-F238E27FC236}">
                <a16:creationId xmlns:a16="http://schemas.microsoft.com/office/drawing/2014/main" id="{D7448766-DD65-941D-E50C-CAAD90A74F1B}"/>
              </a:ext>
            </a:extLst>
          </p:cNvPr>
          <p:cNvSpPr>
            <a:spLocks noGrp="1"/>
          </p:cNvSpPr>
          <p:nvPr>
            <p:ph type="sldNum" sz="quarter" idx="12"/>
          </p:nvPr>
        </p:nvSpPr>
        <p:spPr>
          <a:xfrm>
            <a:off x="110541" y="6356350"/>
            <a:ext cx="540917"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grpSp>
        <p:nvGrpSpPr>
          <p:cNvPr id="14" name="Group 13">
            <a:extLst>
              <a:ext uri="{FF2B5EF4-FFF2-40B4-BE49-F238E27FC236}">
                <a16:creationId xmlns:a16="http://schemas.microsoft.com/office/drawing/2014/main" id="{F0ECF197-6E21-81B1-EA3F-380FD500B1FE}"/>
              </a:ext>
            </a:extLst>
          </p:cNvPr>
          <p:cNvGrpSpPr/>
          <p:nvPr/>
        </p:nvGrpSpPr>
        <p:grpSpPr>
          <a:xfrm>
            <a:off x="5171495" y="2046996"/>
            <a:ext cx="6440200" cy="2332990"/>
            <a:chOff x="5171495" y="2046996"/>
            <a:chExt cx="6440200" cy="2332990"/>
          </a:xfrm>
        </p:grpSpPr>
        <p:grpSp>
          <p:nvGrpSpPr>
            <p:cNvPr id="15" name="Group 14">
              <a:extLst>
                <a:ext uri="{FF2B5EF4-FFF2-40B4-BE49-F238E27FC236}">
                  <a16:creationId xmlns:a16="http://schemas.microsoft.com/office/drawing/2014/main" id="{E5D02DFC-D5FD-7587-F651-8BF995970870}"/>
                </a:ext>
              </a:extLst>
            </p:cNvPr>
            <p:cNvGrpSpPr/>
            <p:nvPr/>
          </p:nvGrpSpPr>
          <p:grpSpPr>
            <a:xfrm>
              <a:off x="5171495" y="2046996"/>
              <a:ext cx="6440200" cy="2332990"/>
              <a:chOff x="5171495" y="941067"/>
              <a:chExt cx="6440200" cy="2332990"/>
            </a:xfrm>
          </p:grpSpPr>
          <p:grpSp>
            <p:nvGrpSpPr>
              <p:cNvPr id="22" name="Group 21">
                <a:extLst>
                  <a:ext uri="{FF2B5EF4-FFF2-40B4-BE49-F238E27FC236}">
                    <a16:creationId xmlns:a16="http://schemas.microsoft.com/office/drawing/2014/main" id="{859D22B4-4600-AEBB-6BFC-2770720652B7}"/>
                  </a:ext>
                </a:extLst>
              </p:cNvPr>
              <p:cNvGrpSpPr/>
              <p:nvPr/>
            </p:nvGrpSpPr>
            <p:grpSpPr>
              <a:xfrm>
                <a:off x="5365200" y="970444"/>
                <a:ext cx="6246495" cy="1658617"/>
                <a:chOff x="31914" y="203778"/>
                <a:chExt cx="6246768" cy="1659243"/>
              </a:xfrm>
            </p:grpSpPr>
            <p:pic>
              <p:nvPicPr>
                <p:cNvPr id="28" name="Picture 27">
                  <a:extLst>
                    <a:ext uri="{FF2B5EF4-FFF2-40B4-BE49-F238E27FC236}">
                      <a16:creationId xmlns:a16="http://schemas.microsoft.com/office/drawing/2014/main" id="{BFFAE926-1410-B8E0-A3A3-02FE7769D0D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914" y="226272"/>
                  <a:ext cx="6246768" cy="1636749"/>
                </a:xfrm>
                <a:prstGeom prst="rect">
                  <a:avLst/>
                </a:prstGeom>
              </p:spPr>
            </p:pic>
            <p:sp>
              <p:nvSpPr>
                <p:cNvPr id="29" name="Rectangle 28">
                  <a:extLst>
                    <a:ext uri="{FF2B5EF4-FFF2-40B4-BE49-F238E27FC236}">
                      <a16:creationId xmlns:a16="http://schemas.microsoft.com/office/drawing/2014/main" id="{E31B7CEE-28AA-3B49-CBEC-6B30788758AF}"/>
                    </a:ext>
                  </a:extLst>
                </p:cNvPr>
                <p:cNvSpPr/>
                <p:nvPr/>
              </p:nvSpPr>
              <p:spPr>
                <a:xfrm>
                  <a:off x="510637" y="1116963"/>
                  <a:ext cx="2157714" cy="724703"/>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30" name="Group 29">
                  <a:extLst>
                    <a:ext uri="{FF2B5EF4-FFF2-40B4-BE49-F238E27FC236}">
                      <a16:creationId xmlns:a16="http://schemas.microsoft.com/office/drawing/2014/main" id="{3797A82C-4EAE-7248-B33D-7DFD136FC78C}"/>
                    </a:ext>
                  </a:extLst>
                </p:cNvPr>
                <p:cNvGrpSpPr/>
                <p:nvPr/>
              </p:nvGrpSpPr>
              <p:grpSpPr>
                <a:xfrm>
                  <a:off x="4926412" y="203778"/>
                  <a:ext cx="647700" cy="796655"/>
                  <a:chOff x="306787" y="-291522"/>
                  <a:chExt cx="647700" cy="796655"/>
                </a:xfrm>
              </p:grpSpPr>
              <p:sp>
                <p:nvSpPr>
                  <p:cNvPr id="31" name="Rectangle 30">
                    <a:extLst>
                      <a:ext uri="{FF2B5EF4-FFF2-40B4-BE49-F238E27FC236}">
                        <a16:creationId xmlns:a16="http://schemas.microsoft.com/office/drawing/2014/main" id="{99BAFCA6-5309-DD23-BEDC-F4EDFA6F459B}"/>
                      </a:ext>
                    </a:extLst>
                  </p:cNvPr>
                  <p:cNvSpPr/>
                  <p:nvPr/>
                </p:nvSpPr>
                <p:spPr>
                  <a:xfrm>
                    <a:off x="306787" y="-291522"/>
                    <a:ext cx="647700" cy="28575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38" name="Straight Arrow Connector 37">
                    <a:extLst>
                      <a:ext uri="{FF2B5EF4-FFF2-40B4-BE49-F238E27FC236}">
                        <a16:creationId xmlns:a16="http://schemas.microsoft.com/office/drawing/2014/main" id="{BE4E9F5B-AC98-12F6-2B56-4B2D9BDC65AA}"/>
                      </a:ext>
                    </a:extLst>
                  </p:cNvPr>
                  <p:cNvCxnSpPr>
                    <a:cxnSpLocks/>
                  </p:cNvCxnSpPr>
                  <p:nvPr/>
                </p:nvCxnSpPr>
                <p:spPr>
                  <a:xfrm>
                    <a:off x="630637" y="-5772"/>
                    <a:ext cx="0" cy="24765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9" name="Text Box 756">
                    <a:extLst>
                      <a:ext uri="{FF2B5EF4-FFF2-40B4-BE49-F238E27FC236}">
                        <a16:creationId xmlns:a16="http://schemas.microsoft.com/office/drawing/2014/main" id="{FA719338-9A52-7EAD-A79A-2604F21849D9}"/>
                      </a:ext>
                    </a:extLst>
                  </p:cNvPr>
                  <p:cNvSpPr txBox="1"/>
                  <p:nvPr/>
                </p:nvSpPr>
                <p:spPr>
                  <a:xfrm>
                    <a:off x="530625" y="257483"/>
                    <a:ext cx="2000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5</a:t>
                    </a:r>
                  </a:p>
                </p:txBody>
              </p:sp>
            </p:grpSp>
          </p:grpSp>
          <p:grpSp>
            <p:nvGrpSpPr>
              <p:cNvPr id="23" name="Group 22">
                <a:extLst>
                  <a:ext uri="{FF2B5EF4-FFF2-40B4-BE49-F238E27FC236}">
                    <a16:creationId xmlns:a16="http://schemas.microsoft.com/office/drawing/2014/main" id="{E99E9485-F28D-84D5-B0F3-DA3F39CAD847}"/>
                  </a:ext>
                </a:extLst>
              </p:cNvPr>
              <p:cNvGrpSpPr/>
              <p:nvPr/>
            </p:nvGrpSpPr>
            <p:grpSpPr>
              <a:xfrm>
                <a:off x="5171495" y="941067"/>
                <a:ext cx="3176904" cy="2332990"/>
                <a:chOff x="0" y="0"/>
                <a:chExt cx="3177391" cy="2332990"/>
              </a:xfrm>
            </p:grpSpPr>
            <p:sp>
              <p:nvSpPr>
                <p:cNvPr id="24" name="Text Box 749">
                  <a:extLst>
                    <a:ext uri="{FF2B5EF4-FFF2-40B4-BE49-F238E27FC236}">
                      <a16:creationId xmlns:a16="http://schemas.microsoft.com/office/drawing/2014/main" id="{3529084F-0C25-656B-D8D4-8AFF5BA8F096}"/>
                    </a:ext>
                  </a:extLst>
                </p:cNvPr>
                <p:cNvSpPr txBox="1"/>
                <p:nvPr/>
              </p:nvSpPr>
              <p:spPr>
                <a:xfrm>
                  <a:off x="76200" y="0"/>
                  <a:ext cx="914400" cy="285008"/>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STOCK</a:t>
                  </a:r>
                </a:p>
              </p:txBody>
            </p:sp>
            <p:pic>
              <p:nvPicPr>
                <p:cNvPr id="25" name="Picture 24">
                  <a:extLst>
                    <a:ext uri="{FF2B5EF4-FFF2-40B4-BE49-F238E27FC236}">
                      <a16:creationId xmlns:a16="http://schemas.microsoft.com/office/drawing/2014/main" id="{A25FD7BD-E15C-AB05-0FA3-C14FF14AA5D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6829" y="1714500"/>
                  <a:ext cx="2893060" cy="618490"/>
                </a:xfrm>
                <a:prstGeom prst="rect">
                  <a:avLst/>
                </a:prstGeom>
                <a:ln>
                  <a:noFill/>
                </a:ln>
                <a:effectLst>
                  <a:outerShdw blurRad="292100" dist="139700" dir="2700000" algn="tl" rotWithShape="0">
                    <a:srgbClr val="333333">
                      <a:alpha val="65000"/>
                    </a:srgbClr>
                  </a:outerShdw>
                </a:effectLst>
              </p:spPr>
            </p:pic>
            <p:sp>
              <p:nvSpPr>
                <p:cNvPr id="26" name="Curved Left Arrow 758">
                  <a:extLst>
                    <a:ext uri="{FF2B5EF4-FFF2-40B4-BE49-F238E27FC236}">
                      <a16:creationId xmlns:a16="http://schemas.microsoft.com/office/drawing/2014/main" id="{CD6A7F59-3A2C-6E7B-8CC0-7618A4AFEAF6}"/>
                    </a:ext>
                  </a:extLst>
                </p:cNvPr>
                <p:cNvSpPr/>
                <p:nvPr/>
              </p:nvSpPr>
              <p:spPr>
                <a:xfrm>
                  <a:off x="2833007" y="1415143"/>
                  <a:ext cx="344384" cy="593766"/>
                </a:xfrm>
                <a:prstGeom prst="curvedLeftArrow">
                  <a:avLst/>
                </a:prstGeom>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7" name="Text Box 757">
                  <a:extLst>
                    <a:ext uri="{FF2B5EF4-FFF2-40B4-BE49-F238E27FC236}">
                      <a16:creationId xmlns:a16="http://schemas.microsoft.com/office/drawing/2014/main" id="{65380F0C-1D81-1767-78AD-EC9AF35D49B8}"/>
                    </a:ext>
                  </a:extLst>
                </p:cNvPr>
                <p:cNvSpPr txBox="1"/>
                <p:nvPr/>
              </p:nvSpPr>
              <p:spPr>
                <a:xfrm>
                  <a:off x="0" y="1594757"/>
                  <a:ext cx="200025" cy="247564"/>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4</a:t>
                  </a:r>
                </a:p>
              </p:txBody>
            </p:sp>
          </p:grpSp>
        </p:grpSp>
        <p:sp>
          <p:nvSpPr>
            <p:cNvPr id="16" name="Rectangle 15">
              <a:extLst>
                <a:ext uri="{FF2B5EF4-FFF2-40B4-BE49-F238E27FC236}">
                  <a16:creationId xmlns:a16="http://schemas.microsoft.com/office/drawing/2014/main" id="{14BAC1D4-B015-98A3-BE53-3D0B6A61573A}"/>
                </a:ext>
              </a:extLst>
            </p:cNvPr>
            <p:cNvSpPr/>
            <p:nvPr/>
          </p:nvSpPr>
          <p:spPr>
            <a:xfrm>
              <a:off x="10935589" y="2076150"/>
              <a:ext cx="647672" cy="285642"/>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7" name="Straight Arrow Connector 16">
              <a:extLst>
                <a:ext uri="{FF2B5EF4-FFF2-40B4-BE49-F238E27FC236}">
                  <a16:creationId xmlns:a16="http://schemas.microsoft.com/office/drawing/2014/main" id="{5CC40912-8479-3982-F273-E771347D650B}"/>
                </a:ext>
              </a:extLst>
            </p:cNvPr>
            <p:cNvCxnSpPr>
              <a:cxnSpLocks/>
            </p:cNvCxnSpPr>
            <p:nvPr/>
          </p:nvCxnSpPr>
          <p:spPr>
            <a:xfrm>
              <a:off x="11259425" y="2361792"/>
              <a:ext cx="0" cy="24755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8" name="Text Box 756">
              <a:extLst>
                <a:ext uri="{FF2B5EF4-FFF2-40B4-BE49-F238E27FC236}">
                  <a16:creationId xmlns:a16="http://schemas.microsoft.com/office/drawing/2014/main" id="{31A5D222-12D3-1A96-2B52-9A6279F73B53}"/>
                </a:ext>
              </a:extLst>
            </p:cNvPr>
            <p:cNvSpPr txBox="1"/>
            <p:nvPr/>
          </p:nvSpPr>
          <p:spPr>
            <a:xfrm>
              <a:off x="11159417" y="2624948"/>
              <a:ext cx="200016" cy="247556"/>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6</a:t>
              </a:r>
            </a:p>
          </p:txBody>
        </p:sp>
        <p:sp>
          <p:nvSpPr>
            <p:cNvPr id="19" name="Rectangle 18">
              <a:extLst>
                <a:ext uri="{FF2B5EF4-FFF2-40B4-BE49-F238E27FC236}">
                  <a16:creationId xmlns:a16="http://schemas.microsoft.com/office/drawing/2014/main" id="{55B7CAD5-E361-9AD0-EEF9-736FE1D3D970}"/>
                </a:ext>
              </a:extLst>
            </p:cNvPr>
            <p:cNvSpPr/>
            <p:nvPr/>
          </p:nvSpPr>
          <p:spPr>
            <a:xfrm>
              <a:off x="5559297" y="2937872"/>
              <a:ext cx="200016" cy="247557"/>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0" name="Straight Arrow Connector 19">
              <a:extLst>
                <a:ext uri="{FF2B5EF4-FFF2-40B4-BE49-F238E27FC236}">
                  <a16:creationId xmlns:a16="http://schemas.microsoft.com/office/drawing/2014/main" id="{FB64159B-3DC7-DA6C-281F-CC13D7BC3795}"/>
                </a:ext>
              </a:extLst>
            </p:cNvPr>
            <p:cNvCxnSpPr>
              <a:cxnSpLocks/>
            </p:cNvCxnSpPr>
            <p:nvPr/>
          </p:nvCxnSpPr>
          <p:spPr>
            <a:xfrm>
              <a:off x="5652313" y="3181444"/>
              <a:ext cx="0" cy="16543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1" name="Text Box 756">
              <a:extLst>
                <a:ext uri="{FF2B5EF4-FFF2-40B4-BE49-F238E27FC236}">
                  <a16:creationId xmlns:a16="http://schemas.microsoft.com/office/drawing/2014/main" id="{6318A579-D37A-8A28-9204-C9F30F3D5440}"/>
                </a:ext>
              </a:extLst>
            </p:cNvPr>
            <p:cNvSpPr txBox="1"/>
            <p:nvPr/>
          </p:nvSpPr>
          <p:spPr>
            <a:xfrm>
              <a:off x="5559297" y="3376441"/>
              <a:ext cx="200016" cy="247556"/>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7</a:t>
              </a:r>
            </a:p>
          </p:txBody>
        </p:sp>
      </p:grpSp>
    </p:spTree>
    <p:extLst>
      <p:ext uri="{BB962C8B-B14F-4D97-AF65-F5344CB8AC3E}">
        <p14:creationId xmlns:p14="http://schemas.microsoft.com/office/powerpoint/2010/main" val="10909073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Box 18">
            <a:extLst>
              <a:ext uri="{FF2B5EF4-FFF2-40B4-BE49-F238E27FC236}">
                <a16:creationId xmlns:a16="http://schemas.microsoft.com/office/drawing/2014/main" id="{9A8214E9-BA24-C1CD-FE2E-59471D8D7178}"/>
              </a:ext>
            </a:extLst>
          </p:cNvPr>
          <p:cNvSpPr txBox="1"/>
          <p:nvPr/>
        </p:nvSpPr>
        <p:spPr>
          <a:xfrm>
            <a:off x="540588" y="2650501"/>
            <a:ext cx="4179346" cy="2863837"/>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1.1.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In the physical count – main window, search the transaction you want to delete.</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1.2.</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In physical count - main form, click the lookup button and select the transaction you want to delete.</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2.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If done, click delete button.</a:t>
            </a: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87E123F9-F71E-5E00-B667-B75ECB7B3FAE}"/>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Inventory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 Physical Count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entury Gothic" panose="020B0502020202020204" pitchFamily="34" charset="0"/>
              <a:ea typeface="+mn-ea"/>
              <a:cs typeface="+mn-cs"/>
            </a:endParaRPr>
          </a:p>
        </p:txBody>
      </p:sp>
      <p:sp>
        <p:nvSpPr>
          <p:cNvPr id="5" name="TextBox 4">
            <a:extLst>
              <a:ext uri="{FF2B5EF4-FFF2-40B4-BE49-F238E27FC236}">
                <a16:creationId xmlns:a16="http://schemas.microsoft.com/office/drawing/2014/main" id="{94EC8BBB-ABF4-E5BD-2132-C9FFD3FADA25}"/>
              </a:ext>
            </a:extLst>
          </p:cNvPr>
          <p:cNvSpPr txBox="1"/>
          <p:nvPr/>
        </p:nvSpPr>
        <p:spPr>
          <a:xfrm>
            <a:off x="867115" y="1343662"/>
            <a:ext cx="3852819" cy="307777"/>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How To Delete Physical Count Transaction?</a:t>
            </a:r>
            <a:endParaRPr kumimoji="0" lang="en-US" sz="1400" b="0" i="0" u="none" strike="noStrike" kern="1200" cap="none" spc="0" normalizeH="0" baseline="0" noProof="0" dirty="0">
              <a:ln>
                <a:noFill/>
              </a:ln>
              <a:solidFill>
                <a:srgbClr val="007434"/>
              </a:solidFill>
              <a:effectLst/>
              <a:uLnTx/>
              <a:uFillTx/>
              <a:latin typeface="Calibri Light" panose="020F0302020204030204" pitchFamily="34" charset="0"/>
              <a:ea typeface="+mn-ea"/>
              <a:cs typeface="Calibri Light" panose="020F0302020204030204" pitchFamily="34" charset="0"/>
            </a:endParaRPr>
          </a:p>
        </p:txBody>
      </p:sp>
      <p:pic>
        <p:nvPicPr>
          <p:cNvPr id="6" name="Picture 5">
            <a:extLst>
              <a:ext uri="{FF2B5EF4-FFF2-40B4-BE49-F238E27FC236}">
                <a16:creationId xmlns:a16="http://schemas.microsoft.com/office/drawing/2014/main" id="{0008AD38-CC41-542E-5137-152856C7998D}"/>
              </a:ext>
            </a:extLst>
          </p:cNvPr>
          <p:cNvPicPr>
            <a:picLocks noChangeAspect="1"/>
          </p:cNvPicPr>
          <p:nvPr/>
        </p:nvPicPr>
        <p:blipFill>
          <a:blip r:embed="rId2"/>
          <a:stretch>
            <a:fillRect/>
          </a:stretch>
        </p:blipFill>
        <p:spPr>
          <a:xfrm>
            <a:off x="4906673" y="720308"/>
            <a:ext cx="6893246" cy="2475616"/>
          </a:xfrm>
          <a:prstGeom prst="rect">
            <a:avLst/>
          </a:prstGeom>
        </p:spPr>
      </p:pic>
      <p:grpSp>
        <p:nvGrpSpPr>
          <p:cNvPr id="7" name="Group 6">
            <a:extLst>
              <a:ext uri="{FF2B5EF4-FFF2-40B4-BE49-F238E27FC236}">
                <a16:creationId xmlns:a16="http://schemas.microsoft.com/office/drawing/2014/main" id="{160AF1FF-2E4F-E831-E927-005CD28150FB}"/>
              </a:ext>
            </a:extLst>
          </p:cNvPr>
          <p:cNvGrpSpPr/>
          <p:nvPr/>
        </p:nvGrpSpPr>
        <p:grpSpPr>
          <a:xfrm>
            <a:off x="5986760" y="1651439"/>
            <a:ext cx="1475739" cy="333375"/>
            <a:chOff x="0" y="0"/>
            <a:chExt cx="1476374" cy="333375"/>
          </a:xfrm>
        </p:grpSpPr>
        <p:sp>
          <p:nvSpPr>
            <p:cNvPr id="8" name="Rectangle 7">
              <a:extLst>
                <a:ext uri="{FF2B5EF4-FFF2-40B4-BE49-F238E27FC236}">
                  <a16:creationId xmlns:a16="http://schemas.microsoft.com/office/drawing/2014/main" id="{8F6DBE5C-F18B-6747-FAE4-37A6801694AA}"/>
                </a:ext>
              </a:extLst>
            </p:cNvPr>
            <p:cNvSpPr/>
            <p:nvPr/>
          </p:nvSpPr>
          <p:spPr>
            <a:xfrm>
              <a:off x="0" y="0"/>
              <a:ext cx="800100" cy="33337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9" name="Straight Arrow Connector 8">
              <a:extLst>
                <a:ext uri="{FF2B5EF4-FFF2-40B4-BE49-F238E27FC236}">
                  <a16:creationId xmlns:a16="http://schemas.microsoft.com/office/drawing/2014/main" id="{F68E1B5A-8FBF-6ADA-4C2F-A52DF3F9399E}"/>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0" name="Text Box 734">
              <a:extLst>
                <a:ext uri="{FF2B5EF4-FFF2-40B4-BE49-F238E27FC236}">
                  <a16:creationId xmlns:a16="http://schemas.microsoft.com/office/drawing/2014/main" id="{C688206B-DE4B-EBB4-9229-91325F8FB233}"/>
                </a:ext>
              </a:extLst>
            </p:cNvPr>
            <p:cNvSpPr txBox="1"/>
            <p:nvPr/>
          </p:nvSpPr>
          <p:spPr>
            <a:xfrm>
              <a:off x="1009649" y="28575"/>
              <a:ext cx="4667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1.1.</a:t>
              </a:r>
            </a:p>
          </p:txBody>
        </p:sp>
      </p:grpSp>
      <p:sp>
        <p:nvSpPr>
          <p:cNvPr id="11" name="TextBox 10">
            <a:extLst>
              <a:ext uri="{FF2B5EF4-FFF2-40B4-BE49-F238E27FC236}">
                <a16:creationId xmlns:a16="http://schemas.microsoft.com/office/drawing/2014/main" id="{DCB8F23C-9BFF-5E66-AE38-D531B7AFD2F6}"/>
              </a:ext>
            </a:extLst>
          </p:cNvPr>
          <p:cNvSpPr txBox="1"/>
          <p:nvPr/>
        </p:nvSpPr>
        <p:spPr>
          <a:xfrm>
            <a:off x="7545147" y="2650501"/>
            <a:ext cx="2552700" cy="281231"/>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PH"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Physical Count– Main Window</a:t>
            </a:r>
            <a:endParaRPr kumimoji="0" lang="en-US"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grpSp>
        <p:nvGrpSpPr>
          <p:cNvPr id="13" name="Group 12">
            <a:extLst>
              <a:ext uri="{FF2B5EF4-FFF2-40B4-BE49-F238E27FC236}">
                <a16:creationId xmlns:a16="http://schemas.microsoft.com/office/drawing/2014/main" id="{4912B5EB-0AB3-41AC-CA38-82298B691824}"/>
              </a:ext>
            </a:extLst>
          </p:cNvPr>
          <p:cNvGrpSpPr/>
          <p:nvPr/>
        </p:nvGrpSpPr>
        <p:grpSpPr>
          <a:xfrm>
            <a:off x="4906673" y="3355030"/>
            <a:ext cx="6744739" cy="2626872"/>
            <a:chOff x="5083194" y="3406234"/>
            <a:chExt cx="6744739" cy="2626872"/>
          </a:xfrm>
        </p:grpSpPr>
        <p:pic>
          <p:nvPicPr>
            <p:cNvPr id="14" name="Picture 13">
              <a:extLst>
                <a:ext uri="{FF2B5EF4-FFF2-40B4-BE49-F238E27FC236}">
                  <a16:creationId xmlns:a16="http://schemas.microsoft.com/office/drawing/2014/main" id="{5FBFBB24-ABB4-CEC7-A74E-C0A3BD5077F9}"/>
                </a:ext>
              </a:extLst>
            </p:cNvPr>
            <p:cNvPicPr>
              <a:picLocks noChangeAspect="1"/>
            </p:cNvPicPr>
            <p:nvPr/>
          </p:nvPicPr>
          <p:blipFill>
            <a:blip r:embed="rId3"/>
            <a:stretch>
              <a:fillRect/>
            </a:stretch>
          </p:blipFill>
          <p:spPr>
            <a:xfrm>
              <a:off x="5086822" y="3482854"/>
              <a:ext cx="6741111" cy="2550252"/>
            </a:xfrm>
            <a:prstGeom prst="rect">
              <a:avLst/>
            </a:prstGeom>
          </p:spPr>
        </p:pic>
        <p:grpSp>
          <p:nvGrpSpPr>
            <p:cNvPr id="15" name="Group 14">
              <a:extLst>
                <a:ext uri="{FF2B5EF4-FFF2-40B4-BE49-F238E27FC236}">
                  <a16:creationId xmlns:a16="http://schemas.microsoft.com/office/drawing/2014/main" id="{BECBBCB1-EBBB-6ACC-EC37-87EC4B89AF3A}"/>
                </a:ext>
              </a:extLst>
            </p:cNvPr>
            <p:cNvGrpSpPr/>
            <p:nvPr/>
          </p:nvGrpSpPr>
          <p:grpSpPr>
            <a:xfrm>
              <a:off x="6484874" y="3903312"/>
              <a:ext cx="952500" cy="304800"/>
              <a:chOff x="523874" y="28575"/>
              <a:chExt cx="952500" cy="304800"/>
            </a:xfrm>
          </p:grpSpPr>
          <p:sp>
            <p:nvSpPr>
              <p:cNvPr id="22" name="Rectangle 21">
                <a:extLst>
                  <a:ext uri="{FF2B5EF4-FFF2-40B4-BE49-F238E27FC236}">
                    <a16:creationId xmlns:a16="http://schemas.microsoft.com/office/drawing/2014/main" id="{8B329044-556F-1FCA-4C3D-8C2B46D05781}"/>
                  </a:ext>
                </a:extLst>
              </p:cNvPr>
              <p:cNvSpPr/>
              <p:nvPr/>
            </p:nvSpPr>
            <p:spPr>
              <a:xfrm>
                <a:off x="523874" y="28575"/>
                <a:ext cx="275881" cy="3048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3" name="Straight Arrow Connector 22">
                <a:extLst>
                  <a:ext uri="{FF2B5EF4-FFF2-40B4-BE49-F238E27FC236}">
                    <a16:creationId xmlns:a16="http://schemas.microsoft.com/office/drawing/2014/main" id="{E2BAB1B4-C719-6BCD-752E-27B18D511D9F}"/>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4" name="Text Box 746">
                <a:extLst>
                  <a:ext uri="{FF2B5EF4-FFF2-40B4-BE49-F238E27FC236}">
                    <a16:creationId xmlns:a16="http://schemas.microsoft.com/office/drawing/2014/main" id="{6A201AC3-5203-CDA1-E463-EAD0879818F9}"/>
                  </a:ext>
                </a:extLst>
              </p:cNvPr>
              <p:cNvSpPr txBox="1"/>
              <p:nvPr/>
            </p:nvSpPr>
            <p:spPr>
              <a:xfrm>
                <a:off x="1009649" y="28575"/>
                <a:ext cx="4667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1.2.</a:t>
                </a:r>
              </a:p>
            </p:txBody>
          </p:sp>
        </p:grpSp>
        <p:grpSp>
          <p:nvGrpSpPr>
            <p:cNvPr id="16" name="Group 15">
              <a:extLst>
                <a:ext uri="{FF2B5EF4-FFF2-40B4-BE49-F238E27FC236}">
                  <a16:creationId xmlns:a16="http://schemas.microsoft.com/office/drawing/2014/main" id="{3C9642A6-6E87-F427-42A8-5FEA40E17EA4}"/>
                </a:ext>
              </a:extLst>
            </p:cNvPr>
            <p:cNvGrpSpPr/>
            <p:nvPr/>
          </p:nvGrpSpPr>
          <p:grpSpPr>
            <a:xfrm>
              <a:off x="7915213" y="3675853"/>
              <a:ext cx="981076" cy="304800"/>
              <a:chOff x="-1819885" y="25144"/>
              <a:chExt cx="981076" cy="304800"/>
            </a:xfrm>
          </p:grpSpPr>
          <p:sp>
            <p:nvSpPr>
              <p:cNvPr id="19" name="Rectangle 18">
                <a:extLst>
                  <a:ext uri="{FF2B5EF4-FFF2-40B4-BE49-F238E27FC236}">
                    <a16:creationId xmlns:a16="http://schemas.microsoft.com/office/drawing/2014/main" id="{752C1C19-203C-E339-B22B-4E5BD7495C83}"/>
                  </a:ext>
                </a:extLst>
              </p:cNvPr>
              <p:cNvSpPr/>
              <p:nvPr/>
            </p:nvSpPr>
            <p:spPr>
              <a:xfrm>
                <a:off x="-1819885" y="25144"/>
                <a:ext cx="466381" cy="3048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0" name="Straight Arrow Connector 19">
                <a:extLst>
                  <a:ext uri="{FF2B5EF4-FFF2-40B4-BE49-F238E27FC236}">
                    <a16:creationId xmlns:a16="http://schemas.microsoft.com/office/drawing/2014/main" id="{B8D5B66C-C746-1772-0B7F-E9A0D74661C2}"/>
                  </a:ext>
                </a:extLst>
              </p:cNvPr>
              <p:cNvCxnSpPr/>
              <p:nvPr/>
            </p:nvCxnSpPr>
            <p:spPr>
              <a:xfrm>
                <a:off x="-1353159" y="129919"/>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1" name="Text Box 739">
                <a:extLst>
                  <a:ext uri="{FF2B5EF4-FFF2-40B4-BE49-F238E27FC236}">
                    <a16:creationId xmlns:a16="http://schemas.microsoft.com/office/drawing/2014/main" id="{A834782D-34D3-17C8-3F49-378E76FC034E}"/>
                  </a:ext>
                </a:extLst>
              </p:cNvPr>
              <p:cNvSpPr txBox="1"/>
              <p:nvPr/>
            </p:nvSpPr>
            <p:spPr>
              <a:xfrm>
                <a:off x="-1143609" y="25144"/>
                <a:ext cx="304800"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2.</a:t>
                </a:r>
              </a:p>
            </p:txBody>
          </p:sp>
        </p:grpSp>
        <p:sp>
          <p:nvSpPr>
            <p:cNvPr id="17" name="Text Box 241">
              <a:extLst>
                <a:ext uri="{FF2B5EF4-FFF2-40B4-BE49-F238E27FC236}">
                  <a16:creationId xmlns:a16="http://schemas.microsoft.com/office/drawing/2014/main" id="{89D2ECA7-EE61-AD80-B847-9A793A2CCF37}"/>
                </a:ext>
              </a:extLst>
            </p:cNvPr>
            <p:cNvSpPr txBox="1">
              <a:spLocks noChangeArrowheads="1"/>
            </p:cNvSpPr>
            <p:nvPr/>
          </p:nvSpPr>
          <p:spPr bwMode="auto">
            <a:xfrm>
              <a:off x="7303876" y="4646751"/>
              <a:ext cx="2301875" cy="879475"/>
            </a:xfrm>
            <a:prstGeom prst="rect">
              <a:avLst/>
            </a:prstGeom>
            <a:solidFill>
              <a:schemeClr val="accent4">
                <a:lumMod val="20000"/>
                <a:lumOff val="80000"/>
              </a:schemeClr>
            </a:solidFill>
            <a:ln w="9525">
              <a:solidFill>
                <a:srgbClr val="000000"/>
              </a:solidFill>
              <a:miter lim="800000"/>
              <a:headEnd/>
              <a:tailEnd/>
            </a:ln>
          </p:spPr>
          <p:txBody>
            <a:bodyPr rot="0" vert="horz" wrap="square" lIns="0" tIns="0" rIns="0" bIns="0" anchor="t" anchorCtr="0" upright="1">
              <a:noAutofit/>
            </a:bodyPr>
            <a:lstStyle/>
            <a:p>
              <a:pPr marL="101600" marR="0" lvl="0" indent="0" algn="l" defTabSz="914400" rtl="0" eaLnBrk="1" fontAlgn="auto" latinLnBrk="0" hangingPunct="1">
                <a:lnSpc>
                  <a:spcPct val="107000"/>
                </a:lnSpc>
                <a:spcBef>
                  <a:spcPts val="440"/>
                </a:spcBef>
                <a:spcAft>
                  <a:spcPts val="800"/>
                </a:spcAft>
                <a:buClrTx/>
                <a:buSzTx/>
                <a:buFontTx/>
                <a:buNone/>
                <a:tabLst/>
                <a:defRPr/>
              </a:pPr>
              <a:r>
                <a:rPr kumimoji="0" lang="en-PH" sz="1000" b="0" i="1" u="none" strike="noStrike" kern="1200" cap="none" spc="0" normalizeH="0" baseline="0" noProof="0" dirty="0">
                  <a:ln>
                    <a:noFill/>
                  </a:ln>
                  <a:solidFill>
                    <a:srgbClr val="4F6128"/>
                  </a:solidFill>
                  <a:effectLst/>
                  <a:uLnTx/>
                  <a:uFillTx/>
                  <a:latin typeface="Calibri" panose="020F0502020204030204" pitchFamily="34" charset="0"/>
                  <a:ea typeface="Calibri" panose="020F0502020204030204" pitchFamily="34" charset="0"/>
                  <a:cs typeface="Times New Roman" panose="02020603050405020304" pitchFamily="18" charset="0"/>
                </a:rPr>
                <a:t>How to search transaction?</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342900" marR="0" lvl="0" indent="-228600" algn="l" defTabSz="914400" rtl="0" eaLnBrk="1" fontAlgn="auto" latinLnBrk="0" hangingPunct="1">
                <a:lnSpc>
                  <a:spcPct val="115000"/>
                </a:lnSpc>
                <a:spcBef>
                  <a:spcPts val="0"/>
                </a:spcBef>
                <a:spcAft>
                  <a:spcPts val="0"/>
                </a:spcAft>
                <a:buClrTx/>
                <a:buSzTx/>
                <a:buFontTx/>
                <a:buNone/>
                <a:tabLst>
                  <a:tab pos="227330" algn="l"/>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Type the transaction number in the search bar.</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342900" marR="0" lvl="0" indent="-228600" algn="l" defTabSz="914400" rtl="0" eaLnBrk="1" fontAlgn="auto" latinLnBrk="0" hangingPunct="1">
                <a:lnSpc>
                  <a:spcPts val="975"/>
                </a:lnSpc>
                <a:spcBef>
                  <a:spcPts val="5"/>
                </a:spcBef>
                <a:spcAft>
                  <a:spcPts val="0"/>
                </a:spcAft>
                <a:buClrTx/>
                <a:buSzTx/>
                <a:buFontTx/>
                <a:buNone/>
                <a:tabLst>
                  <a:tab pos="203200" algn="l"/>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Click ‘enter’ in the keyboard to</a:t>
              </a:r>
              <a:r>
                <a:rPr kumimoji="0" lang="en-US" sz="800" b="0" i="0" u="none" strike="noStrike" kern="1200" cap="none" spc="-4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a:t>
              </a: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search.</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202565" marR="0" lvl="0" indent="-101600" algn="l" defTabSz="914400" rtl="0" eaLnBrk="1" fontAlgn="auto" latinLnBrk="0" hangingPunct="1">
                <a:lnSpc>
                  <a:spcPts val="975"/>
                </a:lnSpc>
                <a:spcBef>
                  <a:spcPts val="0"/>
                </a:spcBef>
                <a:spcAft>
                  <a:spcPts val="0"/>
                </a:spcAft>
                <a:buClrTx/>
                <a:buSzTx/>
                <a:buFontTx/>
                <a:buNone/>
                <a:tabLst>
                  <a:tab pos="203200" algn="l"/>
                </a:tabLst>
                <a:defRPr/>
              </a:pPr>
              <a:r>
                <a:rPr kumimoji="0" lang="en-PH"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Click to select the transaction you want to edit</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18" name="Text Box 735">
              <a:extLst>
                <a:ext uri="{FF2B5EF4-FFF2-40B4-BE49-F238E27FC236}">
                  <a16:creationId xmlns:a16="http://schemas.microsoft.com/office/drawing/2014/main" id="{A67B3D76-837D-F8CB-D93F-D92AA839DA33}"/>
                </a:ext>
              </a:extLst>
            </p:cNvPr>
            <p:cNvSpPr txBox="1"/>
            <p:nvPr/>
          </p:nvSpPr>
          <p:spPr>
            <a:xfrm>
              <a:off x="5083194" y="3406234"/>
              <a:ext cx="1306195" cy="2730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HEADER</a:t>
              </a:r>
            </a:p>
          </p:txBody>
        </p:sp>
      </p:grpSp>
      <p:sp>
        <p:nvSpPr>
          <p:cNvPr id="25" name="TextBox 24">
            <a:extLst>
              <a:ext uri="{FF2B5EF4-FFF2-40B4-BE49-F238E27FC236}">
                <a16:creationId xmlns:a16="http://schemas.microsoft.com/office/drawing/2014/main" id="{2F1761A6-5D92-3617-C69B-7E59EEF34D97}"/>
              </a:ext>
            </a:extLst>
          </p:cNvPr>
          <p:cNvSpPr txBox="1"/>
          <p:nvPr/>
        </p:nvSpPr>
        <p:spPr>
          <a:xfrm>
            <a:off x="7543090" y="5963107"/>
            <a:ext cx="2552700" cy="281231"/>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PH"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Physical Count– Main Form</a:t>
            </a:r>
            <a:endParaRPr kumimoji="0" lang="en-US"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2" name="Slide Number Placeholder 9">
            <a:extLst>
              <a:ext uri="{FF2B5EF4-FFF2-40B4-BE49-F238E27FC236}">
                <a16:creationId xmlns:a16="http://schemas.microsoft.com/office/drawing/2014/main" id="{084126E5-BE5D-60CA-7283-CACC1121F367}"/>
              </a:ext>
            </a:extLst>
          </p:cNvPr>
          <p:cNvSpPr>
            <a:spLocks noGrp="1"/>
          </p:cNvSpPr>
          <p:nvPr>
            <p:ph type="sldNum" sz="quarter" idx="12"/>
          </p:nvPr>
        </p:nvSpPr>
        <p:spPr>
          <a:xfrm>
            <a:off x="110541" y="6356350"/>
            <a:ext cx="540917"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128188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 Box 6">
            <a:extLst>
              <a:ext uri="{FF2B5EF4-FFF2-40B4-BE49-F238E27FC236}">
                <a16:creationId xmlns:a16="http://schemas.microsoft.com/office/drawing/2014/main" id="{54861942-378E-F979-6642-00E02D67C1A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5" name="TextBox 4">
            <a:extLst>
              <a:ext uri="{FF2B5EF4-FFF2-40B4-BE49-F238E27FC236}">
                <a16:creationId xmlns:a16="http://schemas.microsoft.com/office/drawing/2014/main" id="{CBE13CC3-0EBB-4997-FCE7-B09A824D1CEB}"/>
              </a:ext>
            </a:extLst>
          </p:cNvPr>
          <p:cNvSpPr txBox="1"/>
          <p:nvPr/>
        </p:nvSpPr>
        <p:spPr>
          <a:xfrm>
            <a:off x="805110" y="1053547"/>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Other Information</a:t>
            </a:r>
            <a:endParaRPr kumimoji="0" lang="en-US" sz="1600" b="0" i="0" u="none" strike="noStrike" kern="1200" cap="none" spc="0" normalizeH="0" baseline="0" noProof="0" dirty="0">
              <a:ln>
                <a:noFill/>
              </a:ln>
              <a:solidFill>
                <a:srgbClr val="007434"/>
              </a:solidFill>
              <a:effectLst/>
              <a:uLnTx/>
              <a:uFillTx/>
              <a:latin typeface="Calibri Light" panose="020F0302020204030204" pitchFamily="34" charset="0"/>
              <a:ea typeface="+mn-ea"/>
              <a:cs typeface="Calibri Light" panose="020F0302020204030204" pitchFamily="34" charset="0"/>
            </a:endParaRPr>
          </a:p>
        </p:txBody>
      </p:sp>
      <p:sp>
        <p:nvSpPr>
          <p:cNvPr id="65" name="TextBox 64">
            <a:extLst>
              <a:ext uri="{FF2B5EF4-FFF2-40B4-BE49-F238E27FC236}">
                <a16:creationId xmlns:a16="http://schemas.microsoft.com/office/drawing/2014/main" id="{E7777D04-D73F-74AB-C30B-7D3C9397264F}"/>
              </a:ext>
            </a:extLst>
          </p:cNvPr>
          <p:cNvSpPr txBox="1"/>
          <p:nvPr/>
        </p:nvSpPr>
        <p:spPr>
          <a:xfrm>
            <a:off x="6689288" y="1053547"/>
            <a:ext cx="3852819" cy="307777"/>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Other Buttons</a:t>
            </a:r>
            <a:endParaRPr kumimoji="0" lang="en-US" sz="1400" b="0" i="0" u="none" strike="noStrike" kern="1200" cap="none" spc="0" normalizeH="0" baseline="0" noProof="0" dirty="0">
              <a:ln>
                <a:noFill/>
              </a:ln>
              <a:solidFill>
                <a:srgbClr val="007434"/>
              </a:solidFill>
              <a:effectLst/>
              <a:uLnTx/>
              <a:uFillTx/>
              <a:latin typeface="Calibri Light" panose="020F0302020204030204" pitchFamily="34" charset="0"/>
              <a:ea typeface="+mn-ea"/>
              <a:cs typeface="Calibri Light" panose="020F0302020204030204" pitchFamily="34" charset="0"/>
            </a:endParaRPr>
          </a:p>
        </p:txBody>
      </p:sp>
      <p:sp>
        <p:nvSpPr>
          <p:cNvPr id="8" name="Text Box 102">
            <a:extLst>
              <a:ext uri="{FF2B5EF4-FFF2-40B4-BE49-F238E27FC236}">
                <a16:creationId xmlns:a16="http://schemas.microsoft.com/office/drawing/2014/main" id="{9C27B11D-33B2-DB7D-A894-E01425B3F550}"/>
              </a:ext>
            </a:extLst>
          </p:cNvPr>
          <p:cNvSpPr txBox="1"/>
          <p:nvPr/>
        </p:nvSpPr>
        <p:spPr>
          <a:xfrm>
            <a:off x="805109" y="1589414"/>
            <a:ext cx="3852820" cy="2121974"/>
          </a:xfrm>
          <a:prstGeom prst="rect">
            <a:avLst/>
          </a:prstGeom>
          <a:noFill/>
          <a:ln w="6350">
            <a:solidFill>
              <a:srgbClr val="E7E6E6">
                <a:lumMod val="90000"/>
              </a:srgbClr>
            </a:solid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227330" lvl="0" indent="0" algn="l" defTabSz="914400" rtl="0" eaLnBrk="1" fontAlgn="auto" latinLnBrk="0" hangingPunct="1">
              <a:lnSpc>
                <a:spcPct val="107000"/>
              </a:lnSpc>
              <a:spcBef>
                <a:spcPts val="190"/>
              </a:spcBef>
              <a:spcAft>
                <a:spcPts val="80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When you click the arrow up icon parallel in the main form on the upper right, and the Physical Count – main form will be minimize and the other information will be displayed as shown in the photo below.</a:t>
            </a:r>
          </a:p>
          <a:p>
            <a:pPr marL="0" marR="227330" lvl="0" indent="0" algn="l" defTabSz="914400" rtl="0" eaLnBrk="1" fontAlgn="auto" latinLnBrk="0" hangingPunct="1">
              <a:lnSpc>
                <a:spcPct val="107000"/>
              </a:lnSpc>
              <a:spcBef>
                <a:spcPts val="190"/>
              </a:spcBef>
              <a:spcAft>
                <a:spcPts val="80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Click the arrow parallel to what information you want to open and provide the necessary filter to generate the data you want to display.</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227330" lvl="0" indent="0" algn="l" defTabSz="914400" rtl="0" eaLnBrk="1" fontAlgn="auto" latinLnBrk="0" hangingPunct="1">
              <a:lnSpc>
                <a:spcPct val="107000"/>
              </a:lnSpc>
              <a:spcBef>
                <a:spcPts val="190"/>
              </a:spcBef>
              <a:spcAft>
                <a:spcPts val="80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2CE97239-BD2B-9AAE-BB6F-EA35538E2B42}"/>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Inventory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 Physical Count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entury Gothic" panose="020B0502020202020204" pitchFamily="34" charset="0"/>
              <a:ea typeface="+mn-ea"/>
              <a:cs typeface="+mn-cs"/>
            </a:endParaRPr>
          </a:p>
        </p:txBody>
      </p:sp>
      <p:graphicFrame>
        <p:nvGraphicFramePr>
          <p:cNvPr id="9" name="Table 8">
            <a:extLst>
              <a:ext uri="{FF2B5EF4-FFF2-40B4-BE49-F238E27FC236}">
                <a16:creationId xmlns:a16="http://schemas.microsoft.com/office/drawing/2014/main" id="{2CC38310-1171-651E-3978-D224B3AE1462}"/>
              </a:ext>
            </a:extLst>
          </p:cNvPr>
          <p:cNvGraphicFramePr>
            <a:graphicFrameLocks noGrp="1"/>
          </p:cNvGraphicFramePr>
          <p:nvPr/>
        </p:nvGraphicFramePr>
        <p:xfrm>
          <a:off x="5522613" y="1589414"/>
          <a:ext cx="6186170" cy="2670175"/>
        </p:xfrm>
        <a:graphic>
          <a:graphicData uri="http://schemas.openxmlformats.org/drawingml/2006/table">
            <a:tbl>
              <a:tblPr firstRow="1" firstCol="1" bandRow="1">
                <a:tableStyleId>{5940675A-B579-460E-94D1-54222C63F5DA}</a:tableStyleId>
              </a:tblPr>
              <a:tblGrid>
                <a:gridCol w="993597">
                  <a:extLst>
                    <a:ext uri="{9D8B030D-6E8A-4147-A177-3AD203B41FA5}">
                      <a16:colId xmlns:a16="http://schemas.microsoft.com/office/drawing/2014/main" val="3415315536"/>
                    </a:ext>
                  </a:extLst>
                </a:gridCol>
                <a:gridCol w="1171852">
                  <a:extLst>
                    <a:ext uri="{9D8B030D-6E8A-4147-A177-3AD203B41FA5}">
                      <a16:colId xmlns:a16="http://schemas.microsoft.com/office/drawing/2014/main" val="906130530"/>
                    </a:ext>
                  </a:extLst>
                </a:gridCol>
                <a:gridCol w="4020721">
                  <a:extLst>
                    <a:ext uri="{9D8B030D-6E8A-4147-A177-3AD203B41FA5}">
                      <a16:colId xmlns:a16="http://schemas.microsoft.com/office/drawing/2014/main" val="1098265409"/>
                    </a:ext>
                  </a:extLst>
                </a:gridCol>
              </a:tblGrid>
              <a:tr h="336550">
                <a:tc>
                  <a:txBody>
                    <a:bodyPr/>
                    <a:lstStyle/>
                    <a:p>
                      <a:pPr>
                        <a:lnSpc>
                          <a:spcPct val="107000"/>
                        </a:lnSpc>
                        <a:spcAft>
                          <a:spcPts val="800"/>
                        </a:spcAft>
                        <a:tabLst>
                          <a:tab pos="1162050" algn="l"/>
                        </a:tabLst>
                      </a:pPr>
                      <a:endParaRPr lang="en-PH" sz="900">
                        <a:effectLst/>
                        <a:latin typeface="Chivo Light"/>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tabLst>
                          <a:tab pos="1162050" algn="l"/>
                        </a:tabLst>
                      </a:pPr>
                      <a:r>
                        <a:rPr lang="en-PH" sz="900" dirty="0">
                          <a:effectLst/>
                        </a:rPr>
                        <a:t>Print Button</a:t>
                      </a:r>
                      <a:endParaRPr lang="en-PH"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PH" sz="900" dirty="0">
                          <a:effectLst/>
                        </a:rPr>
                        <a:t>Print button is use to print transaction.</a:t>
                      </a:r>
                      <a:endParaRPr lang="en-PH"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75848879"/>
                  </a:ext>
                </a:extLst>
              </a:tr>
              <a:tr h="365125">
                <a:tc>
                  <a:txBody>
                    <a:bodyPr/>
                    <a:lstStyle/>
                    <a:p>
                      <a:pPr>
                        <a:lnSpc>
                          <a:spcPct val="107000"/>
                        </a:lnSpc>
                        <a:spcAft>
                          <a:spcPts val="800"/>
                        </a:spcAft>
                        <a:tabLst>
                          <a:tab pos="1162050" algn="l"/>
                        </a:tabLst>
                      </a:pPr>
                      <a:endParaRPr lang="en-PH" sz="900">
                        <a:effectLst/>
                        <a:latin typeface="Chivo Light"/>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tabLst>
                          <a:tab pos="1162050" algn="l"/>
                        </a:tabLst>
                      </a:pPr>
                      <a:r>
                        <a:rPr lang="en-PH" sz="900">
                          <a:effectLst/>
                        </a:rPr>
                        <a:t>Logs Button</a:t>
                      </a:r>
                      <a:endParaRPr lang="en-PH"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tabLst>
                          <a:tab pos="1162050" algn="l"/>
                        </a:tabLst>
                      </a:pPr>
                      <a:r>
                        <a:rPr lang="en-PH" sz="900" dirty="0">
                          <a:effectLst/>
                        </a:rPr>
                        <a:t>Logs Button is use to monitor the activities made in the module.</a:t>
                      </a:r>
                      <a:endParaRPr lang="en-PH"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398493135"/>
                  </a:ext>
                </a:extLst>
              </a:tr>
              <a:tr h="393700">
                <a:tc>
                  <a:txBody>
                    <a:bodyPr/>
                    <a:lstStyle/>
                    <a:p>
                      <a:pPr>
                        <a:lnSpc>
                          <a:spcPct val="107000"/>
                        </a:lnSpc>
                        <a:spcAft>
                          <a:spcPts val="800"/>
                        </a:spcAft>
                        <a:tabLst>
                          <a:tab pos="1162050" algn="l"/>
                        </a:tabLst>
                      </a:pPr>
                      <a:endParaRPr lang="en-PH"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tabLst>
                          <a:tab pos="1162050" algn="l"/>
                        </a:tabLst>
                      </a:pPr>
                      <a:r>
                        <a:rPr lang="en-PH" sz="900">
                          <a:effectLst/>
                        </a:rPr>
                        <a:t>Lock Button</a:t>
                      </a:r>
                      <a:endParaRPr lang="en-PH"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tabLst>
                          <a:tab pos="1162050" algn="l"/>
                        </a:tabLst>
                      </a:pPr>
                      <a:r>
                        <a:rPr lang="en-PH" sz="900">
                          <a:effectLst/>
                        </a:rPr>
                        <a:t>Lock button is use to lock the transaction to refrain from changing the details in the transaction</a:t>
                      </a:r>
                      <a:endParaRPr lang="en-PH"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894974876"/>
                  </a:ext>
                </a:extLst>
              </a:tr>
              <a:tr h="393700">
                <a:tc>
                  <a:txBody>
                    <a:bodyPr/>
                    <a:lstStyle/>
                    <a:p>
                      <a:pPr>
                        <a:lnSpc>
                          <a:spcPct val="107000"/>
                        </a:lnSpc>
                        <a:spcAft>
                          <a:spcPts val="800"/>
                        </a:spcAft>
                        <a:tabLst>
                          <a:tab pos="1162050" algn="l"/>
                        </a:tabLst>
                      </a:pPr>
                      <a:endParaRPr lang="en-PH" sz="900">
                        <a:effectLst/>
                        <a:latin typeface="Chivo Light"/>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tabLst>
                          <a:tab pos="1162050" algn="l"/>
                        </a:tabLst>
                      </a:pPr>
                      <a:r>
                        <a:rPr lang="en-PH" sz="900">
                          <a:effectLst/>
                        </a:rPr>
                        <a:t>Back to Listing Button</a:t>
                      </a:r>
                      <a:endParaRPr lang="en-PH"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tabLst>
                          <a:tab pos="1162050" algn="l"/>
                        </a:tabLst>
                      </a:pPr>
                      <a:r>
                        <a:rPr lang="en-PH" sz="900" dirty="0">
                          <a:effectLst/>
                        </a:rPr>
                        <a:t>Back to Listing Button is use to go back from main form to main window</a:t>
                      </a:r>
                      <a:endParaRPr lang="en-PH"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071412428"/>
                  </a:ext>
                </a:extLst>
              </a:tr>
              <a:tr h="393700">
                <a:tc>
                  <a:txBody>
                    <a:bodyPr/>
                    <a:lstStyle/>
                    <a:p>
                      <a:pPr>
                        <a:lnSpc>
                          <a:spcPct val="107000"/>
                        </a:lnSpc>
                        <a:spcAft>
                          <a:spcPts val="800"/>
                        </a:spcAft>
                        <a:tabLst>
                          <a:tab pos="1162050" algn="l"/>
                        </a:tabLst>
                      </a:pPr>
                      <a:endParaRPr lang="en-PH" sz="900">
                        <a:effectLst/>
                        <a:latin typeface="Chivo Light"/>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tabLst>
                          <a:tab pos="1162050" algn="l"/>
                        </a:tabLst>
                      </a:pPr>
                      <a:r>
                        <a:rPr lang="en-PH" sz="900">
                          <a:effectLst/>
                        </a:rPr>
                        <a:t>Hide Head Button</a:t>
                      </a:r>
                      <a:endParaRPr lang="en-PH"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tabLst>
                          <a:tab pos="1162050" algn="l"/>
                        </a:tabLst>
                      </a:pPr>
                      <a:r>
                        <a:rPr lang="en-PH" sz="900" dirty="0">
                          <a:effectLst/>
                        </a:rPr>
                        <a:t>Hide Head Button is use to minimize the main form.</a:t>
                      </a:r>
                      <a:endParaRPr lang="en-PH"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699672917"/>
                  </a:ext>
                </a:extLst>
              </a:tr>
              <a:tr h="393700">
                <a:tc>
                  <a:txBody>
                    <a:bodyPr/>
                    <a:lstStyle/>
                    <a:p>
                      <a:pPr>
                        <a:lnSpc>
                          <a:spcPct val="107000"/>
                        </a:lnSpc>
                        <a:spcAft>
                          <a:spcPts val="800"/>
                        </a:spcAft>
                        <a:tabLst>
                          <a:tab pos="1162050" algn="l"/>
                        </a:tabLst>
                      </a:pP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tabLst>
                          <a:tab pos="1162050" algn="l"/>
                        </a:tabLst>
                      </a:pPr>
                      <a:r>
                        <a:rPr lang="en-PH" sz="900">
                          <a:effectLst/>
                        </a:rPr>
                        <a:t>Full Screen Button</a:t>
                      </a:r>
                      <a:endParaRPr lang="en-PH"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tabLst>
                          <a:tab pos="1162050" algn="l"/>
                        </a:tabLst>
                      </a:pPr>
                      <a:r>
                        <a:rPr lang="en-PH" sz="900" dirty="0">
                          <a:effectLst/>
                        </a:rPr>
                        <a:t>Full Screen Button is use to allow the main form to full screen.</a:t>
                      </a:r>
                      <a:endParaRPr lang="en-PH"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174682782"/>
                  </a:ext>
                </a:extLst>
              </a:tr>
              <a:tr h="393700">
                <a:tc>
                  <a:txBody>
                    <a:bodyPr/>
                    <a:lstStyle/>
                    <a:p>
                      <a:pPr>
                        <a:lnSpc>
                          <a:spcPct val="107000"/>
                        </a:lnSpc>
                        <a:spcAft>
                          <a:spcPts val="800"/>
                        </a:spcAft>
                        <a:tabLst>
                          <a:tab pos="1162050" algn="l"/>
                        </a:tabLst>
                      </a:pP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tabLst>
                          <a:tab pos="1162050" algn="l"/>
                        </a:tabLst>
                      </a:pPr>
                      <a:r>
                        <a:rPr lang="en-PH" sz="900">
                          <a:effectLst/>
                        </a:rPr>
                        <a:t>Open New Tab Button</a:t>
                      </a:r>
                      <a:endParaRPr lang="en-PH"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tabLst>
                          <a:tab pos="1162050" algn="l"/>
                        </a:tabLst>
                      </a:pPr>
                      <a:r>
                        <a:rPr lang="en-PH" sz="900" dirty="0">
                          <a:effectLst/>
                        </a:rPr>
                        <a:t>Open New Tab Button is use to open new tab module you currently using.</a:t>
                      </a:r>
                      <a:endParaRPr lang="en-PH"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623038834"/>
                  </a:ext>
                </a:extLst>
              </a:tr>
            </a:tbl>
          </a:graphicData>
        </a:graphic>
      </p:graphicFrame>
      <p:pic>
        <p:nvPicPr>
          <p:cNvPr id="2055" name="Picture 91">
            <a:extLst>
              <a:ext uri="{FF2B5EF4-FFF2-40B4-BE49-F238E27FC236}">
                <a16:creationId xmlns:a16="http://schemas.microsoft.com/office/drawing/2014/main" id="{3938FAF1-901C-1849-ADB2-1B95F1F970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87041" y="1608730"/>
            <a:ext cx="866775" cy="285750"/>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92">
            <a:extLst>
              <a:ext uri="{FF2B5EF4-FFF2-40B4-BE49-F238E27FC236}">
                <a16:creationId xmlns:a16="http://schemas.microsoft.com/office/drawing/2014/main" id="{1611F7B4-4D21-E1B1-616F-DAFC192AAB5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88334" y="1962400"/>
            <a:ext cx="866775" cy="28575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93">
            <a:extLst>
              <a:ext uri="{FF2B5EF4-FFF2-40B4-BE49-F238E27FC236}">
                <a16:creationId xmlns:a16="http://schemas.microsoft.com/office/drawing/2014/main" id="{7897DD70-24B4-F416-F0F6-E59F74E0406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80399" y="2742942"/>
            <a:ext cx="846137" cy="285750"/>
          </a:xfrm>
          <a:prstGeom prst="rect">
            <a:avLst/>
          </a:prstGeom>
          <a:noFill/>
          <a:extLst>
            <a:ext uri="{909E8E84-426E-40DD-AFC4-6F175D3DCCD1}">
              <a14:hiddenFill xmlns:a14="http://schemas.microsoft.com/office/drawing/2010/main">
                <a:solidFill>
                  <a:srgbClr val="FFFFFF"/>
                </a:solidFill>
              </a14:hiddenFill>
            </a:ext>
          </a:extLst>
        </p:spPr>
      </p:pic>
      <p:pic>
        <p:nvPicPr>
          <p:cNvPr id="2051" name="Picture 94">
            <a:extLst>
              <a:ext uri="{FF2B5EF4-FFF2-40B4-BE49-F238E27FC236}">
                <a16:creationId xmlns:a16="http://schemas.microsoft.com/office/drawing/2014/main" id="{AEF9AD98-279B-982E-3454-92C107FD52B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74842" y="3143036"/>
            <a:ext cx="838200" cy="285750"/>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96">
            <a:extLst>
              <a:ext uri="{FF2B5EF4-FFF2-40B4-BE49-F238E27FC236}">
                <a16:creationId xmlns:a16="http://schemas.microsoft.com/office/drawing/2014/main" id="{C1F2970D-EEC7-6580-761C-EFA812B9FBB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580399" y="3543130"/>
            <a:ext cx="827087" cy="284163"/>
          </a:xfrm>
          <a:prstGeom prst="rect">
            <a:avLst/>
          </a:prstGeom>
          <a:noFill/>
          <a:extLst>
            <a:ext uri="{909E8E84-426E-40DD-AFC4-6F175D3DCCD1}">
              <a14:hiddenFill xmlns:a14="http://schemas.microsoft.com/office/drawing/2010/main">
                <a:solidFill>
                  <a:srgbClr val="FFFFFF"/>
                </a:solidFill>
              </a14:hiddenFill>
            </a:ext>
          </a:extLst>
        </p:spPr>
      </p:pic>
      <p:pic>
        <p:nvPicPr>
          <p:cNvPr id="2049" name="Picture 97">
            <a:extLst>
              <a:ext uri="{FF2B5EF4-FFF2-40B4-BE49-F238E27FC236}">
                <a16:creationId xmlns:a16="http://schemas.microsoft.com/office/drawing/2014/main" id="{DB98C824-E1DF-AB33-7C10-506CFCAE5C3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581046" y="3911024"/>
            <a:ext cx="817562" cy="284163"/>
          </a:xfrm>
          <a:prstGeom prst="rect">
            <a:avLst/>
          </a:prstGeom>
          <a:noFill/>
          <a:extLst>
            <a:ext uri="{909E8E84-426E-40DD-AFC4-6F175D3DCCD1}">
              <a14:hiddenFill xmlns:a14="http://schemas.microsoft.com/office/drawing/2010/main">
                <a:solidFill>
                  <a:srgbClr val="FFFFFF"/>
                </a:solidFill>
              </a14:hiddenFill>
            </a:ext>
          </a:extLst>
        </p:spPr>
      </p:pic>
      <p:pic>
        <p:nvPicPr>
          <p:cNvPr id="2053" name="Picture 329">
            <a:extLst>
              <a:ext uri="{FF2B5EF4-FFF2-40B4-BE49-F238E27FC236}">
                <a16:creationId xmlns:a16="http://schemas.microsoft.com/office/drawing/2014/main" id="{1EB27DB7-82D9-E3D3-D3F2-1DEE67711A54}"/>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588334" y="2316841"/>
            <a:ext cx="828675" cy="342900"/>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9">
            <a:extLst>
              <a:ext uri="{FF2B5EF4-FFF2-40B4-BE49-F238E27FC236}">
                <a16:creationId xmlns:a16="http://schemas.microsoft.com/office/drawing/2014/main" id="{A5DC3714-C638-6B69-2B1E-1D4388212A3A}"/>
              </a:ext>
            </a:extLst>
          </p:cNvPr>
          <p:cNvSpPr>
            <a:spLocks noGrp="1"/>
          </p:cNvSpPr>
          <p:nvPr>
            <p:ph type="sldNum" sz="quarter" idx="12"/>
          </p:nvPr>
        </p:nvSpPr>
        <p:spPr>
          <a:xfrm>
            <a:off x="110541" y="6356350"/>
            <a:ext cx="540917"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1557915"/>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1088</Words>
  <Application>Microsoft Office PowerPoint</Application>
  <PresentationFormat>Widescreen</PresentationFormat>
  <Paragraphs>182</Paragraphs>
  <Slides>12</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Animosa Extra Bold</vt:lpstr>
      <vt:lpstr>Arial</vt:lpstr>
      <vt:lpstr>Bodoni MT Condensed</vt:lpstr>
      <vt:lpstr>Calibri</vt:lpstr>
      <vt:lpstr>Calibri Light</vt:lpstr>
      <vt:lpstr>Century Gothic</vt:lpstr>
      <vt:lpstr>Chivo Light</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Janine Calawod</dc:creator>
  <cp:lastModifiedBy>Janine Calawod</cp:lastModifiedBy>
  <cp:revision>1</cp:revision>
  <dcterms:created xsi:type="dcterms:W3CDTF">2023-01-10T07:01:46Z</dcterms:created>
  <dcterms:modified xsi:type="dcterms:W3CDTF">2023-01-10T07:01:55Z</dcterms:modified>
</cp:coreProperties>
</file>