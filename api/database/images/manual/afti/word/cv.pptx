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324" r:id="rId2"/>
    <p:sldId id="325" r:id="rId3"/>
    <p:sldId id="351" r:id="rId4"/>
    <p:sldId id="326" r:id="rId5"/>
    <p:sldId id="327" r:id="rId6"/>
    <p:sldId id="334" r:id="rId7"/>
    <p:sldId id="335" r:id="rId8"/>
    <p:sldId id="352" r:id="rId9"/>
    <p:sldId id="336" r:id="rId10"/>
    <p:sldId id="331" r:id="rId11"/>
    <p:sldId id="337" r:id="rId12"/>
    <p:sldId id="333" r:id="rId13"/>
    <p:sldId id="353" r:id="rId14"/>
    <p:sldId id="34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6D21C5-09B8-42BA-947F-64983615CA6D}" type="datetimeFigureOut">
              <a:rPr lang="en-PH" smtClean="0"/>
              <a:t>01/10/2023</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A40B5-3842-45EE-B5BF-196887ECF5CC}" type="slidenum">
              <a:rPr lang="en-PH" smtClean="0"/>
              <a:t>‹#›</a:t>
            </a:fld>
            <a:endParaRPr lang="en-PH"/>
          </a:p>
        </p:txBody>
      </p:sp>
    </p:spTree>
    <p:extLst>
      <p:ext uri="{BB962C8B-B14F-4D97-AF65-F5344CB8AC3E}">
        <p14:creationId xmlns:p14="http://schemas.microsoft.com/office/powerpoint/2010/main" val="3291605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56961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35441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1835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266773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32157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89444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08562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74455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5909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087921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24724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1677798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algn="ctr"/>
            <a:r>
              <a:rPr lang="en-US" sz="8000" b="1" dirty="0">
                <a:solidFill>
                  <a:srgbClr val="00B050"/>
                </a:solidFill>
                <a:latin typeface="Bodoni MT Condensed" panose="02070606080606020203" pitchFamily="18" charset="0"/>
              </a:rPr>
              <a:t>Cash/Check Voucher</a:t>
            </a:r>
            <a:endParaRPr lang="en-US" sz="80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US" sz="14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US" sz="1400" dirty="0">
                <a:solidFill>
                  <a:schemeClr val="bg1"/>
                </a:solidFill>
                <a:ea typeface="Open Sans" panose="020B0606030504020204" pitchFamily="34" charset="0"/>
                <a:cs typeface="Times New Roman" panose="02020603050405020304" pitchFamily="18" charset="0"/>
              </a:rPr>
              <a:t>is where payment whether it is in cash or in check is recorded. It is where we also disburse the APV document we made in Accounts Payable Voucher.</a:t>
            </a:r>
            <a:endParaRPr lang="en-US" sz="1400" dirty="0">
              <a:solidFill>
                <a:srgbClr val="007434"/>
              </a:solidFill>
              <a:effectLst/>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2820668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928BAB2-21AB-C7E0-FBAB-4699A1131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7545" y="2375033"/>
            <a:ext cx="6189345" cy="1477010"/>
          </a:xfrm>
          <a:prstGeom prst="rect">
            <a:avLst/>
          </a:prstGeom>
        </p:spPr>
      </p:pic>
      <p:grpSp>
        <p:nvGrpSpPr>
          <p:cNvPr id="19" name="Group 18">
            <a:extLst>
              <a:ext uri="{FF2B5EF4-FFF2-40B4-BE49-F238E27FC236}">
                <a16:creationId xmlns:a16="http://schemas.microsoft.com/office/drawing/2014/main" id="{9D76062A-3606-3826-FC3A-CCFD5BFE0226}"/>
              </a:ext>
            </a:extLst>
          </p:cNvPr>
          <p:cNvGrpSpPr/>
          <p:nvPr/>
        </p:nvGrpSpPr>
        <p:grpSpPr>
          <a:xfrm>
            <a:off x="5203534" y="3187661"/>
            <a:ext cx="6073776" cy="795020"/>
            <a:chOff x="0" y="0"/>
            <a:chExt cx="6073991" cy="795131"/>
          </a:xfrm>
        </p:grpSpPr>
        <p:sp>
          <p:nvSpPr>
            <p:cNvPr id="23" name="Rectangle 22">
              <a:extLst>
                <a:ext uri="{FF2B5EF4-FFF2-40B4-BE49-F238E27FC236}">
                  <a16:creationId xmlns:a16="http://schemas.microsoft.com/office/drawing/2014/main" id="{4D51E0C3-C21D-ABD1-C621-05DFC32669FF}"/>
                </a:ext>
              </a:extLst>
            </p:cNvPr>
            <p:cNvSpPr/>
            <p:nvPr/>
          </p:nvSpPr>
          <p:spPr>
            <a:xfrm>
              <a:off x="0" y="103415"/>
              <a:ext cx="847725"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Rectangle 23">
              <a:extLst>
                <a:ext uri="{FF2B5EF4-FFF2-40B4-BE49-F238E27FC236}">
                  <a16:creationId xmlns:a16="http://schemas.microsoft.com/office/drawing/2014/main" id="{E1D12ADA-09DE-BCA9-298D-A39203FC5963}"/>
                </a:ext>
              </a:extLst>
            </p:cNvPr>
            <p:cNvSpPr/>
            <p:nvPr/>
          </p:nvSpPr>
          <p:spPr>
            <a:xfrm>
              <a:off x="985157" y="0"/>
              <a:ext cx="5088834" cy="7951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a:extLst>
                <a:ext uri="{FF2B5EF4-FFF2-40B4-BE49-F238E27FC236}">
                  <a16:creationId xmlns:a16="http://schemas.microsoft.com/office/drawing/2014/main" id="{07F71209-0BBC-AA1D-DC4A-A80F11B99EA0}"/>
                </a:ext>
              </a:extLst>
            </p:cNvPr>
            <p:cNvCxnSpPr/>
            <p:nvPr/>
          </p:nvCxnSpPr>
          <p:spPr>
            <a:xfrm flipV="1">
              <a:off x="843642" y="209550"/>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Main Window</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Cash/ Check Voucher module under Payables, Cash/ Check Voucher transactions list will display based on filtered date and status in the Cash/ Check Voucher - main window.</a:t>
            </a:r>
          </a:p>
          <a:p>
            <a:pPr marL="0" lvl="2">
              <a:lnSpc>
                <a:spcPct val="107000"/>
              </a:lnSpc>
            </a:pPr>
            <a:r>
              <a:rPr lang="en-PH" sz="1000" dirty="0">
                <a:effectLst/>
                <a:latin typeface="Chivo Light" panose="020B0303030202020804" pitchFamily="34"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50646" y="4139624"/>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Cash/Check Voucher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9">
            <a:extLst>
              <a:ext uri="{FF2B5EF4-FFF2-40B4-BE49-F238E27FC236}">
                <a16:creationId xmlns:a16="http://schemas.microsoft.com/office/drawing/2014/main" id="{44B03976-42B6-3E62-1139-397490894F46}"/>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73269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634525" y="1293016"/>
            <a:ext cx="4179346"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8638" y="2271064"/>
            <a:ext cx="4179346" cy="393004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50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latin typeface="Chivo Light" panose="020B0303030202020804" pitchFamily="34" charset="0"/>
                <a:ea typeface="Times New Roman" panose="02020603050405020304" pitchFamily="18" charset="0"/>
                <a:cs typeface="Times New Roman" panose="02020603050405020304" pitchFamily="18" charset="0"/>
              </a:rPr>
              <a:t>Once the APV transaction is posted, a button of make payment will appear in APV – main form.</a:t>
            </a:r>
          </a:p>
          <a:p>
            <a:pPr marL="228600" marR="0">
              <a:lnSpc>
                <a:spcPct val="150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latin typeface="Chivo Light" panose="020B0303030202020804" pitchFamily="34" charset="0"/>
                <a:ea typeface="Times New Roman" panose="02020603050405020304" pitchFamily="18" charset="0"/>
                <a:cs typeface="Times New Roman" panose="02020603050405020304" pitchFamily="18" charset="0"/>
              </a:rPr>
              <a:t>Click the make button to automatically create a CV document</a:t>
            </a:r>
          </a:p>
          <a:p>
            <a:pPr marL="228600" marR="0">
              <a:lnSpc>
                <a:spcPct val="150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3.</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You will be redirected in CV – main form with details from APV transaction where you make a payment.</a:t>
            </a:r>
            <a:endParaRPr lang="en-US" sz="1200" dirty="0">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50000"/>
              </a:lnSpc>
              <a:spcBef>
                <a:spcPts val="0"/>
              </a:spcBef>
              <a:spcAft>
                <a:spcPts val="0"/>
              </a:spcAft>
            </a:pPr>
            <a:r>
              <a:rPr lang="en-US" sz="1200" b="1" dirty="0">
                <a:solidFill>
                  <a:srgbClr val="00863D"/>
                </a:solidFill>
                <a:latin typeface="Chivo Light" panose="020B0303030202020804" pitchFamily="34" charset="0"/>
                <a:ea typeface="Calibri" panose="020F0502020204030204" pitchFamily="34" charset="0"/>
                <a:cs typeface="Times New Roman" panose="02020603050405020304" pitchFamily="18" charset="0"/>
              </a:rPr>
              <a:t>4</a:t>
            </a:r>
            <a:r>
              <a:rPr lang="en-US"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 </a:t>
            </a:r>
            <a:r>
              <a:rPr lang="en-US" sz="1200" dirty="0">
                <a:effectLst/>
                <a:latin typeface="Chivo Light" panose="020B0303030202020804" pitchFamily="34" charset="0"/>
                <a:ea typeface="Calibri" panose="020F0502020204030204" pitchFamily="34" charset="0"/>
                <a:cs typeface="Times New Roman" panose="02020603050405020304" pitchFamily="18" charset="0"/>
              </a:rPr>
              <a:t>To add account, click add account button</a:t>
            </a:r>
          </a:p>
          <a:p>
            <a:pPr marL="228600" marR="0">
              <a:lnSpc>
                <a:spcPct val="150000"/>
              </a:lnSpc>
              <a:spcBef>
                <a:spcPts val="0"/>
              </a:spcBef>
              <a:spcAft>
                <a:spcPts val="0"/>
              </a:spcAft>
            </a:pPr>
            <a:r>
              <a:rPr lang="en-US" sz="1200" b="1" dirty="0">
                <a:solidFill>
                  <a:srgbClr val="00863D"/>
                </a:solidFill>
                <a:latin typeface="Chivo Light" panose="020B0303030202020804" pitchFamily="34" charset="0"/>
                <a:ea typeface="Calibri" panose="020F0502020204030204" pitchFamily="34" charset="0"/>
                <a:cs typeface="Times New Roman" panose="02020603050405020304" pitchFamily="18" charset="0"/>
              </a:rPr>
              <a:t>5.  </a:t>
            </a:r>
            <a:r>
              <a:rPr lang="en-US" sz="1200" dirty="0">
                <a:effectLst/>
                <a:latin typeface="Chivo Light" pitchFamily="2" charset="0"/>
                <a:ea typeface="Times New Roman" panose="02020603050405020304" pitchFamily="18" charset="0"/>
                <a:cs typeface="Times New Roman" panose="02020603050405020304" pitchFamily="18" charset="0"/>
              </a:rPr>
              <a:t>If done, click save account button</a:t>
            </a:r>
            <a:r>
              <a:rPr lang="en-PH" sz="1100" dirty="0">
                <a:latin typeface="Calibri" panose="020F0502020204030204" pitchFamily="34" charset="0"/>
                <a:ea typeface="Times New Roman" panose="02020603050405020304" pitchFamily="18" charset="0"/>
                <a:cs typeface="Times New Roman" panose="02020603050405020304" pitchFamily="18" charset="0"/>
              </a:rPr>
              <a:t>.</a:t>
            </a:r>
          </a:p>
          <a:p>
            <a:pPr marL="228600" marR="0">
              <a:lnSpc>
                <a:spcPct val="150000"/>
              </a:lnSpc>
              <a:spcBef>
                <a:spcPts val="0"/>
              </a:spcBef>
              <a:spcAft>
                <a:spcPts val="0"/>
              </a:spcAft>
            </a:pPr>
            <a:r>
              <a:rPr lang="en-US" sz="1200" b="1" dirty="0">
                <a:solidFill>
                  <a:srgbClr val="00863D"/>
                </a:solidFill>
                <a:latin typeface="Chivo Light" panose="020B0303030202020804" pitchFamily="34" charset="0"/>
                <a:ea typeface="Calibri" panose="020F0502020204030204" pitchFamily="34" charset="0"/>
                <a:cs typeface="Times New Roman" panose="02020603050405020304" pitchFamily="18" charset="0"/>
              </a:rPr>
              <a:t>6. </a:t>
            </a:r>
            <a:r>
              <a:rPr lang="en-US" sz="1200" dirty="0">
                <a:effectLst/>
                <a:latin typeface="Chivo Light" pitchFamily="2" charset="0"/>
                <a:ea typeface="Times New Roman" panose="02020603050405020304" pitchFamily="18" charset="0"/>
                <a:cs typeface="Times New Roman" panose="02020603050405020304" pitchFamily="18" charset="0"/>
              </a:rPr>
              <a:t>To finalize, click post button in the upper part of the CV – main form</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cap="all" dirty="0">
              <a:latin typeface="Chivo Light" panose="020B0303030202020804" pitchFamily="34" charset="0"/>
              <a:ea typeface="Calibri" panose="020F0502020204030204" pitchFamily="34" charset="0"/>
              <a:cs typeface="Times New Roman" panose="02020603050405020304" pitchFamily="18" charset="0"/>
            </a:endParaRPr>
          </a:p>
          <a:p>
            <a:pPr marL="228600" marR="0" indent="-228600">
              <a:lnSpc>
                <a:spcPct val="107000"/>
              </a:lnSpc>
              <a:spcBef>
                <a:spcPts val="0"/>
              </a:spcBef>
              <a:spcAft>
                <a:spcPts val="800"/>
              </a:spcAft>
              <a:buAutoNum type="arabicPeriod" startAt="2"/>
            </a:pPr>
            <a:endParaRPr lang="en-US" sz="1200" cap="all" dirty="0">
              <a:solidFill>
                <a:srgbClr val="4472C4"/>
              </a:solidFill>
              <a:effectLst/>
              <a:latin typeface="Chivo Light" panose="020B03030302020208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800"/>
              </a:spcAft>
            </a:pPr>
            <a:r>
              <a:rPr lang="en-PH" sz="12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90" name="Picture 89">
            <a:extLst>
              <a:ext uri="{FF2B5EF4-FFF2-40B4-BE49-F238E27FC236}">
                <a16:creationId xmlns:a16="http://schemas.microsoft.com/office/drawing/2014/main" id="{4BCA308E-6D2C-38F9-05AD-0BD1C987A2B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AE9A54AF-617F-7175-3160-0825E2377115}"/>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65107A70-4FFB-0E11-29D2-6261AD614C48}"/>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6" name="TextBox 5">
            <a:extLst>
              <a:ext uri="{FF2B5EF4-FFF2-40B4-BE49-F238E27FC236}">
                <a16:creationId xmlns:a16="http://schemas.microsoft.com/office/drawing/2014/main" id="{70857526-5013-DCB6-ABD4-97AAB2F07136}"/>
              </a:ext>
            </a:extLst>
          </p:cNvPr>
          <p:cNvSpPr txBox="1"/>
          <p:nvPr/>
        </p:nvSpPr>
        <p:spPr>
          <a:xfrm>
            <a:off x="111597" y="1878905"/>
            <a:ext cx="3970073" cy="392159"/>
          </a:xfrm>
          <a:prstGeom prst="rect">
            <a:avLst/>
          </a:prstGeom>
          <a:noFill/>
        </p:spPr>
        <p:txBody>
          <a:bodyPr wrap="square">
            <a:spAutoFit/>
          </a:bodyPr>
          <a:lstStyle/>
          <a:p>
            <a:pPr marL="228600" marR="0">
              <a:lnSpc>
                <a:spcPct val="115000"/>
              </a:lnSpc>
              <a:spcBef>
                <a:spcPts val="0"/>
              </a:spcBef>
              <a:spcAft>
                <a:spcPts val="0"/>
              </a:spcAft>
            </a:pPr>
            <a:r>
              <a:rPr lang="en-PH" sz="1800" b="1" dirty="0">
                <a:solidFill>
                  <a:srgbClr val="00863D"/>
                </a:solidFill>
                <a:effectLst/>
                <a:ea typeface="Calibri" panose="020F0502020204030204" pitchFamily="34" charset="0"/>
                <a:cs typeface="Times New Roman" panose="02020603050405020304" pitchFamily="18" charset="0"/>
              </a:rPr>
              <a:t>CREATE CV FROM APV MODULE</a:t>
            </a:r>
            <a:endParaRPr lang="en-PH" sz="1800" b="1" dirty="0">
              <a:solidFill>
                <a:srgbClr val="00863D"/>
              </a:solidFill>
              <a:effectLst/>
              <a:ea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E661DAC-71E6-5E33-A12E-EFA61DD9B2FA}"/>
              </a:ext>
            </a:extLst>
          </p:cNvPr>
          <p:cNvPicPr>
            <a:picLocks noChangeAspect="1"/>
          </p:cNvPicPr>
          <p:nvPr/>
        </p:nvPicPr>
        <p:blipFill>
          <a:blip r:embed="rId3"/>
          <a:srcRect/>
          <a:stretch>
            <a:fillRect/>
          </a:stretch>
        </p:blipFill>
        <p:spPr bwMode="auto">
          <a:xfrm>
            <a:off x="5842483" y="1114729"/>
            <a:ext cx="4111625" cy="2312670"/>
          </a:xfrm>
          <a:prstGeom prst="rect">
            <a:avLst/>
          </a:prstGeom>
          <a:noFill/>
          <a:ln w="9525">
            <a:noFill/>
            <a:miter lim="800000"/>
            <a:headEnd/>
            <a:tailEnd/>
          </a:ln>
        </p:spPr>
      </p:pic>
      <p:pic>
        <p:nvPicPr>
          <p:cNvPr id="10" name="Picture 9">
            <a:extLst>
              <a:ext uri="{FF2B5EF4-FFF2-40B4-BE49-F238E27FC236}">
                <a16:creationId xmlns:a16="http://schemas.microsoft.com/office/drawing/2014/main" id="{B7B066BF-5EC5-74BA-2534-8665C3A969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4201" y="997778"/>
            <a:ext cx="2476190" cy="295238"/>
          </a:xfrm>
          <a:prstGeom prst="rect">
            <a:avLst/>
          </a:prstGeom>
        </p:spPr>
      </p:pic>
      <p:sp>
        <p:nvSpPr>
          <p:cNvPr id="11" name="Rectangle 2">
            <a:extLst>
              <a:ext uri="{FF2B5EF4-FFF2-40B4-BE49-F238E27FC236}">
                <a16:creationId xmlns:a16="http://schemas.microsoft.com/office/drawing/2014/main" id="{EDFFA3B0-4ADA-B26B-A144-7664D13932DF}"/>
              </a:ext>
            </a:extLst>
          </p:cNvPr>
          <p:cNvSpPr>
            <a:spLocks noChangeArrowheads="1"/>
          </p:cNvSpPr>
          <p:nvPr/>
        </p:nvSpPr>
        <p:spPr bwMode="auto">
          <a:xfrm>
            <a:off x="8003761" y="3198968"/>
            <a:ext cx="620713" cy="2049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3" name="Rectangle 3">
            <a:extLst>
              <a:ext uri="{FF2B5EF4-FFF2-40B4-BE49-F238E27FC236}">
                <a16:creationId xmlns:a16="http://schemas.microsoft.com/office/drawing/2014/main" id="{9AE5F7D3-4EB0-C547-E59B-2B706A334D1E}"/>
              </a:ext>
            </a:extLst>
          </p:cNvPr>
          <p:cNvSpPr>
            <a:spLocks noChangeArrowheads="1"/>
          </p:cNvSpPr>
          <p:nvPr/>
        </p:nvSpPr>
        <p:spPr bwMode="auto">
          <a:xfrm>
            <a:off x="8832669" y="3168084"/>
            <a:ext cx="438150" cy="26670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3076" name="AutoShape 4">
            <a:extLst>
              <a:ext uri="{FF2B5EF4-FFF2-40B4-BE49-F238E27FC236}">
                <a16:creationId xmlns:a16="http://schemas.microsoft.com/office/drawing/2014/main" id="{A0D86E7A-1015-93A5-068F-F95559216725}"/>
              </a:ext>
            </a:extLst>
          </p:cNvPr>
          <p:cNvCxnSpPr>
            <a:cxnSpLocks noChangeShapeType="1"/>
          </p:cNvCxnSpPr>
          <p:nvPr/>
        </p:nvCxnSpPr>
        <p:spPr bwMode="auto">
          <a:xfrm>
            <a:off x="8624474" y="3301434"/>
            <a:ext cx="1841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pic>
        <p:nvPicPr>
          <p:cNvPr id="15" name="Picture 14">
            <a:extLst>
              <a:ext uri="{FF2B5EF4-FFF2-40B4-BE49-F238E27FC236}">
                <a16:creationId xmlns:a16="http://schemas.microsoft.com/office/drawing/2014/main" id="{C067C496-E6BC-BED2-BDC8-791D59315F7F}"/>
              </a:ext>
            </a:extLst>
          </p:cNvPr>
          <p:cNvPicPr>
            <a:picLocks noChangeAspect="1"/>
          </p:cNvPicPr>
          <p:nvPr/>
        </p:nvPicPr>
        <p:blipFill>
          <a:blip r:embed="rId5"/>
          <a:srcRect/>
          <a:stretch>
            <a:fillRect/>
          </a:stretch>
        </p:blipFill>
        <p:spPr bwMode="auto">
          <a:xfrm>
            <a:off x="5994304" y="4239729"/>
            <a:ext cx="5444490" cy="1248410"/>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F3190D60-BC3D-595F-5433-4E17419E43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57648" y="3944491"/>
            <a:ext cx="2485714" cy="295238"/>
          </a:xfrm>
          <a:prstGeom prst="rect">
            <a:avLst/>
          </a:prstGeom>
        </p:spPr>
      </p:pic>
      <p:sp>
        <p:nvSpPr>
          <p:cNvPr id="18" name="Rectangle 5">
            <a:extLst>
              <a:ext uri="{FF2B5EF4-FFF2-40B4-BE49-F238E27FC236}">
                <a16:creationId xmlns:a16="http://schemas.microsoft.com/office/drawing/2014/main" id="{02DDD807-6238-8C6F-42FC-1F59B5F1A239}"/>
              </a:ext>
            </a:extLst>
          </p:cNvPr>
          <p:cNvSpPr>
            <a:spLocks noChangeArrowheads="1"/>
          </p:cNvSpPr>
          <p:nvPr/>
        </p:nvSpPr>
        <p:spPr bwMode="auto">
          <a:xfrm>
            <a:off x="7839688" y="4239729"/>
            <a:ext cx="620712" cy="1841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9" name="Rectangle 6">
            <a:extLst>
              <a:ext uri="{FF2B5EF4-FFF2-40B4-BE49-F238E27FC236}">
                <a16:creationId xmlns:a16="http://schemas.microsoft.com/office/drawing/2014/main" id="{C4F50A9F-7C3C-49C8-073C-3BA788948FA4}"/>
              </a:ext>
            </a:extLst>
          </p:cNvPr>
          <p:cNvSpPr>
            <a:spLocks noChangeArrowheads="1"/>
          </p:cNvSpPr>
          <p:nvPr/>
        </p:nvSpPr>
        <p:spPr bwMode="auto">
          <a:xfrm>
            <a:off x="8501675" y="4239729"/>
            <a:ext cx="661988" cy="1841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20" name="Rectangle 7">
            <a:extLst>
              <a:ext uri="{FF2B5EF4-FFF2-40B4-BE49-F238E27FC236}">
                <a16:creationId xmlns:a16="http://schemas.microsoft.com/office/drawing/2014/main" id="{575FF4EA-2968-1A48-46ED-572B0826499E}"/>
              </a:ext>
            </a:extLst>
          </p:cNvPr>
          <p:cNvSpPr>
            <a:spLocks noChangeArrowheads="1"/>
          </p:cNvSpPr>
          <p:nvPr/>
        </p:nvSpPr>
        <p:spPr bwMode="auto">
          <a:xfrm>
            <a:off x="8624474" y="4593400"/>
            <a:ext cx="436562" cy="26670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7">
            <a:extLst>
              <a:ext uri="{FF2B5EF4-FFF2-40B4-BE49-F238E27FC236}">
                <a16:creationId xmlns:a16="http://schemas.microsoft.com/office/drawing/2014/main" id="{0F07BA27-2788-2E1A-EE63-21E5C11DDDFA}"/>
              </a:ext>
            </a:extLst>
          </p:cNvPr>
          <p:cNvSpPr>
            <a:spLocks noChangeArrowheads="1"/>
          </p:cNvSpPr>
          <p:nvPr/>
        </p:nvSpPr>
        <p:spPr bwMode="auto">
          <a:xfrm>
            <a:off x="7786794" y="4585767"/>
            <a:ext cx="436562" cy="26670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pPr>
            <a:r>
              <a:rPr kumimoji="0" lang="en-PH" altLang="en-US" sz="1100" b="0" i="0" u="none" strike="noStrike" cap="none" normalizeH="0" baseline="0" dirty="0">
                <a:ln>
                  <a:noFill/>
                </a:ln>
                <a:solidFill>
                  <a:schemeClr val="tx1"/>
                </a:solidFill>
                <a:effectLst/>
                <a:latin typeface="Calibri" panose="020F0502020204030204" pitchFamily="34" charset="0"/>
              </a:rPr>
              <a:t>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3080" name="AutoShape 8">
            <a:extLst>
              <a:ext uri="{FF2B5EF4-FFF2-40B4-BE49-F238E27FC236}">
                <a16:creationId xmlns:a16="http://schemas.microsoft.com/office/drawing/2014/main" id="{2138106E-DECA-1455-87B4-F3916131591F}"/>
              </a:ext>
            </a:extLst>
          </p:cNvPr>
          <p:cNvCxnSpPr>
            <a:cxnSpLocks noChangeShapeType="1"/>
          </p:cNvCxnSpPr>
          <p:nvPr/>
        </p:nvCxnSpPr>
        <p:spPr bwMode="auto">
          <a:xfrm flipH="1">
            <a:off x="8018327" y="4441565"/>
            <a:ext cx="151086" cy="1309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6" name="AutoShape 8">
            <a:extLst>
              <a:ext uri="{FF2B5EF4-FFF2-40B4-BE49-F238E27FC236}">
                <a16:creationId xmlns:a16="http://schemas.microsoft.com/office/drawing/2014/main" id="{5A6BBCAB-885E-8695-973E-764317459838}"/>
              </a:ext>
            </a:extLst>
          </p:cNvPr>
          <p:cNvCxnSpPr>
            <a:cxnSpLocks noChangeShapeType="1"/>
            <a:endCxn id="20" idx="0"/>
          </p:cNvCxnSpPr>
          <p:nvPr/>
        </p:nvCxnSpPr>
        <p:spPr bwMode="auto">
          <a:xfrm flipH="1">
            <a:off x="8842755" y="4441565"/>
            <a:ext cx="218281" cy="15183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291155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4D9180-56C4-0089-97FD-3FBA70301431}"/>
              </a:ext>
            </a:extLst>
          </p:cNvPr>
          <p:cNvPicPr>
            <a:picLocks noChangeAspect="1"/>
          </p:cNvPicPr>
          <p:nvPr/>
        </p:nvPicPr>
        <p:blipFill>
          <a:blip r:embed="rId2"/>
          <a:stretch>
            <a:fillRect/>
          </a:stretch>
        </p:blipFill>
        <p:spPr>
          <a:xfrm>
            <a:off x="5168513" y="2579547"/>
            <a:ext cx="6972397" cy="2794182"/>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1195542" y="637662"/>
            <a:ext cx="4179346"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954141"/>
            <a:ext cx="4179346" cy="293530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Cash/Check Voucher – Main Window, you will notice a create button in the upper left of the window. Click the create button and you will be redirect in cash/check voucher – main form.</a:t>
            </a: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payees. Search and select a payee.</a:t>
            </a:r>
          </a:p>
          <a:p>
            <a:pPr marL="457200" marR="0" indent="-228600">
              <a:lnSpc>
                <a:spcPct val="115000"/>
              </a:lnSpc>
              <a:spcBef>
                <a:spcPts val="0"/>
              </a:spcBef>
              <a:spcAft>
                <a:spcPts val="0"/>
              </a:spcAft>
              <a:buAutoNum type="arabicPeriod" startAt="2"/>
            </a:pPr>
            <a:endParaRPr lang="en-US" sz="1200" dirty="0">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3.  </a:t>
            </a:r>
            <a:r>
              <a:rPr lang="en-US" sz="1200" dirty="0">
                <a:effectLst/>
                <a:latin typeface="Chivo Light" panose="020B0303030202020804" pitchFamily="34" charset="0"/>
                <a:ea typeface="Calibri" panose="020F0502020204030204" pitchFamily="34" charset="0"/>
                <a:cs typeface="Times New Roman" panose="02020603050405020304" pitchFamily="18" charset="0"/>
              </a:rPr>
              <a:t>After you select a payee, you will be redirect in cash/check voucher – main form where you will encode the other necessary information of the transaction and record the CV transaction</a:t>
            </a:r>
          </a:p>
          <a:p>
            <a:pPr marL="228600" marR="0" indent="-228600">
              <a:lnSpc>
                <a:spcPct val="107000"/>
              </a:lnSpc>
              <a:spcBef>
                <a:spcPts val="0"/>
              </a:spcBef>
              <a:spcAft>
                <a:spcPts val="800"/>
              </a:spcAft>
              <a:buAutoNum type="arabicPeriod" startAt="2"/>
            </a:pPr>
            <a:endParaRPr lang="en-US" sz="1200" cap="all" dirty="0">
              <a:solidFill>
                <a:srgbClr val="4472C4"/>
              </a:solidFill>
              <a:latin typeface="Chivo Light" panose="020B0303030202020804" pitchFamily="34" charset="0"/>
              <a:ea typeface="Calibri" panose="020F0502020204030204" pitchFamily="34" charset="0"/>
              <a:cs typeface="Times New Roman" panose="02020603050405020304" pitchFamily="18" charset="0"/>
            </a:endParaRPr>
          </a:p>
          <a:p>
            <a:pPr marL="228600" marR="0" indent="-228600">
              <a:lnSpc>
                <a:spcPct val="107000"/>
              </a:lnSpc>
              <a:spcBef>
                <a:spcPts val="0"/>
              </a:spcBef>
              <a:spcAft>
                <a:spcPts val="800"/>
              </a:spcAft>
              <a:buAutoNum type="arabicPeriod" startAt="2"/>
            </a:pPr>
            <a:endParaRPr lang="en-US" sz="1200" cap="all" dirty="0">
              <a:solidFill>
                <a:srgbClr val="4472C4"/>
              </a:solidFill>
              <a:effectLst/>
              <a:latin typeface="Chivo Light" panose="020B03030302020208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800"/>
              </a:spcAft>
            </a:pPr>
            <a:r>
              <a:rPr lang="en-PH" sz="12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89" name="Group 88">
            <a:extLst>
              <a:ext uri="{FF2B5EF4-FFF2-40B4-BE49-F238E27FC236}">
                <a16:creationId xmlns:a16="http://schemas.microsoft.com/office/drawing/2014/main" id="{7C2C8010-1044-1855-0435-FE93E103FA40}"/>
              </a:ext>
            </a:extLst>
          </p:cNvPr>
          <p:cNvGrpSpPr/>
          <p:nvPr/>
        </p:nvGrpSpPr>
        <p:grpSpPr>
          <a:xfrm>
            <a:off x="5168513" y="1415418"/>
            <a:ext cx="6189345" cy="889000"/>
            <a:chOff x="5168513" y="953197"/>
            <a:chExt cx="6189345" cy="889000"/>
          </a:xfrm>
        </p:grpSpPr>
        <p:pic>
          <p:nvPicPr>
            <p:cNvPr id="32" name="Picture 31">
              <a:extLst>
                <a:ext uri="{FF2B5EF4-FFF2-40B4-BE49-F238E27FC236}">
                  <a16:creationId xmlns:a16="http://schemas.microsoft.com/office/drawing/2014/main" id="{5C01974F-CA3E-528C-178C-1FA20BBE8E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8513" y="953197"/>
              <a:ext cx="6189345" cy="889000"/>
            </a:xfrm>
            <a:prstGeom prst="rect">
              <a:avLst/>
            </a:prstGeom>
          </p:spPr>
        </p:pic>
        <p:grpSp>
          <p:nvGrpSpPr>
            <p:cNvPr id="47" name="Group 46">
              <a:extLst>
                <a:ext uri="{FF2B5EF4-FFF2-40B4-BE49-F238E27FC236}">
                  <a16:creationId xmlns:a16="http://schemas.microsoft.com/office/drawing/2014/main" id="{87D0EED9-B4C4-C35E-9530-B813065FDCAA}"/>
                </a:ext>
              </a:extLst>
            </p:cNvPr>
            <p:cNvGrpSpPr/>
            <p:nvPr/>
          </p:nvGrpSpPr>
          <p:grpSpPr>
            <a:xfrm>
              <a:off x="5171053" y="1194760"/>
              <a:ext cx="1209675" cy="276225"/>
              <a:chOff x="-320109" y="-2096128"/>
              <a:chExt cx="1209675" cy="276225"/>
            </a:xfrm>
          </p:grpSpPr>
          <p:sp>
            <p:nvSpPr>
              <p:cNvPr id="48" name="Rectangle 47">
                <a:extLst>
                  <a:ext uri="{FF2B5EF4-FFF2-40B4-BE49-F238E27FC236}">
                    <a16:creationId xmlns:a16="http://schemas.microsoft.com/office/drawing/2014/main" id="{F512AE0A-6464-5F9B-513C-1936AA6D6A5A}"/>
                  </a:ext>
                </a:extLst>
              </p:cNvPr>
              <p:cNvSpPr/>
              <p:nvPr/>
            </p:nvSpPr>
            <p:spPr>
              <a:xfrm>
                <a:off x="-320109" y="-2096128"/>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9" name="Straight Arrow Connector 48">
                <a:extLst>
                  <a:ext uri="{FF2B5EF4-FFF2-40B4-BE49-F238E27FC236}">
                    <a16:creationId xmlns:a16="http://schemas.microsoft.com/office/drawing/2014/main" id="{CC7E11E0-B1D8-EB4B-4A94-5AA82C0D0A4A}"/>
                  </a:ext>
                </a:extLst>
              </p:cNvPr>
              <p:cNvCxnSpPr/>
              <p:nvPr/>
            </p:nvCxnSpPr>
            <p:spPr>
              <a:xfrm>
                <a:off x="479991" y="-1962778"/>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 Box 606">
                <a:extLst>
                  <a:ext uri="{FF2B5EF4-FFF2-40B4-BE49-F238E27FC236}">
                    <a16:creationId xmlns:a16="http://schemas.microsoft.com/office/drawing/2014/main" id="{E32A1F01-50F7-1E68-5808-6AAFBDC69517}"/>
                  </a:ext>
                </a:extLst>
              </p:cNvPr>
              <p:cNvSpPr txBox="1"/>
              <p:nvPr/>
            </p:nvSpPr>
            <p:spPr>
              <a:xfrm>
                <a:off x="689541" y="-206755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a:t>
                </a:r>
              </a:p>
            </p:txBody>
          </p:sp>
        </p:grpSp>
      </p:grpSp>
      <p:sp>
        <p:nvSpPr>
          <p:cNvPr id="84" name="Rectangle 83">
            <a:extLst>
              <a:ext uri="{FF2B5EF4-FFF2-40B4-BE49-F238E27FC236}">
                <a16:creationId xmlns:a16="http://schemas.microsoft.com/office/drawing/2014/main" id="{9DF68BF9-B122-6CEF-A552-E25F7AF213E3}"/>
              </a:ext>
            </a:extLst>
          </p:cNvPr>
          <p:cNvSpPr/>
          <p:nvPr/>
        </p:nvSpPr>
        <p:spPr>
          <a:xfrm>
            <a:off x="5688844" y="3661779"/>
            <a:ext cx="4974059" cy="31485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5" name="Straight Arrow Connector 84">
            <a:extLst>
              <a:ext uri="{FF2B5EF4-FFF2-40B4-BE49-F238E27FC236}">
                <a16:creationId xmlns:a16="http://schemas.microsoft.com/office/drawing/2014/main" id="{D9D65E32-5522-3CC7-3693-7E9A625E6CF9}"/>
              </a:ext>
            </a:extLst>
          </p:cNvPr>
          <p:cNvCxnSpPr/>
          <p:nvPr/>
        </p:nvCxnSpPr>
        <p:spPr>
          <a:xfrm>
            <a:off x="10674778" y="3609415"/>
            <a:ext cx="193355" cy="82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6" name="Text Box 1034">
            <a:extLst>
              <a:ext uri="{FF2B5EF4-FFF2-40B4-BE49-F238E27FC236}">
                <a16:creationId xmlns:a16="http://schemas.microsoft.com/office/drawing/2014/main" id="{3367A903-EB94-4C12-B5FE-374A854FC82C}"/>
              </a:ext>
            </a:extLst>
          </p:cNvPr>
          <p:cNvSpPr txBox="1"/>
          <p:nvPr/>
        </p:nvSpPr>
        <p:spPr>
          <a:xfrm>
            <a:off x="10876028" y="3488971"/>
            <a:ext cx="230422" cy="287599"/>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2</a:t>
            </a:r>
          </a:p>
        </p:txBody>
      </p:sp>
      <p:sp>
        <p:nvSpPr>
          <p:cNvPr id="76" name="Text Box 241">
            <a:extLst>
              <a:ext uri="{FF2B5EF4-FFF2-40B4-BE49-F238E27FC236}">
                <a16:creationId xmlns:a16="http://schemas.microsoft.com/office/drawing/2014/main" id="{7F81C00B-1D62-F91D-E263-AC8CA0920167}"/>
              </a:ext>
            </a:extLst>
          </p:cNvPr>
          <p:cNvSpPr txBox="1">
            <a:spLocks noChangeArrowheads="1"/>
          </p:cNvSpPr>
          <p:nvPr/>
        </p:nvSpPr>
        <p:spPr bwMode="auto">
          <a:xfrm>
            <a:off x="6235294" y="3829537"/>
            <a:ext cx="4018934" cy="9756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supplier?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supplier name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02565" marR="0" indent="-10160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Then click the selected supplier.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77" name="Group 76">
            <a:extLst>
              <a:ext uri="{FF2B5EF4-FFF2-40B4-BE49-F238E27FC236}">
                <a16:creationId xmlns:a16="http://schemas.microsoft.com/office/drawing/2014/main" id="{D2791512-80D7-B1EE-BD3D-F63B8920DA18}"/>
              </a:ext>
            </a:extLst>
          </p:cNvPr>
          <p:cNvGrpSpPr/>
          <p:nvPr/>
        </p:nvGrpSpPr>
        <p:grpSpPr>
          <a:xfrm>
            <a:off x="6280715" y="2769645"/>
            <a:ext cx="746474" cy="276169"/>
            <a:chOff x="553951" y="-453310"/>
            <a:chExt cx="746536" cy="276226"/>
          </a:xfrm>
        </p:grpSpPr>
        <p:sp>
          <p:nvSpPr>
            <p:cNvPr id="78" name="Rectangle 77">
              <a:extLst>
                <a:ext uri="{FF2B5EF4-FFF2-40B4-BE49-F238E27FC236}">
                  <a16:creationId xmlns:a16="http://schemas.microsoft.com/office/drawing/2014/main" id="{AC000786-9E28-300E-6422-D292E4568330}"/>
                </a:ext>
              </a:extLst>
            </p:cNvPr>
            <p:cNvSpPr/>
            <p:nvPr/>
          </p:nvSpPr>
          <p:spPr>
            <a:xfrm>
              <a:off x="553951" y="-453310"/>
              <a:ext cx="336962"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0" name="Straight Arrow Connector 79">
              <a:extLst>
                <a:ext uri="{FF2B5EF4-FFF2-40B4-BE49-F238E27FC236}">
                  <a16:creationId xmlns:a16="http://schemas.microsoft.com/office/drawing/2014/main" id="{E5792AF7-F187-54D6-467F-E5FE7AF55867}"/>
                </a:ext>
              </a:extLst>
            </p:cNvPr>
            <p:cNvCxnSpPr/>
            <p:nvPr/>
          </p:nvCxnSpPr>
          <p:spPr>
            <a:xfrm>
              <a:off x="890912" y="-31996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1" name="Text Box 1028">
              <a:extLst>
                <a:ext uri="{FF2B5EF4-FFF2-40B4-BE49-F238E27FC236}">
                  <a16:creationId xmlns:a16="http://schemas.microsoft.com/office/drawing/2014/main" id="{5B6DFA3C-A3EC-9866-1ED8-F7437E3440B7}"/>
                </a:ext>
              </a:extLst>
            </p:cNvPr>
            <p:cNvSpPr txBox="1"/>
            <p:nvPr/>
          </p:nvSpPr>
          <p:spPr>
            <a:xfrm>
              <a:off x="1100462" y="-424734"/>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3</a:t>
              </a:r>
            </a:p>
          </p:txBody>
        </p:sp>
      </p:grpSp>
      <p:pic>
        <p:nvPicPr>
          <p:cNvPr id="90" name="Picture 89">
            <a:extLst>
              <a:ext uri="{FF2B5EF4-FFF2-40B4-BE49-F238E27FC236}">
                <a16:creationId xmlns:a16="http://schemas.microsoft.com/office/drawing/2014/main" id="{4BCA308E-6D2C-38F9-05AD-0BD1C987A2BE}"/>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AE9A54AF-617F-7175-3160-0825E2377115}"/>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65107A70-4FFB-0E11-29D2-6261AD614C48}"/>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4" name="TextBox 3">
            <a:extLst>
              <a:ext uri="{FF2B5EF4-FFF2-40B4-BE49-F238E27FC236}">
                <a16:creationId xmlns:a16="http://schemas.microsoft.com/office/drawing/2014/main" id="{11461836-B924-AFA4-A36F-1ABB5FDB9A0F}"/>
              </a:ext>
            </a:extLst>
          </p:cNvPr>
          <p:cNvSpPr txBox="1"/>
          <p:nvPr/>
        </p:nvSpPr>
        <p:spPr>
          <a:xfrm>
            <a:off x="0" y="1310664"/>
            <a:ext cx="3970073" cy="392159"/>
          </a:xfrm>
          <a:prstGeom prst="rect">
            <a:avLst/>
          </a:prstGeom>
          <a:noFill/>
        </p:spPr>
        <p:txBody>
          <a:bodyPr wrap="square">
            <a:spAutoFit/>
          </a:bodyPr>
          <a:lstStyle/>
          <a:p>
            <a:pPr marL="228600" marR="0">
              <a:lnSpc>
                <a:spcPct val="115000"/>
              </a:lnSpc>
              <a:spcBef>
                <a:spcPts val="0"/>
              </a:spcBef>
              <a:spcAft>
                <a:spcPts val="0"/>
              </a:spcAft>
            </a:pPr>
            <a:r>
              <a:rPr lang="en-PH" sz="1800" b="1" dirty="0">
                <a:solidFill>
                  <a:srgbClr val="00863D"/>
                </a:solidFill>
                <a:effectLst/>
                <a:ea typeface="Calibri" panose="020F0502020204030204" pitchFamily="34" charset="0"/>
                <a:cs typeface="Times New Roman" panose="02020603050405020304" pitchFamily="18" charset="0"/>
              </a:rPr>
              <a:t>CREATE CV THRU CREATE BUTTON</a:t>
            </a:r>
            <a:endParaRPr lang="en-PH" sz="1800" b="1" dirty="0">
              <a:solidFill>
                <a:srgbClr val="00863D"/>
              </a:solidFill>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5678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994299" y="634916"/>
            <a:ext cx="4380589" cy="351285"/>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19"/>
            <a:ext cx="4179346" cy="446789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After you select the supplier, some details such as address, terms are automatically plotted in their respective field. If you wish to change the EWT rate if there’s any, click the lookup button and select its respective EWT rate.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4.2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header, current date is also plotted automatically but if you wish to change the date – click the date picker and select its respective disbursement date.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4.3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saving the header, you may now select the payable or expense account that you will record. If the payment is from APV or receiving report transaction, click unpaid button to view all the unpaid payables of the supplier and select it by ticking the check box.</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21" name="Group 20">
            <a:extLst>
              <a:ext uri="{FF2B5EF4-FFF2-40B4-BE49-F238E27FC236}">
                <a16:creationId xmlns:a16="http://schemas.microsoft.com/office/drawing/2014/main" id="{8FB9C075-0180-748B-507D-3F693990F106}"/>
              </a:ext>
            </a:extLst>
          </p:cNvPr>
          <p:cNvGrpSpPr/>
          <p:nvPr/>
        </p:nvGrpSpPr>
        <p:grpSpPr>
          <a:xfrm>
            <a:off x="4962352" y="633380"/>
            <a:ext cx="6689060" cy="2824480"/>
            <a:chOff x="4962352" y="633380"/>
            <a:chExt cx="6689060" cy="2824480"/>
          </a:xfrm>
        </p:grpSpPr>
        <p:pic>
          <p:nvPicPr>
            <p:cNvPr id="5" name="Picture 4">
              <a:extLst>
                <a:ext uri="{FF2B5EF4-FFF2-40B4-BE49-F238E27FC236}">
                  <a16:creationId xmlns:a16="http://schemas.microsoft.com/office/drawing/2014/main" id="{36C7BF9F-D0ED-EF04-E5A5-8062C5A959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0357" y="633380"/>
              <a:ext cx="5901055" cy="2824480"/>
            </a:xfrm>
            <a:prstGeom prst="rect">
              <a:avLst/>
            </a:prstGeom>
          </p:spPr>
        </p:pic>
        <p:grpSp>
          <p:nvGrpSpPr>
            <p:cNvPr id="7" name="Group 6">
              <a:extLst>
                <a:ext uri="{FF2B5EF4-FFF2-40B4-BE49-F238E27FC236}">
                  <a16:creationId xmlns:a16="http://schemas.microsoft.com/office/drawing/2014/main" id="{F8CDE7E4-805D-7A74-188F-4ECB9BD5517E}"/>
                </a:ext>
              </a:extLst>
            </p:cNvPr>
            <p:cNvGrpSpPr/>
            <p:nvPr/>
          </p:nvGrpSpPr>
          <p:grpSpPr>
            <a:xfrm>
              <a:off x="4962352" y="986201"/>
              <a:ext cx="6382389" cy="2430143"/>
              <a:chOff x="0" y="0"/>
              <a:chExt cx="6382476" cy="2430236"/>
            </a:xfrm>
          </p:grpSpPr>
          <p:sp>
            <p:nvSpPr>
              <p:cNvPr id="8" name="Text Box 1047">
                <a:extLst>
                  <a:ext uri="{FF2B5EF4-FFF2-40B4-BE49-F238E27FC236}">
                    <a16:creationId xmlns:a16="http://schemas.microsoft.com/office/drawing/2014/main" id="{31B45390-AF67-7965-39AE-C9EFCB6B2047}"/>
                  </a:ext>
                </a:extLst>
              </p:cNvPr>
              <p:cNvSpPr txBox="1"/>
              <p:nvPr/>
            </p:nvSpPr>
            <p:spPr>
              <a:xfrm>
                <a:off x="27214" y="2144486"/>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Detail</a:t>
                </a:r>
              </a:p>
            </p:txBody>
          </p:sp>
          <p:sp>
            <p:nvSpPr>
              <p:cNvPr id="9" name="Text Box 1041">
                <a:extLst>
                  <a:ext uri="{FF2B5EF4-FFF2-40B4-BE49-F238E27FC236}">
                    <a16:creationId xmlns:a16="http://schemas.microsoft.com/office/drawing/2014/main" id="{302B9F8A-7895-4E81-3993-9E26CC89026D}"/>
                  </a:ext>
                </a:extLst>
              </p:cNvPr>
              <p:cNvSpPr txBox="1"/>
              <p:nvPr/>
            </p:nvSpPr>
            <p:spPr>
              <a:xfrm>
                <a:off x="0" y="370114"/>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sp>
            <p:nvSpPr>
              <p:cNvPr id="10" name="Rectangle 9">
                <a:extLst>
                  <a:ext uri="{FF2B5EF4-FFF2-40B4-BE49-F238E27FC236}">
                    <a16:creationId xmlns:a16="http://schemas.microsoft.com/office/drawing/2014/main" id="{1BD4F5D9-93FD-B45E-ACA2-67EB312A6E1F}"/>
                  </a:ext>
                </a:extLst>
              </p:cNvPr>
              <p:cNvSpPr/>
              <p:nvPr/>
            </p:nvSpPr>
            <p:spPr>
              <a:xfrm>
                <a:off x="5252357" y="108857"/>
                <a:ext cx="413748" cy="166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Arrow Connector 10">
                <a:extLst>
                  <a:ext uri="{FF2B5EF4-FFF2-40B4-BE49-F238E27FC236}">
                    <a16:creationId xmlns:a16="http://schemas.microsoft.com/office/drawing/2014/main" id="{FF870EA2-151D-565E-4D34-8CF37D3EFE5D}"/>
                  </a:ext>
                </a:extLst>
              </p:cNvPr>
              <p:cNvCxnSpPr/>
              <p:nvPr/>
            </p:nvCxnSpPr>
            <p:spPr>
              <a:xfrm>
                <a:off x="5644243" y="117021"/>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1038">
                <a:extLst>
                  <a:ext uri="{FF2B5EF4-FFF2-40B4-BE49-F238E27FC236}">
                    <a16:creationId xmlns:a16="http://schemas.microsoft.com/office/drawing/2014/main" id="{CA510F5F-028E-8911-2F69-49504B5128AB}"/>
                  </a:ext>
                </a:extLst>
              </p:cNvPr>
              <p:cNvSpPr txBox="1"/>
              <p:nvPr/>
            </p:nvSpPr>
            <p:spPr>
              <a:xfrm>
                <a:off x="5845629"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4.4</a:t>
                </a:r>
              </a:p>
            </p:txBody>
          </p:sp>
          <p:sp>
            <p:nvSpPr>
              <p:cNvPr id="14" name="Rectangle 13">
                <a:extLst>
                  <a:ext uri="{FF2B5EF4-FFF2-40B4-BE49-F238E27FC236}">
                    <a16:creationId xmlns:a16="http://schemas.microsoft.com/office/drawing/2014/main" id="{3E3BC9D1-9480-8106-44A2-630358EDD804}"/>
                  </a:ext>
                </a:extLst>
              </p:cNvPr>
              <p:cNvSpPr/>
              <p:nvPr/>
            </p:nvSpPr>
            <p:spPr>
              <a:xfrm>
                <a:off x="2846614" y="1143000"/>
                <a:ext cx="425450" cy="1784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 name="Straight Arrow Connector 14">
                <a:extLst>
                  <a:ext uri="{FF2B5EF4-FFF2-40B4-BE49-F238E27FC236}">
                    <a16:creationId xmlns:a16="http://schemas.microsoft.com/office/drawing/2014/main" id="{75BCB78C-6F64-85B7-C626-D1952B8B1844}"/>
                  </a:ext>
                </a:extLst>
              </p:cNvPr>
              <p:cNvCxnSpPr/>
              <p:nvPr/>
            </p:nvCxnSpPr>
            <p:spPr>
              <a:xfrm>
                <a:off x="2868386" y="1311728"/>
                <a:ext cx="94615" cy="1187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1045">
                <a:extLst>
                  <a:ext uri="{FF2B5EF4-FFF2-40B4-BE49-F238E27FC236}">
                    <a16:creationId xmlns:a16="http://schemas.microsoft.com/office/drawing/2014/main" id="{9D66C5C4-2374-8EF6-2696-8E01E40AFDB9}"/>
                  </a:ext>
                </a:extLst>
              </p:cNvPr>
              <p:cNvSpPr txBox="1"/>
              <p:nvPr/>
            </p:nvSpPr>
            <p:spPr>
              <a:xfrm>
                <a:off x="2813957" y="14532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5.1</a:t>
                </a:r>
              </a:p>
            </p:txBody>
          </p:sp>
          <p:sp>
            <p:nvSpPr>
              <p:cNvPr id="17" name="Text Box 1042">
                <a:extLst>
                  <a:ext uri="{FF2B5EF4-FFF2-40B4-BE49-F238E27FC236}">
                    <a16:creationId xmlns:a16="http://schemas.microsoft.com/office/drawing/2014/main" id="{CC28DF73-0CF6-BE26-8F7F-A9A6FEFFF0DD}"/>
                  </a:ext>
                </a:extLst>
              </p:cNvPr>
              <p:cNvSpPr txBox="1"/>
              <p:nvPr/>
            </p:nvSpPr>
            <p:spPr>
              <a:xfrm>
                <a:off x="5421086" y="702128"/>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4.1 to 4.3</a:t>
                </a:r>
              </a:p>
            </p:txBody>
          </p:sp>
        </p:grpSp>
        <p:grpSp>
          <p:nvGrpSpPr>
            <p:cNvPr id="20" name="Group 19">
              <a:extLst>
                <a:ext uri="{FF2B5EF4-FFF2-40B4-BE49-F238E27FC236}">
                  <a16:creationId xmlns:a16="http://schemas.microsoft.com/office/drawing/2014/main" id="{EB20B66A-5EBA-3A43-5C80-2C60DE2D2283}"/>
                </a:ext>
              </a:extLst>
            </p:cNvPr>
            <p:cNvGrpSpPr/>
            <p:nvPr/>
          </p:nvGrpSpPr>
          <p:grpSpPr>
            <a:xfrm>
              <a:off x="5787037" y="1289720"/>
              <a:ext cx="5862955" cy="2025650"/>
              <a:chOff x="3164522" y="2416175"/>
              <a:chExt cx="5862955" cy="2025650"/>
            </a:xfrm>
          </p:grpSpPr>
          <p:sp>
            <p:nvSpPr>
              <p:cNvPr id="18" name="Rectangle 17">
                <a:extLst>
                  <a:ext uri="{FF2B5EF4-FFF2-40B4-BE49-F238E27FC236}">
                    <a16:creationId xmlns:a16="http://schemas.microsoft.com/office/drawing/2014/main" id="{4EF50E43-44A7-9B78-1A41-C9718F7210CC}"/>
                  </a:ext>
                </a:extLst>
              </p:cNvPr>
              <p:cNvSpPr/>
              <p:nvPr/>
            </p:nvSpPr>
            <p:spPr>
              <a:xfrm>
                <a:off x="3164522" y="2416175"/>
                <a:ext cx="5822950" cy="75946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Rectangle 18">
                <a:extLst>
                  <a:ext uri="{FF2B5EF4-FFF2-40B4-BE49-F238E27FC236}">
                    <a16:creationId xmlns:a16="http://schemas.microsoft.com/office/drawing/2014/main" id="{32D4A180-A52F-54BE-ABEC-141D6C7EB267}"/>
                  </a:ext>
                </a:extLst>
              </p:cNvPr>
              <p:cNvSpPr/>
              <p:nvPr/>
            </p:nvSpPr>
            <p:spPr>
              <a:xfrm>
                <a:off x="3204527" y="3451225"/>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pic>
        <p:nvPicPr>
          <p:cNvPr id="22" name="Picture 21">
            <a:extLst>
              <a:ext uri="{FF2B5EF4-FFF2-40B4-BE49-F238E27FC236}">
                <a16:creationId xmlns:a16="http://schemas.microsoft.com/office/drawing/2014/main" id="{22858CD3-A53C-46BF-6D3C-0F3A0A17854C}"/>
              </a:ext>
            </a:extLst>
          </p:cNvPr>
          <p:cNvPicPr>
            <a:picLocks noChangeAspect="1"/>
          </p:cNvPicPr>
          <p:nvPr/>
        </p:nvPicPr>
        <p:blipFill>
          <a:blip r:embed="rId3"/>
          <a:stretch>
            <a:fillRect/>
          </a:stretch>
        </p:blipFill>
        <p:spPr>
          <a:xfrm>
            <a:off x="5482433" y="3777991"/>
            <a:ext cx="6189345" cy="2783205"/>
          </a:xfrm>
          <a:prstGeom prst="rect">
            <a:avLst/>
          </a:prstGeom>
        </p:spPr>
      </p:pic>
      <p:grpSp>
        <p:nvGrpSpPr>
          <p:cNvPr id="25" name="Group 24">
            <a:extLst>
              <a:ext uri="{FF2B5EF4-FFF2-40B4-BE49-F238E27FC236}">
                <a16:creationId xmlns:a16="http://schemas.microsoft.com/office/drawing/2014/main" id="{2D509CB6-F812-540F-3A3E-A8AF44D44F43}"/>
              </a:ext>
            </a:extLst>
          </p:cNvPr>
          <p:cNvGrpSpPr/>
          <p:nvPr/>
        </p:nvGrpSpPr>
        <p:grpSpPr>
          <a:xfrm>
            <a:off x="5550522" y="4721601"/>
            <a:ext cx="6565278" cy="1839596"/>
            <a:chOff x="0" y="0"/>
            <a:chExt cx="6565538" cy="1839951"/>
          </a:xfrm>
        </p:grpSpPr>
        <p:sp>
          <p:nvSpPr>
            <p:cNvPr id="33" name="Rectangle 32">
              <a:extLst>
                <a:ext uri="{FF2B5EF4-FFF2-40B4-BE49-F238E27FC236}">
                  <a16:creationId xmlns:a16="http://schemas.microsoft.com/office/drawing/2014/main" id="{E806A4B8-6AE4-35A5-5034-B9D6E079346A}"/>
                </a:ext>
              </a:extLst>
            </p:cNvPr>
            <p:cNvSpPr/>
            <p:nvPr/>
          </p:nvSpPr>
          <p:spPr>
            <a:xfrm>
              <a:off x="0" y="0"/>
              <a:ext cx="296331" cy="8906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4" name="Straight Arrow Connector 33">
              <a:extLst>
                <a:ext uri="{FF2B5EF4-FFF2-40B4-BE49-F238E27FC236}">
                  <a16:creationId xmlns:a16="http://schemas.microsoft.com/office/drawing/2014/main" id="{AA789C1B-CA09-0A24-B9DC-E6F6ECC6687E}"/>
                </a:ext>
              </a:extLst>
            </p:cNvPr>
            <p:cNvCxnSpPr/>
            <p:nvPr/>
          </p:nvCxnSpPr>
          <p:spPr>
            <a:xfrm>
              <a:off x="337458" y="36739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1054">
              <a:extLst>
                <a:ext uri="{FF2B5EF4-FFF2-40B4-BE49-F238E27FC236}">
                  <a16:creationId xmlns:a16="http://schemas.microsoft.com/office/drawing/2014/main" id="{72A542C4-B7CB-6C85-9D12-E9BD6063B6E4}"/>
                </a:ext>
              </a:extLst>
            </p:cNvPr>
            <p:cNvSpPr txBox="1"/>
            <p:nvPr/>
          </p:nvSpPr>
          <p:spPr>
            <a:xfrm>
              <a:off x="533400" y="20682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5.1.</a:t>
              </a:r>
            </a:p>
          </p:txBody>
        </p:sp>
        <p:sp>
          <p:nvSpPr>
            <p:cNvPr id="36" name="Rectangle 35">
              <a:extLst>
                <a:ext uri="{FF2B5EF4-FFF2-40B4-BE49-F238E27FC236}">
                  <a16:creationId xmlns:a16="http://schemas.microsoft.com/office/drawing/2014/main" id="{6DB82EF6-6347-45BF-CCCB-5A72EF4BED5E}"/>
                </a:ext>
              </a:extLst>
            </p:cNvPr>
            <p:cNvSpPr/>
            <p:nvPr/>
          </p:nvSpPr>
          <p:spPr>
            <a:xfrm>
              <a:off x="5377543" y="1503310"/>
              <a:ext cx="624093" cy="33664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7" name="Straight Arrow Connector 36">
              <a:extLst>
                <a:ext uri="{FF2B5EF4-FFF2-40B4-BE49-F238E27FC236}">
                  <a16:creationId xmlns:a16="http://schemas.microsoft.com/office/drawing/2014/main" id="{BEAA3B4F-C486-4EEF-8D30-AB3831BEB1A6}"/>
                </a:ext>
              </a:extLst>
            </p:cNvPr>
            <p:cNvCxnSpPr/>
            <p:nvPr/>
          </p:nvCxnSpPr>
          <p:spPr>
            <a:xfrm>
              <a:off x="5894615" y="1684564"/>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1053">
              <a:extLst>
                <a:ext uri="{FF2B5EF4-FFF2-40B4-BE49-F238E27FC236}">
                  <a16:creationId xmlns:a16="http://schemas.microsoft.com/office/drawing/2014/main" id="{0EED3762-40D2-ADF6-FCF7-1298843D5BEA}"/>
                </a:ext>
              </a:extLst>
            </p:cNvPr>
            <p:cNvSpPr txBox="1"/>
            <p:nvPr/>
          </p:nvSpPr>
          <p:spPr>
            <a:xfrm>
              <a:off x="6090558" y="146957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5.2.</a:t>
              </a:r>
            </a:p>
          </p:txBody>
        </p:sp>
      </p:grpSp>
      <p:sp>
        <p:nvSpPr>
          <p:cNvPr id="4" name="TextBox 3">
            <a:extLst>
              <a:ext uri="{FF2B5EF4-FFF2-40B4-BE49-F238E27FC236}">
                <a16:creationId xmlns:a16="http://schemas.microsoft.com/office/drawing/2014/main" id="{BA03F906-9BF4-7478-4749-3033089AC53C}"/>
              </a:ext>
            </a:extLst>
          </p:cNvPr>
          <p:cNvSpPr txBox="1"/>
          <p:nvPr/>
        </p:nvSpPr>
        <p:spPr>
          <a:xfrm>
            <a:off x="997245" y="95923"/>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00362E40-0107-B1C3-16A7-72ED74934428}"/>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024067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056123"/>
            <a:ext cx="4179346" cy="407797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6.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unpaid account, you will be redirect in cash/check voucher – main window and the selected unpaid accounts will be displayed in cash/check voucher – detail.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7.</a:t>
            </a:r>
            <a:r>
              <a:rPr lang="en-US" sz="1200"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add other payable and expense account that is not in the unpaid list, click add account and search the account you wish to add.</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8.  </a:t>
            </a:r>
            <a:r>
              <a:rPr lang="en-US" sz="1200" dirty="0">
                <a:solidFill>
                  <a:schemeClr val="tx1">
                    <a:lumMod val="85000"/>
                    <a:lumOff val="15000"/>
                  </a:schemeClr>
                </a:solidFill>
                <a:effectLst/>
                <a:latin typeface="Chivo Light" panose="020B0303030202020804" pitchFamily="34" charset="0"/>
                <a:ea typeface="Times New Roman" panose="02020603050405020304" pitchFamily="18" charset="0"/>
                <a:cs typeface="Times New Roman" panose="02020603050405020304" pitchFamily="18" charset="0"/>
              </a:rPr>
              <a:t>After you select an account, a dialog box will prompt. Enter the details of the account.</a:t>
            </a: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0D95514C-BD76-DEC1-1004-F6F7B19A8B02}"/>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8815E8C9-AD6C-6737-039D-3430CA9506FA}"/>
              </a:ext>
            </a:extLst>
          </p:cNvPr>
          <p:cNvSpPr txBox="1"/>
          <p:nvPr/>
        </p:nvSpPr>
        <p:spPr>
          <a:xfrm>
            <a:off x="1195543" y="634916"/>
            <a:ext cx="4179346"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0C690E06-442B-E5E9-2FC7-3CE308055436}"/>
              </a:ext>
            </a:extLst>
          </p:cNvPr>
          <p:cNvSpPr txBox="1"/>
          <p:nvPr/>
        </p:nvSpPr>
        <p:spPr>
          <a:xfrm>
            <a:off x="988873" y="9630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9" name="Group 8">
            <a:extLst>
              <a:ext uri="{FF2B5EF4-FFF2-40B4-BE49-F238E27FC236}">
                <a16:creationId xmlns:a16="http://schemas.microsoft.com/office/drawing/2014/main" id="{C7AE0AD4-63A3-FE76-E85A-36F2E266854B}"/>
              </a:ext>
            </a:extLst>
          </p:cNvPr>
          <p:cNvGrpSpPr/>
          <p:nvPr/>
        </p:nvGrpSpPr>
        <p:grpSpPr>
          <a:xfrm>
            <a:off x="5693728" y="1934210"/>
            <a:ext cx="5957684" cy="2989580"/>
            <a:chOff x="5693728" y="1934210"/>
            <a:chExt cx="5957684" cy="2989580"/>
          </a:xfrm>
        </p:grpSpPr>
        <p:grpSp>
          <p:nvGrpSpPr>
            <p:cNvPr id="4" name="Group 3">
              <a:extLst>
                <a:ext uri="{FF2B5EF4-FFF2-40B4-BE49-F238E27FC236}">
                  <a16:creationId xmlns:a16="http://schemas.microsoft.com/office/drawing/2014/main" id="{4FE4AE7B-3039-415E-BBF9-27E255FC6425}"/>
                </a:ext>
              </a:extLst>
            </p:cNvPr>
            <p:cNvGrpSpPr/>
            <p:nvPr/>
          </p:nvGrpSpPr>
          <p:grpSpPr>
            <a:xfrm>
              <a:off x="5693728" y="1934210"/>
              <a:ext cx="5957684" cy="2989580"/>
              <a:chOff x="5693728" y="1934210"/>
              <a:chExt cx="5957684" cy="2989580"/>
            </a:xfrm>
          </p:grpSpPr>
          <p:pic>
            <p:nvPicPr>
              <p:cNvPr id="18" name="Picture 17">
                <a:extLst>
                  <a:ext uri="{FF2B5EF4-FFF2-40B4-BE49-F238E27FC236}">
                    <a16:creationId xmlns:a16="http://schemas.microsoft.com/office/drawing/2014/main" id="{30FD0883-C715-A02F-192C-5853F94E35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8947" y="1934210"/>
                <a:ext cx="5752465" cy="2081530"/>
              </a:xfrm>
              <a:prstGeom prst="rect">
                <a:avLst/>
              </a:prstGeom>
            </p:spPr>
          </p:pic>
          <p:pic>
            <p:nvPicPr>
              <p:cNvPr id="19" name="Picture 18">
                <a:extLst>
                  <a:ext uri="{FF2B5EF4-FFF2-40B4-BE49-F238E27FC236}">
                    <a16:creationId xmlns:a16="http://schemas.microsoft.com/office/drawing/2014/main" id="{2AE4D8FA-B133-4D0A-AE29-8FF8F16DA0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5637" y="2946400"/>
                <a:ext cx="3716655" cy="1977390"/>
              </a:xfrm>
              <a:prstGeom prst="rect">
                <a:avLst/>
              </a:prstGeom>
            </p:spPr>
          </p:pic>
          <p:grpSp>
            <p:nvGrpSpPr>
              <p:cNvPr id="28" name="Group 27">
                <a:extLst>
                  <a:ext uri="{FF2B5EF4-FFF2-40B4-BE49-F238E27FC236}">
                    <a16:creationId xmlns:a16="http://schemas.microsoft.com/office/drawing/2014/main" id="{18789611-0598-2848-C467-773484813278}"/>
                  </a:ext>
                </a:extLst>
              </p:cNvPr>
              <p:cNvGrpSpPr/>
              <p:nvPr/>
            </p:nvGrpSpPr>
            <p:grpSpPr>
              <a:xfrm>
                <a:off x="5693728" y="2667318"/>
                <a:ext cx="4355466" cy="1873887"/>
                <a:chOff x="0" y="0"/>
                <a:chExt cx="4355737" cy="1873887"/>
              </a:xfrm>
            </p:grpSpPr>
            <p:sp>
              <p:nvSpPr>
                <p:cNvPr id="29" name="Rectangle 28">
                  <a:extLst>
                    <a:ext uri="{FF2B5EF4-FFF2-40B4-BE49-F238E27FC236}">
                      <a16:creationId xmlns:a16="http://schemas.microsoft.com/office/drawing/2014/main" id="{D5EBCD65-E322-C6C2-9671-5A0E8BB5F619}"/>
                    </a:ext>
                  </a:extLst>
                </p:cNvPr>
                <p:cNvSpPr/>
                <p:nvPr/>
              </p:nvSpPr>
              <p:spPr>
                <a:xfrm>
                  <a:off x="3135086" y="16329"/>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0" name="Straight Arrow Connector 29">
                  <a:extLst>
                    <a:ext uri="{FF2B5EF4-FFF2-40B4-BE49-F238E27FC236}">
                      <a16:creationId xmlns:a16="http://schemas.microsoft.com/office/drawing/2014/main" id="{C2A8D82C-2081-6C50-711E-BAE73DDABCE0}"/>
                    </a:ext>
                  </a:extLst>
                </p:cNvPr>
                <p:cNvCxnSpPr/>
                <p:nvPr/>
              </p:nvCxnSpPr>
              <p:spPr>
                <a:xfrm flipV="1">
                  <a:off x="3744686" y="87086"/>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 Box 1059">
                  <a:extLst>
                    <a:ext uri="{FF2B5EF4-FFF2-40B4-BE49-F238E27FC236}">
                      <a16:creationId xmlns:a16="http://schemas.microsoft.com/office/drawing/2014/main" id="{670A1FEE-25E4-F948-14B4-4E57DB7EAD06}"/>
                    </a:ext>
                  </a:extLst>
                </p:cNvPr>
                <p:cNvSpPr txBox="1"/>
                <p:nvPr/>
              </p:nvSpPr>
              <p:spPr>
                <a:xfrm>
                  <a:off x="3880757"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7</a:t>
                  </a:r>
                </a:p>
              </p:txBody>
            </p:sp>
            <p:sp>
              <p:nvSpPr>
                <p:cNvPr id="32" name="Curved Right Arrow 1060">
                  <a:extLst>
                    <a:ext uri="{FF2B5EF4-FFF2-40B4-BE49-F238E27FC236}">
                      <a16:creationId xmlns:a16="http://schemas.microsoft.com/office/drawing/2014/main" id="{18F36BD8-B1E7-E416-13C0-764D303A7DE8}"/>
                    </a:ext>
                  </a:extLst>
                </p:cNvPr>
                <p:cNvSpPr/>
                <p:nvPr/>
              </p:nvSpPr>
              <p:spPr>
                <a:xfrm>
                  <a:off x="2569029" y="87086"/>
                  <a:ext cx="546265" cy="54626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Text Box 241">
                  <a:extLst>
                    <a:ext uri="{FF2B5EF4-FFF2-40B4-BE49-F238E27FC236}">
                      <a16:creationId xmlns:a16="http://schemas.microsoft.com/office/drawing/2014/main" id="{264FD077-64C8-683D-8A9A-5F472724A36D}"/>
                    </a:ext>
                  </a:extLst>
                </p:cNvPr>
                <p:cNvSpPr txBox="1">
                  <a:spLocks noChangeArrowheads="1"/>
                </p:cNvSpPr>
                <p:nvPr/>
              </p:nvSpPr>
              <p:spPr bwMode="auto">
                <a:xfrm>
                  <a:off x="0" y="898072"/>
                  <a:ext cx="4019266" cy="9758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an account?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15000"/>
                    </a:lnSpc>
                    <a:buSzPts val="800"/>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ts val="975"/>
                    </a:lnSpc>
                    <a:spcBef>
                      <a:spcPts val="5"/>
                    </a:spcBef>
                    <a:buSzPts val="800"/>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ts val="975"/>
                    </a:lnSpc>
                    <a:buSzPts val="800"/>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Then click the selected account.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100965" marR="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4" name="Rectangle 33">
                  <a:extLst>
                    <a:ext uri="{FF2B5EF4-FFF2-40B4-BE49-F238E27FC236}">
                      <a16:creationId xmlns:a16="http://schemas.microsoft.com/office/drawing/2014/main" id="{D247FC4A-E61A-5B7B-9A4F-C81393B6D6F2}"/>
                    </a:ext>
                  </a:extLst>
                </p:cNvPr>
                <p:cNvSpPr/>
                <p:nvPr/>
              </p:nvSpPr>
              <p:spPr>
                <a:xfrm>
                  <a:off x="500743" y="522515"/>
                  <a:ext cx="3550723" cy="35626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pic>
          <p:nvPicPr>
            <p:cNvPr id="8" name="Picture 7">
              <a:extLst>
                <a:ext uri="{FF2B5EF4-FFF2-40B4-BE49-F238E27FC236}">
                  <a16:creationId xmlns:a16="http://schemas.microsoft.com/office/drawing/2014/main" id="{DC1D472B-4A4B-323A-AF55-40A167DC8452}"/>
                </a:ext>
              </a:extLst>
            </p:cNvPr>
            <p:cNvPicPr>
              <a:picLocks noChangeAspect="1"/>
            </p:cNvPicPr>
            <p:nvPr/>
          </p:nvPicPr>
          <p:blipFill>
            <a:blip r:embed="rId5"/>
            <a:stretch>
              <a:fillRect/>
            </a:stretch>
          </p:blipFill>
          <p:spPr>
            <a:xfrm>
              <a:off x="6619779" y="1954184"/>
              <a:ext cx="985841" cy="157163"/>
            </a:xfrm>
            <a:prstGeom prst="rect">
              <a:avLst/>
            </a:prstGeom>
          </p:spPr>
        </p:pic>
      </p:grpSp>
      <p:sp>
        <p:nvSpPr>
          <p:cNvPr id="5" name="Slide Number Placeholder 9">
            <a:extLst>
              <a:ext uri="{FF2B5EF4-FFF2-40B4-BE49-F238E27FC236}">
                <a16:creationId xmlns:a16="http://schemas.microsoft.com/office/drawing/2014/main" id="{5B2D1460-C104-05AA-21BB-42A89D05805D}"/>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729404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08790" y="1576271"/>
            <a:ext cx="4179346" cy="407797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9.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of amount in the balance, click the balance to autofill the credit field.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10.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You may also add notes if necessary.</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11.1 </a:t>
            </a:r>
            <a:r>
              <a:rPr lang="en-US" sz="1200" dirty="0">
                <a:solidFill>
                  <a:schemeClr val="tx1">
                    <a:lumMod val="85000"/>
                    <a:lumOff val="15000"/>
                  </a:schemeClr>
                </a:solidFill>
                <a:latin typeface="Chivo Light" panose="020B0303030202020804" pitchFamily="34" charset="0"/>
                <a:ea typeface="Times New Roman" panose="02020603050405020304" pitchFamily="18" charset="0"/>
                <a:cs typeface="Times New Roman" panose="02020603050405020304" pitchFamily="18" charset="0"/>
              </a:rPr>
              <a:t>If</a:t>
            </a:r>
            <a:r>
              <a:rPr lang="en-US" sz="1200" dirty="0">
                <a:solidFill>
                  <a:schemeClr val="tx1">
                    <a:lumMod val="85000"/>
                    <a:lumOff val="15000"/>
                  </a:schemeClr>
                </a:solidFill>
                <a:effectLst/>
                <a:latin typeface="Chivo Light" panose="020B0303030202020804" pitchFamily="34" charset="0"/>
                <a:ea typeface="Times New Roman" panose="02020603050405020304" pitchFamily="18" charset="0"/>
                <a:cs typeface="Times New Roman" panose="02020603050405020304" pitchFamily="18" charset="0"/>
              </a:rPr>
              <a:t> you want to add more other account, click add to cart button and select more accounts again. OR</a:t>
            </a: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OR If you want to plot the selected account already in accounts payable voucher – detail, you may click add/ save button.      </a:t>
            </a: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0D95514C-BD76-DEC1-1004-F6F7B19A8B02}"/>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8815E8C9-AD6C-6737-039D-3430CA9506FA}"/>
              </a:ext>
            </a:extLst>
          </p:cNvPr>
          <p:cNvSpPr txBox="1"/>
          <p:nvPr/>
        </p:nvSpPr>
        <p:spPr>
          <a:xfrm>
            <a:off x="1195543" y="634916"/>
            <a:ext cx="4179346"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grpSp>
        <p:nvGrpSpPr>
          <p:cNvPr id="27" name="Group 26">
            <a:extLst>
              <a:ext uri="{FF2B5EF4-FFF2-40B4-BE49-F238E27FC236}">
                <a16:creationId xmlns:a16="http://schemas.microsoft.com/office/drawing/2014/main" id="{119866E3-0549-52EB-E01C-BC65D598CBD3}"/>
              </a:ext>
            </a:extLst>
          </p:cNvPr>
          <p:cNvGrpSpPr/>
          <p:nvPr/>
        </p:nvGrpSpPr>
        <p:grpSpPr>
          <a:xfrm>
            <a:off x="5462067" y="642052"/>
            <a:ext cx="6189345" cy="3536951"/>
            <a:chOff x="5332527" y="1735137"/>
            <a:chExt cx="6189345" cy="3536951"/>
          </a:xfrm>
        </p:grpSpPr>
        <p:pic>
          <p:nvPicPr>
            <p:cNvPr id="5" name="Picture 4">
              <a:extLst>
                <a:ext uri="{FF2B5EF4-FFF2-40B4-BE49-F238E27FC236}">
                  <a16:creationId xmlns:a16="http://schemas.microsoft.com/office/drawing/2014/main" id="{E18579B6-1BF4-23BD-C725-7A9EE2F98669}"/>
                </a:ext>
              </a:extLst>
            </p:cNvPr>
            <p:cNvPicPr>
              <a:picLocks noChangeAspect="1"/>
            </p:cNvPicPr>
            <p:nvPr/>
          </p:nvPicPr>
          <p:blipFill>
            <a:blip r:embed="rId3"/>
            <a:stretch>
              <a:fillRect/>
            </a:stretch>
          </p:blipFill>
          <p:spPr>
            <a:xfrm>
              <a:off x="5332527" y="1735137"/>
              <a:ext cx="6189345" cy="3387725"/>
            </a:xfrm>
            <a:prstGeom prst="rect">
              <a:avLst/>
            </a:prstGeom>
          </p:spPr>
        </p:pic>
        <p:grpSp>
          <p:nvGrpSpPr>
            <p:cNvPr id="6" name="Group 5">
              <a:extLst>
                <a:ext uri="{FF2B5EF4-FFF2-40B4-BE49-F238E27FC236}">
                  <a16:creationId xmlns:a16="http://schemas.microsoft.com/office/drawing/2014/main" id="{0A439C47-80F1-995B-1506-FE8D1337783B}"/>
                </a:ext>
              </a:extLst>
            </p:cNvPr>
            <p:cNvGrpSpPr/>
            <p:nvPr/>
          </p:nvGrpSpPr>
          <p:grpSpPr>
            <a:xfrm>
              <a:off x="7051040" y="3506153"/>
              <a:ext cx="3180080" cy="1765935"/>
              <a:chOff x="0" y="0"/>
              <a:chExt cx="3180080" cy="1766207"/>
            </a:xfrm>
          </p:grpSpPr>
          <p:sp>
            <p:nvSpPr>
              <p:cNvPr id="7" name="Rectangle 6">
                <a:extLst>
                  <a:ext uri="{FF2B5EF4-FFF2-40B4-BE49-F238E27FC236}">
                    <a16:creationId xmlns:a16="http://schemas.microsoft.com/office/drawing/2014/main" id="{B22A1ADB-B83B-F3F6-EE8C-DFAAFFFD3E66}"/>
                  </a:ext>
                </a:extLst>
              </p:cNvPr>
              <p:cNvSpPr/>
              <p:nvPr/>
            </p:nvSpPr>
            <p:spPr>
              <a:xfrm>
                <a:off x="10885" y="0"/>
                <a:ext cx="2468311" cy="6174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 name="Straight Arrow Connector 7">
                <a:extLst>
                  <a:ext uri="{FF2B5EF4-FFF2-40B4-BE49-F238E27FC236}">
                    <a16:creationId xmlns:a16="http://schemas.microsoft.com/office/drawing/2014/main" id="{DBE1E45B-26FC-35F5-1E51-16816089D39F}"/>
                  </a:ext>
                </a:extLst>
              </p:cNvPr>
              <p:cNvCxnSpPr/>
              <p:nvPr/>
            </p:nvCxnSpPr>
            <p:spPr>
              <a:xfrm>
                <a:off x="2520043" y="334736"/>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1076">
                <a:extLst>
                  <a:ext uri="{FF2B5EF4-FFF2-40B4-BE49-F238E27FC236}">
                    <a16:creationId xmlns:a16="http://schemas.microsoft.com/office/drawing/2014/main" id="{A4C06258-7B9A-03F4-FECB-1927023FB885}"/>
                  </a:ext>
                </a:extLst>
              </p:cNvPr>
              <p:cNvSpPr txBox="1"/>
              <p:nvPr/>
            </p:nvSpPr>
            <p:spPr>
              <a:xfrm>
                <a:off x="2705100" y="1578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9</a:t>
                </a:r>
              </a:p>
            </p:txBody>
          </p:sp>
          <p:sp>
            <p:nvSpPr>
              <p:cNvPr id="10" name="Rectangle 9">
                <a:extLst>
                  <a:ext uri="{FF2B5EF4-FFF2-40B4-BE49-F238E27FC236}">
                    <a16:creationId xmlns:a16="http://schemas.microsoft.com/office/drawing/2014/main" id="{A4DC4D57-9667-C7C9-9A73-49CDFDAA4BFB}"/>
                  </a:ext>
                </a:extLst>
              </p:cNvPr>
              <p:cNvSpPr/>
              <p:nvPr/>
            </p:nvSpPr>
            <p:spPr>
              <a:xfrm>
                <a:off x="0" y="653143"/>
                <a:ext cx="2468245" cy="23750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Arrow Connector 10">
                <a:extLst>
                  <a:ext uri="{FF2B5EF4-FFF2-40B4-BE49-F238E27FC236}">
                    <a16:creationId xmlns:a16="http://schemas.microsoft.com/office/drawing/2014/main" id="{1AB3152F-80C4-A9F8-EB56-653306174410}"/>
                  </a:ext>
                </a:extLst>
              </p:cNvPr>
              <p:cNvCxnSpPr/>
              <p:nvPr/>
            </p:nvCxnSpPr>
            <p:spPr>
              <a:xfrm>
                <a:off x="2503714" y="737507"/>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1075">
                <a:extLst>
                  <a:ext uri="{FF2B5EF4-FFF2-40B4-BE49-F238E27FC236}">
                    <a16:creationId xmlns:a16="http://schemas.microsoft.com/office/drawing/2014/main" id="{5F8E5A43-BFED-2569-A24A-ED2E0D08BF55}"/>
                  </a:ext>
                </a:extLst>
              </p:cNvPr>
              <p:cNvSpPr txBox="1"/>
              <p:nvPr/>
            </p:nvSpPr>
            <p:spPr>
              <a:xfrm>
                <a:off x="2688771" y="5007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10</a:t>
                </a:r>
              </a:p>
            </p:txBody>
          </p:sp>
          <p:sp>
            <p:nvSpPr>
              <p:cNvPr id="14" name="Rectangle 13">
                <a:extLst>
                  <a:ext uri="{FF2B5EF4-FFF2-40B4-BE49-F238E27FC236}">
                    <a16:creationId xmlns:a16="http://schemas.microsoft.com/office/drawing/2014/main" id="{B7B622FD-0D28-8A34-E030-0C7CCA71E3A8}"/>
                  </a:ext>
                </a:extLst>
              </p:cNvPr>
              <p:cNvSpPr/>
              <p:nvPr/>
            </p:nvSpPr>
            <p:spPr>
              <a:xfrm>
                <a:off x="1758043" y="1077686"/>
                <a:ext cx="926275" cy="2493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 name="Straight Arrow Connector 14">
                <a:extLst>
                  <a:ext uri="{FF2B5EF4-FFF2-40B4-BE49-F238E27FC236}">
                    <a16:creationId xmlns:a16="http://schemas.microsoft.com/office/drawing/2014/main" id="{BCBF0281-2DB4-7999-2607-F29206BE7B76}"/>
                  </a:ext>
                </a:extLst>
              </p:cNvPr>
              <p:cNvCxnSpPr/>
              <p:nvPr/>
            </p:nvCxnSpPr>
            <p:spPr>
              <a:xfrm flipH="1">
                <a:off x="2563585" y="1279072"/>
                <a:ext cx="142504" cy="2493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1070">
                <a:extLst>
                  <a:ext uri="{FF2B5EF4-FFF2-40B4-BE49-F238E27FC236}">
                    <a16:creationId xmlns:a16="http://schemas.microsoft.com/office/drawing/2014/main" id="{0572FD71-63C8-90ED-19D2-F83382EC6954}"/>
                  </a:ext>
                </a:extLst>
              </p:cNvPr>
              <p:cNvSpPr txBox="1"/>
              <p:nvPr/>
            </p:nvSpPr>
            <p:spPr>
              <a:xfrm>
                <a:off x="2046514" y="146957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9</a:t>
                </a:r>
              </a:p>
            </p:txBody>
          </p:sp>
          <p:sp>
            <p:nvSpPr>
              <p:cNvPr id="21" name="Rectangle 20">
                <a:extLst>
                  <a:ext uri="{FF2B5EF4-FFF2-40B4-BE49-F238E27FC236}">
                    <a16:creationId xmlns:a16="http://schemas.microsoft.com/office/drawing/2014/main" id="{7C44F338-DD78-1F3E-6E0F-B660AE7DAE4A}"/>
                  </a:ext>
                </a:extLst>
              </p:cNvPr>
              <p:cNvSpPr/>
              <p:nvPr/>
            </p:nvSpPr>
            <p:spPr>
              <a:xfrm>
                <a:off x="1077685" y="1077686"/>
                <a:ext cx="604578" cy="2968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2" name="Straight Arrow Connector 21">
                <a:extLst>
                  <a:ext uri="{FF2B5EF4-FFF2-40B4-BE49-F238E27FC236}">
                    <a16:creationId xmlns:a16="http://schemas.microsoft.com/office/drawing/2014/main" id="{A54D4108-E7FE-5CE2-F548-0415BBAC2B42}"/>
                  </a:ext>
                </a:extLst>
              </p:cNvPr>
              <p:cNvCxnSpPr/>
              <p:nvPr/>
            </p:nvCxnSpPr>
            <p:spPr>
              <a:xfrm flipH="1">
                <a:off x="1562100" y="1279072"/>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 Box 1068">
                <a:extLst>
                  <a:ext uri="{FF2B5EF4-FFF2-40B4-BE49-F238E27FC236}">
                    <a16:creationId xmlns:a16="http://schemas.microsoft.com/office/drawing/2014/main" id="{9EC30C04-43BC-AF89-40B8-01E904F019D3}"/>
                  </a:ext>
                </a:extLst>
              </p:cNvPr>
              <p:cNvSpPr txBox="1"/>
              <p:nvPr/>
            </p:nvSpPr>
            <p:spPr>
              <a:xfrm>
                <a:off x="1045028" y="146957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11.2</a:t>
                </a:r>
              </a:p>
            </p:txBody>
          </p:sp>
          <p:sp>
            <p:nvSpPr>
              <p:cNvPr id="24" name="Rectangle 23">
                <a:extLst>
                  <a:ext uri="{FF2B5EF4-FFF2-40B4-BE49-F238E27FC236}">
                    <a16:creationId xmlns:a16="http://schemas.microsoft.com/office/drawing/2014/main" id="{34D52569-35FA-3418-D859-20F3A2DEE798}"/>
                  </a:ext>
                </a:extLst>
              </p:cNvPr>
              <p:cNvSpPr/>
              <p:nvPr/>
            </p:nvSpPr>
            <p:spPr>
              <a:xfrm>
                <a:off x="332014" y="1088572"/>
                <a:ext cx="687647"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a:extLst>
                  <a:ext uri="{FF2B5EF4-FFF2-40B4-BE49-F238E27FC236}">
                    <a16:creationId xmlns:a16="http://schemas.microsoft.com/office/drawing/2014/main" id="{B933FA48-88F5-AB71-47E6-8F7FE8366FA6}"/>
                  </a:ext>
                </a:extLst>
              </p:cNvPr>
              <p:cNvCxnSpPr/>
              <p:nvPr/>
            </p:nvCxnSpPr>
            <p:spPr>
              <a:xfrm flipH="1">
                <a:off x="892628" y="1289957"/>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1066">
                <a:extLst>
                  <a:ext uri="{FF2B5EF4-FFF2-40B4-BE49-F238E27FC236}">
                    <a16:creationId xmlns:a16="http://schemas.microsoft.com/office/drawing/2014/main" id="{15F58CCA-28AD-0EA7-F53C-A758F74F1B99}"/>
                  </a:ext>
                </a:extLst>
              </p:cNvPr>
              <p:cNvSpPr txBox="1"/>
              <p:nvPr/>
            </p:nvSpPr>
            <p:spPr>
              <a:xfrm>
                <a:off x="375557" y="148045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11.1</a:t>
                </a:r>
              </a:p>
            </p:txBody>
          </p:sp>
        </p:grpSp>
      </p:grpSp>
      <p:grpSp>
        <p:nvGrpSpPr>
          <p:cNvPr id="41" name="Group 40">
            <a:extLst>
              <a:ext uri="{FF2B5EF4-FFF2-40B4-BE49-F238E27FC236}">
                <a16:creationId xmlns:a16="http://schemas.microsoft.com/office/drawing/2014/main" id="{4B53E440-37D6-41CB-9890-C19D117D7F32}"/>
              </a:ext>
            </a:extLst>
          </p:cNvPr>
          <p:cNvGrpSpPr/>
          <p:nvPr/>
        </p:nvGrpSpPr>
        <p:grpSpPr>
          <a:xfrm>
            <a:off x="5462066" y="4410702"/>
            <a:ext cx="6189345" cy="1628775"/>
            <a:chOff x="5459458" y="4303864"/>
            <a:chExt cx="6189345" cy="1628775"/>
          </a:xfrm>
        </p:grpSpPr>
        <p:pic>
          <p:nvPicPr>
            <p:cNvPr id="35" name="Picture 34">
              <a:extLst>
                <a:ext uri="{FF2B5EF4-FFF2-40B4-BE49-F238E27FC236}">
                  <a16:creationId xmlns:a16="http://schemas.microsoft.com/office/drawing/2014/main" id="{BE1CF393-3748-4025-C0F5-6D73BAFA3D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9458" y="4303864"/>
              <a:ext cx="6189345" cy="1508125"/>
            </a:xfrm>
            <a:prstGeom prst="rect">
              <a:avLst/>
            </a:prstGeom>
          </p:spPr>
        </p:pic>
        <p:grpSp>
          <p:nvGrpSpPr>
            <p:cNvPr id="36" name="Group 35">
              <a:extLst>
                <a:ext uri="{FF2B5EF4-FFF2-40B4-BE49-F238E27FC236}">
                  <a16:creationId xmlns:a16="http://schemas.microsoft.com/office/drawing/2014/main" id="{AB6AEF06-2B06-4BD1-F9E7-52B5F1E84BC5}"/>
                </a:ext>
              </a:extLst>
            </p:cNvPr>
            <p:cNvGrpSpPr/>
            <p:nvPr/>
          </p:nvGrpSpPr>
          <p:grpSpPr>
            <a:xfrm>
              <a:off x="5461363" y="4353394"/>
              <a:ext cx="5916930" cy="1579245"/>
              <a:chOff x="0" y="0"/>
              <a:chExt cx="5917111" cy="1579517"/>
            </a:xfrm>
          </p:grpSpPr>
          <p:sp>
            <p:nvSpPr>
              <p:cNvPr id="37" name="Text Box 241">
                <a:extLst>
                  <a:ext uri="{FF2B5EF4-FFF2-40B4-BE49-F238E27FC236}">
                    <a16:creationId xmlns:a16="http://schemas.microsoft.com/office/drawing/2014/main" id="{75A65830-79C0-0867-2DAF-2F059DB5F476}"/>
                  </a:ext>
                </a:extLst>
              </p:cNvPr>
              <p:cNvSpPr txBox="1">
                <a:spLocks noChangeArrowheads="1"/>
              </p:cNvSpPr>
              <p:nvPr/>
            </p:nvSpPr>
            <p:spPr bwMode="auto">
              <a:xfrm>
                <a:off x="0" y="604157"/>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plot the selected accounts in the accounts payable voucher – detail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the cart icon.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ts val="975"/>
                  </a:lnSpc>
                  <a:spcBef>
                    <a:spcPts val="5"/>
                  </a:spcBef>
                  <a:spcAft>
                    <a:spcPts val="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ts val="975"/>
                  </a:lnSpc>
                  <a:spcBef>
                    <a:spcPts val="0"/>
                  </a:spcBef>
                  <a:spcAft>
                    <a:spcPts val="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Then click the accept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100965" marR="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8" name="Rectangle 37">
                <a:extLst>
                  <a:ext uri="{FF2B5EF4-FFF2-40B4-BE49-F238E27FC236}">
                    <a16:creationId xmlns:a16="http://schemas.microsoft.com/office/drawing/2014/main" id="{72BC85DD-1A83-DF7A-0D99-D569A2CF6869}"/>
                  </a:ext>
                </a:extLst>
              </p:cNvPr>
              <p:cNvSpPr/>
              <p:nvPr/>
            </p:nvSpPr>
            <p:spPr>
              <a:xfrm>
                <a:off x="5453743" y="0"/>
                <a:ext cx="449563"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9" name="Straight Arrow Connector 38">
                <a:extLst>
                  <a:ext uri="{FF2B5EF4-FFF2-40B4-BE49-F238E27FC236}">
                    <a16:creationId xmlns:a16="http://schemas.microsoft.com/office/drawing/2014/main" id="{1CF35B81-93EE-F5A3-9400-9CEDCE7DAE6E}"/>
                  </a:ext>
                </a:extLst>
              </p:cNvPr>
              <p:cNvCxnSpPr/>
              <p:nvPr/>
            </p:nvCxnSpPr>
            <p:spPr>
              <a:xfrm flipH="1">
                <a:off x="5774871" y="19594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1083">
                <a:extLst>
                  <a:ext uri="{FF2B5EF4-FFF2-40B4-BE49-F238E27FC236}">
                    <a16:creationId xmlns:a16="http://schemas.microsoft.com/office/drawing/2014/main" id="{E5774ED2-8EFC-8ACD-93F0-832D48D57A61}"/>
                  </a:ext>
                </a:extLst>
              </p:cNvPr>
              <p:cNvSpPr txBox="1"/>
              <p:nvPr/>
            </p:nvSpPr>
            <p:spPr>
              <a:xfrm>
                <a:off x="5257800" y="3864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11.1</a:t>
                </a:r>
              </a:p>
            </p:txBody>
          </p:sp>
        </p:grpSp>
      </p:grpSp>
      <p:sp>
        <p:nvSpPr>
          <p:cNvPr id="4" name="TextBox 3">
            <a:extLst>
              <a:ext uri="{FF2B5EF4-FFF2-40B4-BE49-F238E27FC236}">
                <a16:creationId xmlns:a16="http://schemas.microsoft.com/office/drawing/2014/main" id="{864892BF-DF51-6372-C443-59636B724E7F}"/>
              </a:ext>
            </a:extLst>
          </p:cNvPr>
          <p:cNvSpPr txBox="1"/>
          <p:nvPr/>
        </p:nvSpPr>
        <p:spPr>
          <a:xfrm>
            <a:off x="988873" y="9630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17" name="Slide Number Placeholder 9">
            <a:extLst>
              <a:ext uri="{FF2B5EF4-FFF2-40B4-BE49-F238E27FC236}">
                <a16:creationId xmlns:a16="http://schemas.microsoft.com/office/drawing/2014/main" id="{96BA165B-A996-040A-3B5B-576B40073932}"/>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140676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490317" y="2271580"/>
            <a:ext cx="4179346" cy="244154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92075" marR="0">
              <a:lnSpc>
                <a:spcPct val="115000"/>
              </a:lnSpc>
              <a:spcBef>
                <a:spcPts val="0"/>
              </a:spcBef>
              <a:spcAft>
                <a:spcPts val="0"/>
              </a:spcAft>
            </a:pPr>
            <a:r>
              <a:rPr lang="en-US" sz="1200" b="1" dirty="0">
                <a:latin typeface="Chivo Light" pitchFamily="2" charset="0"/>
                <a:ea typeface="Times New Roman" panose="02020603050405020304" pitchFamily="18" charset="0"/>
                <a:cs typeface="Chivo Light" pitchFamily="2" charset="0"/>
              </a:rPr>
              <a:t>CA Button</a:t>
            </a:r>
          </a:p>
          <a:p>
            <a:pPr marL="228600" marR="0">
              <a:lnSpc>
                <a:spcPct val="115000"/>
              </a:lnSpc>
              <a:spcBef>
                <a:spcPts val="0"/>
              </a:spcBef>
              <a:spcAft>
                <a:spcPts val="0"/>
              </a:spcAft>
            </a:pPr>
            <a:r>
              <a:rPr lang="en-US" sz="1200" b="1" dirty="0">
                <a:solidFill>
                  <a:srgbClr val="00863D"/>
                </a:solidFill>
                <a:latin typeface="Chivo Light" pitchFamily="2" charset="0"/>
                <a:ea typeface="Times New Roman" panose="02020603050405020304" pitchFamily="18" charset="0"/>
                <a:cs typeface="Chivo Light" pitchFamily="2" charset="0"/>
              </a:rPr>
              <a:t>13. </a:t>
            </a:r>
            <a:r>
              <a:rPr lang="en-US" sz="1200" dirty="0">
                <a:latin typeface="Chivo Light" pitchFamily="2" charset="0"/>
                <a:ea typeface="Times New Roman" panose="02020603050405020304" pitchFamily="18" charset="0"/>
                <a:cs typeface="Chivo Light" pitchFamily="2" charset="0"/>
              </a:rPr>
              <a:t>If the transaction is related to cash advance, click the CA button to select the CA account</a:t>
            </a: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itchFamily="2" charset="0"/>
              <a:ea typeface="Calibri" panose="020F0502020204030204" pitchFamily="34" charset="0"/>
              <a:cs typeface="Chivo Light" pitchFamily="2" charset="0"/>
            </a:endParaRPr>
          </a:p>
          <a:p>
            <a:pPr algn="just">
              <a:lnSpc>
                <a:spcPct val="107000"/>
              </a:lnSpc>
              <a:spcAft>
                <a:spcPts val="800"/>
              </a:spcAft>
            </a:pPr>
            <a:r>
              <a:rPr lang="en-PH" sz="1200" cap="all" dirty="0">
                <a:solidFill>
                  <a:srgbClr val="4472C4"/>
                </a:solidFill>
                <a:effectLst/>
                <a:latin typeface="Chivo Light" pitchFamily="2" charset="0"/>
                <a:ea typeface="Calibri" panose="020F0502020204030204" pitchFamily="34" charset="0"/>
                <a:cs typeface="Chivo Light" pitchFamily="2" charset="0"/>
              </a:rPr>
              <a:t> </a:t>
            </a:r>
            <a:r>
              <a:rPr lang="en-PH" sz="1200" b="1" dirty="0">
                <a:effectLst/>
                <a:latin typeface="Chivo Light" pitchFamily="2" charset="0"/>
                <a:ea typeface="Times New Roman" panose="02020603050405020304" pitchFamily="18" charset="0"/>
                <a:cs typeface="Chivo Light" pitchFamily="2" charset="0"/>
              </a:rPr>
              <a:t>WTAX Button</a:t>
            </a:r>
            <a:endParaRPr lang="en-PH" sz="1200" dirty="0">
              <a:effectLst/>
              <a:latin typeface="Chivo Light" pitchFamily="2" charset="0"/>
              <a:ea typeface="Calibri" panose="020F0502020204030204" pitchFamily="34" charset="0"/>
              <a:cs typeface="Chivo Light" pitchFamily="2" charset="0"/>
            </a:endParaRPr>
          </a:p>
          <a:p>
            <a:pPr marL="268288" lvl="0" algn="just">
              <a:lnSpc>
                <a:spcPct val="115000"/>
              </a:lnSpc>
              <a:spcAft>
                <a:spcPts val="1000"/>
              </a:spcAft>
            </a:pPr>
            <a:r>
              <a:rPr lang="en-US" sz="1200" b="1" dirty="0">
                <a:solidFill>
                  <a:srgbClr val="00863D"/>
                </a:solidFill>
                <a:latin typeface="Chivo Light" pitchFamily="2" charset="0"/>
                <a:ea typeface="Times New Roman" panose="02020603050405020304" pitchFamily="18" charset="0"/>
                <a:cs typeface="Chivo Light" pitchFamily="2" charset="0"/>
              </a:rPr>
              <a:t>14. </a:t>
            </a:r>
            <a:r>
              <a:rPr lang="en-US" sz="1200" dirty="0">
                <a:effectLst/>
                <a:latin typeface="Chivo Light" pitchFamily="2" charset="0"/>
                <a:ea typeface="Times New Roman" panose="02020603050405020304" pitchFamily="18" charset="0"/>
                <a:cs typeface="Chivo Light" pitchFamily="2" charset="0"/>
              </a:rPr>
              <a:t>If the transaction is related to withholding tax – payable, click the WTAX button to select the related withholding tax payable needed for the transaction entry</a:t>
            </a:r>
            <a:endParaRPr lang="en-PH" sz="1200" dirty="0">
              <a:effectLst/>
              <a:latin typeface="Chivo Light" pitchFamily="2" charset="0"/>
              <a:ea typeface="Calibri" panose="020F0502020204030204" pitchFamily="34" charset="0"/>
              <a:cs typeface="Chivo Light" pitchFamily="2" charset="0"/>
            </a:endParaRPr>
          </a:p>
          <a:p>
            <a:pPr marL="0" marR="0">
              <a:lnSpc>
                <a:spcPct val="107000"/>
              </a:lnSpc>
              <a:spcBef>
                <a:spcPts val="0"/>
              </a:spcBef>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0D95514C-BD76-DEC1-1004-F6F7B19A8B02}"/>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8815E8C9-AD6C-6737-039D-3430CA9506FA}"/>
              </a:ext>
            </a:extLst>
          </p:cNvPr>
          <p:cNvSpPr txBox="1"/>
          <p:nvPr/>
        </p:nvSpPr>
        <p:spPr>
          <a:xfrm>
            <a:off x="1195543" y="634916"/>
            <a:ext cx="4179346"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4" name="TextBox 3">
            <a:extLst>
              <a:ext uri="{FF2B5EF4-FFF2-40B4-BE49-F238E27FC236}">
                <a16:creationId xmlns:a16="http://schemas.microsoft.com/office/drawing/2014/main" id="{864892BF-DF51-6372-C443-59636B724E7F}"/>
              </a:ext>
            </a:extLst>
          </p:cNvPr>
          <p:cNvSpPr txBox="1"/>
          <p:nvPr/>
        </p:nvSpPr>
        <p:spPr>
          <a:xfrm>
            <a:off x="988873" y="9630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17" name="Slide Number Placeholder 9">
            <a:extLst>
              <a:ext uri="{FF2B5EF4-FFF2-40B4-BE49-F238E27FC236}">
                <a16:creationId xmlns:a16="http://schemas.microsoft.com/office/drawing/2014/main" id="{96BA165B-A996-040A-3B5B-576B40073932}"/>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56" name="Group 55">
            <a:extLst>
              <a:ext uri="{FF2B5EF4-FFF2-40B4-BE49-F238E27FC236}">
                <a16:creationId xmlns:a16="http://schemas.microsoft.com/office/drawing/2014/main" id="{3C8D38A7-82F2-C78B-8E1D-E845E77CB83B}"/>
              </a:ext>
            </a:extLst>
          </p:cNvPr>
          <p:cNvGrpSpPr/>
          <p:nvPr/>
        </p:nvGrpSpPr>
        <p:grpSpPr>
          <a:xfrm>
            <a:off x="5172037" y="2043282"/>
            <a:ext cx="6168752" cy="2260864"/>
            <a:chOff x="5172037" y="2043282"/>
            <a:chExt cx="6168752" cy="2260864"/>
          </a:xfrm>
        </p:grpSpPr>
        <p:pic>
          <p:nvPicPr>
            <p:cNvPr id="18" name="Picture 17">
              <a:extLst>
                <a:ext uri="{FF2B5EF4-FFF2-40B4-BE49-F238E27FC236}">
                  <a16:creationId xmlns:a16="http://schemas.microsoft.com/office/drawing/2014/main" id="{B6ECC1CC-5335-4865-F334-4CA98C13B16B}"/>
                </a:ext>
              </a:extLst>
            </p:cNvPr>
            <p:cNvPicPr>
              <a:picLocks noChangeAspect="1"/>
            </p:cNvPicPr>
            <p:nvPr/>
          </p:nvPicPr>
          <p:blipFill>
            <a:blip r:embed="rId3"/>
            <a:stretch>
              <a:fillRect/>
            </a:stretch>
          </p:blipFill>
          <p:spPr>
            <a:xfrm>
              <a:off x="5172037" y="2043282"/>
              <a:ext cx="6168752" cy="2260864"/>
            </a:xfrm>
            <a:prstGeom prst="rect">
              <a:avLst/>
            </a:prstGeom>
          </p:spPr>
        </p:pic>
        <p:sp>
          <p:nvSpPr>
            <p:cNvPr id="19" name="Rectangle 2">
              <a:extLst>
                <a:ext uri="{FF2B5EF4-FFF2-40B4-BE49-F238E27FC236}">
                  <a16:creationId xmlns:a16="http://schemas.microsoft.com/office/drawing/2014/main" id="{B1CACF32-73C4-C98E-1850-5736E34919D0}"/>
                </a:ext>
              </a:extLst>
            </p:cNvPr>
            <p:cNvSpPr>
              <a:spLocks noChangeArrowheads="1"/>
            </p:cNvSpPr>
            <p:nvPr/>
          </p:nvSpPr>
          <p:spPr bwMode="auto">
            <a:xfrm>
              <a:off x="9969845" y="2782218"/>
              <a:ext cx="336550" cy="2254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31" name="Text Box 5">
              <a:extLst>
                <a:ext uri="{FF2B5EF4-FFF2-40B4-BE49-F238E27FC236}">
                  <a16:creationId xmlns:a16="http://schemas.microsoft.com/office/drawing/2014/main" id="{64232237-655B-EAF3-59FC-F328C8BBF97E}"/>
                </a:ext>
              </a:extLst>
            </p:cNvPr>
            <p:cNvSpPr txBox="1">
              <a:spLocks noChangeArrowheads="1"/>
            </p:cNvSpPr>
            <p:nvPr/>
          </p:nvSpPr>
          <p:spPr bwMode="auto">
            <a:xfrm>
              <a:off x="9831733" y="3286125"/>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lang="en-US" altLang="en-US" sz="1100" dirty="0">
                  <a:latin typeface="Calibri" panose="020F0502020204030204" pitchFamily="34" charset="0"/>
                </a:rPr>
                <a:t>13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4102" name="AutoShape 6">
              <a:extLst>
                <a:ext uri="{FF2B5EF4-FFF2-40B4-BE49-F238E27FC236}">
                  <a16:creationId xmlns:a16="http://schemas.microsoft.com/office/drawing/2014/main" id="{1AD855E8-6D27-54F6-09D8-E2466931D292}"/>
                </a:ext>
              </a:extLst>
            </p:cNvPr>
            <p:cNvCxnSpPr>
              <a:cxnSpLocks noChangeShapeType="1"/>
              <a:endCxn id="31" idx="0"/>
            </p:cNvCxnSpPr>
            <p:nvPr/>
          </p:nvCxnSpPr>
          <p:spPr bwMode="auto">
            <a:xfrm flipH="1">
              <a:off x="10069064" y="3007643"/>
              <a:ext cx="69056" cy="27848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53" name="Rectangle 2">
              <a:extLst>
                <a:ext uri="{FF2B5EF4-FFF2-40B4-BE49-F238E27FC236}">
                  <a16:creationId xmlns:a16="http://schemas.microsoft.com/office/drawing/2014/main" id="{B485A6AA-B2CD-E465-4DC4-7C57F8C51074}"/>
                </a:ext>
              </a:extLst>
            </p:cNvPr>
            <p:cNvSpPr>
              <a:spLocks noChangeArrowheads="1"/>
            </p:cNvSpPr>
            <p:nvPr/>
          </p:nvSpPr>
          <p:spPr bwMode="auto">
            <a:xfrm>
              <a:off x="10338465" y="2782218"/>
              <a:ext cx="336550" cy="2254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54" name="Text Box 5">
              <a:extLst>
                <a:ext uri="{FF2B5EF4-FFF2-40B4-BE49-F238E27FC236}">
                  <a16:creationId xmlns:a16="http://schemas.microsoft.com/office/drawing/2014/main" id="{8FC7DC04-3292-A5A6-B3D1-D9D39E465AAB}"/>
                </a:ext>
              </a:extLst>
            </p:cNvPr>
            <p:cNvSpPr txBox="1">
              <a:spLocks noChangeArrowheads="1"/>
            </p:cNvSpPr>
            <p:nvPr/>
          </p:nvSpPr>
          <p:spPr bwMode="auto">
            <a:xfrm>
              <a:off x="10375451" y="3286125"/>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lang="en-US" altLang="en-US" sz="1100" dirty="0">
                  <a:latin typeface="Calibri" panose="020F0502020204030204" pitchFamily="34" charset="0"/>
                </a:rPr>
                <a:t>14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55" name="AutoShape 6">
              <a:extLst>
                <a:ext uri="{FF2B5EF4-FFF2-40B4-BE49-F238E27FC236}">
                  <a16:creationId xmlns:a16="http://schemas.microsoft.com/office/drawing/2014/main" id="{C61C45FE-FC0A-57B3-7304-E5702530BAF8}"/>
                </a:ext>
              </a:extLst>
            </p:cNvPr>
            <p:cNvCxnSpPr>
              <a:cxnSpLocks noChangeShapeType="1"/>
              <a:endCxn id="54" idx="0"/>
            </p:cNvCxnSpPr>
            <p:nvPr/>
          </p:nvCxnSpPr>
          <p:spPr bwMode="auto">
            <a:xfrm flipH="1">
              <a:off x="10612782" y="3007643"/>
              <a:ext cx="69056" cy="27848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561686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51890" y="2780023"/>
            <a:ext cx="4179346" cy="407797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the arrow to enable the buttons in the header.</a:t>
            </a: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16.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finalize, click post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0D95514C-BD76-DEC1-1004-F6F7B19A8B02}"/>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8815E8C9-AD6C-6737-039D-3430CA9506FA}"/>
              </a:ext>
            </a:extLst>
          </p:cNvPr>
          <p:cNvSpPr txBox="1"/>
          <p:nvPr/>
        </p:nvSpPr>
        <p:spPr>
          <a:xfrm>
            <a:off x="1195543" y="634917"/>
            <a:ext cx="4179345" cy="341628"/>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grpSp>
        <p:nvGrpSpPr>
          <p:cNvPr id="43" name="Group 42">
            <a:extLst>
              <a:ext uri="{FF2B5EF4-FFF2-40B4-BE49-F238E27FC236}">
                <a16:creationId xmlns:a16="http://schemas.microsoft.com/office/drawing/2014/main" id="{A46D58B4-FBB4-33B9-5087-2690A9156246}"/>
              </a:ext>
            </a:extLst>
          </p:cNvPr>
          <p:cNvGrpSpPr/>
          <p:nvPr/>
        </p:nvGrpSpPr>
        <p:grpSpPr>
          <a:xfrm>
            <a:off x="5345029" y="1967333"/>
            <a:ext cx="6306383" cy="3304795"/>
            <a:chOff x="5462066" y="965527"/>
            <a:chExt cx="6306383" cy="3304795"/>
          </a:xfrm>
        </p:grpSpPr>
        <p:pic>
          <p:nvPicPr>
            <p:cNvPr id="18" name="Picture 17">
              <a:extLst>
                <a:ext uri="{FF2B5EF4-FFF2-40B4-BE49-F238E27FC236}">
                  <a16:creationId xmlns:a16="http://schemas.microsoft.com/office/drawing/2014/main" id="{5147EB80-8A9F-2171-D094-27A9D840C4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2066" y="965527"/>
              <a:ext cx="6189345" cy="2425700"/>
            </a:xfrm>
            <a:prstGeom prst="rect">
              <a:avLst/>
            </a:prstGeom>
          </p:spPr>
        </p:pic>
        <p:grpSp>
          <p:nvGrpSpPr>
            <p:cNvPr id="19" name="Group 18">
              <a:extLst>
                <a:ext uri="{FF2B5EF4-FFF2-40B4-BE49-F238E27FC236}">
                  <a16:creationId xmlns:a16="http://schemas.microsoft.com/office/drawing/2014/main" id="{0504132E-2B4B-E79A-B232-A50C6C11E683}"/>
                </a:ext>
              </a:extLst>
            </p:cNvPr>
            <p:cNvGrpSpPr/>
            <p:nvPr/>
          </p:nvGrpSpPr>
          <p:grpSpPr>
            <a:xfrm>
              <a:off x="6096000" y="1332177"/>
              <a:ext cx="5672449" cy="2938145"/>
              <a:chOff x="0" y="0"/>
              <a:chExt cx="5672909" cy="2938326"/>
            </a:xfrm>
          </p:grpSpPr>
          <p:sp>
            <p:nvSpPr>
              <p:cNvPr id="28" name="Rectangle 27">
                <a:extLst>
                  <a:ext uri="{FF2B5EF4-FFF2-40B4-BE49-F238E27FC236}">
                    <a16:creationId xmlns:a16="http://schemas.microsoft.com/office/drawing/2014/main" id="{E60DE739-1CCA-5F13-FA50-2367151E1231}"/>
                  </a:ext>
                </a:extLst>
              </p:cNvPr>
              <p:cNvSpPr/>
              <p:nvPr/>
            </p:nvSpPr>
            <p:spPr>
              <a:xfrm>
                <a:off x="4773386" y="59871"/>
                <a:ext cx="268663" cy="2968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9" name="Straight Arrow Connector 28">
                <a:extLst>
                  <a:ext uri="{FF2B5EF4-FFF2-40B4-BE49-F238E27FC236}">
                    <a16:creationId xmlns:a16="http://schemas.microsoft.com/office/drawing/2014/main" id="{A0B876F2-5158-DE41-3AE8-37C872A2571A}"/>
                  </a:ext>
                </a:extLst>
              </p:cNvPr>
              <p:cNvCxnSpPr/>
              <p:nvPr/>
            </p:nvCxnSpPr>
            <p:spPr>
              <a:xfrm flipV="1">
                <a:off x="5072743" y="136071"/>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1090">
                <a:extLst>
                  <a:ext uri="{FF2B5EF4-FFF2-40B4-BE49-F238E27FC236}">
                    <a16:creationId xmlns:a16="http://schemas.microsoft.com/office/drawing/2014/main" id="{0091A139-E362-3EDF-7839-6F8A1224E433}"/>
                  </a:ext>
                </a:extLst>
              </p:cNvPr>
              <p:cNvSpPr txBox="1"/>
              <p:nvPr/>
            </p:nvSpPr>
            <p:spPr>
              <a:xfrm>
                <a:off x="5197929"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15</a:t>
                </a:r>
              </a:p>
            </p:txBody>
          </p:sp>
          <p:pic>
            <p:nvPicPr>
              <p:cNvPr id="31" name="Picture 30">
                <a:extLst>
                  <a:ext uri="{FF2B5EF4-FFF2-40B4-BE49-F238E27FC236}">
                    <a16:creationId xmlns:a16="http://schemas.microsoft.com/office/drawing/2014/main" id="{B22198BA-5FE8-EA0F-BD8B-E2A04DB674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517071"/>
                <a:ext cx="4690745" cy="2421255"/>
              </a:xfrm>
              <a:prstGeom prst="rect">
                <a:avLst/>
              </a:prstGeom>
              <a:ln>
                <a:noFill/>
              </a:ln>
              <a:effectLst>
                <a:outerShdw blurRad="292100" dist="139700" dir="2700000" algn="tl" rotWithShape="0">
                  <a:srgbClr val="333333">
                    <a:alpha val="65000"/>
                  </a:srgbClr>
                </a:outerShdw>
              </a:effectLst>
            </p:spPr>
          </p:pic>
          <p:sp>
            <p:nvSpPr>
              <p:cNvPr id="32" name="Curved Right Arrow 1092">
                <a:extLst>
                  <a:ext uri="{FF2B5EF4-FFF2-40B4-BE49-F238E27FC236}">
                    <a16:creationId xmlns:a16="http://schemas.microsoft.com/office/drawing/2014/main" id="{DD97B13A-9276-CC57-80A6-50A0884A1214}"/>
                  </a:ext>
                </a:extLst>
              </p:cNvPr>
              <p:cNvSpPr/>
              <p:nvPr/>
            </p:nvSpPr>
            <p:spPr>
              <a:xfrm>
                <a:off x="4098471" y="283028"/>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Rectangle 32">
                <a:extLst>
                  <a:ext uri="{FF2B5EF4-FFF2-40B4-BE49-F238E27FC236}">
                    <a16:creationId xmlns:a16="http://schemas.microsoft.com/office/drawing/2014/main" id="{16F7ACDE-C7C7-E1FD-0D87-2C59F8EB1CFF}"/>
                  </a:ext>
                </a:extLst>
              </p:cNvPr>
              <p:cNvSpPr/>
              <p:nvPr/>
            </p:nvSpPr>
            <p:spPr>
              <a:xfrm>
                <a:off x="2596243" y="843642"/>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4" name="Straight Arrow Connector 33">
                <a:extLst>
                  <a:ext uri="{FF2B5EF4-FFF2-40B4-BE49-F238E27FC236}">
                    <a16:creationId xmlns:a16="http://schemas.microsoft.com/office/drawing/2014/main" id="{30E739D9-291E-5597-6DE7-E0357140BAC8}"/>
                  </a:ext>
                </a:extLst>
              </p:cNvPr>
              <p:cNvCxnSpPr/>
              <p:nvPr/>
            </p:nvCxnSpPr>
            <p:spPr>
              <a:xfrm flipV="1">
                <a:off x="2988129" y="898071"/>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1086">
                <a:extLst>
                  <a:ext uri="{FF2B5EF4-FFF2-40B4-BE49-F238E27FC236}">
                    <a16:creationId xmlns:a16="http://schemas.microsoft.com/office/drawing/2014/main" id="{3A37C15F-82E4-2936-58FE-4E37FC0FB6D5}"/>
                  </a:ext>
                </a:extLst>
              </p:cNvPr>
              <p:cNvSpPr txBox="1"/>
              <p:nvPr/>
            </p:nvSpPr>
            <p:spPr>
              <a:xfrm>
                <a:off x="3113314" y="77832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16</a:t>
                </a:r>
              </a:p>
            </p:txBody>
          </p:sp>
        </p:grpSp>
      </p:grpSp>
      <p:sp>
        <p:nvSpPr>
          <p:cNvPr id="4" name="TextBox 3">
            <a:extLst>
              <a:ext uri="{FF2B5EF4-FFF2-40B4-BE49-F238E27FC236}">
                <a16:creationId xmlns:a16="http://schemas.microsoft.com/office/drawing/2014/main" id="{EF258B98-A175-86D2-E069-EE5CD6E4ED59}"/>
              </a:ext>
            </a:extLst>
          </p:cNvPr>
          <p:cNvSpPr txBox="1"/>
          <p:nvPr/>
        </p:nvSpPr>
        <p:spPr>
          <a:xfrm>
            <a:off x="988873" y="9630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5" name="Slide Number Placeholder 9">
            <a:extLst>
              <a:ext uri="{FF2B5EF4-FFF2-40B4-BE49-F238E27FC236}">
                <a16:creationId xmlns:a16="http://schemas.microsoft.com/office/drawing/2014/main" id="{1151703E-07A9-CD30-4539-1E0C857EFBD0}"/>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242428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CV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6" name="Text Box 34">
            <a:extLst>
              <a:ext uri="{FF2B5EF4-FFF2-40B4-BE49-F238E27FC236}">
                <a16:creationId xmlns:a16="http://schemas.microsoft.com/office/drawing/2014/main" id="{3C955D35-908F-C41B-A58E-309112EE5A39}"/>
              </a:ext>
            </a:extLst>
          </p:cNvPr>
          <p:cNvSpPr txBox="1"/>
          <p:nvPr/>
        </p:nvSpPr>
        <p:spPr>
          <a:xfrm>
            <a:off x="805109" y="1802434"/>
            <a:ext cx="3852820" cy="2084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nSpc>
                <a:spcPct val="115000"/>
              </a:lnSpc>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1.1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cash/check voucher – main window, search the transaction you wish to edit its information in the search bar. Or,</a:t>
            </a:r>
          </a:p>
          <a:p>
            <a:pPr>
              <a:lnSpc>
                <a:spcPct val="115000"/>
              </a:lnSpc>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cash/check voucher – main form, click the lookup button and select the transaction you wish to edit its information by typing the transaction number in the search bar.</a:t>
            </a: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5" name="TextBox 44">
            <a:extLst>
              <a:ext uri="{FF2B5EF4-FFF2-40B4-BE49-F238E27FC236}">
                <a16:creationId xmlns:a16="http://schemas.microsoft.com/office/drawing/2014/main" id="{4B14687C-52A3-56C7-BB62-1861435F0424}"/>
              </a:ext>
            </a:extLst>
          </p:cNvPr>
          <p:cNvSpPr txBox="1"/>
          <p:nvPr/>
        </p:nvSpPr>
        <p:spPr>
          <a:xfrm>
            <a:off x="7256349" y="5213725"/>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Cash/Check Voucher– Main 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0258C296-63A5-1455-F8AB-54834279C957}"/>
              </a:ext>
            </a:extLst>
          </p:cNvPr>
          <p:cNvSpPr txBox="1"/>
          <p:nvPr/>
        </p:nvSpPr>
        <p:spPr>
          <a:xfrm>
            <a:off x="7256349" y="2680260"/>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Cash/Check Voucher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7" name="Text Box 45">
            <a:extLst>
              <a:ext uri="{FF2B5EF4-FFF2-40B4-BE49-F238E27FC236}">
                <a16:creationId xmlns:a16="http://schemas.microsoft.com/office/drawing/2014/main" id="{45EBA796-8D0D-7A62-3DFD-D0EFF016851E}"/>
              </a:ext>
            </a:extLst>
          </p:cNvPr>
          <p:cNvSpPr txBox="1"/>
          <p:nvPr/>
        </p:nvSpPr>
        <p:spPr>
          <a:xfrm>
            <a:off x="805109" y="3945547"/>
            <a:ext cx="3852820" cy="15126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CV transaction, if you wish to edit the header of the transaction click edit button. </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are done editing the CV header, click save button in the upper side of the header.</a:t>
            </a: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4" name="Group 33">
            <a:extLst>
              <a:ext uri="{FF2B5EF4-FFF2-40B4-BE49-F238E27FC236}">
                <a16:creationId xmlns:a16="http://schemas.microsoft.com/office/drawing/2014/main" id="{92DC68C9-173A-A3DE-06FC-3D780B691833}"/>
              </a:ext>
            </a:extLst>
          </p:cNvPr>
          <p:cNvGrpSpPr/>
          <p:nvPr/>
        </p:nvGrpSpPr>
        <p:grpSpPr>
          <a:xfrm>
            <a:off x="5311026" y="1039534"/>
            <a:ext cx="6078855" cy="1713230"/>
            <a:chOff x="5311026" y="1039534"/>
            <a:chExt cx="6078855" cy="1713230"/>
          </a:xfrm>
        </p:grpSpPr>
        <p:pic>
          <p:nvPicPr>
            <p:cNvPr id="7" name="Picture 6">
              <a:extLst>
                <a:ext uri="{FF2B5EF4-FFF2-40B4-BE49-F238E27FC236}">
                  <a16:creationId xmlns:a16="http://schemas.microsoft.com/office/drawing/2014/main" id="{018B72A5-82CE-6A72-1C84-272659FD8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1026" y="1039534"/>
              <a:ext cx="6078855" cy="1713230"/>
            </a:xfrm>
            <a:prstGeom prst="rect">
              <a:avLst/>
            </a:prstGeom>
          </p:spPr>
        </p:pic>
        <p:grpSp>
          <p:nvGrpSpPr>
            <p:cNvPr id="30" name="Group 29">
              <a:extLst>
                <a:ext uri="{FF2B5EF4-FFF2-40B4-BE49-F238E27FC236}">
                  <a16:creationId xmlns:a16="http://schemas.microsoft.com/office/drawing/2014/main" id="{63CC9375-577D-7C4E-E126-E6425676F6F9}"/>
                </a:ext>
              </a:extLst>
            </p:cNvPr>
            <p:cNvGrpSpPr/>
            <p:nvPr/>
          </p:nvGrpSpPr>
          <p:grpSpPr>
            <a:xfrm>
              <a:off x="5358130" y="1869815"/>
              <a:ext cx="1475739" cy="333375"/>
              <a:chOff x="0" y="0"/>
              <a:chExt cx="1476374" cy="333375"/>
            </a:xfrm>
          </p:grpSpPr>
          <p:sp>
            <p:nvSpPr>
              <p:cNvPr id="31" name="Rectangle 30">
                <a:extLst>
                  <a:ext uri="{FF2B5EF4-FFF2-40B4-BE49-F238E27FC236}">
                    <a16:creationId xmlns:a16="http://schemas.microsoft.com/office/drawing/2014/main" id="{0845B7F8-1D57-1BBB-8618-86B4A2DB210D}"/>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2" name="Straight Arrow Connector 31">
                <a:extLst>
                  <a:ext uri="{FF2B5EF4-FFF2-40B4-BE49-F238E27FC236}">
                    <a16:creationId xmlns:a16="http://schemas.microsoft.com/office/drawing/2014/main" id="{E349D53C-B060-4B6D-7689-78A9F9022D7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 Box 888">
                <a:extLst>
                  <a:ext uri="{FF2B5EF4-FFF2-40B4-BE49-F238E27FC236}">
                    <a16:creationId xmlns:a16="http://schemas.microsoft.com/office/drawing/2014/main" id="{0A615823-9F75-61FF-9EF5-BFA625EFC1FB}"/>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a:t>
                </a:r>
              </a:p>
            </p:txBody>
          </p:sp>
        </p:grpSp>
      </p:grpSp>
      <p:grpSp>
        <p:nvGrpSpPr>
          <p:cNvPr id="9" name="Group 8">
            <a:extLst>
              <a:ext uri="{FF2B5EF4-FFF2-40B4-BE49-F238E27FC236}">
                <a16:creationId xmlns:a16="http://schemas.microsoft.com/office/drawing/2014/main" id="{DFD19F4A-79B9-9DDE-905B-C7089DFC01EF}"/>
              </a:ext>
            </a:extLst>
          </p:cNvPr>
          <p:cNvGrpSpPr/>
          <p:nvPr/>
        </p:nvGrpSpPr>
        <p:grpSpPr>
          <a:xfrm>
            <a:off x="4826604" y="3001888"/>
            <a:ext cx="6896071" cy="1640527"/>
            <a:chOff x="4826604" y="3001888"/>
            <a:chExt cx="6896071" cy="1640527"/>
          </a:xfrm>
        </p:grpSpPr>
        <p:pic>
          <p:nvPicPr>
            <p:cNvPr id="8" name="Picture 7">
              <a:extLst>
                <a:ext uri="{FF2B5EF4-FFF2-40B4-BE49-F238E27FC236}">
                  <a16:creationId xmlns:a16="http://schemas.microsoft.com/office/drawing/2014/main" id="{D40D18FF-EAC9-6D9B-84F2-DD127573EC34}"/>
                </a:ext>
              </a:extLst>
            </p:cNvPr>
            <p:cNvPicPr>
              <a:picLocks noChangeAspect="1"/>
            </p:cNvPicPr>
            <p:nvPr/>
          </p:nvPicPr>
          <p:blipFill>
            <a:blip r:embed="rId4"/>
            <a:stretch>
              <a:fillRect/>
            </a:stretch>
          </p:blipFill>
          <p:spPr>
            <a:xfrm>
              <a:off x="5364528" y="3201235"/>
              <a:ext cx="6358147" cy="1441180"/>
            </a:xfrm>
            <a:prstGeom prst="rect">
              <a:avLst/>
            </a:prstGeom>
          </p:spPr>
        </p:pic>
        <p:grpSp>
          <p:nvGrpSpPr>
            <p:cNvPr id="36" name="Group 35">
              <a:extLst>
                <a:ext uri="{FF2B5EF4-FFF2-40B4-BE49-F238E27FC236}">
                  <a16:creationId xmlns:a16="http://schemas.microsoft.com/office/drawing/2014/main" id="{77E697F5-CE37-595D-E7E8-F712BB41D05D}"/>
                </a:ext>
              </a:extLst>
            </p:cNvPr>
            <p:cNvGrpSpPr/>
            <p:nvPr/>
          </p:nvGrpSpPr>
          <p:grpSpPr>
            <a:xfrm>
              <a:off x="4826604" y="3001888"/>
              <a:ext cx="6106266" cy="1499871"/>
              <a:chOff x="0" y="0"/>
              <a:chExt cx="6106618" cy="1499960"/>
            </a:xfrm>
          </p:grpSpPr>
          <p:grpSp>
            <p:nvGrpSpPr>
              <p:cNvPr id="37" name="Group 36">
                <a:extLst>
                  <a:ext uri="{FF2B5EF4-FFF2-40B4-BE49-F238E27FC236}">
                    <a16:creationId xmlns:a16="http://schemas.microsoft.com/office/drawing/2014/main" id="{D9FEFDC5-98E8-9DD8-369B-6337EA445FC1}"/>
                  </a:ext>
                </a:extLst>
              </p:cNvPr>
              <p:cNvGrpSpPr/>
              <p:nvPr/>
            </p:nvGrpSpPr>
            <p:grpSpPr>
              <a:xfrm>
                <a:off x="1895131" y="451757"/>
                <a:ext cx="886169" cy="247650"/>
                <a:chOff x="590205" y="28575"/>
                <a:chExt cx="886169" cy="247650"/>
              </a:xfrm>
            </p:grpSpPr>
            <p:sp>
              <p:nvSpPr>
                <p:cNvPr id="49" name="Rectangle 48">
                  <a:extLst>
                    <a:ext uri="{FF2B5EF4-FFF2-40B4-BE49-F238E27FC236}">
                      <a16:creationId xmlns:a16="http://schemas.microsoft.com/office/drawing/2014/main" id="{A8CB76DE-19D3-3075-85F6-0346C05A7DDD}"/>
                    </a:ext>
                  </a:extLst>
                </p:cNvPr>
                <p:cNvSpPr/>
                <p:nvPr/>
              </p:nvSpPr>
              <p:spPr>
                <a:xfrm>
                  <a:off x="590205" y="61232"/>
                  <a:ext cx="200372" cy="21499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0" name="Straight Arrow Connector 49">
                  <a:extLst>
                    <a:ext uri="{FF2B5EF4-FFF2-40B4-BE49-F238E27FC236}">
                      <a16:creationId xmlns:a16="http://schemas.microsoft.com/office/drawing/2014/main" id="{9762E674-0528-5121-A1FF-146BB092BDC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 Box 896">
                  <a:extLst>
                    <a:ext uri="{FF2B5EF4-FFF2-40B4-BE49-F238E27FC236}">
                      <a16:creationId xmlns:a16="http://schemas.microsoft.com/office/drawing/2014/main" id="{9FFA5D3E-D000-2BA3-2C4E-CE072A8CFC68}"/>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38" name="Group 37">
                <a:extLst>
                  <a:ext uri="{FF2B5EF4-FFF2-40B4-BE49-F238E27FC236}">
                    <a16:creationId xmlns:a16="http://schemas.microsoft.com/office/drawing/2014/main" id="{BE560591-3DD2-1896-692D-87EC40B398EC}"/>
                  </a:ext>
                </a:extLst>
              </p:cNvPr>
              <p:cNvGrpSpPr/>
              <p:nvPr/>
            </p:nvGrpSpPr>
            <p:grpSpPr>
              <a:xfrm>
                <a:off x="5101835" y="216006"/>
                <a:ext cx="1004783" cy="304800"/>
                <a:chOff x="95766" y="64967"/>
                <a:chExt cx="1004783" cy="304800"/>
              </a:xfrm>
            </p:grpSpPr>
            <p:sp>
              <p:nvSpPr>
                <p:cNvPr id="43" name="Rectangle 42">
                  <a:extLst>
                    <a:ext uri="{FF2B5EF4-FFF2-40B4-BE49-F238E27FC236}">
                      <a16:creationId xmlns:a16="http://schemas.microsoft.com/office/drawing/2014/main" id="{EF0A0E3D-D4C6-EF2C-8CD0-F311E67DD243}"/>
                    </a:ext>
                  </a:extLst>
                </p:cNvPr>
                <p:cNvSpPr/>
                <p:nvPr/>
              </p:nvSpPr>
              <p:spPr>
                <a:xfrm>
                  <a:off x="95766" y="64967"/>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4" name="Straight Arrow Connector 43">
                  <a:extLst>
                    <a:ext uri="{FF2B5EF4-FFF2-40B4-BE49-F238E27FC236}">
                      <a16:creationId xmlns:a16="http://schemas.microsoft.com/office/drawing/2014/main" id="{0AC98C67-DC32-8462-874C-38782CE96FE7}"/>
                    </a:ext>
                  </a:extLst>
                </p:cNvPr>
                <p:cNvCxnSpPr/>
                <p:nvPr/>
              </p:nvCxnSpPr>
              <p:spPr>
                <a:xfrm>
                  <a:off x="561949" y="20763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900">
                  <a:extLst>
                    <a:ext uri="{FF2B5EF4-FFF2-40B4-BE49-F238E27FC236}">
                      <a16:creationId xmlns:a16="http://schemas.microsoft.com/office/drawing/2014/main" id="{B03DA62A-DA2E-B818-75E5-99BD49273215}"/>
                    </a:ext>
                  </a:extLst>
                </p:cNvPr>
                <p:cNvSpPr txBox="1"/>
                <p:nvPr/>
              </p:nvSpPr>
              <p:spPr>
                <a:xfrm>
                  <a:off x="795749" y="70241"/>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grpSp>
            <p:nvGrpSpPr>
              <p:cNvPr id="39" name="Group 38">
                <a:extLst>
                  <a:ext uri="{FF2B5EF4-FFF2-40B4-BE49-F238E27FC236}">
                    <a16:creationId xmlns:a16="http://schemas.microsoft.com/office/drawing/2014/main" id="{C29D8BB3-E203-3793-E0F6-95D481C49789}"/>
                  </a:ext>
                </a:extLst>
              </p:cNvPr>
              <p:cNvGrpSpPr>
                <a:grpSpLocks/>
              </p:cNvGrpSpPr>
              <p:nvPr/>
            </p:nvGrpSpPr>
            <p:grpSpPr bwMode="auto">
              <a:xfrm>
                <a:off x="2851422" y="620485"/>
                <a:ext cx="2301875" cy="879475"/>
                <a:chOff x="6116" y="177"/>
                <a:chExt cx="3625" cy="1385"/>
              </a:xfrm>
            </p:grpSpPr>
            <p:pic>
              <p:nvPicPr>
                <p:cNvPr id="41" name="Picture 40">
                  <a:extLst>
                    <a:ext uri="{FF2B5EF4-FFF2-40B4-BE49-F238E27FC236}">
                      <a16:creationId xmlns:a16="http://schemas.microsoft.com/office/drawing/2014/main" id="{18D98EC9-2BAC-111C-94AF-B6C03B7600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241">
                  <a:extLst>
                    <a:ext uri="{FF2B5EF4-FFF2-40B4-BE49-F238E27FC236}">
                      <a16:creationId xmlns:a16="http://schemas.microsoft.com/office/drawing/2014/main" id="{22418735-AF38-BA02-DF11-2FCD8EB2CD8E}"/>
                    </a:ext>
                  </a:extLst>
                </p:cNvPr>
                <p:cNvSpPr txBox="1">
                  <a:spLocks noChangeArrowheads="1"/>
                </p:cNvSpPr>
                <p:nvPr/>
              </p:nvSpPr>
              <p:spPr bwMode="auto">
                <a:xfrm>
                  <a:off x="6116" y="177"/>
                  <a:ext cx="3625"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CV transaction?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tabLst>
                      <a:tab pos="227330" algn="l"/>
                    </a:tabLst>
                  </a:pPr>
                  <a:r>
                    <a:rPr lang="en-US" sz="80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tabLst>
                      <a:tab pos="203200" algn="l"/>
                    </a:tabLst>
                  </a:pPr>
                  <a:r>
                    <a:rPr lang="en-US" sz="80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202565" marR="0" indent="-101600">
                    <a:lnSpc>
                      <a:spcPts val="975"/>
                    </a:lnSpc>
                    <a:spcBef>
                      <a:spcPts val="0"/>
                    </a:spcBef>
                    <a:spcAft>
                      <a:spcPts val="0"/>
                    </a:spcAft>
                    <a:tabLst>
                      <a:tab pos="203200" algn="l"/>
                    </a:tabLst>
                  </a:pPr>
                  <a:r>
                    <a:rPr lang="en-PH" sz="80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40" name="Text Box 901">
                <a:extLst>
                  <a:ext uri="{FF2B5EF4-FFF2-40B4-BE49-F238E27FC236}">
                    <a16:creationId xmlns:a16="http://schemas.microsoft.com/office/drawing/2014/main" id="{259171E8-2507-89FC-F31E-5A54415977E2}"/>
                  </a:ext>
                </a:extLst>
              </p:cNvPr>
              <p:cNvSpPr txBox="1"/>
              <p:nvPr/>
            </p:nvSpPr>
            <p:spPr>
              <a:xfrm>
                <a:off x="0" y="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grpSp>
      </p:grpSp>
      <p:sp>
        <p:nvSpPr>
          <p:cNvPr id="2" name="TextBox 1">
            <a:extLst>
              <a:ext uri="{FF2B5EF4-FFF2-40B4-BE49-F238E27FC236}">
                <a16:creationId xmlns:a16="http://schemas.microsoft.com/office/drawing/2014/main" id="{883F452C-25DF-A620-4F08-10378D6821BD}"/>
              </a:ext>
            </a:extLst>
          </p:cNvPr>
          <p:cNvSpPr txBox="1"/>
          <p:nvPr/>
        </p:nvSpPr>
        <p:spPr>
          <a:xfrm>
            <a:off x="805109" y="81080"/>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3" name="Slide Number Placeholder 9">
            <a:extLst>
              <a:ext uri="{FF2B5EF4-FFF2-40B4-BE49-F238E27FC236}">
                <a16:creationId xmlns:a16="http://schemas.microsoft.com/office/drawing/2014/main" id="{064B2E44-0072-0918-7804-FC42E3CF1061}"/>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950502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1254088" y="62388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CV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6" name="Text Box 34">
            <a:extLst>
              <a:ext uri="{FF2B5EF4-FFF2-40B4-BE49-F238E27FC236}">
                <a16:creationId xmlns:a16="http://schemas.microsoft.com/office/drawing/2014/main" id="{3C955D35-908F-C41B-A58E-309112EE5A39}"/>
              </a:ext>
            </a:extLst>
          </p:cNvPr>
          <p:cNvSpPr txBox="1"/>
          <p:nvPr/>
        </p:nvSpPr>
        <p:spPr>
          <a:xfrm>
            <a:off x="805109" y="2386616"/>
            <a:ext cx="3852820" cy="2084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nSpc>
                <a:spcPct val="115000"/>
              </a:lnSpc>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p>
          <a:p>
            <a:pPr>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p>
          <a:p>
            <a:pPr>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R="0" lvl="0" algn="just">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EA94202C-C209-2D75-474F-DEB3CAF1812F}"/>
              </a:ext>
            </a:extLst>
          </p:cNvPr>
          <p:cNvSpPr txBox="1"/>
          <p:nvPr/>
        </p:nvSpPr>
        <p:spPr>
          <a:xfrm>
            <a:off x="805109" y="81080"/>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3FE4AC3F-C9F2-0BB9-A0BA-589F24C5D822}"/>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19" name="Group 18">
            <a:extLst>
              <a:ext uri="{FF2B5EF4-FFF2-40B4-BE49-F238E27FC236}">
                <a16:creationId xmlns:a16="http://schemas.microsoft.com/office/drawing/2014/main" id="{78F6BA4F-52B8-8913-E64C-6F9C22318FE5}"/>
              </a:ext>
            </a:extLst>
          </p:cNvPr>
          <p:cNvGrpSpPr/>
          <p:nvPr/>
        </p:nvGrpSpPr>
        <p:grpSpPr>
          <a:xfrm>
            <a:off x="5126663" y="2158545"/>
            <a:ext cx="6260227" cy="2277457"/>
            <a:chOff x="5126663" y="2158545"/>
            <a:chExt cx="6260227" cy="2277457"/>
          </a:xfrm>
        </p:grpSpPr>
        <p:grpSp>
          <p:nvGrpSpPr>
            <p:cNvPr id="20" name="Group 19">
              <a:extLst>
                <a:ext uri="{FF2B5EF4-FFF2-40B4-BE49-F238E27FC236}">
                  <a16:creationId xmlns:a16="http://schemas.microsoft.com/office/drawing/2014/main" id="{997D9AA4-1C1B-9CFC-2D40-E784E277422D}"/>
                </a:ext>
              </a:extLst>
            </p:cNvPr>
            <p:cNvGrpSpPr/>
            <p:nvPr/>
          </p:nvGrpSpPr>
          <p:grpSpPr>
            <a:xfrm>
              <a:off x="5126663" y="2158545"/>
              <a:ext cx="6260227" cy="2277457"/>
              <a:chOff x="5126663" y="887465"/>
              <a:chExt cx="6260227" cy="2277457"/>
            </a:xfrm>
          </p:grpSpPr>
          <p:grpSp>
            <p:nvGrpSpPr>
              <p:cNvPr id="29" name="Group 28">
                <a:extLst>
                  <a:ext uri="{FF2B5EF4-FFF2-40B4-BE49-F238E27FC236}">
                    <a16:creationId xmlns:a16="http://schemas.microsoft.com/office/drawing/2014/main" id="{7A0A6F2A-2DC8-E786-9F4B-867298058DDC}"/>
                  </a:ext>
                </a:extLst>
              </p:cNvPr>
              <p:cNvGrpSpPr/>
              <p:nvPr/>
            </p:nvGrpSpPr>
            <p:grpSpPr>
              <a:xfrm>
                <a:off x="5197545" y="1053550"/>
                <a:ext cx="6189345" cy="2111372"/>
                <a:chOff x="0" y="3"/>
                <a:chExt cx="6189345" cy="2111372"/>
              </a:xfrm>
            </p:grpSpPr>
            <p:grpSp>
              <p:nvGrpSpPr>
                <p:cNvPr id="34" name="Group 33">
                  <a:extLst>
                    <a:ext uri="{FF2B5EF4-FFF2-40B4-BE49-F238E27FC236}">
                      <a16:creationId xmlns:a16="http://schemas.microsoft.com/office/drawing/2014/main" id="{4869F2D7-4A2B-5F7C-1599-6C25CA2D3010}"/>
                    </a:ext>
                  </a:extLst>
                </p:cNvPr>
                <p:cNvGrpSpPr/>
                <p:nvPr/>
              </p:nvGrpSpPr>
              <p:grpSpPr>
                <a:xfrm>
                  <a:off x="444500" y="3"/>
                  <a:ext cx="5457854" cy="1534468"/>
                  <a:chOff x="365745" y="340675"/>
                  <a:chExt cx="5457854" cy="1534615"/>
                </a:xfrm>
              </p:grpSpPr>
              <p:pic>
                <p:nvPicPr>
                  <p:cNvPr id="36" name="Picture 35">
                    <a:extLst>
                      <a:ext uri="{FF2B5EF4-FFF2-40B4-BE49-F238E27FC236}">
                        <a16:creationId xmlns:a16="http://schemas.microsoft.com/office/drawing/2014/main" id="{89171FF8-34C3-76F8-BFBC-8AED4C815B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7" name="Rectangle 36">
                    <a:extLst>
                      <a:ext uri="{FF2B5EF4-FFF2-40B4-BE49-F238E27FC236}">
                        <a16:creationId xmlns:a16="http://schemas.microsoft.com/office/drawing/2014/main" id="{CB587C38-E591-64EB-BD2C-3254CEC18327}"/>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38" name="Group 37">
                    <a:extLst>
                      <a:ext uri="{FF2B5EF4-FFF2-40B4-BE49-F238E27FC236}">
                        <a16:creationId xmlns:a16="http://schemas.microsoft.com/office/drawing/2014/main" id="{E217D68F-B54B-C3D7-9ED4-0EBA3BD0B8BB}"/>
                      </a:ext>
                    </a:extLst>
                  </p:cNvPr>
                  <p:cNvGrpSpPr/>
                  <p:nvPr/>
                </p:nvGrpSpPr>
                <p:grpSpPr>
                  <a:xfrm>
                    <a:off x="3765617" y="340675"/>
                    <a:ext cx="647700" cy="709532"/>
                    <a:chOff x="-854008" y="-154625"/>
                    <a:chExt cx="647700" cy="709532"/>
                  </a:xfrm>
                </p:grpSpPr>
                <p:sp>
                  <p:nvSpPr>
                    <p:cNvPr id="39" name="Rectangle 38">
                      <a:extLst>
                        <a:ext uri="{FF2B5EF4-FFF2-40B4-BE49-F238E27FC236}">
                          <a16:creationId xmlns:a16="http://schemas.microsoft.com/office/drawing/2014/main" id="{E7AB1EDD-7C2F-BCC5-AF10-8021AA824921}"/>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0" name="Straight Arrow Connector 39">
                      <a:extLst>
                        <a:ext uri="{FF2B5EF4-FFF2-40B4-BE49-F238E27FC236}">
                          <a16:creationId xmlns:a16="http://schemas.microsoft.com/office/drawing/2014/main" id="{9804C160-D440-4E71-0C27-3ED85F6F4F41}"/>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62">
                      <a:extLst>
                        <a:ext uri="{FF2B5EF4-FFF2-40B4-BE49-F238E27FC236}">
                          <a16:creationId xmlns:a16="http://schemas.microsoft.com/office/drawing/2014/main" id="{2C60C440-D235-C560-2058-8A95A96D3808}"/>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a:t>
                      </a:r>
                    </a:p>
                  </p:txBody>
                </p:sp>
              </p:grpSp>
            </p:grpSp>
            <p:pic>
              <p:nvPicPr>
                <p:cNvPr id="35" name="Picture 34">
                  <a:extLst>
                    <a:ext uri="{FF2B5EF4-FFF2-40B4-BE49-F238E27FC236}">
                      <a16:creationId xmlns:a16="http://schemas.microsoft.com/office/drawing/2014/main" id="{0B1F9AEB-2AB4-5A6B-F4B0-A2C25E7E04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30" name="Group 29">
                <a:extLst>
                  <a:ext uri="{FF2B5EF4-FFF2-40B4-BE49-F238E27FC236}">
                    <a16:creationId xmlns:a16="http://schemas.microsoft.com/office/drawing/2014/main" id="{C17BECBA-B38E-6C6D-42C8-5678AA237053}"/>
                  </a:ext>
                </a:extLst>
              </p:cNvPr>
              <p:cNvGrpSpPr/>
              <p:nvPr/>
            </p:nvGrpSpPr>
            <p:grpSpPr>
              <a:xfrm>
                <a:off x="5126663" y="887465"/>
                <a:ext cx="3176904" cy="2008507"/>
                <a:chOff x="0" y="0"/>
                <a:chExt cx="3177391" cy="2008909"/>
              </a:xfrm>
            </p:grpSpPr>
            <p:sp>
              <p:nvSpPr>
                <p:cNvPr id="31" name="Text Box 81">
                  <a:extLst>
                    <a:ext uri="{FF2B5EF4-FFF2-40B4-BE49-F238E27FC236}">
                      <a16:creationId xmlns:a16="http://schemas.microsoft.com/office/drawing/2014/main" id="{64B0007F-B678-CFAF-C365-2A89370199C9}"/>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DETAIL</a:t>
                  </a:r>
                </a:p>
              </p:txBody>
            </p:sp>
            <p:sp>
              <p:nvSpPr>
                <p:cNvPr id="32" name="Curved Left Arrow 95">
                  <a:extLst>
                    <a:ext uri="{FF2B5EF4-FFF2-40B4-BE49-F238E27FC236}">
                      <a16:creationId xmlns:a16="http://schemas.microsoft.com/office/drawing/2014/main" id="{6CB717C2-D87C-B75D-CCD8-6DB8E5381AB0}"/>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Text Box 98">
                  <a:extLst>
                    <a:ext uri="{FF2B5EF4-FFF2-40B4-BE49-F238E27FC236}">
                      <a16:creationId xmlns:a16="http://schemas.microsoft.com/office/drawing/2014/main" id="{97A4333C-C9A1-DA1B-E809-8E2C47C72C3D}"/>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a:t>
                  </a:r>
                </a:p>
              </p:txBody>
            </p:sp>
          </p:grpSp>
        </p:grpSp>
        <p:sp>
          <p:nvSpPr>
            <p:cNvPr id="22" name="Rectangle 21">
              <a:extLst>
                <a:ext uri="{FF2B5EF4-FFF2-40B4-BE49-F238E27FC236}">
                  <a16:creationId xmlns:a16="http://schemas.microsoft.com/office/drawing/2014/main" id="{6034604B-2BA8-0AEE-8428-43FA832567C0}"/>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3" name="Straight Arrow Connector 22">
              <a:extLst>
                <a:ext uri="{FF2B5EF4-FFF2-40B4-BE49-F238E27FC236}">
                  <a16:creationId xmlns:a16="http://schemas.microsoft.com/office/drawing/2014/main" id="{37C02E19-81AF-4796-B1DA-58308EE7C6D5}"/>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62">
              <a:extLst>
                <a:ext uri="{FF2B5EF4-FFF2-40B4-BE49-F238E27FC236}">
                  <a16:creationId xmlns:a16="http://schemas.microsoft.com/office/drawing/2014/main" id="{C4A963AF-4EBD-AE2E-D174-AFEF6DDCF193}"/>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a typeface="Calibri" panose="020F0502020204030204" pitchFamily="34" charset="0"/>
                  <a:cs typeface="Times New Roman" panose="02020603050405020304" pitchFamily="18" charset="0"/>
                </a:rPr>
                <a:t>6</a:t>
              </a:r>
              <a:endParaRPr lang="en-US" sz="1100" dirty="0">
                <a:effectLst/>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CC8D961E-7E8D-497C-9908-C67AE57E3868}"/>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6" name="Straight Arrow Connector 25">
              <a:extLst>
                <a:ext uri="{FF2B5EF4-FFF2-40B4-BE49-F238E27FC236}">
                  <a16:creationId xmlns:a16="http://schemas.microsoft.com/office/drawing/2014/main" id="{1282744C-66B9-D433-0FC6-726FAA6B8403}"/>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62">
              <a:extLst>
                <a:ext uri="{FF2B5EF4-FFF2-40B4-BE49-F238E27FC236}">
                  <a16:creationId xmlns:a16="http://schemas.microsoft.com/office/drawing/2014/main" id="{0E9CB4AF-CD16-5834-B777-ABDEECDC3DF5}"/>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742729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FDE407-0CFE-9A78-CFCB-CF79CD8B1F92}"/>
              </a:ext>
            </a:extLst>
          </p:cNvPr>
          <p:cNvPicPr>
            <a:picLocks noChangeAspect="1"/>
          </p:cNvPicPr>
          <p:nvPr/>
        </p:nvPicPr>
        <p:blipFill>
          <a:blip r:embed="rId2"/>
          <a:stretch>
            <a:fillRect/>
          </a:stretch>
        </p:blipFill>
        <p:spPr>
          <a:xfrm>
            <a:off x="5106907" y="3962370"/>
            <a:ext cx="6358147" cy="1441180"/>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45" name="TextBox 44">
            <a:extLst>
              <a:ext uri="{FF2B5EF4-FFF2-40B4-BE49-F238E27FC236}">
                <a16:creationId xmlns:a16="http://schemas.microsoft.com/office/drawing/2014/main" id="{4B14687C-52A3-56C7-BB62-1861435F0424}"/>
              </a:ext>
            </a:extLst>
          </p:cNvPr>
          <p:cNvSpPr txBox="1"/>
          <p:nvPr/>
        </p:nvSpPr>
        <p:spPr>
          <a:xfrm>
            <a:off x="7236820" y="5403915"/>
            <a:ext cx="2552700" cy="272319"/>
          </a:xfrm>
          <a:prstGeom prst="rect">
            <a:avLst/>
          </a:prstGeom>
          <a:noFill/>
        </p:spPr>
        <p:txBody>
          <a:bodyPr wrap="square">
            <a:spAutoFit/>
          </a:bodyPr>
          <a:lstStyle/>
          <a:p>
            <a:pPr marL="0" marR="0" algn="ctr">
              <a:lnSpc>
                <a:spcPct val="107000"/>
              </a:lnSpc>
              <a:spcBef>
                <a:spcPts val="0"/>
              </a:spcBef>
              <a:spcAft>
                <a:spcPts val="800"/>
              </a:spcAft>
            </a:pPr>
            <a:r>
              <a:rPr lang="en-PH" sz="1200" dirty="0">
                <a:effectLst/>
                <a:latin typeface="Bahnschrift Condensed" panose="020B0502040204020203" pitchFamily="34" charset="0"/>
                <a:ea typeface="Calibri" panose="020F0502020204030204" pitchFamily="34" charset="0"/>
                <a:cs typeface="Times New Roman" panose="02020603050405020304" pitchFamily="18" charset="0"/>
              </a:rPr>
              <a:t>Cash/Check Voucher – Main </a:t>
            </a:r>
            <a:r>
              <a:rPr lang="en-PH" sz="1200" dirty="0">
                <a:latin typeface="Bahnschrift Condensed" panose="020B0502040204020203" pitchFamily="34" charset="0"/>
                <a:ea typeface="Calibri" panose="020F0502020204030204" pitchFamily="34" charset="0"/>
                <a:cs typeface="Times New Roman" panose="02020603050405020304" pitchFamily="18" charset="0"/>
              </a:rPr>
              <a:t>form</a:t>
            </a:r>
            <a:endParaRPr lang="en-US" sz="1200" dirty="0">
              <a:effectLst/>
              <a:latin typeface="Bahnschrift Condensed" panose="020B0502040204020203" pitchFamily="34" charset="0"/>
              <a:ea typeface="Calibri" panose="020F0502020204030204" pitchFamily="34" charset="0"/>
              <a:cs typeface="Times New Roman" panose="02020603050405020304" pitchFamily="18" charset="0"/>
            </a:endParaRPr>
          </a:p>
        </p:txBody>
      </p:sp>
      <p:sp>
        <p:nvSpPr>
          <p:cNvPr id="68" name="Text Box 854">
            <a:extLst>
              <a:ext uri="{FF2B5EF4-FFF2-40B4-BE49-F238E27FC236}">
                <a16:creationId xmlns:a16="http://schemas.microsoft.com/office/drawing/2014/main" id="{9845929A-47AB-7953-E946-C7A4D2E1538F}"/>
              </a:ext>
            </a:extLst>
          </p:cNvPr>
          <p:cNvSpPr txBox="1"/>
          <p:nvPr/>
        </p:nvSpPr>
        <p:spPr>
          <a:xfrm>
            <a:off x="708595" y="3526770"/>
            <a:ext cx="3852819" cy="40763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delete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C278DA03-424D-142E-BB8A-D8491412C4DA}"/>
              </a:ext>
            </a:extLst>
          </p:cNvPr>
          <p:cNvSpPr txBox="1"/>
          <p:nvPr/>
        </p:nvSpPr>
        <p:spPr>
          <a:xfrm>
            <a:off x="805110" y="112232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Delete CV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24" name="Text Box 65">
            <a:extLst>
              <a:ext uri="{FF2B5EF4-FFF2-40B4-BE49-F238E27FC236}">
                <a16:creationId xmlns:a16="http://schemas.microsoft.com/office/drawing/2014/main" id="{1E9EB7A6-9663-FDE2-5365-91A0C0AA96C8}"/>
              </a:ext>
            </a:extLst>
          </p:cNvPr>
          <p:cNvSpPr txBox="1"/>
          <p:nvPr/>
        </p:nvSpPr>
        <p:spPr>
          <a:xfrm>
            <a:off x="761672" y="1524783"/>
            <a:ext cx="3746666" cy="181991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gn="just"/>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cash/check voucher – main window, search the payable voucher transaction you wish to edit its information in the search bar. Or,</a:t>
            </a:r>
          </a:p>
          <a:p>
            <a:pPr algn="just"/>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gn="just"/>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cash/check voucher – main form, click the lookup button and select the transaction you wish to edit its information by typing the transaction number in the search bar</a:t>
            </a:r>
          </a:p>
          <a:p>
            <a:pPr algn="just"/>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25205F7-CDDA-E825-C98C-ADE17F977244}"/>
              </a:ext>
            </a:extLst>
          </p:cNvPr>
          <p:cNvSpPr txBox="1"/>
          <p:nvPr/>
        </p:nvSpPr>
        <p:spPr>
          <a:xfrm>
            <a:off x="7301081" y="2788742"/>
            <a:ext cx="2552700" cy="272319"/>
          </a:xfrm>
          <a:prstGeom prst="rect">
            <a:avLst/>
          </a:prstGeom>
          <a:noFill/>
        </p:spPr>
        <p:txBody>
          <a:bodyPr wrap="square">
            <a:spAutoFit/>
          </a:bodyPr>
          <a:lstStyle/>
          <a:p>
            <a:pPr marL="0" marR="0" algn="ctr">
              <a:lnSpc>
                <a:spcPct val="107000"/>
              </a:lnSpc>
              <a:spcBef>
                <a:spcPts val="0"/>
              </a:spcBef>
              <a:spcAft>
                <a:spcPts val="800"/>
              </a:spcAft>
            </a:pPr>
            <a:r>
              <a:rPr lang="en-PH" sz="1200" dirty="0">
                <a:effectLst/>
                <a:latin typeface="Bahnschrift Condensed" panose="020B0502040204020203" pitchFamily="34" charset="0"/>
                <a:ea typeface="Calibri" panose="020F0502020204030204" pitchFamily="34" charset="0"/>
                <a:cs typeface="Times New Roman" panose="02020603050405020304" pitchFamily="18" charset="0"/>
              </a:rPr>
              <a:t>Cash/Check Voucher – Main </a:t>
            </a:r>
            <a:r>
              <a:rPr lang="en-PH" sz="1200" dirty="0">
                <a:latin typeface="Bahnschrift Condensed" panose="020B0502040204020203" pitchFamily="34" charset="0"/>
                <a:ea typeface="Calibri" panose="020F0502020204030204" pitchFamily="34" charset="0"/>
                <a:cs typeface="Times New Roman" panose="02020603050405020304" pitchFamily="18" charset="0"/>
              </a:rPr>
              <a:t>Window</a:t>
            </a:r>
            <a:endParaRPr lang="en-US" sz="1200" dirty="0">
              <a:effectLst/>
              <a:latin typeface="Bahnschrift Condensed" panose="020B0502040204020203" pitchFamily="34" charset="0"/>
              <a:ea typeface="Calibri" panose="020F0502020204030204" pitchFamily="34" charset="0"/>
              <a:cs typeface="Times New Roman" panose="02020603050405020304" pitchFamily="18" charset="0"/>
            </a:endParaRPr>
          </a:p>
        </p:txBody>
      </p:sp>
      <p:pic>
        <p:nvPicPr>
          <p:cNvPr id="17" name="Picture 16">
            <a:extLst>
              <a:ext uri="{FF2B5EF4-FFF2-40B4-BE49-F238E27FC236}">
                <a16:creationId xmlns:a16="http://schemas.microsoft.com/office/drawing/2014/main" id="{582282AD-B112-FBA4-04B3-FD705CEDB9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8407" y="1131992"/>
            <a:ext cx="6078855" cy="1713230"/>
          </a:xfrm>
          <a:prstGeom prst="rect">
            <a:avLst/>
          </a:prstGeom>
        </p:spPr>
      </p:pic>
      <p:grpSp>
        <p:nvGrpSpPr>
          <p:cNvPr id="64" name="Group 63">
            <a:extLst>
              <a:ext uri="{FF2B5EF4-FFF2-40B4-BE49-F238E27FC236}">
                <a16:creationId xmlns:a16="http://schemas.microsoft.com/office/drawing/2014/main" id="{F961481B-E60E-9618-28CE-C421321FDB75}"/>
              </a:ext>
            </a:extLst>
          </p:cNvPr>
          <p:cNvGrpSpPr/>
          <p:nvPr/>
        </p:nvGrpSpPr>
        <p:grpSpPr>
          <a:xfrm>
            <a:off x="4657929" y="3825845"/>
            <a:ext cx="4007641" cy="701675"/>
            <a:chOff x="2936875" y="3049587"/>
            <a:chExt cx="4007641" cy="701675"/>
          </a:xfrm>
        </p:grpSpPr>
        <p:grpSp>
          <p:nvGrpSpPr>
            <p:cNvPr id="55" name="Group 54">
              <a:extLst>
                <a:ext uri="{FF2B5EF4-FFF2-40B4-BE49-F238E27FC236}">
                  <a16:creationId xmlns:a16="http://schemas.microsoft.com/office/drawing/2014/main" id="{2BE5CA6A-21DB-05BD-E8E5-7033F54ED804}"/>
                </a:ext>
              </a:extLst>
            </p:cNvPr>
            <p:cNvGrpSpPr/>
            <p:nvPr/>
          </p:nvGrpSpPr>
          <p:grpSpPr>
            <a:xfrm>
              <a:off x="4763136" y="3503612"/>
              <a:ext cx="952499" cy="247650"/>
              <a:chOff x="523875" y="28575"/>
              <a:chExt cx="952499" cy="247650"/>
            </a:xfrm>
          </p:grpSpPr>
          <p:sp>
            <p:nvSpPr>
              <p:cNvPr id="61" name="Rectangle 60">
                <a:extLst>
                  <a:ext uri="{FF2B5EF4-FFF2-40B4-BE49-F238E27FC236}">
                    <a16:creationId xmlns:a16="http://schemas.microsoft.com/office/drawing/2014/main" id="{23DDC517-5C0C-C1F5-6315-43F7FA046271}"/>
                  </a:ext>
                </a:extLst>
              </p:cNvPr>
              <p:cNvSpPr/>
              <p:nvPr/>
            </p:nvSpPr>
            <p:spPr>
              <a:xfrm>
                <a:off x="523875" y="28575"/>
                <a:ext cx="266702" cy="1671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62" name="Straight Arrow Connector 61">
                <a:extLst>
                  <a:ext uri="{FF2B5EF4-FFF2-40B4-BE49-F238E27FC236}">
                    <a16:creationId xmlns:a16="http://schemas.microsoft.com/office/drawing/2014/main" id="{D3D0A63E-E4E9-92CB-EAC3-898CEB25145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 Box 1110">
                <a:extLst>
                  <a:ext uri="{FF2B5EF4-FFF2-40B4-BE49-F238E27FC236}">
                    <a16:creationId xmlns:a16="http://schemas.microsoft.com/office/drawing/2014/main" id="{FE5538F9-B52F-E11B-9A5E-56502BF5B4D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56" name="Group 55">
              <a:extLst>
                <a:ext uri="{FF2B5EF4-FFF2-40B4-BE49-F238E27FC236}">
                  <a16:creationId xmlns:a16="http://schemas.microsoft.com/office/drawing/2014/main" id="{6CDE5674-BC33-DDC1-0533-8266948D4994}"/>
                </a:ext>
              </a:extLst>
            </p:cNvPr>
            <p:cNvGrpSpPr/>
            <p:nvPr/>
          </p:nvGrpSpPr>
          <p:grpSpPr>
            <a:xfrm>
              <a:off x="5934899" y="3186112"/>
              <a:ext cx="1009617" cy="304800"/>
              <a:chOff x="-2005777" y="-17145"/>
              <a:chExt cx="1009617" cy="304800"/>
            </a:xfrm>
          </p:grpSpPr>
          <p:sp>
            <p:nvSpPr>
              <p:cNvPr id="58" name="Rectangle 57">
                <a:extLst>
                  <a:ext uri="{FF2B5EF4-FFF2-40B4-BE49-F238E27FC236}">
                    <a16:creationId xmlns:a16="http://schemas.microsoft.com/office/drawing/2014/main" id="{8E882B2F-7961-A015-EEA4-53B4FA998B3A}"/>
                  </a:ext>
                </a:extLst>
              </p:cNvPr>
              <p:cNvSpPr/>
              <p:nvPr/>
            </p:nvSpPr>
            <p:spPr>
              <a:xfrm>
                <a:off x="-2005777" y="-1714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9" name="Straight Arrow Connector 58">
                <a:extLst>
                  <a:ext uri="{FF2B5EF4-FFF2-40B4-BE49-F238E27FC236}">
                    <a16:creationId xmlns:a16="http://schemas.microsoft.com/office/drawing/2014/main" id="{54C7F76E-F71F-4B3C-7697-AD52CC4C22E2}"/>
                  </a:ext>
                </a:extLst>
              </p:cNvPr>
              <p:cNvCxnSpPr/>
              <p:nvPr/>
            </p:nvCxnSpPr>
            <p:spPr>
              <a:xfrm>
                <a:off x="-1510510" y="14478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Text Box 1114">
                <a:extLst>
                  <a:ext uri="{FF2B5EF4-FFF2-40B4-BE49-F238E27FC236}">
                    <a16:creationId xmlns:a16="http://schemas.microsoft.com/office/drawing/2014/main" id="{E5B9E7F6-F3D9-2DCC-E57A-1A2A0F7BBD92}"/>
                  </a:ext>
                </a:extLst>
              </p:cNvPr>
              <p:cNvSpPr txBox="1"/>
              <p:nvPr/>
            </p:nvSpPr>
            <p:spPr>
              <a:xfrm>
                <a:off x="-1300960" y="4000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2.</a:t>
                </a:r>
              </a:p>
            </p:txBody>
          </p:sp>
        </p:grpSp>
        <p:sp>
          <p:nvSpPr>
            <p:cNvPr id="57" name="Text Box 1115">
              <a:extLst>
                <a:ext uri="{FF2B5EF4-FFF2-40B4-BE49-F238E27FC236}">
                  <a16:creationId xmlns:a16="http://schemas.microsoft.com/office/drawing/2014/main" id="{0F642E86-2F79-84DD-8BA7-B737273708A4}"/>
                </a:ext>
              </a:extLst>
            </p:cNvPr>
            <p:cNvSpPr txBox="1"/>
            <p:nvPr/>
          </p:nvSpPr>
          <p:spPr>
            <a:xfrm>
              <a:off x="2936875" y="3049587"/>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grpSp>
      <p:sp>
        <p:nvSpPr>
          <p:cNvPr id="2" name="TextBox 1">
            <a:extLst>
              <a:ext uri="{FF2B5EF4-FFF2-40B4-BE49-F238E27FC236}">
                <a16:creationId xmlns:a16="http://schemas.microsoft.com/office/drawing/2014/main" id="{7854F284-6520-0EE0-BE55-259749F2F884}"/>
              </a:ext>
            </a:extLst>
          </p:cNvPr>
          <p:cNvSpPr txBox="1"/>
          <p:nvPr/>
        </p:nvSpPr>
        <p:spPr>
          <a:xfrm>
            <a:off x="805109" y="81080"/>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3" name="Slide Number Placeholder 9">
            <a:extLst>
              <a:ext uri="{FF2B5EF4-FFF2-40B4-BE49-F238E27FC236}">
                <a16:creationId xmlns:a16="http://schemas.microsoft.com/office/drawing/2014/main" id="{92DE4F60-6815-7186-DA7E-59F969FC8616}"/>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341474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782901"/>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Information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125729"/>
            <a:ext cx="3852820" cy="4674708"/>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a:lnSpc>
                <a:spcPct val="107000"/>
              </a:lnSpc>
              <a:spcBef>
                <a:spcPts val="190"/>
              </a:spcBef>
              <a:spcAft>
                <a:spcPts val="8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cash/check voucher – main form will be minimize and the other information will be displayed as shown in the photo.</a:t>
            </a:r>
          </a:p>
          <a:p>
            <a:pPr marL="0" marR="227330">
              <a:lnSpc>
                <a:spcPct val="107000"/>
              </a:lnSpc>
              <a:spcBef>
                <a:spcPts val="190"/>
              </a:spcBef>
              <a:spcAft>
                <a:spcPts val="8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227330">
              <a:lnSpc>
                <a:spcPct val="107000"/>
              </a:lnSpc>
              <a:spcBef>
                <a:spcPts val="190"/>
              </a:spcBef>
              <a:spcAft>
                <a:spcPts val="800"/>
              </a:spcAft>
            </a:pPr>
            <a:r>
              <a:rPr lang="en-US" sz="1100" b="1" dirty="0">
                <a:effectLst/>
                <a:ea typeface="Times New Roman" panose="02020603050405020304" pitchFamily="18" charset="0"/>
                <a:cs typeface="Times New Roman" panose="02020603050405020304" pitchFamily="18" charset="0"/>
              </a:rPr>
              <a:t>Particular tab</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100" dirty="0">
                <a:effectLst/>
                <a:ea typeface="Times New Roman" panose="02020603050405020304" pitchFamily="18" charset="0"/>
                <a:cs typeface="Times New Roman" panose="02020603050405020304" pitchFamily="18" charset="0"/>
              </a:rPr>
              <a:t>Click maximize arrow to view the Particular tab</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100" dirty="0">
                <a:effectLst/>
                <a:ea typeface="Times New Roman" panose="02020603050405020304" pitchFamily="18" charset="0"/>
                <a:cs typeface="Times New Roman" panose="02020603050405020304" pitchFamily="18" charset="0"/>
              </a:rPr>
              <a:t>Provide the necessary details in their fields</a:t>
            </a:r>
            <a:endParaRPr lang="en-PH" sz="1100" dirty="0">
              <a:effectLst/>
              <a:ea typeface="Calibri" panose="020F0502020204030204" pitchFamily="34" charset="0"/>
              <a:cs typeface="Times New Roman" panose="02020603050405020304" pitchFamily="18" charset="0"/>
            </a:endParaRPr>
          </a:p>
          <a:p>
            <a:pPr lvl="1" algn="just">
              <a:lnSpc>
                <a:spcPct val="115000"/>
              </a:lnSpc>
            </a:pPr>
            <a:r>
              <a:rPr lang="en-US" sz="1100" dirty="0">
                <a:effectLst/>
                <a:ea typeface="Times New Roman" panose="02020603050405020304" pitchFamily="18" charset="0"/>
                <a:cs typeface="Times New Roman" panose="02020603050405020304" pitchFamily="18" charset="0"/>
              </a:rPr>
              <a:t>2.1. Click Add button to add new row</a:t>
            </a:r>
          </a:p>
          <a:p>
            <a:pPr lvl="1" algn="just">
              <a:lnSpc>
                <a:spcPct val="115000"/>
              </a:lnSpc>
            </a:pPr>
            <a:r>
              <a:rPr lang="en-US" sz="1100" dirty="0">
                <a:ea typeface="Times New Roman" panose="02020603050405020304" pitchFamily="18" charset="0"/>
                <a:cs typeface="Times New Roman" panose="02020603050405020304" pitchFamily="18" charset="0"/>
              </a:rPr>
              <a:t>2.2. </a:t>
            </a:r>
            <a:r>
              <a:rPr lang="en-US" sz="1100" dirty="0">
                <a:effectLst/>
                <a:ea typeface="Times New Roman" panose="02020603050405020304" pitchFamily="18" charset="0"/>
                <a:cs typeface="Times New Roman" panose="02020603050405020304" pitchFamily="18" charset="0"/>
              </a:rPr>
              <a:t>Type particular and amount if there’s any</a:t>
            </a:r>
            <a:endParaRPr lang="en-PH" sz="1100" dirty="0">
              <a:effectLst/>
              <a:ea typeface="Calibri" panose="020F0502020204030204" pitchFamily="34" charset="0"/>
              <a:cs typeface="Times New Roman" panose="02020603050405020304" pitchFamily="18" charset="0"/>
            </a:endParaRPr>
          </a:p>
          <a:p>
            <a:pPr lvl="1" algn="just">
              <a:lnSpc>
                <a:spcPct val="115000"/>
              </a:lnSpc>
            </a:pPr>
            <a:r>
              <a:rPr lang="en-US" sz="1100" dirty="0">
                <a:effectLst/>
                <a:ea typeface="Times New Roman" panose="02020603050405020304" pitchFamily="18" charset="0"/>
                <a:cs typeface="Times New Roman" panose="02020603050405020304" pitchFamily="18" charset="0"/>
              </a:rPr>
              <a:t>2.3. If done, click save all button</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r>
              <a:rPr lang="en-US" sz="1100" dirty="0">
                <a:effectLst/>
                <a:ea typeface="Times New Roman" panose="02020603050405020304" pitchFamily="18" charset="0"/>
                <a:cs typeface="Times New Roman" panose="02020603050405020304" pitchFamily="18" charset="0"/>
              </a:rPr>
              <a:t>Click save button once done</a:t>
            </a:r>
          </a:p>
          <a:p>
            <a:pPr lvl="0" algn="just">
              <a:lnSpc>
                <a:spcPct val="115000"/>
              </a:lnSpc>
              <a:spcAft>
                <a:spcPts val="100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Attachment tab</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1. Click maximize arrow to view the attachment tab</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2. Click add document button</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lvl="0" algn="just">
              <a:lnSpc>
                <a:spcPct val="115000"/>
              </a:lnSpc>
              <a:spcAft>
                <a:spcPts val="1000"/>
              </a:spcAft>
            </a:pP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227330">
              <a:lnSpc>
                <a:spcPct val="107000"/>
              </a:lnSpc>
              <a:spcBef>
                <a:spcPts val="190"/>
              </a:spcBef>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D88C4B5-67A1-AD81-C175-531AAAE0FB0D}"/>
              </a:ext>
            </a:extLst>
          </p:cNvPr>
          <p:cNvSpPr txBox="1"/>
          <p:nvPr/>
        </p:nvSpPr>
        <p:spPr>
          <a:xfrm>
            <a:off x="239951" y="116202"/>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AD9A1242-B5FF-194A-55C9-64C0A75E1EC7}"/>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901" name="Group 900">
            <a:extLst>
              <a:ext uri="{FF2B5EF4-FFF2-40B4-BE49-F238E27FC236}">
                <a16:creationId xmlns:a16="http://schemas.microsoft.com/office/drawing/2014/main" id="{5D18C6C9-FADA-FF57-0BFB-6525009F091A}"/>
              </a:ext>
            </a:extLst>
          </p:cNvPr>
          <p:cNvGrpSpPr/>
          <p:nvPr/>
        </p:nvGrpSpPr>
        <p:grpSpPr>
          <a:xfrm>
            <a:off x="5727869" y="1946864"/>
            <a:ext cx="5470901" cy="1430421"/>
            <a:chOff x="6430729" y="1985714"/>
            <a:chExt cx="4349750" cy="1137285"/>
          </a:xfrm>
        </p:grpSpPr>
        <p:pic>
          <p:nvPicPr>
            <p:cNvPr id="10" name="Picture 9">
              <a:extLst>
                <a:ext uri="{FF2B5EF4-FFF2-40B4-BE49-F238E27FC236}">
                  <a16:creationId xmlns:a16="http://schemas.microsoft.com/office/drawing/2014/main" id="{C1BEFB49-1AC8-8B89-DD7B-B6EC7BA6B85F}"/>
                </a:ext>
              </a:extLst>
            </p:cNvPr>
            <p:cNvPicPr>
              <a:picLocks noChangeAspect="1"/>
            </p:cNvPicPr>
            <p:nvPr/>
          </p:nvPicPr>
          <p:blipFill>
            <a:blip r:embed="rId3"/>
            <a:stretch>
              <a:fillRect/>
            </a:stretch>
          </p:blipFill>
          <p:spPr bwMode="auto">
            <a:xfrm>
              <a:off x="6430729" y="1985714"/>
              <a:ext cx="4349750" cy="1137285"/>
            </a:xfrm>
            <a:prstGeom prst="rect">
              <a:avLst/>
            </a:prstGeom>
            <a:ln>
              <a:noFill/>
            </a:ln>
            <a:effectLst>
              <a:outerShdw blurRad="292100" dist="139700" dir="2700000" algn="tl" rotWithShape="0">
                <a:srgbClr val="333333">
                  <a:alpha val="65000"/>
                </a:srgbClr>
              </a:outerShdw>
            </a:effectLst>
          </p:spPr>
        </p:pic>
        <p:sp>
          <p:nvSpPr>
            <p:cNvPr id="11" name="Rectangle 898">
              <a:extLst>
                <a:ext uri="{FF2B5EF4-FFF2-40B4-BE49-F238E27FC236}">
                  <a16:creationId xmlns:a16="http://schemas.microsoft.com/office/drawing/2014/main" id="{1E612D13-1F24-A82A-6A97-42EE5AF5B53E}"/>
                </a:ext>
              </a:extLst>
            </p:cNvPr>
            <p:cNvSpPr>
              <a:spLocks noChangeArrowheads="1"/>
            </p:cNvSpPr>
            <p:nvPr/>
          </p:nvSpPr>
          <p:spPr bwMode="auto">
            <a:xfrm>
              <a:off x="9682055" y="2490260"/>
              <a:ext cx="378936"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13" name="Text Box 900">
              <a:extLst>
                <a:ext uri="{FF2B5EF4-FFF2-40B4-BE49-F238E27FC236}">
                  <a16:creationId xmlns:a16="http://schemas.microsoft.com/office/drawing/2014/main" id="{9B4710E5-54A1-279A-F5B6-36AF799AF3CD}"/>
                </a:ext>
              </a:extLst>
            </p:cNvPr>
            <p:cNvSpPr txBox="1">
              <a:spLocks noChangeArrowheads="1"/>
            </p:cNvSpPr>
            <p:nvPr/>
          </p:nvSpPr>
          <p:spPr bwMode="auto">
            <a:xfrm>
              <a:off x="9464632" y="2105381"/>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rPr>
                <a:t>2.1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4">
              <a:extLst>
                <a:ext uri="{FF2B5EF4-FFF2-40B4-BE49-F238E27FC236}">
                  <a16:creationId xmlns:a16="http://schemas.microsoft.com/office/drawing/2014/main" id="{365EFC1F-4E96-47ED-303D-B1690B96A366}"/>
                </a:ext>
              </a:extLst>
            </p:cNvPr>
            <p:cNvSpPr>
              <a:spLocks noChangeArrowheads="1"/>
            </p:cNvSpPr>
            <p:nvPr/>
          </p:nvSpPr>
          <p:spPr bwMode="auto">
            <a:xfrm>
              <a:off x="10140019" y="2493987"/>
              <a:ext cx="506689"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pic>
          <p:nvPicPr>
            <p:cNvPr id="20" name="Picture 19">
              <a:extLst>
                <a:ext uri="{FF2B5EF4-FFF2-40B4-BE49-F238E27FC236}">
                  <a16:creationId xmlns:a16="http://schemas.microsoft.com/office/drawing/2014/main" id="{13121F0B-BF6C-4FFC-F01C-B249183E8C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3339" y="2110567"/>
              <a:ext cx="504762" cy="314286"/>
            </a:xfrm>
            <a:prstGeom prst="rect">
              <a:avLst/>
            </a:prstGeom>
          </p:spPr>
        </p:pic>
        <p:cxnSp>
          <p:nvCxnSpPr>
            <p:cNvPr id="22" name="AutoShape 6">
              <a:extLst>
                <a:ext uri="{FF2B5EF4-FFF2-40B4-BE49-F238E27FC236}">
                  <a16:creationId xmlns:a16="http://schemas.microsoft.com/office/drawing/2014/main" id="{8582F674-30DE-3E58-64E9-D9ABEE6A4CC0}"/>
                </a:ext>
              </a:extLst>
            </p:cNvPr>
            <p:cNvCxnSpPr>
              <a:cxnSpLocks noChangeShapeType="1"/>
            </p:cNvCxnSpPr>
            <p:nvPr/>
          </p:nvCxnSpPr>
          <p:spPr bwMode="auto">
            <a:xfrm flipH="1" flipV="1">
              <a:off x="9767424" y="2359447"/>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5" name="AutoShape 6">
              <a:extLst>
                <a:ext uri="{FF2B5EF4-FFF2-40B4-BE49-F238E27FC236}">
                  <a16:creationId xmlns:a16="http://schemas.microsoft.com/office/drawing/2014/main" id="{D3D11AA6-32B7-588A-5ADC-0AA655246426}"/>
                </a:ext>
              </a:extLst>
            </p:cNvPr>
            <p:cNvCxnSpPr>
              <a:cxnSpLocks noChangeShapeType="1"/>
            </p:cNvCxnSpPr>
            <p:nvPr/>
          </p:nvCxnSpPr>
          <p:spPr bwMode="auto">
            <a:xfrm flipH="1" flipV="1">
              <a:off x="10343891" y="2339565"/>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grpSp>
        <p:nvGrpSpPr>
          <p:cNvPr id="900" name="Group 899">
            <a:extLst>
              <a:ext uri="{FF2B5EF4-FFF2-40B4-BE49-F238E27FC236}">
                <a16:creationId xmlns:a16="http://schemas.microsoft.com/office/drawing/2014/main" id="{59C099A5-2A24-AF95-638E-AC6A37D1B4A5}"/>
              </a:ext>
            </a:extLst>
          </p:cNvPr>
          <p:cNvGrpSpPr/>
          <p:nvPr/>
        </p:nvGrpSpPr>
        <p:grpSpPr>
          <a:xfrm>
            <a:off x="5993755" y="4055658"/>
            <a:ext cx="5662254" cy="1853632"/>
            <a:chOff x="6261610" y="3735002"/>
            <a:chExt cx="5138532" cy="1682183"/>
          </a:xfrm>
        </p:grpSpPr>
        <p:pic>
          <p:nvPicPr>
            <p:cNvPr id="26" name="Picture 25">
              <a:extLst>
                <a:ext uri="{FF2B5EF4-FFF2-40B4-BE49-F238E27FC236}">
                  <a16:creationId xmlns:a16="http://schemas.microsoft.com/office/drawing/2014/main" id="{A0F171D5-2A3C-D864-F792-F6585B06DA79}"/>
                </a:ext>
              </a:extLst>
            </p:cNvPr>
            <p:cNvPicPr>
              <a:picLocks noChangeAspect="1"/>
            </p:cNvPicPr>
            <p:nvPr/>
          </p:nvPicPr>
          <p:blipFill>
            <a:blip r:embed="rId5"/>
            <a:srcRect/>
            <a:stretch>
              <a:fillRect/>
            </a:stretch>
          </p:blipFill>
          <p:spPr bwMode="auto">
            <a:xfrm>
              <a:off x="6261610" y="3735002"/>
              <a:ext cx="4890135" cy="1358900"/>
            </a:xfrm>
            <a:prstGeom prst="rect">
              <a:avLst/>
            </a:prstGeom>
            <a:ln>
              <a:noFill/>
            </a:ln>
            <a:effectLst>
              <a:outerShdw blurRad="292100" dist="139700" dir="2700000" algn="tl" rotWithShape="0">
                <a:srgbClr val="333333">
                  <a:alpha val="65000"/>
                </a:srgbClr>
              </a:outerShdw>
            </a:effectLst>
          </p:spPr>
        </p:pic>
        <p:sp>
          <p:nvSpPr>
            <p:cNvPr id="30" name="Text Box 7">
              <a:extLst>
                <a:ext uri="{FF2B5EF4-FFF2-40B4-BE49-F238E27FC236}">
                  <a16:creationId xmlns:a16="http://schemas.microsoft.com/office/drawing/2014/main" id="{1582B807-30D5-4E6F-37FB-F3B7A57634B0}"/>
                </a:ext>
              </a:extLst>
            </p:cNvPr>
            <p:cNvSpPr txBox="1">
              <a:spLocks noChangeArrowheads="1"/>
            </p:cNvSpPr>
            <p:nvPr/>
          </p:nvSpPr>
          <p:spPr bwMode="auto">
            <a:xfrm>
              <a:off x="6261610" y="4158615"/>
              <a:ext cx="2241146" cy="1013749"/>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algn="l" defTabSz="914400" rtl="0" eaLnBrk="0" fontAlgn="base" latinLnBrk="0" hangingPunct="0">
                <a:lnSpc>
                  <a:spcPct val="100000"/>
                </a:lnSpc>
                <a:spcBef>
                  <a:spcPts val="438"/>
                </a:spcBef>
                <a:spcAft>
                  <a:spcPts val="800"/>
                </a:spcAft>
                <a:buClrTx/>
                <a:buSzTx/>
                <a:buFontTx/>
                <a:buNone/>
                <a:tabLst/>
              </a:pPr>
              <a:r>
                <a:rPr kumimoji="0" lang="en-PH" altLang="en-US" sz="1000" b="0" i="1" u="none" strike="noStrike" cap="none" normalizeH="0" baseline="0" dirty="0">
                  <a:ln>
                    <a:noFill/>
                  </a:ln>
                  <a:solidFill>
                    <a:srgbClr val="4F6128"/>
                  </a:solidFill>
                  <a:effectLst/>
                  <a:latin typeface="Calibri" panose="020F0502020204030204" pitchFamily="34" charset="0"/>
                </a:rPr>
                <a:t>How to upload document?</a:t>
              </a:r>
              <a:endParaRPr kumimoji="0" lang="en-PH" altLang="en-US" sz="1000" b="0" i="1" u="none" strike="noStrike" cap="none" normalizeH="0" baseline="0" dirty="0">
                <a:ln>
                  <a:noFill/>
                </a:ln>
                <a:solidFill>
                  <a:schemeClr val="tx1"/>
                </a:solidFill>
                <a:effectLst/>
                <a:latin typeface="Times New Roman" panose="02020603050405020304" pitchFamily="18" charset="0"/>
              </a:endParaRPr>
            </a:p>
            <a:p>
              <a:pPr marL="268288" marR="0" lvl="1" indent="-92075"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Type the title of the document.</a:t>
              </a:r>
              <a:endParaRPr kumimoji="0" lang="en-US" altLang="en-US" sz="1000" b="0" i="0" u="none" strike="noStrike" cap="none" normalizeH="0" baseline="0" dirty="0">
                <a:ln>
                  <a:noFill/>
                </a:ln>
                <a:solidFill>
                  <a:schemeClr val="tx1"/>
                </a:solidFill>
                <a:effectLst/>
              </a:endParaRP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Click add button to add the chosen document to upload</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Then click upload button.</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If you want to add more document, click add document button and repeat steps 1 to #3</a:t>
              </a:r>
              <a:endParaRPr kumimoji="0" lang="en-US" altLang="en-US" sz="1800" b="0" i="0" u="none" strike="noStrike" cap="none" normalizeH="0" baseline="0" dirty="0">
                <a:ln>
                  <a:noFill/>
                </a:ln>
                <a:solidFill>
                  <a:schemeClr val="tx1"/>
                </a:solidFill>
                <a:effectLst/>
              </a:endParaRPr>
            </a:p>
          </p:txBody>
        </p:sp>
        <p:pic>
          <p:nvPicPr>
            <p:cNvPr id="31" name="Picture 30">
              <a:extLst>
                <a:ext uri="{FF2B5EF4-FFF2-40B4-BE49-F238E27FC236}">
                  <a16:creationId xmlns:a16="http://schemas.microsoft.com/office/drawing/2014/main" id="{99B8F058-922B-3D4A-0C92-F63D28814312}"/>
                </a:ext>
              </a:extLst>
            </p:cNvPr>
            <p:cNvPicPr>
              <a:picLocks noChangeAspect="1"/>
            </p:cNvPicPr>
            <p:nvPr/>
          </p:nvPicPr>
          <p:blipFill>
            <a:blip r:embed="rId6"/>
            <a:srcRect/>
            <a:stretch>
              <a:fillRect/>
            </a:stretch>
          </p:blipFill>
          <p:spPr bwMode="auto">
            <a:xfrm>
              <a:off x="8565789" y="4158615"/>
              <a:ext cx="1797685" cy="1258570"/>
            </a:xfrm>
            <a:prstGeom prst="rect">
              <a:avLst/>
            </a:prstGeom>
            <a:noFill/>
            <a:ln w="9525">
              <a:noFill/>
              <a:miter lim="800000"/>
              <a:headEnd/>
              <a:tailEnd/>
            </a:ln>
          </p:spPr>
        </p:pic>
        <p:sp>
          <p:nvSpPr>
            <p:cNvPr id="896" name="Rectangle 8">
              <a:extLst>
                <a:ext uri="{FF2B5EF4-FFF2-40B4-BE49-F238E27FC236}">
                  <a16:creationId xmlns:a16="http://schemas.microsoft.com/office/drawing/2014/main" id="{E7BF1967-71B4-EE33-A347-EB136524C9B8}"/>
                </a:ext>
              </a:extLst>
            </p:cNvPr>
            <p:cNvSpPr>
              <a:spLocks noChangeArrowheads="1"/>
            </p:cNvSpPr>
            <p:nvPr/>
          </p:nvSpPr>
          <p:spPr bwMode="auto">
            <a:xfrm>
              <a:off x="10426507" y="4163850"/>
              <a:ext cx="714216" cy="17637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897" name="AutoShape 9">
              <a:extLst>
                <a:ext uri="{FF2B5EF4-FFF2-40B4-BE49-F238E27FC236}">
                  <a16:creationId xmlns:a16="http://schemas.microsoft.com/office/drawing/2014/main" id="{92191BC8-9C0F-F95A-E72D-2B59D3BFB2FD}"/>
                </a:ext>
              </a:extLst>
            </p:cNvPr>
            <p:cNvSpPr>
              <a:spLocks noChangeArrowheads="1"/>
            </p:cNvSpPr>
            <p:nvPr/>
          </p:nvSpPr>
          <p:spPr bwMode="auto">
            <a:xfrm rot="832617" flipH="1">
              <a:off x="10252303" y="4359558"/>
              <a:ext cx="233363" cy="92075"/>
            </a:xfrm>
            <a:prstGeom prst="curvedUpArrow">
              <a:avLst>
                <a:gd name="adj1" fmla="val 29827"/>
                <a:gd name="adj2" fmla="val 5963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PH"/>
            </a:p>
          </p:txBody>
        </p:sp>
        <p:sp>
          <p:nvSpPr>
            <p:cNvPr id="898" name="Text Box 10">
              <a:extLst>
                <a:ext uri="{FF2B5EF4-FFF2-40B4-BE49-F238E27FC236}">
                  <a16:creationId xmlns:a16="http://schemas.microsoft.com/office/drawing/2014/main" id="{C4CA4518-2860-52C1-5FE6-75D228177C61}"/>
                </a:ext>
              </a:extLst>
            </p:cNvPr>
            <p:cNvSpPr txBox="1">
              <a:spLocks noChangeArrowheads="1"/>
            </p:cNvSpPr>
            <p:nvPr/>
          </p:nvSpPr>
          <p:spPr bwMode="auto">
            <a:xfrm>
              <a:off x="10925480" y="3848814"/>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pic>
        <p:nvPicPr>
          <p:cNvPr id="6" name="Picture 5">
            <a:extLst>
              <a:ext uri="{FF2B5EF4-FFF2-40B4-BE49-F238E27FC236}">
                <a16:creationId xmlns:a16="http://schemas.microsoft.com/office/drawing/2014/main" id="{54F926E6-2281-A5AD-3FCA-14B9609B6554}"/>
              </a:ext>
            </a:extLst>
          </p:cNvPr>
          <p:cNvPicPr>
            <a:picLocks noChangeAspect="1"/>
          </p:cNvPicPr>
          <p:nvPr/>
        </p:nvPicPr>
        <p:blipFill>
          <a:blip r:embed="rId7"/>
          <a:stretch>
            <a:fillRect/>
          </a:stretch>
        </p:blipFill>
        <p:spPr>
          <a:xfrm>
            <a:off x="5168243" y="968236"/>
            <a:ext cx="6770994" cy="745312"/>
          </a:xfrm>
          <a:prstGeom prst="rect">
            <a:avLst/>
          </a:prstGeom>
        </p:spPr>
      </p:pic>
    </p:spTree>
    <p:extLst>
      <p:ext uri="{BB962C8B-B14F-4D97-AF65-F5344CB8AC3E}">
        <p14:creationId xmlns:p14="http://schemas.microsoft.com/office/powerpoint/2010/main" val="4140300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5" name="TextBox 64">
            <a:extLst>
              <a:ext uri="{FF2B5EF4-FFF2-40B4-BE49-F238E27FC236}">
                <a16:creationId xmlns:a16="http://schemas.microsoft.com/office/drawing/2014/main" id="{E7777D04-D73F-74AB-C30B-7D3C9397264F}"/>
              </a:ext>
            </a:extLst>
          </p:cNvPr>
          <p:cNvSpPr txBox="1"/>
          <p:nvPr/>
        </p:nvSpPr>
        <p:spPr>
          <a:xfrm>
            <a:off x="977388" y="1171046"/>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Buttons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2" name="TextBox 1">
            <a:extLst>
              <a:ext uri="{FF2B5EF4-FFF2-40B4-BE49-F238E27FC236}">
                <a16:creationId xmlns:a16="http://schemas.microsoft.com/office/drawing/2014/main" id="{78DD6742-F6C7-238C-B640-0B57B9C8FD25}"/>
              </a:ext>
            </a:extLst>
          </p:cNvPr>
          <p:cNvSpPr txBox="1"/>
          <p:nvPr/>
        </p:nvSpPr>
        <p:spPr>
          <a:xfrm>
            <a:off x="805109" y="81080"/>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788A7811-BADD-86B9-1AAF-B3E37500BF37}"/>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pic>
        <p:nvPicPr>
          <p:cNvPr id="10" name="Picture 9">
            <a:extLst>
              <a:ext uri="{FF2B5EF4-FFF2-40B4-BE49-F238E27FC236}">
                <a16:creationId xmlns:a16="http://schemas.microsoft.com/office/drawing/2014/main" id="{E0AD5EC7-169E-E9F2-1B70-C739B7464B63}"/>
              </a:ext>
            </a:extLst>
          </p:cNvPr>
          <p:cNvPicPr>
            <a:picLocks noChangeAspect="1"/>
          </p:cNvPicPr>
          <p:nvPr/>
        </p:nvPicPr>
        <p:blipFill>
          <a:blip r:embed="rId3"/>
          <a:stretch>
            <a:fillRect/>
          </a:stretch>
        </p:blipFill>
        <p:spPr>
          <a:xfrm>
            <a:off x="2341907" y="1890518"/>
            <a:ext cx="6762750" cy="3000375"/>
          </a:xfrm>
          <a:prstGeom prst="rect">
            <a:avLst/>
          </a:prstGeom>
        </p:spPr>
      </p:pic>
    </p:spTree>
    <p:extLst>
      <p:ext uri="{BB962C8B-B14F-4D97-AF65-F5344CB8AC3E}">
        <p14:creationId xmlns:p14="http://schemas.microsoft.com/office/powerpoint/2010/main" val="184243734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1605</Words>
  <Application>Microsoft Office PowerPoint</Application>
  <PresentationFormat>Widescreen</PresentationFormat>
  <Paragraphs>213</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Animosa Extra Bold</vt:lpstr>
      <vt:lpstr>Arial</vt:lpstr>
      <vt:lpstr>Bahnschrift Condensed</vt:lpstr>
      <vt:lpstr>Bodoni MT Condensed</vt:lpstr>
      <vt:lpstr>Calibri</vt:lpstr>
      <vt:lpstr>Calibri Light</vt:lpstr>
      <vt:lpstr>Century Gothic</vt:lpstr>
      <vt:lpstr>Chivo Light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3</cp:revision>
  <dcterms:created xsi:type="dcterms:W3CDTF">2023-01-10T09:20:19Z</dcterms:created>
  <dcterms:modified xsi:type="dcterms:W3CDTF">2023-01-10T09:21:42Z</dcterms:modified>
</cp:coreProperties>
</file>