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58" r:id="rId2"/>
    <p:sldId id="359" r:id="rId3"/>
    <p:sldId id="360" r:id="rId4"/>
    <p:sldId id="396" r:id="rId5"/>
    <p:sldId id="397" r:id="rId6"/>
    <p:sldId id="398" r:id="rId7"/>
    <p:sldId id="399" r:id="rId8"/>
    <p:sldId id="366" r:id="rId9"/>
    <p:sldId id="400" r:id="rId10"/>
    <p:sldId id="368" r:id="rId11"/>
    <p:sldId id="402"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1" d="100"/>
          <a:sy n="111" d="100"/>
        </p:scale>
        <p:origin x="45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1EB4A-3408-1B97-1B34-05AE5640F8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4CE41D-ED3A-FB15-B2CB-48AE9AE258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72DF44-2CFE-99D1-62FB-C419C3595772}"/>
              </a:ext>
            </a:extLst>
          </p:cNvPr>
          <p:cNvSpPr>
            <a:spLocks noGrp="1"/>
          </p:cNvSpPr>
          <p:nvPr>
            <p:ph type="dt" sz="half" idx="10"/>
          </p:nvPr>
        </p:nvSpPr>
        <p:spPr/>
        <p:txBody>
          <a:bodyPr/>
          <a:lstStyle/>
          <a:p>
            <a:fld id="{F8F5D17A-142B-4705-ADE1-A3098ECE97EC}" type="datetime1">
              <a:rPr lang="en-US" smtClean="0"/>
              <a:t>1/10/2023</a:t>
            </a:fld>
            <a:endParaRPr lang="en-US"/>
          </a:p>
        </p:txBody>
      </p:sp>
      <p:sp>
        <p:nvSpPr>
          <p:cNvPr id="5" name="Footer Placeholder 4">
            <a:extLst>
              <a:ext uri="{FF2B5EF4-FFF2-40B4-BE49-F238E27FC236}">
                <a16:creationId xmlns:a16="http://schemas.microsoft.com/office/drawing/2014/main" id="{BC42A000-96DA-5E5F-9A77-6569656A31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FD326-4FC0-72EB-DF56-0FD78B9EE4C3}"/>
              </a:ext>
            </a:extLst>
          </p:cNvPr>
          <p:cNvSpPr>
            <a:spLocks noGrp="1"/>
          </p:cNvSpPr>
          <p:nvPr>
            <p:ph type="sldNum" sz="quarter" idx="12"/>
          </p:nvPr>
        </p:nvSpPr>
        <p:spPr/>
        <p:txBody>
          <a:bodyPr/>
          <a:lstStyle/>
          <a:p>
            <a:fld id="{116086AB-602C-49A8-AF1B-7C398AACFC06}" type="slidenum">
              <a:rPr lang="en-US" smtClean="0"/>
              <a:t>‹#›</a:t>
            </a:fld>
            <a:endParaRPr lang="en-US" dirty="0"/>
          </a:p>
        </p:txBody>
      </p:sp>
    </p:spTree>
    <p:extLst>
      <p:ext uri="{BB962C8B-B14F-4D97-AF65-F5344CB8AC3E}">
        <p14:creationId xmlns:p14="http://schemas.microsoft.com/office/powerpoint/2010/main" val="893234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F9D75-E04D-B634-D919-617757394C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56432A-85F7-6833-67C8-01C4E72164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C57A2C-3294-4947-A3DE-F536E8B16E5E}"/>
              </a:ext>
            </a:extLst>
          </p:cNvPr>
          <p:cNvSpPr>
            <a:spLocks noGrp="1"/>
          </p:cNvSpPr>
          <p:nvPr>
            <p:ph type="dt" sz="half" idx="10"/>
          </p:nvPr>
        </p:nvSpPr>
        <p:spPr/>
        <p:txBody>
          <a:bodyPr/>
          <a:lstStyle/>
          <a:p>
            <a:fld id="{F94770F1-593C-41E5-9DDC-A7DDE7DA3A0C}" type="datetime1">
              <a:rPr lang="en-US" smtClean="0"/>
              <a:t>1/10/2023</a:t>
            </a:fld>
            <a:endParaRPr lang="en-US"/>
          </a:p>
        </p:txBody>
      </p:sp>
      <p:sp>
        <p:nvSpPr>
          <p:cNvPr id="5" name="Footer Placeholder 4">
            <a:extLst>
              <a:ext uri="{FF2B5EF4-FFF2-40B4-BE49-F238E27FC236}">
                <a16:creationId xmlns:a16="http://schemas.microsoft.com/office/drawing/2014/main" id="{A2215DCA-9125-891E-96C8-87AF8FF5A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F9F385-A188-DB80-34AE-99BFE377262E}"/>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5681525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F34D8-AC3A-C1B6-226A-B0342CC953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0A1E8B-24DF-615A-8729-9497B6EA1E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F1F83F-6442-4F8D-A89C-5E43D4324093}"/>
              </a:ext>
            </a:extLst>
          </p:cNvPr>
          <p:cNvSpPr>
            <a:spLocks noGrp="1"/>
          </p:cNvSpPr>
          <p:nvPr>
            <p:ph type="dt" sz="half" idx="10"/>
          </p:nvPr>
        </p:nvSpPr>
        <p:spPr/>
        <p:txBody>
          <a:bodyPr/>
          <a:lstStyle/>
          <a:p>
            <a:fld id="{8EBBA4C9-61EB-4E89-89EA-F649D387A885}" type="datetime1">
              <a:rPr lang="en-US" smtClean="0"/>
              <a:t>1/10/2023</a:t>
            </a:fld>
            <a:endParaRPr lang="en-US"/>
          </a:p>
        </p:txBody>
      </p:sp>
      <p:sp>
        <p:nvSpPr>
          <p:cNvPr id="5" name="Footer Placeholder 4">
            <a:extLst>
              <a:ext uri="{FF2B5EF4-FFF2-40B4-BE49-F238E27FC236}">
                <a16:creationId xmlns:a16="http://schemas.microsoft.com/office/drawing/2014/main" id="{1E5243A9-4120-4241-6DD2-BB67522C9E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C42F45-390E-7F61-65CB-09F84E0C7E2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5463242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6E399-2560-08C2-7560-8CDD4F0BE6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AC3219-FB0A-90C1-5347-5D8D63A15A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16AE50-4292-C9EB-8B25-09DE0EA028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B747A3-5AAE-74E5-58AC-112C24B4D162}"/>
              </a:ext>
            </a:extLst>
          </p:cNvPr>
          <p:cNvSpPr>
            <a:spLocks noGrp="1"/>
          </p:cNvSpPr>
          <p:nvPr>
            <p:ph type="dt" sz="half" idx="10"/>
          </p:nvPr>
        </p:nvSpPr>
        <p:spPr/>
        <p:txBody>
          <a:bodyPr/>
          <a:lstStyle/>
          <a:p>
            <a:fld id="{1DA50626-E323-4146-837D-79DA438855EF}" type="datetime1">
              <a:rPr lang="en-US" smtClean="0"/>
              <a:t>1/10/2023</a:t>
            </a:fld>
            <a:endParaRPr lang="en-US"/>
          </a:p>
        </p:txBody>
      </p:sp>
      <p:sp>
        <p:nvSpPr>
          <p:cNvPr id="6" name="Footer Placeholder 5">
            <a:extLst>
              <a:ext uri="{FF2B5EF4-FFF2-40B4-BE49-F238E27FC236}">
                <a16:creationId xmlns:a16="http://schemas.microsoft.com/office/drawing/2014/main" id="{17245C81-CA6F-521E-53EF-EEB98F96FD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2839E4-86AD-5375-DD4F-F846EF92506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4279489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C6130-117C-998F-E56B-57FCF1096B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6E80B8-EA33-707F-EC6C-EBC7B13527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F28F7F-ECE8-BAAD-7338-2D78A59EE1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DAF716-F429-44D0-6E93-815FF3C4FD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2A37D0-605C-BB9A-385B-6A85770C86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3F5C74-EA7F-FDB3-FB93-77C9E914F0FA}"/>
              </a:ext>
            </a:extLst>
          </p:cNvPr>
          <p:cNvSpPr>
            <a:spLocks noGrp="1"/>
          </p:cNvSpPr>
          <p:nvPr>
            <p:ph type="dt" sz="half" idx="10"/>
          </p:nvPr>
        </p:nvSpPr>
        <p:spPr/>
        <p:txBody>
          <a:bodyPr/>
          <a:lstStyle/>
          <a:p>
            <a:fld id="{AC2F3B27-06CD-4A16-84A3-AF5F748FC93B}" type="datetime1">
              <a:rPr lang="en-US" smtClean="0"/>
              <a:t>1/10/2023</a:t>
            </a:fld>
            <a:endParaRPr lang="en-US"/>
          </a:p>
        </p:txBody>
      </p:sp>
      <p:sp>
        <p:nvSpPr>
          <p:cNvPr id="8" name="Footer Placeholder 7">
            <a:extLst>
              <a:ext uri="{FF2B5EF4-FFF2-40B4-BE49-F238E27FC236}">
                <a16:creationId xmlns:a16="http://schemas.microsoft.com/office/drawing/2014/main" id="{F4E1775E-89CF-943A-9CDA-597023CE8F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E9C5D8-2060-0E24-EC81-3C64B264C76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7876731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B700E-1F64-71E3-B8E2-5003EE14F2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92E4C6-4425-4600-DADA-0FAA915F0C36}"/>
              </a:ext>
            </a:extLst>
          </p:cNvPr>
          <p:cNvSpPr>
            <a:spLocks noGrp="1"/>
          </p:cNvSpPr>
          <p:nvPr>
            <p:ph type="dt" sz="half" idx="10"/>
          </p:nvPr>
        </p:nvSpPr>
        <p:spPr/>
        <p:txBody>
          <a:bodyPr/>
          <a:lstStyle/>
          <a:p>
            <a:fld id="{FB68157D-198D-4A55-A6AF-F9A96DD09084}" type="datetime1">
              <a:rPr lang="en-US" smtClean="0"/>
              <a:t>1/10/2023</a:t>
            </a:fld>
            <a:endParaRPr lang="en-US"/>
          </a:p>
        </p:txBody>
      </p:sp>
      <p:sp>
        <p:nvSpPr>
          <p:cNvPr id="4" name="Footer Placeholder 3">
            <a:extLst>
              <a:ext uri="{FF2B5EF4-FFF2-40B4-BE49-F238E27FC236}">
                <a16:creationId xmlns:a16="http://schemas.microsoft.com/office/drawing/2014/main" id="{19525CC1-1CF0-5FE6-B23F-FC06408151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A12A78-3142-4A2A-6A14-2861FE0556F0}"/>
              </a:ext>
            </a:extLst>
          </p:cNvPr>
          <p:cNvSpPr>
            <a:spLocks noGrp="1"/>
          </p:cNvSpPr>
          <p:nvPr>
            <p:ph type="sldNum" sz="quarter" idx="12"/>
          </p:nvPr>
        </p:nvSpPr>
        <p:spPr>
          <a:xfrm>
            <a:off x="113787" y="6361105"/>
            <a:ext cx="495813"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16693935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8CDC6-AE80-3C7C-7A54-83C4F8A35515}"/>
              </a:ext>
            </a:extLst>
          </p:cNvPr>
          <p:cNvSpPr>
            <a:spLocks noGrp="1"/>
          </p:cNvSpPr>
          <p:nvPr>
            <p:ph type="dt" sz="half" idx="10"/>
          </p:nvPr>
        </p:nvSpPr>
        <p:spPr/>
        <p:txBody>
          <a:bodyPr/>
          <a:lstStyle/>
          <a:p>
            <a:fld id="{2F1FA7D0-D9E5-4981-8E91-F86A007EC8E4}" type="datetime1">
              <a:rPr lang="en-US" smtClean="0"/>
              <a:t>1/10/2023</a:t>
            </a:fld>
            <a:endParaRPr lang="en-US"/>
          </a:p>
        </p:txBody>
      </p:sp>
      <p:sp>
        <p:nvSpPr>
          <p:cNvPr id="3" name="Footer Placeholder 2">
            <a:extLst>
              <a:ext uri="{FF2B5EF4-FFF2-40B4-BE49-F238E27FC236}">
                <a16:creationId xmlns:a16="http://schemas.microsoft.com/office/drawing/2014/main" id="{E3C87A10-784A-0882-62A6-ACF915286A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95B3EFA-8AAD-4032-2084-C183504C0548}"/>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6208652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06DDE-4887-BBF0-A054-1795A60261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AA9F60-2E86-61FF-D6C4-8EEFEF4FBB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7C98BF-6198-66C9-1808-3E0DE1D9B5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A3C433-2EF0-6879-AA30-D7F23FA1DE7E}"/>
              </a:ext>
            </a:extLst>
          </p:cNvPr>
          <p:cNvSpPr>
            <a:spLocks noGrp="1"/>
          </p:cNvSpPr>
          <p:nvPr>
            <p:ph type="dt" sz="half" idx="10"/>
          </p:nvPr>
        </p:nvSpPr>
        <p:spPr/>
        <p:txBody>
          <a:bodyPr/>
          <a:lstStyle/>
          <a:p>
            <a:fld id="{9A855C73-8B4C-45CE-9F74-EC399096C6A5}" type="datetime1">
              <a:rPr lang="en-US" smtClean="0"/>
              <a:t>1/10/2023</a:t>
            </a:fld>
            <a:endParaRPr lang="en-US"/>
          </a:p>
        </p:txBody>
      </p:sp>
      <p:sp>
        <p:nvSpPr>
          <p:cNvPr id="6" name="Footer Placeholder 5">
            <a:extLst>
              <a:ext uri="{FF2B5EF4-FFF2-40B4-BE49-F238E27FC236}">
                <a16:creationId xmlns:a16="http://schemas.microsoft.com/office/drawing/2014/main" id="{E5DB4456-36C8-9DCF-5C14-8BA06584B5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CFA8EE-1367-107D-033E-8A0158C5E42D}"/>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6781006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698BA-7366-CA58-0AE4-D2030C175D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964958-D645-44EB-2EDC-93CCA39A19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2D1894-31E7-5B16-FAA4-8794FE1039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CEEAB6-A5F9-0B9E-BFB9-37D999F612AF}"/>
              </a:ext>
            </a:extLst>
          </p:cNvPr>
          <p:cNvSpPr>
            <a:spLocks noGrp="1"/>
          </p:cNvSpPr>
          <p:nvPr>
            <p:ph type="dt" sz="half" idx="10"/>
          </p:nvPr>
        </p:nvSpPr>
        <p:spPr/>
        <p:txBody>
          <a:bodyPr/>
          <a:lstStyle/>
          <a:p>
            <a:fld id="{58469AC3-3FEF-4BD8-8E00-675B95488D0A}" type="datetime1">
              <a:rPr lang="en-US" smtClean="0"/>
              <a:t>1/10/2023</a:t>
            </a:fld>
            <a:endParaRPr lang="en-US"/>
          </a:p>
        </p:txBody>
      </p:sp>
      <p:sp>
        <p:nvSpPr>
          <p:cNvPr id="6" name="Footer Placeholder 5">
            <a:extLst>
              <a:ext uri="{FF2B5EF4-FFF2-40B4-BE49-F238E27FC236}">
                <a16:creationId xmlns:a16="http://schemas.microsoft.com/office/drawing/2014/main" id="{07F57A55-6F18-17DA-8716-BC16F3F9CC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847226-21F6-2D27-6044-9FC188E6705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6043908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426E2-26EB-63EF-501D-68A4434E77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C8B2B9-8CC9-2B50-B062-946D7E785A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42974C-952F-86C3-A75E-105A3A2EFC9B}"/>
              </a:ext>
            </a:extLst>
          </p:cNvPr>
          <p:cNvSpPr>
            <a:spLocks noGrp="1"/>
          </p:cNvSpPr>
          <p:nvPr>
            <p:ph type="dt" sz="half" idx="10"/>
          </p:nvPr>
        </p:nvSpPr>
        <p:spPr/>
        <p:txBody>
          <a:bodyPr/>
          <a:lstStyle/>
          <a:p>
            <a:fld id="{4712B63B-3CDB-4958-B2A2-640C52D819C0}" type="datetime1">
              <a:rPr lang="en-US" smtClean="0"/>
              <a:t>1/10/2023</a:t>
            </a:fld>
            <a:endParaRPr lang="en-US"/>
          </a:p>
        </p:txBody>
      </p:sp>
      <p:sp>
        <p:nvSpPr>
          <p:cNvPr id="5" name="Footer Placeholder 4">
            <a:extLst>
              <a:ext uri="{FF2B5EF4-FFF2-40B4-BE49-F238E27FC236}">
                <a16:creationId xmlns:a16="http://schemas.microsoft.com/office/drawing/2014/main" id="{787495DF-D0C7-812E-EDA8-AEA85D8757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4DC9A3-8AF0-8B35-01FB-6FDA728B4F0C}"/>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8059484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59C450-90ED-272A-E463-AAA21A2E5F6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5DA328-475F-1FE7-6643-FADC6BE1FD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E27D1A-7BFF-DDEC-3AEE-1846C4553D33}"/>
              </a:ext>
            </a:extLst>
          </p:cNvPr>
          <p:cNvSpPr>
            <a:spLocks noGrp="1"/>
          </p:cNvSpPr>
          <p:nvPr>
            <p:ph type="dt" sz="half" idx="10"/>
          </p:nvPr>
        </p:nvSpPr>
        <p:spPr/>
        <p:txBody>
          <a:bodyPr/>
          <a:lstStyle/>
          <a:p>
            <a:fld id="{5397D481-5643-4F4C-B901-C5733B76A666}" type="datetime1">
              <a:rPr lang="en-US" smtClean="0"/>
              <a:t>1/10/2023</a:t>
            </a:fld>
            <a:endParaRPr lang="en-US"/>
          </a:p>
        </p:txBody>
      </p:sp>
      <p:sp>
        <p:nvSpPr>
          <p:cNvPr id="5" name="Footer Placeholder 4">
            <a:extLst>
              <a:ext uri="{FF2B5EF4-FFF2-40B4-BE49-F238E27FC236}">
                <a16:creationId xmlns:a16="http://schemas.microsoft.com/office/drawing/2014/main" id="{AC9493FD-135D-1E5D-ED17-848900B651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E65E1-7A80-1403-F41E-7FDEAAED11C4}"/>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8331094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DF1DB1-AAB5-C0D6-F8F5-5C3D1F05C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E64012-DD5E-82B0-E0A6-F22247B5BC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1C52C1-D777-85DB-34DD-7DB776F29A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D46D66-831C-4C42-918D-32B4B0271D98}" type="datetime1">
              <a:rPr lang="en-US" smtClean="0"/>
              <a:t>1/10/2023</a:t>
            </a:fld>
            <a:endParaRPr lang="en-US"/>
          </a:p>
        </p:txBody>
      </p:sp>
      <p:sp>
        <p:nvSpPr>
          <p:cNvPr id="5" name="Footer Placeholder 4">
            <a:extLst>
              <a:ext uri="{FF2B5EF4-FFF2-40B4-BE49-F238E27FC236}">
                <a16:creationId xmlns:a16="http://schemas.microsoft.com/office/drawing/2014/main" id="{D2BBF4A8-E610-C555-2196-67DC47368D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E477A19-A289-6A34-54CB-69755ED143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6086AB-602C-49A8-AF1B-7C398AACFC06}" type="slidenum">
              <a:rPr lang="en-US" smtClean="0"/>
              <a:t>‹#›</a:t>
            </a:fld>
            <a:endParaRPr lang="en-US"/>
          </a:p>
        </p:txBody>
      </p:sp>
    </p:spTree>
    <p:extLst>
      <p:ext uri="{BB962C8B-B14F-4D97-AF65-F5344CB8AC3E}">
        <p14:creationId xmlns:p14="http://schemas.microsoft.com/office/powerpoint/2010/main" val="265064379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Layout" Target="../slideLayouts/slideLayout6.xml"/><Relationship Id="rId5" Type="http://schemas.openxmlformats.org/officeDocument/2006/relationships/image" Target="../media/image15.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7E240B-5C00-D259-7CC9-8482319B9C8B}"/>
              </a:ext>
            </a:extLst>
          </p:cNvPr>
          <p:cNvSpPr txBox="1"/>
          <p:nvPr/>
        </p:nvSpPr>
        <p:spPr>
          <a:xfrm>
            <a:off x="1017646" y="2105561"/>
            <a:ext cx="10289512" cy="1323439"/>
          </a:xfrm>
          <a:prstGeom prst="rect">
            <a:avLst/>
          </a:prstGeom>
          <a:noFill/>
          <a:effectLst/>
        </p:spPr>
        <p:txBody>
          <a:bodyPr wrap="square" rtlCol="0">
            <a:spAutoFit/>
          </a:bodyPr>
          <a:lstStyle/>
          <a:p>
            <a:pPr algn="ctr"/>
            <a:r>
              <a:rPr lang="en-US" sz="8000" b="1" dirty="0">
                <a:solidFill>
                  <a:srgbClr val="00B050"/>
                </a:solidFill>
                <a:latin typeface="Bodoni MT Condensed" panose="02070606080606020203" pitchFamily="18" charset="0"/>
              </a:rPr>
              <a:t>Sales Journal</a:t>
            </a:r>
            <a:endParaRPr lang="en-US" sz="8000" dirty="0">
              <a:solidFill>
                <a:srgbClr val="00B050"/>
              </a:solidFill>
              <a:latin typeface="Bodoni MT Condensed" panose="02070606080606020203" pitchFamily="18" charset="0"/>
            </a:endParaRPr>
          </a:p>
        </p:txBody>
      </p:sp>
      <p:sp>
        <p:nvSpPr>
          <p:cNvPr id="8" name="Text Box 6">
            <a:extLst>
              <a:ext uri="{FF2B5EF4-FFF2-40B4-BE49-F238E27FC236}">
                <a16:creationId xmlns:a16="http://schemas.microsoft.com/office/drawing/2014/main" id="{F98AB504-F121-820A-CAC3-1E72B851128C}"/>
              </a:ext>
            </a:extLst>
          </p:cNvPr>
          <p:cNvSpPr txBox="1"/>
          <p:nvPr/>
        </p:nvSpPr>
        <p:spPr>
          <a:xfrm>
            <a:off x="0" y="5769429"/>
            <a:ext cx="12191999" cy="1088572"/>
          </a:xfrm>
          <a:prstGeom prst="rect">
            <a:avLst/>
          </a:prstGeom>
          <a:solidFill>
            <a:srgbClr val="00863D"/>
          </a:solid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spcBef>
                <a:spcPts val="0"/>
              </a:spcBef>
            </a:pPr>
            <a:endParaRPr lang="en-PH" sz="1200" dirty="0">
              <a:solidFill>
                <a:schemeClr val="bg1"/>
              </a:solidFill>
              <a:ea typeface="Open Sans" panose="020B0606030504020204" pitchFamily="34" charset="0"/>
              <a:cs typeface="Times New Roman" panose="02020603050405020304" pitchFamily="18" charset="0"/>
            </a:endParaRPr>
          </a:p>
          <a:p>
            <a:pPr marL="0" marR="0" algn="ctr">
              <a:spcBef>
                <a:spcPts val="0"/>
              </a:spcBef>
            </a:pPr>
            <a:r>
              <a:rPr lang="en-PH" sz="1200" dirty="0">
                <a:solidFill>
                  <a:schemeClr val="bg1"/>
                </a:solidFill>
                <a:ea typeface="Open Sans" panose="020B0606030504020204" pitchFamily="34" charset="0"/>
                <a:cs typeface="Times New Roman" panose="02020603050405020304" pitchFamily="18" charset="0"/>
              </a:rPr>
              <a:t>Sales Journal is where delivery receipts and invoice are recorded. </a:t>
            </a:r>
            <a:endParaRPr lang="en-US" sz="1200" dirty="0">
              <a:solidFill>
                <a:srgbClr val="007434"/>
              </a:solidFill>
              <a:effectLst/>
              <a:ea typeface="Open Sans" panose="020B0606030504020204" pitchFamily="34"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45145014-B86B-6A1C-5969-A700B4D9206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42043779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0A70B808-C9F0-4085-B2F8-441EF9DA29DD}"/>
              </a:ext>
            </a:extLst>
          </p:cNvPr>
          <p:cNvGrpSpPr/>
          <p:nvPr/>
        </p:nvGrpSpPr>
        <p:grpSpPr>
          <a:xfrm>
            <a:off x="5410426" y="2253623"/>
            <a:ext cx="5984240" cy="2459990"/>
            <a:chOff x="3103880" y="2199005"/>
            <a:chExt cx="5984240" cy="2459990"/>
          </a:xfrm>
        </p:grpSpPr>
        <p:pic>
          <p:nvPicPr>
            <p:cNvPr id="14" name="Picture 13">
              <a:extLst>
                <a:ext uri="{FF2B5EF4-FFF2-40B4-BE49-F238E27FC236}">
                  <a16:creationId xmlns:a16="http://schemas.microsoft.com/office/drawing/2014/main" id="{5160D2EF-F3D2-4CD5-ADB0-4143BE9A34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3880" y="2199005"/>
              <a:ext cx="5984240" cy="2459990"/>
            </a:xfrm>
            <a:prstGeom prst="rect">
              <a:avLst/>
            </a:prstGeom>
          </p:spPr>
        </p:pic>
        <p:sp>
          <p:nvSpPr>
            <p:cNvPr id="15" name="Rectangle 14">
              <a:extLst>
                <a:ext uri="{FF2B5EF4-FFF2-40B4-BE49-F238E27FC236}">
                  <a16:creationId xmlns:a16="http://schemas.microsoft.com/office/drawing/2014/main" id="{778B14E7-C1F5-442C-A967-52DB16DC084B}"/>
                </a:ext>
              </a:extLst>
            </p:cNvPr>
            <p:cNvSpPr/>
            <p:nvPr/>
          </p:nvSpPr>
          <p:spPr>
            <a:xfrm>
              <a:off x="3170555" y="4159885"/>
              <a:ext cx="990600" cy="1714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sp>
          <p:nvSpPr>
            <p:cNvPr id="16" name="Rectangle 15">
              <a:extLst>
                <a:ext uri="{FF2B5EF4-FFF2-40B4-BE49-F238E27FC236}">
                  <a16:creationId xmlns:a16="http://schemas.microsoft.com/office/drawing/2014/main" id="{EB1DBC42-5BBB-4F25-A691-07995D6E2C57}"/>
                </a:ext>
              </a:extLst>
            </p:cNvPr>
            <p:cNvSpPr/>
            <p:nvPr/>
          </p:nvSpPr>
          <p:spPr>
            <a:xfrm>
              <a:off x="4374515" y="3157855"/>
              <a:ext cx="4551045" cy="122301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17" name="Straight Arrow Connector 16">
              <a:extLst>
                <a:ext uri="{FF2B5EF4-FFF2-40B4-BE49-F238E27FC236}">
                  <a16:creationId xmlns:a16="http://schemas.microsoft.com/office/drawing/2014/main" id="{CEEAD15A-CA61-46D0-9E6C-01913BFF1DD2}"/>
                </a:ext>
              </a:extLst>
            </p:cNvPr>
            <p:cNvCxnSpPr/>
            <p:nvPr/>
          </p:nvCxnSpPr>
          <p:spPr>
            <a:xfrm>
              <a:off x="4184015" y="4246880"/>
              <a:ext cx="257175" cy="190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21" name="Text Box 6">
            <a:extLst>
              <a:ext uri="{FF2B5EF4-FFF2-40B4-BE49-F238E27FC236}">
                <a16:creationId xmlns:a16="http://schemas.microsoft.com/office/drawing/2014/main" id="{54861942-378E-F979-6642-00E02D67C1A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2375033"/>
            <a:ext cx="3887062" cy="338554"/>
          </a:xfrm>
          <a:prstGeom prst="rect">
            <a:avLst/>
          </a:prstGeom>
          <a:solidFill>
            <a:srgbClr val="00B050"/>
          </a:solidFill>
          <a:effectLst/>
        </p:spPr>
        <p:txBody>
          <a:bodyPr wrap="square" rtlCol="0">
            <a:spAutoFit/>
          </a:bodyPr>
          <a:lstStyle/>
          <a:p>
            <a:pPr algn="ctr"/>
            <a:r>
              <a:rPr lang="en-US" sz="1600" dirty="0">
                <a:solidFill>
                  <a:schemeClr val="bg1"/>
                </a:solidFill>
                <a:latin typeface="+mj-lt"/>
              </a:rPr>
              <a:t>Main Window</a:t>
            </a:r>
            <a:endParaRPr lang="en-US" sz="2000" dirty="0">
              <a:solidFill>
                <a:srgbClr val="007434"/>
              </a:solidFill>
              <a:latin typeface="+mj-lt"/>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3"/>
          <a:stretch>
            <a:fillRect/>
          </a:stretch>
        </p:blipFill>
        <p:spPr>
          <a:xfrm>
            <a:off x="10780479" y="6391410"/>
            <a:ext cx="1047454" cy="267619"/>
          </a:xfrm>
          <a:prstGeom prst="rect">
            <a:avLst/>
          </a:prstGeom>
          <a:effectLst/>
        </p:spPr>
      </p:pic>
      <p:sp>
        <p:nvSpPr>
          <p:cNvPr id="20" name="Text Box 15">
            <a:extLst>
              <a:ext uri="{FF2B5EF4-FFF2-40B4-BE49-F238E27FC236}">
                <a16:creationId xmlns:a16="http://schemas.microsoft.com/office/drawing/2014/main" id="{E1DF78E5-41B8-4843-8426-68AD1D115D04}"/>
              </a:ext>
            </a:extLst>
          </p:cNvPr>
          <p:cNvSpPr txBox="1"/>
          <p:nvPr/>
        </p:nvSpPr>
        <p:spPr>
          <a:xfrm>
            <a:off x="832872" y="2847734"/>
            <a:ext cx="3887062" cy="127176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2">
              <a:lnSpc>
                <a:spcPct val="107000"/>
              </a:lnSpc>
              <a:spcBef>
                <a:spcPts val="190"/>
              </a:spcBef>
              <a:spcAft>
                <a:spcPts val="800"/>
              </a:spcAft>
            </a:pPr>
            <a:r>
              <a:rPr lang="en-PH" sz="1400" dirty="0">
                <a:effectLst/>
                <a:latin typeface="Calibri" panose="020F0502020204030204" pitchFamily="34" charset="0"/>
                <a:ea typeface="Calibri" panose="020F0502020204030204" pitchFamily="34" charset="0"/>
                <a:cs typeface="Times New Roman" panose="02020603050405020304" pitchFamily="18" charset="0"/>
              </a:rPr>
              <a:t>When you click the Sales Journal module under Sales, Sales Journal transactions list will display based on filtered date and status in the sales journal main window.</a:t>
            </a: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lvl="2">
              <a:lnSpc>
                <a:spcPct val="107000"/>
              </a:lnSpc>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5" name="TextBox 54">
            <a:extLst>
              <a:ext uri="{FF2B5EF4-FFF2-40B4-BE49-F238E27FC236}">
                <a16:creationId xmlns:a16="http://schemas.microsoft.com/office/drawing/2014/main" id="{438989E4-F23C-F4AC-684B-2BE81114D33A}"/>
              </a:ext>
            </a:extLst>
          </p:cNvPr>
          <p:cNvSpPr txBox="1"/>
          <p:nvPr/>
        </p:nvSpPr>
        <p:spPr>
          <a:xfrm>
            <a:off x="7284343" y="4577453"/>
            <a:ext cx="2552700"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effectLst/>
                <a:latin typeface="Calibri" panose="020F0502020204030204" pitchFamily="34" charset="0"/>
                <a:ea typeface="Calibri" panose="020F0502020204030204" pitchFamily="34" charset="0"/>
                <a:cs typeface="Calibri" panose="020F0502020204030204" pitchFamily="34" charset="0"/>
              </a:rPr>
              <a:t>Sales Journal – Main </a:t>
            </a:r>
            <a:r>
              <a:rPr lang="en-PH" sz="1200" b="1" dirty="0">
                <a:latin typeface="Calibri" panose="020F0502020204030204" pitchFamily="34" charset="0"/>
                <a:ea typeface="Calibri" panose="020F0502020204030204" pitchFamily="34" charset="0"/>
                <a:cs typeface="Calibri" panose="020F0502020204030204" pitchFamily="34" charset="0"/>
              </a:rPr>
              <a:t>Window</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7B3AF19C-814C-4975-A22C-FCF6AC461B65}"/>
              </a:ext>
            </a:extLst>
          </p:cNvPr>
          <p:cNvSpPr txBox="1"/>
          <p:nvPr/>
        </p:nvSpPr>
        <p:spPr>
          <a:xfrm>
            <a:off x="585809" y="123167"/>
            <a:ext cx="482461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dirty="0">
                <a:solidFill>
                  <a:schemeClr val="accent6">
                    <a:lumMod val="20000"/>
                    <a:lumOff val="80000"/>
                  </a:schemeClr>
                </a:solidFill>
                <a:latin typeface="+mj-lt"/>
              </a:rPr>
              <a:t>Sales/ Sales Journal </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sp>
        <p:nvSpPr>
          <p:cNvPr id="3" name="Slide Number Placeholder 2">
            <a:extLst>
              <a:ext uri="{FF2B5EF4-FFF2-40B4-BE49-F238E27FC236}">
                <a16:creationId xmlns:a16="http://schemas.microsoft.com/office/drawing/2014/main" id="{61B4A8FE-7538-12FC-AEB4-F23CE94C488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96868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805110" y="965527"/>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mj-lt"/>
              </a:rPr>
              <a:t>How To Create Sales Journal Transaction?</a:t>
            </a:r>
            <a:endParaRPr lang="en-US" sz="2000" dirty="0">
              <a:solidFill>
                <a:srgbClr val="007434"/>
              </a:solidFill>
              <a:latin typeface="+mj-lt"/>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478583" y="2308704"/>
            <a:ext cx="4179346" cy="301919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r>
              <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 In Sales Journal – Main Window, you will notice a create button in the upper left of the window. Click the create button and you will be redirect in sales journal – main form.</a:t>
            </a:r>
          </a:p>
          <a:p>
            <a:pPr marL="228600" marR="0">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2.  </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After you click the create button a dialog box will pop out with list of pending Sales Order transactions. Search and select a transaction.</a:t>
            </a: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49" name="Picture 48">
            <a:extLst>
              <a:ext uri="{FF2B5EF4-FFF2-40B4-BE49-F238E27FC236}">
                <a16:creationId xmlns:a16="http://schemas.microsoft.com/office/drawing/2014/main" id="{693359DA-0E35-C2AE-7680-F17A03960CEF}"/>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4" name="TextBox 23">
            <a:extLst>
              <a:ext uri="{FF2B5EF4-FFF2-40B4-BE49-F238E27FC236}">
                <a16:creationId xmlns:a16="http://schemas.microsoft.com/office/drawing/2014/main" id="{0FF987DD-A34E-443F-919D-9470B5F631D9}"/>
              </a:ext>
            </a:extLst>
          </p:cNvPr>
          <p:cNvSpPr txBox="1"/>
          <p:nvPr/>
        </p:nvSpPr>
        <p:spPr>
          <a:xfrm>
            <a:off x="585809" y="123167"/>
            <a:ext cx="482461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dirty="0">
                <a:solidFill>
                  <a:schemeClr val="accent6">
                    <a:lumMod val="20000"/>
                    <a:lumOff val="80000"/>
                  </a:schemeClr>
                </a:solidFill>
                <a:latin typeface="+mj-lt"/>
              </a:rPr>
              <a:t>Sales/ Sales Journal </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sp>
        <p:nvSpPr>
          <p:cNvPr id="5" name="Slide Number Placeholder 4">
            <a:extLst>
              <a:ext uri="{FF2B5EF4-FFF2-40B4-BE49-F238E27FC236}">
                <a16:creationId xmlns:a16="http://schemas.microsoft.com/office/drawing/2014/main" id="{4D013AA6-B9D2-C92E-E8DA-D407E9B0E96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grpSp>
        <p:nvGrpSpPr>
          <p:cNvPr id="2" name="Group 1">
            <a:extLst>
              <a:ext uri="{FF2B5EF4-FFF2-40B4-BE49-F238E27FC236}">
                <a16:creationId xmlns:a16="http://schemas.microsoft.com/office/drawing/2014/main" id="{29C908C9-4EA6-5DF4-2FDC-77188C7625E1}"/>
              </a:ext>
            </a:extLst>
          </p:cNvPr>
          <p:cNvGrpSpPr/>
          <p:nvPr/>
        </p:nvGrpSpPr>
        <p:grpSpPr>
          <a:xfrm>
            <a:off x="5046699" y="1567702"/>
            <a:ext cx="6918665" cy="905009"/>
            <a:chOff x="5148121" y="1127100"/>
            <a:chExt cx="6918665" cy="905009"/>
          </a:xfrm>
        </p:grpSpPr>
        <p:pic>
          <p:nvPicPr>
            <p:cNvPr id="6" name="Picture 5">
              <a:extLst>
                <a:ext uri="{FF2B5EF4-FFF2-40B4-BE49-F238E27FC236}">
                  <a16:creationId xmlns:a16="http://schemas.microsoft.com/office/drawing/2014/main" id="{D9B84BE8-2D2C-0EED-3DD0-800CABBAFD2B}"/>
                </a:ext>
              </a:extLst>
            </p:cNvPr>
            <p:cNvPicPr>
              <a:picLocks noChangeAspect="1"/>
            </p:cNvPicPr>
            <p:nvPr/>
          </p:nvPicPr>
          <p:blipFill>
            <a:blip r:embed="rId3"/>
            <a:stretch>
              <a:fillRect/>
            </a:stretch>
          </p:blipFill>
          <p:spPr>
            <a:xfrm>
              <a:off x="5148121" y="1127100"/>
              <a:ext cx="6918665" cy="905009"/>
            </a:xfrm>
            <a:prstGeom prst="rect">
              <a:avLst/>
            </a:prstGeom>
          </p:spPr>
        </p:pic>
        <p:grpSp>
          <p:nvGrpSpPr>
            <p:cNvPr id="7" name="Group 6">
              <a:extLst>
                <a:ext uri="{FF2B5EF4-FFF2-40B4-BE49-F238E27FC236}">
                  <a16:creationId xmlns:a16="http://schemas.microsoft.com/office/drawing/2014/main" id="{3FFE371C-7A7E-07FE-D545-D20A26C146F8}"/>
                </a:ext>
              </a:extLst>
            </p:cNvPr>
            <p:cNvGrpSpPr/>
            <p:nvPr/>
          </p:nvGrpSpPr>
          <p:grpSpPr>
            <a:xfrm>
              <a:off x="5160852" y="1138184"/>
              <a:ext cx="1209675" cy="280959"/>
              <a:chOff x="0" y="-1055020"/>
              <a:chExt cx="1209675" cy="333375"/>
            </a:xfrm>
          </p:grpSpPr>
          <p:sp>
            <p:nvSpPr>
              <p:cNvPr id="8" name="Rectangle 7">
                <a:extLst>
                  <a:ext uri="{FF2B5EF4-FFF2-40B4-BE49-F238E27FC236}">
                    <a16:creationId xmlns:a16="http://schemas.microsoft.com/office/drawing/2014/main" id="{F073283A-7543-8E79-6720-32AE3233CE31}"/>
                  </a:ext>
                </a:extLst>
              </p:cNvPr>
              <p:cNvSpPr/>
              <p:nvPr/>
            </p:nvSpPr>
            <p:spPr>
              <a:xfrm>
                <a:off x="0" y="-105502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9" name="Straight Arrow Connector 8">
                <a:extLst>
                  <a:ext uri="{FF2B5EF4-FFF2-40B4-BE49-F238E27FC236}">
                    <a16:creationId xmlns:a16="http://schemas.microsoft.com/office/drawing/2014/main" id="{FD470058-AC0B-7F96-2B49-4BF598018B5A}"/>
                  </a:ext>
                </a:extLst>
              </p:cNvPr>
              <p:cNvCxnSpPr/>
              <p:nvPr/>
            </p:nvCxnSpPr>
            <p:spPr>
              <a:xfrm>
                <a:off x="800100" y="-92167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Text Box 355">
                <a:extLst>
                  <a:ext uri="{FF2B5EF4-FFF2-40B4-BE49-F238E27FC236}">
                    <a16:creationId xmlns:a16="http://schemas.microsoft.com/office/drawing/2014/main" id="{4896573C-AA68-E496-DFED-AD4F51C5464A}"/>
                  </a:ext>
                </a:extLst>
              </p:cNvPr>
              <p:cNvSpPr txBox="1"/>
              <p:nvPr/>
            </p:nvSpPr>
            <p:spPr>
              <a:xfrm>
                <a:off x="1009650" y="-1026445"/>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1</a:t>
                </a:r>
              </a:p>
            </p:txBody>
          </p:sp>
        </p:grpSp>
      </p:grpSp>
      <p:pic>
        <p:nvPicPr>
          <p:cNvPr id="4" name="Picture 3">
            <a:extLst>
              <a:ext uri="{FF2B5EF4-FFF2-40B4-BE49-F238E27FC236}">
                <a16:creationId xmlns:a16="http://schemas.microsoft.com/office/drawing/2014/main" id="{4F599811-F18E-8873-615D-E70208BB1DB4}"/>
              </a:ext>
            </a:extLst>
          </p:cNvPr>
          <p:cNvPicPr>
            <a:picLocks noChangeAspect="1"/>
          </p:cNvPicPr>
          <p:nvPr/>
        </p:nvPicPr>
        <p:blipFill>
          <a:blip r:embed="rId4"/>
          <a:stretch>
            <a:fillRect/>
          </a:stretch>
        </p:blipFill>
        <p:spPr bwMode="auto">
          <a:xfrm>
            <a:off x="5560902" y="2992250"/>
            <a:ext cx="5890260" cy="2709545"/>
          </a:xfrm>
          <a:prstGeom prst="rect">
            <a:avLst/>
          </a:prstGeom>
          <a:noFill/>
          <a:ln w="9525">
            <a:noFill/>
            <a:miter lim="800000"/>
            <a:headEnd/>
            <a:tailEnd/>
          </a:ln>
        </p:spPr>
      </p:pic>
      <p:pic>
        <p:nvPicPr>
          <p:cNvPr id="15" name="Picture 14">
            <a:extLst>
              <a:ext uri="{FF2B5EF4-FFF2-40B4-BE49-F238E27FC236}">
                <a16:creationId xmlns:a16="http://schemas.microsoft.com/office/drawing/2014/main" id="{8817A8E2-9070-DBED-5E55-0F65B9573DA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83643" y="4291655"/>
            <a:ext cx="4047619" cy="1000000"/>
          </a:xfrm>
          <a:prstGeom prst="rect">
            <a:avLst/>
          </a:prstGeom>
        </p:spPr>
      </p:pic>
    </p:spTree>
    <p:extLst>
      <p:ext uri="{BB962C8B-B14F-4D97-AF65-F5344CB8AC3E}">
        <p14:creationId xmlns:p14="http://schemas.microsoft.com/office/powerpoint/2010/main" val="8563159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46617"/>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mj-lt"/>
              </a:rPr>
              <a:t>How To Create Sales Journal Transaction?</a:t>
            </a:r>
            <a:endParaRPr lang="en-US" sz="2000" dirty="0">
              <a:solidFill>
                <a:srgbClr val="007434"/>
              </a:solidFill>
              <a:latin typeface="+mj-lt"/>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49" name="Picture 48">
            <a:extLst>
              <a:ext uri="{FF2B5EF4-FFF2-40B4-BE49-F238E27FC236}">
                <a16:creationId xmlns:a16="http://schemas.microsoft.com/office/drawing/2014/main" id="{693359DA-0E35-C2AE-7680-F17A03960CEF}"/>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4" name="TextBox 23">
            <a:extLst>
              <a:ext uri="{FF2B5EF4-FFF2-40B4-BE49-F238E27FC236}">
                <a16:creationId xmlns:a16="http://schemas.microsoft.com/office/drawing/2014/main" id="{0FF987DD-A34E-443F-919D-9470B5F631D9}"/>
              </a:ext>
            </a:extLst>
          </p:cNvPr>
          <p:cNvSpPr txBox="1"/>
          <p:nvPr/>
        </p:nvSpPr>
        <p:spPr>
          <a:xfrm>
            <a:off x="585809" y="123167"/>
            <a:ext cx="482461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dirty="0">
                <a:solidFill>
                  <a:schemeClr val="accent6">
                    <a:lumMod val="20000"/>
                    <a:lumOff val="80000"/>
                  </a:schemeClr>
                </a:solidFill>
                <a:latin typeface="+mj-lt"/>
              </a:rPr>
              <a:t>Sales/ Sales Journal </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sp>
        <p:nvSpPr>
          <p:cNvPr id="4" name="Slide Number Placeholder 3">
            <a:extLst>
              <a:ext uri="{FF2B5EF4-FFF2-40B4-BE49-F238E27FC236}">
                <a16:creationId xmlns:a16="http://schemas.microsoft.com/office/drawing/2014/main" id="{57127A70-78E7-AF49-DFA5-FFA6BFCC3F5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sp>
        <p:nvSpPr>
          <p:cNvPr id="2" name="Text Box 27">
            <a:extLst>
              <a:ext uri="{FF2B5EF4-FFF2-40B4-BE49-F238E27FC236}">
                <a16:creationId xmlns:a16="http://schemas.microsoft.com/office/drawing/2014/main" id="{30AA64BB-4CD1-E7FA-2794-29D21C218CBC}"/>
              </a:ext>
            </a:extLst>
          </p:cNvPr>
          <p:cNvSpPr txBox="1"/>
          <p:nvPr/>
        </p:nvSpPr>
        <p:spPr>
          <a:xfrm>
            <a:off x="925254" y="2475468"/>
            <a:ext cx="3902776" cy="145322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114300" marR="0" algn="just">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3.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After you select the SO transaction, you may now click Save and the details of the SO will be copied on Sales Journal.</a:t>
            </a:r>
          </a:p>
          <a:p>
            <a:pPr marL="114300" marR="0" algn="just">
              <a:lnSpc>
                <a:spcPct val="115000"/>
              </a:lnSpc>
              <a:spcBef>
                <a:spcPts val="0"/>
              </a:spcBef>
              <a:spcAft>
                <a:spcPts val="0"/>
              </a:spcAft>
            </a:pPr>
            <a:endParaRPr lang="en-US" sz="1200" dirty="0">
              <a:latin typeface="Chivo Light" panose="020B0303030202020804" pitchFamily="34" charset="0"/>
              <a:ea typeface="Calibri" panose="020F0502020204030204" pitchFamily="34" charset="0"/>
              <a:cs typeface="Times New Roman" panose="02020603050405020304" pitchFamily="18" charset="0"/>
            </a:endParaRPr>
          </a:p>
          <a:p>
            <a:pPr marL="114300" marR="0" algn="just">
              <a:lnSpc>
                <a:spcPct val="115000"/>
              </a:lnSpc>
              <a:spcBef>
                <a:spcPts val="0"/>
              </a:spcBef>
              <a:spcAft>
                <a:spcPts val="0"/>
              </a:spcAft>
            </a:pPr>
            <a:r>
              <a:rPr lang="en-US" sz="11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4</a:t>
            </a:r>
            <a:r>
              <a:rPr lang="en-US" sz="11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 </a:t>
            </a:r>
            <a:r>
              <a:rPr lang="en-US" sz="1100" dirty="0">
                <a:effectLst/>
                <a:latin typeface="Chivo Light" panose="020B0303030202020804" pitchFamily="34" charset="0"/>
                <a:ea typeface="Times New Roman" panose="02020603050405020304" pitchFamily="18" charset="0"/>
                <a:cs typeface="Times New Roman" panose="02020603050405020304" pitchFamily="18" charset="0"/>
              </a:rPr>
              <a:t>Once saved, check the details in main form. </a:t>
            </a: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7050C20-AA3A-AA40-9A0F-BA4027A8B899}"/>
              </a:ext>
            </a:extLst>
          </p:cNvPr>
          <p:cNvPicPr>
            <a:picLocks noChangeAspect="1"/>
          </p:cNvPicPr>
          <p:nvPr/>
        </p:nvPicPr>
        <p:blipFill>
          <a:blip r:embed="rId3"/>
          <a:stretch>
            <a:fillRect/>
          </a:stretch>
        </p:blipFill>
        <p:spPr>
          <a:xfrm>
            <a:off x="6096000" y="1480472"/>
            <a:ext cx="5027321" cy="3443220"/>
          </a:xfrm>
          <a:prstGeom prst="rect">
            <a:avLst/>
          </a:prstGeom>
        </p:spPr>
      </p:pic>
      <p:sp>
        <p:nvSpPr>
          <p:cNvPr id="6" name="Rectangle 405">
            <a:extLst>
              <a:ext uri="{FF2B5EF4-FFF2-40B4-BE49-F238E27FC236}">
                <a16:creationId xmlns:a16="http://schemas.microsoft.com/office/drawing/2014/main" id="{809B0452-2988-F11B-C66D-A5B934ABCC78}"/>
              </a:ext>
            </a:extLst>
          </p:cNvPr>
          <p:cNvSpPr>
            <a:spLocks noChangeArrowheads="1"/>
          </p:cNvSpPr>
          <p:nvPr/>
        </p:nvSpPr>
        <p:spPr bwMode="auto">
          <a:xfrm>
            <a:off x="9868022" y="1805646"/>
            <a:ext cx="482600" cy="217488"/>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PH"/>
          </a:p>
        </p:txBody>
      </p:sp>
      <p:cxnSp>
        <p:nvCxnSpPr>
          <p:cNvPr id="3075" name="Straight Arrow Connector 389">
            <a:extLst>
              <a:ext uri="{FF2B5EF4-FFF2-40B4-BE49-F238E27FC236}">
                <a16:creationId xmlns:a16="http://schemas.microsoft.com/office/drawing/2014/main" id="{AEF4EC0C-9966-A15D-8DFB-8B1308306157}"/>
              </a:ext>
            </a:extLst>
          </p:cNvPr>
          <p:cNvCxnSpPr>
            <a:cxnSpLocks noChangeShapeType="1"/>
          </p:cNvCxnSpPr>
          <p:nvPr/>
        </p:nvCxnSpPr>
        <p:spPr bwMode="auto">
          <a:xfrm>
            <a:off x="10351867" y="1845111"/>
            <a:ext cx="192088" cy="7938"/>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cxnSp>
      <p:sp>
        <p:nvSpPr>
          <p:cNvPr id="8" name="Text Box 388">
            <a:extLst>
              <a:ext uri="{FF2B5EF4-FFF2-40B4-BE49-F238E27FC236}">
                <a16:creationId xmlns:a16="http://schemas.microsoft.com/office/drawing/2014/main" id="{0AD5CA84-3DCD-AE32-EAAA-1E07DF7B260B}"/>
              </a:ext>
            </a:extLst>
          </p:cNvPr>
          <p:cNvSpPr txBox="1">
            <a:spLocks noChangeArrowheads="1"/>
          </p:cNvSpPr>
          <p:nvPr/>
        </p:nvSpPr>
        <p:spPr bwMode="auto">
          <a:xfrm>
            <a:off x="10596306" y="1737384"/>
            <a:ext cx="474663"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rPr>
              <a:t>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888446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744625A-99D1-0C9C-C2C7-31AAF90388E1}"/>
              </a:ext>
            </a:extLst>
          </p:cNvPr>
          <p:cNvPicPr>
            <a:picLocks noChangeAspect="1"/>
          </p:cNvPicPr>
          <p:nvPr/>
        </p:nvPicPr>
        <p:blipFill>
          <a:blip r:embed="rId2"/>
          <a:stretch>
            <a:fillRect/>
          </a:stretch>
        </p:blipFill>
        <p:spPr bwMode="auto">
          <a:xfrm>
            <a:off x="5819775" y="1321242"/>
            <a:ext cx="4743450" cy="1446530"/>
          </a:xfrm>
          <a:prstGeom prst="rect">
            <a:avLst/>
          </a:prstGeom>
          <a:noFill/>
          <a:ln w="9525">
            <a:noFill/>
            <a:miter lim="800000"/>
            <a:headEnd/>
            <a:tailEnd/>
          </a:ln>
        </p:spPr>
      </p:pic>
      <p:sp>
        <p:nvSpPr>
          <p:cNvPr id="23" name="TextBox 22">
            <a:extLst>
              <a:ext uri="{FF2B5EF4-FFF2-40B4-BE49-F238E27FC236}">
                <a16:creationId xmlns:a16="http://schemas.microsoft.com/office/drawing/2014/main" id="{2384804B-EE2E-A346-8D83-E2034F24A0DC}"/>
              </a:ext>
            </a:extLst>
          </p:cNvPr>
          <p:cNvSpPr txBox="1"/>
          <p:nvPr/>
        </p:nvSpPr>
        <p:spPr>
          <a:xfrm>
            <a:off x="1522069" y="640267"/>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mj-lt"/>
              </a:rPr>
              <a:t>How To Create Sales Journal Transaction?</a:t>
            </a:r>
            <a:endParaRPr lang="en-US" sz="2000" dirty="0">
              <a:solidFill>
                <a:srgbClr val="007434"/>
              </a:solidFill>
              <a:latin typeface="+mj-lt"/>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24" name="TextBox 23">
            <a:extLst>
              <a:ext uri="{FF2B5EF4-FFF2-40B4-BE49-F238E27FC236}">
                <a16:creationId xmlns:a16="http://schemas.microsoft.com/office/drawing/2014/main" id="{0FF987DD-A34E-443F-919D-9470B5F631D9}"/>
              </a:ext>
            </a:extLst>
          </p:cNvPr>
          <p:cNvSpPr txBox="1"/>
          <p:nvPr/>
        </p:nvSpPr>
        <p:spPr>
          <a:xfrm>
            <a:off x="585809" y="123167"/>
            <a:ext cx="482461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dirty="0">
                <a:solidFill>
                  <a:schemeClr val="accent6">
                    <a:lumMod val="20000"/>
                    <a:lumOff val="80000"/>
                  </a:schemeClr>
                </a:solidFill>
                <a:latin typeface="+mj-lt"/>
              </a:rPr>
              <a:t>Sales/ Sales Journal </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sp>
        <p:nvSpPr>
          <p:cNvPr id="30" name="Text Box 18">
            <a:extLst>
              <a:ext uri="{FF2B5EF4-FFF2-40B4-BE49-F238E27FC236}">
                <a16:creationId xmlns:a16="http://schemas.microsoft.com/office/drawing/2014/main" id="{DBC87BFE-68B7-4202-A3FC-88241AD6F3F9}"/>
              </a:ext>
            </a:extLst>
          </p:cNvPr>
          <p:cNvSpPr txBox="1"/>
          <p:nvPr/>
        </p:nvSpPr>
        <p:spPr>
          <a:xfrm>
            <a:off x="420618" y="2409632"/>
            <a:ext cx="4179346" cy="1782982"/>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114300" marR="0" algn="just">
              <a:lnSpc>
                <a:spcPct val="115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5</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For items with serial/s, there are two ways to enter the serial.</a:t>
            </a:r>
          </a:p>
          <a:p>
            <a:pPr marL="114300" marR="0" algn="just" defTabSz="533400">
              <a:lnSpc>
                <a:spcPct val="115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	</a:t>
            </a:r>
            <a:r>
              <a:rPr lang="en-US" sz="1200" b="1" dirty="0">
                <a:solidFill>
                  <a:srgbClr val="00863D"/>
                </a:solidFill>
                <a:latin typeface="Chivo Light" pitchFamily="2" charset="0"/>
                <a:ea typeface="Times New Roman" panose="02020603050405020304" pitchFamily="18" charset="0"/>
                <a:cs typeface="Chivo Light" pitchFamily="2" charset="0"/>
              </a:rPr>
              <a:t>5</a:t>
            </a:r>
            <a:r>
              <a:rPr lang="en-US" sz="1200" b="1" dirty="0">
                <a:solidFill>
                  <a:srgbClr val="00863D"/>
                </a:solidFill>
                <a:effectLst/>
                <a:latin typeface="Chivo Light" pitchFamily="2" charset="0"/>
                <a:ea typeface="Times New Roman" panose="02020603050405020304" pitchFamily="18" charset="0"/>
                <a:cs typeface="Chivo Light" pitchFamily="2" charset="0"/>
              </a:rPr>
              <a:t>.1 </a:t>
            </a:r>
            <a:r>
              <a:rPr lang="en-US" sz="1200" dirty="0">
                <a:effectLst/>
                <a:latin typeface="Chivo Light" pitchFamily="2" charset="0"/>
                <a:ea typeface="Calibri" panose="020F0502020204030204" pitchFamily="34" charset="0"/>
                <a:cs typeface="Chivo Light" pitchFamily="2" charset="0"/>
              </a:rPr>
              <a:t>If you know the serial number, click the – sign button. </a:t>
            </a:r>
          </a:p>
          <a:p>
            <a:pPr marL="114300" marR="0" algn="just" defTabSz="533400">
              <a:lnSpc>
                <a:spcPct val="115000"/>
              </a:lnSpc>
              <a:spcBef>
                <a:spcPts val="0"/>
              </a:spcBef>
              <a:spcAft>
                <a:spcPts val="0"/>
              </a:spcAft>
            </a:pPr>
            <a:r>
              <a:rPr lang="en-US" sz="1200" b="1" dirty="0">
                <a:solidFill>
                  <a:srgbClr val="00863D"/>
                </a:solidFill>
                <a:latin typeface="Chivo Light" pitchFamily="2" charset="0"/>
                <a:ea typeface="Times New Roman" panose="02020603050405020304" pitchFamily="18" charset="0"/>
                <a:cs typeface="Chivo Light" pitchFamily="2" charset="0"/>
              </a:rPr>
              <a:t>	5</a:t>
            </a:r>
            <a:r>
              <a:rPr lang="en-US" sz="1200" b="1" dirty="0">
                <a:solidFill>
                  <a:srgbClr val="00863D"/>
                </a:solidFill>
                <a:effectLst/>
                <a:latin typeface="Chivo Light" pitchFamily="2" charset="0"/>
                <a:ea typeface="Times New Roman" panose="02020603050405020304" pitchFamily="18" charset="0"/>
                <a:cs typeface="Chivo Light" pitchFamily="2" charset="0"/>
              </a:rPr>
              <a:t>.2 </a:t>
            </a:r>
            <a:r>
              <a:rPr lang="en-US" sz="1200" dirty="0">
                <a:effectLst/>
                <a:latin typeface="Chivo Light" pitchFamily="2" charset="0"/>
                <a:ea typeface="Calibri" panose="020F0502020204030204" pitchFamily="34" charset="0"/>
                <a:cs typeface="Chivo Light" pitchFamily="2" charset="0"/>
              </a:rPr>
              <a:t>If you want to select serial number from the available serial list, click look up button in serial column</a:t>
            </a: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solidFill>
                <a:schemeClr val="tx1">
                  <a:lumMod val="85000"/>
                  <a:lumOff val="15000"/>
                </a:schemeClr>
              </a:solidFill>
              <a:latin typeface="Chivo Light" panose="020B03030302020208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32AABA8B-3108-37B4-3409-B934C570BDA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pic>
        <p:nvPicPr>
          <p:cNvPr id="7" name="Picture 6">
            <a:extLst>
              <a:ext uri="{FF2B5EF4-FFF2-40B4-BE49-F238E27FC236}">
                <a16:creationId xmlns:a16="http://schemas.microsoft.com/office/drawing/2014/main" id="{93CA3C91-8989-7F3E-41B1-2600FFF0072B}"/>
              </a:ext>
            </a:extLst>
          </p:cNvPr>
          <p:cNvPicPr>
            <a:picLocks noChangeAspect="1"/>
          </p:cNvPicPr>
          <p:nvPr/>
        </p:nvPicPr>
        <p:blipFill>
          <a:blip r:embed="rId3"/>
          <a:srcRect/>
          <a:stretch>
            <a:fillRect/>
          </a:stretch>
        </p:blipFill>
        <p:spPr bwMode="auto">
          <a:xfrm>
            <a:off x="6646154" y="1608772"/>
            <a:ext cx="2028190" cy="1049655"/>
          </a:xfrm>
          <a:prstGeom prst="rect">
            <a:avLst/>
          </a:prstGeom>
          <a:ln>
            <a:noFill/>
          </a:ln>
          <a:effectLst>
            <a:outerShdw blurRad="292100" dist="139700" dir="2700000" algn="tl" rotWithShape="0">
              <a:srgbClr val="333333">
                <a:alpha val="65000"/>
              </a:srgbClr>
            </a:outerShdw>
          </a:effectLst>
        </p:spPr>
      </p:pic>
      <p:sp>
        <p:nvSpPr>
          <p:cNvPr id="16" name="Text Box 2">
            <a:extLst>
              <a:ext uri="{FF2B5EF4-FFF2-40B4-BE49-F238E27FC236}">
                <a16:creationId xmlns:a16="http://schemas.microsoft.com/office/drawing/2014/main" id="{733C974F-A608-0276-1031-AFDC4E7B8285}"/>
              </a:ext>
            </a:extLst>
          </p:cNvPr>
          <p:cNvSpPr txBox="1">
            <a:spLocks noChangeArrowheads="1"/>
          </p:cNvSpPr>
          <p:nvPr/>
        </p:nvSpPr>
        <p:spPr bwMode="auto">
          <a:xfrm>
            <a:off x="5793862" y="1847850"/>
            <a:ext cx="474662"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rPr>
              <a:t>5.1.</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cxnSp>
        <p:nvCxnSpPr>
          <p:cNvPr id="4099" name="AutoShape 3">
            <a:extLst>
              <a:ext uri="{FF2B5EF4-FFF2-40B4-BE49-F238E27FC236}">
                <a16:creationId xmlns:a16="http://schemas.microsoft.com/office/drawing/2014/main" id="{E7655072-29DF-9C5B-50B9-EBB5041C773C}"/>
              </a:ext>
            </a:extLst>
          </p:cNvPr>
          <p:cNvCxnSpPr>
            <a:cxnSpLocks noChangeShapeType="1"/>
          </p:cNvCxnSpPr>
          <p:nvPr/>
        </p:nvCxnSpPr>
        <p:spPr bwMode="auto">
          <a:xfrm flipH="1" flipV="1">
            <a:off x="6139302" y="2133600"/>
            <a:ext cx="187325" cy="15875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8" name="Text Box 5">
            <a:extLst>
              <a:ext uri="{FF2B5EF4-FFF2-40B4-BE49-F238E27FC236}">
                <a16:creationId xmlns:a16="http://schemas.microsoft.com/office/drawing/2014/main" id="{A1D89E7C-5E08-1826-2069-65073F0B2BC0}"/>
              </a:ext>
            </a:extLst>
          </p:cNvPr>
          <p:cNvSpPr txBox="1">
            <a:spLocks noChangeArrowheads="1"/>
          </p:cNvSpPr>
          <p:nvPr/>
        </p:nvSpPr>
        <p:spPr bwMode="auto">
          <a:xfrm>
            <a:off x="8794750" y="1695960"/>
            <a:ext cx="1768475" cy="765230"/>
          </a:xfrm>
          <a:prstGeom prst="rect">
            <a:avLst/>
          </a:prstGeom>
          <a:solidFill>
            <a:srgbClr val="FFF2CC"/>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85725" marR="0" lvl="0" algn="l" defTabSz="914400" rtl="0" eaLnBrk="0" fontAlgn="base" latinLnBrk="0" hangingPunct="0">
              <a:lnSpc>
                <a:spcPct val="100000"/>
              </a:lnSpc>
              <a:spcBef>
                <a:spcPts val="438"/>
              </a:spcBef>
              <a:spcAft>
                <a:spcPts val="800"/>
              </a:spcAft>
              <a:buClrTx/>
              <a:buSzTx/>
              <a:buFontTx/>
              <a:buNone/>
              <a:tabLst/>
            </a:pPr>
            <a:r>
              <a:rPr kumimoji="0" lang="en-PH" altLang="en-US" sz="800" b="0" i="1" u="none" strike="noStrike" cap="none" normalizeH="0" baseline="0" dirty="0">
                <a:ln>
                  <a:noFill/>
                </a:ln>
                <a:solidFill>
                  <a:srgbClr val="4F6128"/>
                </a:solidFill>
                <a:effectLst/>
              </a:rPr>
              <a:t>How to add serial?</a:t>
            </a:r>
            <a:endParaRPr kumimoji="0" lang="en-PH" altLang="en-US" sz="800" b="0" i="1" u="none" strike="noStrike" cap="none" normalizeH="0" baseline="0" dirty="0">
              <a:ln>
                <a:noFill/>
              </a:ln>
              <a:solidFill>
                <a:schemeClr val="tx1"/>
              </a:solidFill>
              <a:effectLst/>
            </a:endParaRPr>
          </a:p>
          <a:p>
            <a:pPr marL="358775" marR="0" lvl="1" indent="-179388"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800" b="0" i="0" u="none" strike="noStrike" cap="none" normalizeH="0" baseline="0" dirty="0">
                <a:ln>
                  <a:noFill/>
                </a:ln>
                <a:solidFill>
                  <a:schemeClr val="tx1"/>
                </a:solidFill>
                <a:effectLst/>
              </a:rPr>
              <a:t>Click the add serial button</a:t>
            </a:r>
          </a:p>
          <a:p>
            <a:pPr marL="358775" marR="0" lvl="1" indent="-179388" algn="l" defTabSz="914400" rtl="0" eaLnBrk="0" fontAlgn="base" latinLnBrk="0" hangingPunct="0">
              <a:lnSpc>
                <a:spcPct val="78000"/>
              </a:lnSpc>
              <a:spcBef>
                <a:spcPct val="0"/>
              </a:spcBef>
              <a:spcAft>
                <a:spcPct val="0"/>
              </a:spcAft>
              <a:buClrTx/>
              <a:buSzTx/>
              <a:buFont typeface="+mj-lt"/>
              <a:buAutoNum type="arabicPeriod"/>
              <a:tabLst/>
            </a:pPr>
            <a:r>
              <a:rPr kumimoji="0" lang="en-US" altLang="en-US" sz="800" b="0" i="0" u="none" strike="noStrike" cap="none" normalizeH="0" baseline="0" dirty="0">
                <a:ln>
                  <a:noFill/>
                </a:ln>
                <a:solidFill>
                  <a:schemeClr val="tx1"/>
                </a:solidFill>
                <a:effectLst/>
              </a:rPr>
              <a:t>A dialog box will appear, enter the serial number,</a:t>
            </a:r>
          </a:p>
          <a:p>
            <a:pPr marL="358775" marR="0" lvl="1" indent="-179388" algn="l" defTabSz="914400" rtl="0" eaLnBrk="0" fontAlgn="base" latinLnBrk="0" hangingPunct="0">
              <a:lnSpc>
                <a:spcPct val="78000"/>
              </a:lnSpc>
              <a:spcBef>
                <a:spcPct val="0"/>
              </a:spcBef>
              <a:spcAft>
                <a:spcPct val="0"/>
              </a:spcAft>
              <a:buClrTx/>
              <a:buSzTx/>
              <a:buFont typeface="+mj-lt"/>
              <a:buAutoNum type="arabicPeriod"/>
              <a:tabLst/>
            </a:pPr>
            <a:r>
              <a:rPr kumimoji="0" lang="en-PH" altLang="en-US" sz="800" b="0" i="0" u="none" strike="noStrike" cap="none" normalizeH="0" baseline="0" dirty="0">
                <a:ln>
                  <a:noFill/>
                </a:ln>
                <a:solidFill>
                  <a:schemeClr val="tx1"/>
                </a:solidFill>
                <a:effectLst/>
              </a:rPr>
              <a:t>Then click enter in keyboard.</a:t>
            </a:r>
            <a:endParaRPr kumimoji="0" lang="en-US" altLang="en-US" sz="800" b="0" i="0" u="none" strike="noStrike" cap="none" normalizeH="0" baseline="0" dirty="0">
              <a:ln>
                <a:noFill/>
              </a:ln>
              <a:solidFill>
                <a:schemeClr val="tx1"/>
              </a:solidFill>
              <a:effectLst/>
            </a:endParaRPr>
          </a:p>
        </p:txBody>
      </p:sp>
      <p:pic>
        <p:nvPicPr>
          <p:cNvPr id="21" name="Picture 20">
            <a:extLst>
              <a:ext uri="{FF2B5EF4-FFF2-40B4-BE49-F238E27FC236}">
                <a16:creationId xmlns:a16="http://schemas.microsoft.com/office/drawing/2014/main" id="{9505137C-E89A-26B6-A960-C2BD49B8EDC3}"/>
              </a:ext>
            </a:extLst>
          </p:cNvPr>
          <p:cNvPicPr>
            <a:picLocks noChangeAspect="1"/>
          </p:cNvPicPr>
          <p:nvPr/>
        </p:nvPicPr>
        <p:blipFill>
          <a:blip r:embed="rId2"/>
          <a:stretch>
            <a:fillRect/>
          </a:stretch>
        </p:blipFill>
        <p:spPr bwMode="auto">
          <a:xfrm>
            <a:off x="6060940" y="3273548"/>
            <a:ext cx="4743450" cy="1446530"/>
          </a:xfrm>
          <a:prstGeom prst="rect">
            <a:avLst/>
          </a:prstGeom>
          <a:noFill/>
          <a:ln w="9525">
            <a:noFill/>
            <a:miter lim="800000"/>
            <a:headEnd/>
            <a:tailEnd/>
          </a:ln>
        </p:spPr>
      </p:pic>
      <p:pic>
        <p:nvPicPr>
          <p:cNvPr id="22" name="Picture 21">
            <a:extLst>
              <a:ext uri="{FF2B5EF4-FFF2-40B4-BE49-F238E27FC236}">
                <a16:creationId xmlns:a16="http://schemas.microsoft.com/office/drawing/2014/main" id="{567E3DD4-94C9-03A6-91F0-EECAA048B0EE}"/>
              </a:ext>
            </a:extLst>
          </p:cNvPr>
          <p:cNvPicPr>
            <a:picLocks noChangeAspect="1"/>
          </p:cNvPicPr>
          <p:nvPr/>
        </p:nvPicPr>
        <p:blipFill>
          <a:blip r:embed="rId4"/>
          <a:srcRect/>
          <a:stretch>
            <a:fillRect/>
          </a:stretch>
        </p:blipFill>
        <p:spPr bwMode="auto">
          <a:xfrm>
            <a:off x="5436100" y="4519418"/>
            <a:ext cx="3428365" cy="1566545"/>
          </a:xfrm>
          <a:prstGeom prst="rect">
            <a:avLst/>
          </a:prstGeom>
          <a:ln>
            <a:noFill/>
          </a:ln>
          <a:effectLst>
            <a:outerShdw blurRad="292100" dist="139700" dir="2700000" algn="tl" rotWithShape="0">
              <a:srgbClr val="333333">
                <a:alpha val="65000"/>
              </a:srgbClr>
            </a:outerShdw>
          </a:effectLst>
        </p:spPr>
      </p:pic>
      <p:sp>
        <p:nvSpPr>
          <p:cNvPr id="49" name="Text Box 6">
            <a:extLst>
              <a:ext uri="{FF2B5EF4-FFF2-40B4-BE49-F238E27FC236}">
                <a16:creationId xmlns:a16="http://schemas.microsoft.com/office/drawing/2014/main" id="{A2A1A4C2-28A7-139C-35B2-D4EBFCFFE895}"/>
              </a:ext>
            </a:extLst>
          </p:cNvPr>
          <p:cNvSpPr txBox="1">
            <a:spLocks noChangeArrowheads="1"/>
          </p:cNvSpPr>
          <p:nvPr/>
        </p:nvSpPr>
        <p:spPr bwMode="auto">
          <a:xfrm>
            <a:off x="8982893" y="4185728"/>
            <a:ext cx="2244885" cy="862522"/>
          </a:xfrm>
          <a:prstGeom prst="rect">
            <a:avLst/>
          </a:prstGeom>
          <a:solidFill>
            <a:srgbClr val="FFF2CC"/>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0" fontAlgn="base" latinLnBrk="0" hangingPunct="0">
              <a:lnSpc>
                <a:spcPct val="100000"/>
              </a:lnSpc>
              <a:spcBef>
                <a:spcPts val="438"/>
              </a:spcBef>
              <a:spcAft>
                <a:spcPts val="800"/>
              </a:spcAft>
              <a:buClrTx/>
              <a:buSzTx/>
              <a:buFontTx/>
              <a:buNone/>
              <a:tabLst/>
            </a:pPr>
            <a:r>
              <a:rPr kumimoji="0" lang="en-PH" altLang="en-US" sz="800" b="0" i="1" u="none" strike="noStrike" cap="none" normalizeH="0" baseline="0" dirty="0">
                <a:ln>
                  <a:noFill/>
                </a:ln>
                <a:solidFill>
                  <a:srgbClr val="4F6128"/>
                </a:solidFill>
                <a:effectLst/>
                <a:latin typeface="Chivo Light" pitchFamily="2" charset="0"/>
                <a:cs typeface="Chivo Light" pitchFamily="2" charset="0"/>
              </a:rPr>
              <a:t>How to add serial from list of available serial?</a:t>
            </a:r>
            <a:endParaRPr kumimoji="0" lang="en-PH" altLang="en-US" sz="800" b="0" i="1" u="none" strike="noStrike" cap="none" normalizeH="0" baseline="0" dirty="0">
              <a:ln>
                <a:noFill/>
              </a:ln>
              <a:solidFill>
                <a:schemeClr val="tx1"/>
              </a:solidFill>
              <a:effectLst/>
              <a:latin typeface="Chivo Light" pitchFamily="2" charset="0"/>
              <a:cs typeface="Chivo Light" pitchFamily="2" charset="0"/>
            </a:endParaRPr>
          </a:p>
          <a:p>
            <a:pPr marL="266700" marR="0" lvl="1" indent="-85725"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800" b="0" i="0" u="none" strike="noStrike" cap="none" normalizeH="0" baseline="0" dirty="0">
                <a:ln>
                  <a:noFill/>
                </a:ln>
                <a:solidFill>
                  <a:schemeClr val="tx1"/>
                </a:solidFill>
                <a:effectLst/>
                <a:latin typeface="Chivo Light" pitchFamily="2" charset="0"/>
                <a:cs typeface="Chivo Light" pitchFamily="2" charset="0"/>
              </a:rPr>
              <a:t>Search the serial no./ document #/ customer PO</a:t>
            </a:r>
          </a:p>
          <a:p>
            <a:pPr marL="266700" marR="0" lvl="1" indent="-85725" algn="l" defTabSz="914400" rtl="0" eaLnBrk="0" fontAlgn="base" latinLnBrk="0" hangingPunct="0">
              <a:lnSpc>
                <a:spcPct val="78000"/>
              </a:lnSpc>
              <a:spcBef>
                <a:spcPct val="0"/>
              </a:spcBef>
              <a:spcAft>
                <a:spcPct val="0"/>
              </a:spcAft>
              <a:buClrTx/>
              <a:buSzTx/>
              <a:buFont typeface="+mj-lt"/>
              <a:buAutoNum type="arabicPeriod"/>
              <a:tabLst/>
            </a:pPr>
            <a:r>
              <a:rPr kumimoji="0" lang="en-US" altLang="en-US" sz="800" b="0" i="0" u="none" strike="noStrike" cap="none" normalizeH="0" baseline="0" dirty="0">
                <a:ln>
                  <a:noFill/>
                </a:ln>
                <a:solidFill>
                  <a:schemeClr val="tx1"/>
                </a:solidFill>
                <a:effectLst/>
                <a:latin typeface="Chivo Light" pitchFamily="2" charset="0"/>
                <a:cs typeface="Chivo Light" pitchFamily="2" charset="0"/>
              </a:rPr>
              <a:t>Tick the </a:t>
            </a:r>
            <a:r>
              <a:rPr kumimoji="0" lang="en-US" altLang="en-US" sz="800" b="0" i="0" u="none" strike="noStrike" cap="none" normalizeH="0" baseline="0" dirty="0" err="1">
                <a:ln>
                  <a:noFill/>
                </a:ln>
                <a:solidFill>
                  <a:schemeClr val="tx1"/>
                </a:solidFill>
                <a:effectLst/>
                <a:latin typeface="Chivo Light" pitchFamily="2" charset="0"/>
                <a:cs typeface="Chivo Light" pitchFamily="2" charset="0"/>
              </a:rPr>
              <a:t>tickbox</a:t>
            </a:r>
            <a:r>
              <a:rPr kumimoji="0" lang="en-US" altLang="en-US" sz="800" b="0" i="0" u="none" strike="noStrike" cap="none" normalizeH="0" baseline="0" dirty="0">
                <a:ln>
                  <a:noFill/>
                </a:ln>
                <a:solidFill>
                  <a:schemeClr val="tx1"/>
                </a:solidFill>
                <a:effectLst/>
                <a:latin typeface="Chivo Light" pitchFamily="2" charset="0"/>
                <a:cs typeface="Chivo Light" pitchFamily="2" charset="0"/>
              </a:rPr>
              <a:t> of selected serial</a:t>
            </a:r>
          </a:p>
          <a:p>
            <a:pPr marL="266700" marR="0" lvl="1" indent="-85725" algn="l" defTabSz="914400" rtl="0" eaLnBrk="0" fontAlgn="base" latinLnBrk="0" hangingPunct="0">
              <a:lnSpc>
                <a:spcPct val="78000"/>
              </a:lnSpc>
              <a:spcBef>
                <a:spcPct val="0"/>
              </a:spcBef>
              <a:spcAft>
                <a:spcPct val="0"/>
              </a:spcAft>
              <a:buClrTx/>
              <a:buSzTx/>
              <a:buFont typeface="+mj-lt"/>
              <a:buAutoNum type="arabicPeriod"/>
              <a:tabLst/>
            </a:pPr>
            <a:r>
              <a:rPr kumimoji="0" lang="en-PH" altLang="en-US" sz="800" b="0" i="0" u="none" strike="noStrike" cap="none" normalizeH="0" baseline="0" dirty="0">
                <a:ln>
                  <a:noFill/>
                </a:ln>
                <a:solidFill>
                  <a:schemeClr val="tx1"/>
                </a:solidFill>
                <a:effectLst/>
                <a:latin typeface="Chivo Light" pitchFamily="2" charset="0"/>
                <a:cs typeface="Chivo Light" pitchFamily="2" charset="0"/>
              </a:rPr>
              <a:t>Then click accept button</a:t>
            </a:r>
            <a:endParaRPr kumimoji="0" lang="en-US" altLang="en-US" sz="800" b="0" i="0" u="none" strike="noStrike" cap="none" normalizeH="0" baseline="0" dirty="0">
              <a:ln>
                <a:noFill/>
              </a:ln>
              <a:solidFill>
                <a:schemeClr val="tx1"/>
              </a:solidFill>
              <a:effectLst/>
              <a:latin typeface="Chivo Light" pitchFamily="2" charset="0"/>
              <a:cs typeface="Chivo Light" pitchFamily="2" charset="0"/>
            </a:endParaRPr>
          </a:p>
        </p:txBody>
      </p:sp>
      <p:sp>
        <p:nvSpPr>
          <p:cNvPr id="50" name="Text Box 2">
            <a:extLst>
              <a:ext uri="{FF2B5EF4-FFF2-40B4-BE49-F238E27FC236}">
                <a16:creationId xmlns:a16="http://schemas.microsoft.com/office/drawing/2014/main" id="{DDBBF27E-2F5A-FB56-5976-4D8B7068E4B6}"/>
              </a:ext>
            </a:extLst>
          </p:cNvPr>
          <p:cNvSpPr txBox="1">
            <a:spLocks noChangeArrowheads="1"/>
          </p:cNvSpPr>
          <p:nvPr/>
        </p:nvSpPr>
        <p:spPr bwMode="auto">
          <a:xfrm>
            <a:off x="7555987" y="3827489"/>
            <a:ext cx="474662"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rPr>
              <a:t>5.2.</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1" name="Rectangle 7">
            <a:extLst>
              <a:ext uri="{FF2B5EF4-FFF2-40B4-BE49-F238E27FC236}">
                <a16:creationId xmlns:a16="http://schemas.microsoft.com/office/drawing/2014/main" id="{82C14FBF-7A69-DA11-858E-CAC4668730D6}"/>
              </a:ext>
            </a:extLst>
          </p:cNvPr>
          <p:cNvSpPr>
            <a:spLocks noChangeArrowheads="1"/>
          </p:cNvSpPr>
          <p:nvPr/>
        </p:nvSpPr>
        <p:spPr bwMode="auto">
          <a:xfrm>
            <a:off x="6298589" y="2289775"/>
            <a:ext cx="158750" cy="21590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52" name="Rectangle 8">
            <a:extLst>
              <a:ext uri="{FF2B5EF4-FFF2-40B4-BE49-F238E27FC236}">
                <a16:creationId xmlns:a16="http://schemas.microsoft.com/office/drawing/2014/main" id="{81A860CC-395D-AF99-883A-499D1D641FBF}"/>
              </a:ext>
            </a:extLst>
          </p:cNvPr>
          <p:cNvSpPr>
            <a:spLocks noChangeArrowheads="1"/>
          </p:cNvSpPr>
          <p:nvPr/>
        </p:nvSpPr>
        <p:spPr bwMode="auto">
          <a:xfrm>
            <a:off x="8075227" y="4292597"/>
            <a:ext cx="182947" cy="21729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cxnSp>
        <p:nvCxnSpPr>
          <p:cNvPr id="53" name="AutoShape 3">
            <a:extLst>
              <a:ext uri="{FF2B5EF4-FFF2-40B4-BE49-F238E27FC236}">
                <a16:creationId xmlns:a16="http://schemas.microsoft.com/office/drawing/2014/main" id="{E561DCA6-A18D-9970-EF35-FF085850FD3E}"/>
              </a:ext>
            </a:extLst>
          </p:cNvPr>
          <p:cNvCxnSpPr>
            <a:cxnSpLocks noChangeShapeType="1"/>
          </p:cNvCxnSpPr>
          <p:nvPr/>
        </p:nvCxnSpPr>
        <p:spPr bwMode="auto">
          <a:xfrm flipH="1" flipV="1">
            <a:off x="7979375" y="4113239"/>
            <a:ext cx="187325" cy="15875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4064241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40267"/>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mj-lt"/>
              </a:rPr>
              <a:t>How To Create Sales Journal Transaction?</a:t>
            </a:r>
            <a:endParaRPr lang="en-US" sz="2000" dirty="0">
              <a:solidFill>
                <a:srgbClr val="007434"/>
              </a:solidFill>
              <a:latin typeface="+mj-lt"/>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24" name="TextBox 23">
            <a:extLst>
              <a:ext uri="{FF2B5EF4-FFF2-40B4-BE49-F238E27FC236}">
                <a16:creationId xmlns:a16="http://schemas.microsoft.com/office/drawing/2014/main" id="{0FF987DD-A34E-443F-919D-9470B5F631D9}"/>
              </a:ext>
            </a:extLst>
          </p:cNvPr>
          <p:cNvSpPr txBox="1"/>
          <p:nvPr/>
        </p:nvSpPr>
        <p:spPr>
          <a:xfrm>
            <a:off x="585809" y="123167"/>
            <a:ext cx="482461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dirty="0">
                <a:solidFill>
                  <a:schemeClr val="accent6">
                    <a:lumMod val="20000"/>
                    <a:lumOff val="80000"/>
                  </a:schemeClr>
                </a:solidFill>
                <a:latin typeface="+mj-lt"/>
              </a:rPr>
              <a:t>Sales/ Sales Journal </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sp>
        <p:nvSpPr>
          <p:cNvPr id="30" name="Text Box 18">
            <a:extLst>
              <a:ext uri="{FF2B5EF4-FFF2-40B4-BE49-F238E27FC236}">
                <a16:creationId xmlns:a16="http://schemas.microsoft.com/office/drawing/2014/main" id="{DBC87BFE-68B7-4202-A3FC-88241AD6F3F9}"/>
              </a:ext>
            </a:extLst>
          </p:cNvPr>
          <p:cNvSpPr txBox="1"/>
          <p:nvPr/>
        </p:nvSpPr>
        <p:spPr>
          <a:xfrm>
            <a:off x="597771" y="1455552"/>
            <a:ext cx="4179346" cy="3659373"/>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114300" marR="0" algn="just" defTabSz="533400">
              <a:lnSpc>
                <a:spcPct val="115000"/>
              </a:lnSpc>
              <a:spcBef>
                <a:spcPts val="0"/>
              </a:spcBef>
              <a:spcAft>
                <a:spcPts val="0"/>
              </a:spcAft>
            </a:pPr>
            <a:r>
              <a:rPr lang="en-US" sz="1200" b="1" dirty="0">
                <a:solidFill>
                  <a:srgbClr val="00863D"/>
                </a:solidFill>
                <a:effectLst/>
                <a:latin typeface="Chivo Light" pitchFamily="2" charset="0"/>
                <a:ea typeface="Calibri" panose="020F0502020204030204" pitchFamily="34" charset="0"/>
                <a:cs typeface="Chivo Light" pitchFamily="2" charset="0"/>
              </a:rPr>
              <a:t>6.</a:t>
            </a:r>
            <a:r>
              <a:rPr lang="en-US" sz="1200" b="1" dirty="0">
                <a:solidFill>
                  <a:srgbClr val="00863D"/>
                </a:solidFill>
                <a:latin typeface="Chivo Light" pitchFamily="2" charset="0"/>
                <a:ea typeface="Calibri" panose="020F0502020204030204" pitchFamily="34" charset="0"/>
                <a:cs typeface="Chivo Light" pitchFamily="2" charset="0"/>
              </a:rPr>
              <a:t> </a:t>
            </a:r>
            <a:r>
              <a:rPr lang="en-US" sz="1200" dirty="0">
                <a:effectLst/>
                <a:latin typeface="Chivo Light" pitchFamily="2" charset="0"/>
                <a:ea typeface="Calibri" panose="020F0502020204030204" pitchFamily="34" charset="0"/>
                <a:cs typeface="Chivo Light" pitchFamily="2" charset="0"/>
              </a:rPr>
              <a:t>If done you’ll notice that the selected serial no. will display in serial # column</a:t>
            </a:r>
          </a:p>
          <a:p>
            <a:pPr marL="114300" marR="0" algn="just" defTabSz="533400">
              <a:lnSpc>
                <a:spcPct val="115000"/>
              </a:lnSpc>
              <a:spcBef>
                <a:spcPts val="0"/>
              </a:spcBef>
              <a:spcAft>
                <a:spcPts val="0"/>
              </a:spcAft>
            </a:pPr>
            <a:endParaRPr lang="en-US" sz="1200" dirty="0">
              <a:effectLst/>
              <a:latin typeface="Chivo Light" pitchFamily="2" charset="0"/>
              <a:ea typeface="Calibri" panose="020F0502020204030204" pitchFamily="34" charset="0"/>
              <a:cs typeface="Chivo Light" pitchFamily="2" charset="0"/>
            </a:endParaRPr>
          </a:p>
          <a:p>
            <a:pPr marL="114300" marR="0" algn="just" defTabSz="533400">
              <a:lnSpc>
                <a:spcPct val="115000"/>
              </a:lnSpc>
              <a:spcBef>
                <a:spcPts val="0"/>
              </a:spcBef>
              <a:spcAft>
                <a:spcPts val="0"/>
              </a:spcAft>
            </a:pPr>
            <a:r>
              <a:rPr lang="en-US" sz="1200" b="1" dirty="0">
                <a:solidFill>
                  <a:srgbClr val="00863D"/>
                </a:solidFill>
                <a:latin typeface="Chivo Light" pitchFamily="2" charset="0"/>
                <a:ea typeface="Calibri" panose="020F0502020204030204" pitchFamily="34" charset="0"/>
                <a:cs typeface="Chivo Light" pitchFamily="2" charset="0"/>
              </a:rPr>
              <a:t>7</a:t>
            </a:r>
            <a:r>
              <a:rPr lang="en-US" sz="1200" b="1" dirty="0">
                <a:solidFill>
                  <a:srgbClr val="00863D"/>
                </a:solidFill>
                <a:effectLst/>
                <a:latin typeface="Chivo Light" pitchFamily="2" charset="0"/>
                <a:ea typeface="Calibri" panose="020F0502020204030204" pitchFamily="34" charset="0"/>
                <a:cs typeface="Chivo Light" pitchFamily="2" charset="0"/>
              </a:rPr>
              <a:t>. </a:t>
            </a:r>
            <a:r>
              <a:rPr lang="en-US" sz="1200" dirty="0">
                <a:effectLst/>
                <a:latin typeface="Chivo Light" pitchFamily="2" charset="0"/>
                <a:ea typeface="Calibri" panose="020F0502020204030204" pitchFamily="34" charset="0"/>
                <a:cs typeface="Chivo Light" pitchFamily="2" charset="0"/>
              </a:rPr>
              <a:t>If done in main form, click save item button</a:t>
            </a:r>
          </a:p>
          <a:p>
            <a:pPr marL="114300" marR="0" algn="just" defTabSz="533400">
              <a:lnSpc>
                <a:spcPct val="115000"/>
              </a:lnSpc>
              <a:spcBef>
                <a:spcPts val="0"/>
              </a:spcBef>
              <a:spcAft>
                <a:spcPts val="0"/>
              </a:spcAft>
            </a:pPr>
            <a:endParaRPr lang="en-US" sz="1200" dirty="0">
              <a:latin typeface="Chivo Light" pitchFamily="2" charset="0"/>
              <a:ea typeface="Calibri" panose="020F0502020204030204" pitchFamily="34" charset="0"/>
              <a:cs typeface="Chivo Light" pitchFamily="2" charset="0"/>
            </a:endParaRPr>
          </a:p>
          <a:p>
            <a:pPr marL="114300" marR="0" algn="just" defTabSz="533400">
              <a:lnSpc>
                <a:spcPct val="115000"/>
              </a:lnSpc>
              <a:spcBef>
                <a:spcPts val="0"/>
              </a:spcBef>
              <a:spcAft>
                <a:spcPts val="0"/>
              </a:spcAft>
            </a:pPr>
            <a:endParaRPr lang="en-US" sz="1200" dirty="0">
              <a:effectLst/>
              <a:latin typeface="Chivo Light" pitchFamily="2" charset="0"/>
              <a:ea typeface="Calibri" panose="020F0502020204030204" pitchFamily="34" charset="0"/>
              <a:cs typeface="Chivo Light" pitchFamily="2" charset="0"/>
            </a:endParaRPr>
          </a:p>
          <a:p>
            <a:pPr marL="114300" marR="0" algn="just" defTabSz="533400">
              <a:lnSpc>
                <a:spcPct val="115000"/>
              </a:lnSpc>
              <a:spcBef>
                <a:spcPts val="0"/>
              </a:spcBef>
              <a:spcAft>
                <a:spcPts val="0"/>
              </a:spcAft>
            </a:pPr>
            <a:endParaRPr lang="en-US" sz="1200" dirty="0">
              <a:latin typeface="Chivo Light" pitchFamily="2" charset="0"/>
              <a:ea typeface="Calibri" panose="020F0502020204030204" pitchFamily="34" charset="0"/>
              <a:cs typeface="Chivo Light" pitchFamily="2" charset="0"/>
            </a:endParaRPr>
          </a:p>
          <a:p>
            <a:pPr marL="114300" marR="0" algn="just" defTabSz="533400">
              <a:lnSpc>
                <a:spcPct val="115000"/>
              </a:lnSpc>
              <a:spcBef>
                <a:spcPts val="0"/>
              </a:spcBef>
              <a:spcAft>
                <a:spcPts val="0"/>
              </a:spcAft>
            </a:pPr>
            <a:endParaRPr lang="en-US" sz="1200" dirty="0">
              <a:effectLst/>
              <a:latin typeface="Chivo Light" pitchFamily="2" charset="0"/>
              <a:ea typeface="Calibri" panose="020F0502020204030204" pitchFamily="34" charset="0"/>
              <a:cs typeface="Chivo Light" pitchFamily="2" charset="0"/>
            </a:endParaRPr>
          </a:p>
          <a:p>
            <a:pPr marL="114300" marR="0" algn="just" defTabSz="533400">
              <a:lnSpc>
                <a:spcPct val="115000"/>
              </a:lnSpc>
              <a:spcBef>
                <a:spcPts val="0"/>
              </a:spcBef>
              <a:spcAft>
                <a:spcPts val="0"/>
              </a:spcAft>
            </a:pPr>
            <a:endParaRPr lang="en-US" sz="1200" dirty="0">
              <a:effectLst/>
              <a:latin typeface="Chivo Light" pitchFamily="2" charset="0"/>
              <a:ea typeface="Calibri" panose="020F0502020204030204" pitchFamily="34" charset="0"/>
              <a:cs typeface="Chivo Light" pitchFamily="2" charset="0"/>
            </a:endParaRPr>
          </a:p>
          <a:p>
            <a:pPr marL="114300" marR="0" algn="just" defTabSz="533400">
              <a:lnSpc>
                <a:spcPct val="115000"/>
              </a:lnSpc>
              <a:spcBef>
                <a:spcPts val="0"/>
              </a:spcBef>
              <a:spcAft>
                <a:spcPts val="0"/>
              </a:spcAft>
            </a:pPr>
            <a:endParaRPr lang="en-US" sz="1200" dirty="0">
              <a:latin typeface="Chivo Light" pitchFamily="2" charset="0"/>
              <a:ea typeface="Calibri" panose="020F0502020204030204" pitchFamily="34" charset="0"/>
              <a:cs typeface="Chivo Light" pitchFamily="2" charset="0"/>
            </a:endParaRPr>
          </a:p>
          <a:p>
            <a:pPr marL="114300" marR="0" algn="just" defTabSz="533400">
              <a:lnSpc>
                <a:spcPct val="115000"/>
              </a:lnSpc>
              <a:spcBef>
                <a:spcPts val="0"/>
              </a:spcBef>
              <a:spcAft>
                <a:spcPts val="0"/>
              </a:spcAft>
            </a:pPr>
            <a:endParaRPr lang="en-US" sz="1200" dirty="0">
              <a:effectLst/>
              <a:latin typeface="Chivo Light" pitchFamily="2" charset="0"/>
              <a:ea typeface="Calibri" panose="020F0502020204030204" pitchFamily="34" charset="0"/>
              <a:cs typeface="Chivo Light" pitchFamily="2" charset="0"/>
            </a:endParaRPr>
          </a:p>
          <a:p>
            <a:pPr marL="114300" marR="0" algn="just" defTabSz="533400">
              <a:lnSpc>
                <a:spcPct val="115000"/>
              </a:lnSpc>
              <a:spcBef>
                <a:spcPts val="0"/>
              </a:spcBef>
              <a:spcAft>
                <a:spcPts val="0"/>
              </a:spcAft>
            </a:pPr>
            <a:r>
              <a:rPr lang="en-US" sz="1200" b="1" dirty="0">
                <a:solidFill>
                  <a:srgbClr val="00863D"/>
                </a:solidFill>
                <a:effectLst/>
                <a:latin typeface="Chivo Light" pitchFamily="2" charset="0"/>
                <a:ea typeface="Calibri" panose="020F0502020204030204" pitchFamily="34" charset="0"/>
                <a:cs typeface="Chivo Light" pitchFamily="2" charset="0"/>
              </a:rPr>
              <a:t>8. </a:t>
            </a:r>
            <a:r>
              <a:rPr lang="en-US" sz="1200" dirty="0">
                <a:effectLst/>
                <a:latin typeface="Chivo Light" pitchFamily="2" charset="0"/>
                <a:ea typeface="Calibri" panose="020F0502020204030204" pitchFamily="34" charset="0"/>
                <a:cs typeface="Chivo Light" pitchFamily="2" charset="0"/>
              </a:rPr>
              <a:t>Details from main form, instruction and shipping/ billing address will be copied from the selected SO transaction. </a:t>
            </a:r>
          </a:p>
        </p:txBody>
      </p:sp>
      <p:sp>
        <p:nvSpPr>
          <p:cNvPr id="4" name="Slide Number Placeholder 3">
            <a:extLst>
              <a:ext uri="{FF2B5EF4-FFF2-40B4-BE49-F238E27FC236}">
                <a16:creationId xmlns:a16="http://schemas.microsoft.com/office/drawing/2014/main" id="{E8F5337B-444B-57BA-6AAA-76E96605748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pic>
        <p:nvPicPr>
          <p:cNvPr id="7" name="Picture 6">
            <a:extLst>
              <a:ext uri="{FF2B5EF4-FFF2-40B4-BE49-F238E27FC236}">
                <a16:creationId xmlns:a16="http://schemas.microsoft.com/office/drawing/2014/main" id="{27B78FE7-17DE-5B50-1A70-6971FFEF5C1B}"/>
              </a:ext>
            </a:extLst>
          </p:cNvPr>
          <p:cNvPicPr>
            <a:picLocks noChangeAspect="1"/>
          </p:cNvPicPr>
          <p:nvPr/>
        </p:nvPicPr>
        <p:blipFill>
          <a:blip r:embed="rId2"/>
          <a:srcRect/>
          <a:stretch>
            <a:fillRect/>
          </a:stretch>
        </p:blipFill>
        <p:spPr bwMode="auto">
          <a:xfrm>
            <a:off x="5741035" y="1266190"/>
            <a:ext cx="5567680" cy="1658620"/>
          </a:xfrm>
          <a:prstGeom prst="rect">
            <a:avLst/>
          </a:prstGeom>
          <a:ln>
            <a:noFill/>
          </a:ln>
          <a:effectLst>
            <a:outerShdw blurRad="292100" dist="139700" dir="2700000" algn="tl" rotWithShape="0">
              <a:srgbClr val="333333">
                <a:alpha val="65000"/>
              </a:srgbClr>
            </a:outerShdw>
          </a:effectLst>
        </p:spPr>
      </p:pic>
      <p:sp>
        <p:nvSpPr>
          <p:cNvPr id="10" name="Rectangle 2">
            <a:extLst>
              <a:ext uri="{FF2B5EF4-FFF2-40B4-BE49-F238E27FC236}">
                <a16:creationId xmlns:a16="http://schemas.microsoft.com/office/drawing/2014/main" id="{8D58BEA5-8C00-CD5A-0A37-BE5233CB5953}"/>
              </a:ext>
            </a:extLst>
          </p:cNvPr>
          <p:cNvSpPr>
            <a:spLocks noChangeArrowheads="1"/>
          </p:cNvSpPr>
          <p:nvPr/>
        </p:nvSpPr>
        <p:spPr bwMode="auto">
          <a:xfrm>
            <a:off x="8074025" y="2465388"/>
            <a:ext cx="565150" cy="21590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11" name="Rectangle 3">
            <a:extLst>
              <a:ext uri="{FF2B5EF4-FFF2-40B4-BE49-F238E27FC236}">
                <a16:creationId xmlns:a16="http://schemas.microsoft.com/office/drawing/2014/main" id="{A669B472-7B53-0CD6-961F-7E39F89B0DC5}"/>
              </a:ext>
            </a:extLst>
          </p:cNvPr>
          <p:cNvSpPr>
            <a:spLocks noChangeArrowheads="1"/>
          </p:cNvSpPr>
          <p:nvPr/>
        </p:nvSpPr>
        <p:spPr bwMode="auto">
          <a:xfrm>
            <a:off x="9683750" y="1281113"/>
            <a:ext cx="481013" cy="21590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PH"/>
          </a:p>
        </p:txBody>
      </p:sp>
      <p:sp>
        <p:nvSpPr>
          <p:cNvPr id="12" name="Text Box 4">
            <a:extLst>
              <a:ext uri="{FF2B5EF4-FFF2-40B4-BE49-F238E27FC236}">
                <a16:creationId xmlns:a16="http://schemas.microsoft.com/office/drawing/2014/main" id="{28E4F2EF-FE9A-416A-16B7-A437421E482C}"/>
              </a:ext>
            </a:extLst>
          </p:cNvPr>
          <p:cNvSpPr txBox="1">
            <a:spLocks noChangeArrowheads="1"/>
          </p:cNvSpPr>
          <p:nvPr/>
        </p:nvSpPr>
        <p:spPr bwMode="auto">
          <a:xfrm>
            <a:off x="10058937" y="1647190"/>
            <a:ext cx="474662"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rPr>
              <a:t>7</a:t>
            </a:r>
            <a:endParaRPr kumimoji="0" lang="en-US" altLang="en-US" sz="1800" b="0" i="0" u="none" strike="noStrike" cap="none" normalizeH="0" baseline="0">
              <a:ln>
                <a:noFill/>
              </a:ln>
              <a:solidFill>
                <a:schemeClr val="tx1"/>
              </a:solidFill>
              <a:effectLst/>
              <a:latin typeface="Arial" panose="020B0604020202020204" pitchFamily="34" charset="0"/>
            </a:endParaRPr>
          </a:p>
        </p:txBody>
      </p:sp>
      <p:cxnSp>
        <p:nvCxnSpPr>
          <p:cNvPr id="5125" name="AutoShape 5">
            <a:extLst>
              <a:ext uri="{FF2B5EF4-FFF2-40B4-BE49-F238E27FC236}">
                <a16:creationId xmlns:a16="http://schemas.microsoft.com/office/drawing/2014/main" id="{F30263E7-C084-399E-1CE3-0855CD9831F1}"/>
              </a:ext>
            </a:extLst>
          </p:cNvPr>
          <p:cNvCxnSpPr>
            <a:cxnSpLocks noChangeShapeType="1"/>
          </p:cNvCxnSpPr>
          <p:nvPr/>
        </p:nvCxnSpPr>
        <p:spPr bwMode="auto">
          <a:xfrm>
            <a:off x="9907074" y="1511936"/>
            <a:ext cx="257689" cy="90487"/>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cxnSp>
      <p:pic>
        <p:nvPicPr>
          <p:cNvPr id="14" name="Picture 13">
            <a:extLst>
              <a:ext uri="{FF2B5EF4-FFF2-40B4-BE49-F238E27FC236}">
                <a16:creationId xmlns:a16="http://schemas.microsoft.com/office/drawing/2014/main" id="{9E8B9EED-21C3-B961-7FF4-EA06AC67A308}"/>
              </a:ext>
            </a:extLst>
          </p:cNvPr>
          <p:cNvPicPr>
            <a:picLocks noChangeAspect="1"/>
          </p:cNvPicPr>
          <p:nvPr/>
        </p:nvPicPr>
        <p:blipFill>
          <a:blip r:embed="rId3"/>
          <a:srcRect/>
          <a:stretch>
            <a:fillRect/>
          </a:stretch>
        </p:blipFill>
        <p:spPr bwMode="auto">
          <a:xfrm>
            <a:off x="5545772" y="3512866"/>
            <a:ext cx="6186805" cy="1414780"/>
          </a:xfrm>
          <a:prstGeom prst="rect">
            <a:avLst/>
          </a:prstGeom>
          <a:noFill/>
          <a:ln w="9525">
            <a:noFill/>
            <a:miter lim="800000"/>
            <a:headEnd/>
            <a:tailEnd/>
          </a:ln>
        </p:spPr>
      </p:pic>
      <p:sp>
        <p:nvSpPr>
          <p:cNvPr id="15" name="Rectangle 6">
            <a:extLst>
              <a:ext uri="{FF2B5EF4-FFF2-40B4-BE49-F238E27FC236}">
                <a16:creationId xmlns:a16="http://schemas.microsoft.com/office/drawing/2014/main" id="{E2424540-130B-B2C2-DFEB-9684D8DCCFB5}"/>
              </a:ext>
            </a:extLst>
          </p:cNvPr>
          <p:cNvSpPr>
            <a:spLocks noChangeArrowheads="1"/>
          </p:cNvSpPr>
          <p:nvPr/>
        </p:nvSpPr>
        <p:spPr bwMode="auto">
          <a:xfrm>
            <a:off x="5574238" y="3812223"/>
            <a:ext cx="1544637" cy="21590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PH"/>
          </a:p>
        </p:txBody>
      </p:sp>
      <p:sp>
        <p:nvSpPr>
          <p:cNvPr id="16" name="Rectangle 7">
            <a:extLst>
              <a:ext uri="{FF2B5EF4-FFF2-40B4-BE49-F238E27FC236}">
                <a16:creationId xmlns:a16="http://schemas.microsoft.com/office/drawing/2014/main" id="{3049F6B4-5D01-D636-D371-4959E351034A}"/>
              </a:ext>
            </a:extLst>
          </p:cNvPr>
          <p:cNvSpPr>
            <a:spLocks noChangeArrowheads="1"/>
          </p:cNvSpPr>
          <p:nvPr/>
        </p:nvSpPr>
        <p:spPr bwMode="auto">
          <a:xfrm>
            <a:off x="5574238" y="4280535"/>
            <a:ext cx="1544637" cy="217488"/>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PH"/>
          </a:p>
        </p:txBody>
      </p:sp>
      <p:sp>
        <p:nvSpPr>
          <p:cNvPr id="17" name="Rectangle 8">
            <a:extLst>
              <a:ext uri="{FF2B5EF4-FFF2-40B4-BE49-F238E27FC236}">
                <a16:creationId xmlns:a16="http://schemas.microsoft.com/office/drawing/2014/main" id="{C29C3164-D168-0C5D-6502-334118618B68}"/>
              </a:ext>
            </a:extLst>
          </p:cNvPr>
          <p:cNvSpPr>
            <a:spLocks noChangeArrowheads="1"/>
          </p:cNvSpPr>
          <p:nvPr/>
        </p:nvSpPr>
        <p:spPr bwMode="auto">
          <a:xfrm>
            <a:off x="5574238" y="4498023"/>
            <a:ext cx="1544637" cy="21590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PH"/>
          </a:p>
        </p:txBody>
      </p:sp>
    </p:spTree>
    <p:extLst>
      <p:ext uri="{BB962C8B-B14F-4D97-AF65-F5344CB8AC3E}">
        <p14:creationId xmlns:p14="http://schemas.microsoft.com/office/powerpoint/2010/main" val="17059854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40267"/>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mj-lt"/>
              </a:rPr>
              <a:t>How To Create Sales Journal Transaction?</a:t>
            </a:r>
            <a:endParaRPr lang="en-US" sz="2000" dirty="0">
              <a:solidFill>
                <a:srgbClr val="007434"/>
              </a:solidFill>
              <a:latin typeface="+mj-lt"/>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24" name="TextBox 23">
            <a:extLst>
              <a:ext uri="{FF2B5EF4-FFF2-40B4-BE49-F238E27FC236}">
                <a16:creationId xmlns:a16="http://schemas.microsoft.com/office/drawing/2014/main" id="{0FF987DD-A34E-443F-919D-9470B5F631D9}"/>
              </a:ext>
            </a:extLst>
          </p:cNvPr>
          <p:cNvSpPr txBox="1"/>
          <p:nvPr/>
        </p:nvSpPr>
        <p:spPr>
          <a:xfrm>
            <a:off x="585809" y="123167"/>
            <a:ext cx="482461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dirty="0">
                <a:solidFill>
                  <a:schemeClr val="accent6">
                    <a:lumMod val="20000"/>
                    <a:lumOff val="80000"/>
                  </a:schemeClr>
                </a:solidFill>
                <a:latin typeface="+mj-lt"/>
              </a:rPr>
              <a:t>Sales/ Sales Journal </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sp>
        <p:nvSpPr>
          <p:cNvPr id="30" name="Text Box 18">
            <a:extLst>
              <a:ext uri="{FF2B5EF4-FFF2-40B4-BE49-F238E27FC236}">
                <a16:creationId xmlns:a16="http://schemas.microsoft.com/office/drawing/2014/main" id="{DBC87BFE-68B7-4202-A3FC-88241AD6F3F9}"/>
              </a:ext>
            </a:extLst>
          </p:cNvPr>
          <p:cNvSpPr txBox="1"/>
          <p:nvPr/>
        </p:nvSpPr>
        <p:spPr>
          <a:xfrm>
            <a:off x="585809" y="1764098"/>
            <a:ext cx="4203286" cy="4408006"/>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9.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you want to upload file attachment in image form, click the attachment and upload the file.</a:t>
            </a: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solidFill>
                <a:schemeClr val="tx1">
                  <a:lumMod val="85000"/>
                  <a:lumOff val="15000"/>
                </a:schemeClr>
              </a:solidFill>
              <a:latin typeface="Chivo Light" panose="020B0303030202020804" pitchFamily="34" charset="0"/>
              <a:ea typeface="Calibri" panose="020F0502020204030204" pitchFamily="34" charset="0"/>
              <a:cs typeface="Times New Roman" panose="02020603050405020304" pitchFamily="18" charset="0"/>
            </a:endParaRPr>
          </a:p>
          <a:p>
            <a:pPr marL="228600" marR="0">
              <a:lnSpc>
                <a:spcPct val="115000"/>
              </a:lnSpc>
              <a:spcBef>
                <a:spcPts val="0"/>
              </a:spcBef>
              <a:spcAft>
                <a:spcPts val="0"/>
              </a:spcAft>
            </a:pPr>
            <a:endParaRPr lang="en-US" sz="1200" dirty="0">
              <a:solidFill>
                <a:schemeClr val="tx1">
                  <a:lumMod val="85000"/>
                  <a:lumOff val="15000"/>
                </a:schemeClr>
              </a:solidFill>
              <a:latin typeface="Chivo Light" panose="020B0303030202020804" pitchFamily="34" charset="0"/>
              <a:ea typeface="Calibri" panose="020F0502020204030204" pitchFamily="34" charset="0"/>
              <a:cs typeface="Times New Roman" panose="02020603050405020304" pitchFamily="18" charset="0"/>
            </a:endParaRPr>
          </a:p>
          <a:p>
            <a:pPr marL="228600" marR="0">
              <a:lnSpc>
                <a:spcPct val="115000"/>
              </a:lnSpc>
              <a:spcBef>
                <a:spcPts val="0"/>
              </a:spcBef>
              <a:spcAft>
                <a:spcPts val="0"/>
              </a:spcAft>
            </a:pPr>
            <a:endParaRPr lang="en-US" sz="1200" dirty="0">
              <a:solidFill>
                <a:schemeClr val="tx1">
                  <a:lumMod val="85000"/>
                  <a:lumOff val="15000"/>
                </a:schemeClr>
              </a:solidFill>
              <a:latin typeface="Chivo Light" panose="020B0303030202020804" pitchFamily="34" charset="0"/>
              <a:ea typeface="Calibri" panose="020F0502020204030204" pitchFamily="34" charset="0"/>
              <a:cs typeface="Times New Roman" panose="02020603050405020304" pitchFamily="18" charset="0"/>
            </a:endParaRPr>
          </a:p>
          <a:p>
            <a:pPr marL="228600" marR="0">
              <a:lnSpc>
                <a:spcPct val="115000"/>
              </a:lnSpc>
              <a:spcBef>
                <a:spcPts val="0"/>
              </a:spcBef>
              <a:spcAft>
                <a:spcPts val="0"/>
              </a:spcAft>
            </a:pPr>
            <a:endParaRPr lang="en-US" sz="1200" dirty="0">
              <a:solidFill>
                <a:schemeClr val="tx1">
                  <a:lumMod val="85000"/>
                  <a:lumOff val="15000"/>
                </a:schemeClr>
              </a:solidFill>
              <a:latin typeface="Chivo Light" panose="020B0303030202020804" pitchFamily="34" charset="0"/>
              <a:ea typeface="Calibri" panose="020F0502020204030204" pitchFamily="34" charset="0"/>
              <a:cs typeface="Times New Roman" panose="02020603050405020304" pitchFamily="18" charset="0"/>
            </a:endParaRPr>
          </a:p>
          <a:p>
            <a:pPr marL="228600" marR="0">
              <a:lnSpc>
                <a:spcPct val="115000"/>
              </a:lnSpc>
              <a:spcBef>
                <a:spcPts val="0"/>
              </a:spcBef>
              <a:spcAft>
                <a:spcPts val="0"/>
              </a:spcAft>
            </a:pPr>
            <a:endParaRPr lang="en-US" sz="1200" dirty="0">
              <a:solidFill>
                <a:schemeClr val="tx1">
                  <a:lumMod val="85000"/>
                  <a:lumOff val="15000"/>
                </a:schemeClr>
              </a:solidFill>
              <a:latin typeface="Chivo Light" panose="020B0303030202020804" pitchFamily="34" charset="0"/>
              <a:ea typeface="Calibri" panose="020F0502020204030204" pitchFamily="34" charset="0"/>
              <a:cs typeface="Times New Roman" panose="02020603050405020304" pitchFamily="18" charset="0"/>
            </a:endParaRPr>
          </a:p>
          <a:p>
            <a:pPr marL="228600" marR="0">
              <a:lnSpc>
                <a:spcPct val="115000"/>
              </a:lnSpc>
              <a:spcBef>
                <a:spcPts val="0"/>
              </a:spcBef>
              <a:spcAft>
                <a:spcPts val="0"/>
              </a:spcAft>
            </a:pPr>
            <a:endParaRPr lang="en-US" sz="1200" dirty="0">
              <a:solidFill>
                <a:schemeClr val="tx1">
                  <a:lumMod val="85000"/>
                  <a:lumOff val="15000"/>
                </a:schemeClr>
              </a:solidFill>
              <a:latin typeface="Chivo Light" panose="020B0303030202020804" pitchFamily="34" charset="0"/>
              <a:ea typeface="Calibri" panose="020F0502020204030204" pitchFamily="34" charset="0"/>
              <a:cs typeface="Times New Roman" panose="02020603050405020304" pitchFamily="18" charset="0"/>
            </a:endParaRPr>
          </a:p>
          <a:p>
            <a:pPr marL="228600" marR="0">
              <a:lnSpc>
                <a:spcPct val="115000"/>
              </a:lnSpc>
              <a:spcBef>
                <a:spcPts val="0"/>
              </a:spcBef>
              <a:spcAft>
                <a:spcPts val="0"/>
              </a:spcAft>
            </a:pPr>
            <a:endParaRPr lang="en-US" sz="1200" dirty="0">
              <a:solidFill>
                <a:schemeClr val="tx1">
                  <a:lumMod val="85000"/>
                  <a:lumOff val="15000"/>
                </a:schemeClr>
              </a:solidFill>
              <a:latin typeface="Chivo Light" panose="020B0303030202020804" pitchFamily="34" charset="0"/>
              <a:ea typeface="Calibri" panose="020F0502020204030204" pitchFamily="34"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10</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solidFill>
                  <a:schemeClr val="tx1">
                    <a:lumMod val="85000"/>
                    <a:lumOff val="15000"/>
                  </a:schemeClr>
                </a:solidFill>
                <a:latin typeface="Chivo Light" panose="020B0303030202020804" pitchFamily="34" charset="0"/>
                <a:ea typeface="Calibri" panose="020F0502020204030204" pitchFamily="34" charset="0"/>
                <a:cs typeface="Times New Roman" panose="02020603050405020304" pitchFamily="18" charset="0"/>
              </a:rPr>
              <a:t>To add details in delivery, scroll down and click the delivery status tab. Encode the necessary details and click save once done.</a:t>
            </a:r>
          </a:p>
          <a:p>
            <a:pPr marL="228600" marR="0">
              <a:lnSpc>
                <a:spcPct val="115000"/>
              </a:lnSpc>
              <a:spcBef>
                <a:spcPts val="0"/>
              </a:spcBef>
              <a:spcAft>
                <a:spcPts val="0"/>
              </a:spcAft>
            </a:pPr>
            <a:endParaRPr lang="en-US" sz="1200" dirty="0">
              <a:solidFill>
                <a:schemeClr val="tx1">
                  <a:lumMod val="85000"/>
                  <a:lumOff val="15000"/>
                </a:schemeClr>
              </a:solidFill>
              <a:effectLst/>
              <a:latin typeface="Chivo Light" panose="020B0303030202020804" pitchFamily="34" charset="0"/>
              <a:ea typeface="Calibri" panose="020F0502020204030204" pitchFamily="34" charset="0"/>
              <a:cs typeface="Times New Roman" panose="02020603050405020304" pitchFamily="18" charset="0"/>
            </a:endParaRPr>
          </a:p>
          <a:p>
            <a:pPr marL="228600" marR="0">
              <a:lnSpc>
                <a:spcPct val="115000"/>
              </a:lnSpc>
              <a:spcBef>
                <a:spcPts val="0"/>
              </a:spcBef>
              <a:spcAft>
                <a:spcPts val="0"/>
              </a:spcAft>
            </a:pPr>
            <a:endParaRPr lang="en-US" sz="1200" dirty="0">
              <a:solidFill>
                <a:schemeClr val="tx1">
                  <a:lumMod val="85000"/>
                  <a:lumOff val="15000"/>
                </a:schemeClr>
              </a:solidFill>
              <a:latin typeface="Chivo Light" panose="020B0303030202020804" pitchFamily="34" charset="0"/>
              <a:ea typeface="Calibri" panose="020F0502020204030204" pitchFamily="34" charset="0"/>
              <a:cs typeface="Times New Roman" panose="02020603050405020304" pitchFamily="18" charset="0"/>
            </a:endParaRPr>
          </a:p>
          <a:p>
            <a:pPr marL="228600" marR="0">
              <a:lnSpc>
                <a:spcPct val="115000"/>
              </a:lnSpc>
              <a:spcBef>
                <a:spcPts val="0"/>
              </a:spcBef>
              <a:spcAft>
                <a:spcPts val="0"/>
              </a:spcAft>
            </a:pPr>
            <a:r>
              <a:rPr lang="en-US" sz="11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11. </a:t>
            </a:r>
            <a:r>
              <a:rPr lang="en-US" sz="1200" dirty="0">
                <a:effectLst/>
                <a:latin typeface="Chivo Light" pitchFamily="2" charset="0"/>
                <a:ea typeface="Calibri" panose="020F0502020204030204" pitchFamily="34" charset="0"/>
                <a:cs typeface="Chivo Light" pitchFamily="2" charset="0"/>
              </a:rPr>
              <a:t>To finalized the transaction, go to main form and click post button</a:t>
            </a:r>
          </a:p>
        </p:txBody>
      </p:sp>
      <p:sp>
        <p:nvSpPr>
          <p:cNvPr id="6" name="Slide Number Placeholder 5">
            <a:extLst>
              <a:ext uri="{FF2B5EF4-FFF2-40B4-BE49-F238E27FC236}">
                <a16:creationId xmlns:a16="http://schemas.microsoft.com/office/drawing/2014/main" id="{CA24D981-313E-3A0F-F824-1BB1DAC3093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pic>
        <p:nvPicPr>
          <p:cNvPr id="5" name="Picture 4">
            <a:extLst>
              <a:ext uri="{FF2B5EF4-FFF2-40B4-BE49-F238E27FC236}">
                <a16:creationId xmlns:a16="http://schemas.microsoft.com/office/drawing/2014/main" id="{27F23439-90A3-E38C-519C-652D716613E2}"/>
              </a:ext>
            </a:extLst>
          </p:cNvPr>
          <p:cNvPicPr>
            <a:picLocks noChangeAspect="1"/>
          </p:cNvPicPr>
          <p:nvPr/>
        </p:nvPicPr>
        <p:blipFill>
          <a:blip r:embed="rId2"/>
          <a:srcRect/>
          <a:stretch>
            <a:fillRect/>
          </a:stretch>
        </p:blipFill>
        <p:spPr bwMode="auto">
          <a:xfrm>
            <a:off x="5287645" y="1348153"/>
            <a:ext cx="6188710" cy="1383030"/>
          </a:xfrm>
          <a:prstGeom prst="rect">
            <a:avLst/>
          </a:prstGeom>
          <a:noFill/>
          <a:ln w="9525">
            <a:noFill/>
            <a:miter lim="800000"/>
            <a:headEnd/>
            <a:tailEnd/>
          </a:ln>
        </p:spPr>
      </p:pic>
      <p:pic>
        <p:nvPicPr>
          <p:cNvPr id="14" name="Picture 13">
            <a:extLst>
              <a:ext uri="{FF2B5EF4-FFF2-40B4-BE49-F238E27FC236}">
                <a16:creationId xmlns:a16="http://schemas.microsoft.com/office/drawing/2014/main" id="{0F6AE286-A042-DB3F-2866-AA768CEE5E41}"/>
              </a:ext>
            </a:extLst>
          </p:cNvPr>
          <p:cNvPicPr>
            <a:picLocks noChangeAspect="1"/>
          </p:cNvPicPr>
          <p:nvPr/>
        </p:nvPicPr>
        <p:blipFill>
          <a:blip r:embed="rId3"/>
          <a:srcRect/>
          <a:stretch>
            <a:fillRect/>
          </a:stretch>
        </p:blipFill>
        <p:spPr bwMode="auto">
          <a:xfrm>
            <a:off x="8526016" y="2219906"/>
            <a:ext cx="1760855" cy="1224280"/>
          </a:xfrm>
          <a:prstGeom prst="rect">
            <a:avLst/>
          </a:prstGeom>
          <a:noFill/>
          <a:ln w="9525">
            <a:noFill/>
            <a:miter lim="800000"/>
            <a:headEnd/>
            <a:tailEnd/>
          </a:ln>
        </p:spPr>
      </p:pic>
      <p:sp>
        <p:nvSpPr>
          <p:cNvPr id="15" name="Text Box 2">
            <a:extLst>
              <a:ext uri="{FF2B5EF4-FFF2-40B4-BE49-F238E27FC236}">
                <a16:creationId xmlns:a16="http://schemas.microsoft.com/office/drawing/2014/main" id="{5B253A2E-5F8C-D699-C400-4AED33ECE21D}"/>
              </a:ext>
            </a:extLst>
          </p:cNvPr>
          <p:cNvSpPr txBox="1">
            <a:spLocks noChangeArrowheads="1"/>
          </p:cNvSpPr>
          <p:nvPr/>
        </p:nvSpPr>
        <p:spPr bwMode="auto">
          <a:xfrm>
            <a:off x="5317173" y="2487315"/>
            <a:ext cx="3035300" cy="941686"/>
          </a:xfrm>
          <a:prstGeom prst="rect">
            <a:avLst/>
          </a:prstGeom>
          <a:solidFill>
            <a:srgbClr val="FFF2CC"/>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85725" marR="0" lvl="0" algn="l" defTabSz="914400" rtl="0" eaLnBrk="0" fontAlgn="base" latinLnBrk="0" hangingPunct="0">
              <a:lnSpc>
                <a:spcPct val="100000"/>
              </a:lnSpc>
              <a:spcBef>
                <a:spcPts val="438"/>
              </a:spcBef>
              <a:spcAft>
                <a:spcPts val="800"/>
              </a:spcAft>
              <a:buClrTx/>
              <a:buSzTx/>
              <a:buFontTx/>
              <a:buNone/>
              <a:tabLst/>
            </a:pPr>
            <a:r>
              <a:rPr kumimoji="0" lang="en-PH" altLang="en-US" sz="1000" b="0" i="1" u="none" strike="noStrike" cap="none" normalizeH="0" baseline="0" dirty="0">
                <a:ln>
                  <a:noFill/>
                </a:ln>
                <a:solidFill>
                  <a:srgbClr val="4F6128"/>
                </a:solidFill>
                <a:effectLst/>
                <a:latin typeface="Calibri" panose="020F0502020204030204" pitchFamily="34" charset="0"/>
              </a:rPr>
              <a:t>How to upload document?</a:t>
            </a:r>
            <a:endParaRPr kumimoji="0" lang="en-PH" altLang="en-US" sz="1000" b="0" i="1" u="none" strike="noStrike" cap="none" normalizeH="0" baseline="0" dirty="0">
              <a:ln>
                <a:noFill/>
              </a:ln>
              <a:solidFill>
                <a:schemeClr val="tx1"/>
              </a:solidFill>
              <a:effectLst/>
              <a:latin typeface="Times New Roman" panose="02020603050405020304" pitchFamily="18" charset="0"/>
            </a:endParaRPr>
          </a:p>
          <a:p>
            <a:pPr marL="361950" marR="0" lvl="1" indent="-180975"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Type the title of the document.</a:t>
            </a:r>
            <a:endParaRPr kumimoji="0" lang="en-US" altLang="en-US" sz="10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361950" marR="0" lvl="1" indent="-180975" algn="l" defTabSz="914400" rtl="0" eaLnBrk="0" fontAlgn="base" latinLnBrk="0" hangingPunct="0">
              <a:lnSpc>
                <a:spcPct val="78000"/>
              </a:lnSpc>
              <a:spcBef>
                <a:spcPct val="0"/>
              </a:spcBef>
              <a:spcAft>
                <a:spcPct val="0"/>
              </a:spcAft>
              <a:buClrTx/>
              <a:buSzTx/>
              <a:buFont typeface="+mj-lt"/>
              <a:buAutoNum type="arabicPeriod"/>
              <a:tabLst/>
            </a:pPr>
            <a:r>
              <a:rPr kumimoji="0" lang="en-US" altLang="en-US" sz="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Click add button to add the chosen document to upload</a:t>
            </a:r>
          </a:p>
          <a:p>
            <a:pPr marL="361950" marR="0" lvl="1" indent="-180975" algn="l" defTabSz="914400" rtl="0" eaLnBrk="0" fontAlgn="base" latinLnBrk="0" hangingPunct="0">
              <a:lnSpc>
                <a:spcPct val="78000"/>
              </a:lnSpc>
              <a:spcBef>
                <a:spcPct val="0"/>
              </a:spcBef>
              <a:spcAft>
                <a:spcPct val="0"/>
              </a:spcAft>
              <a:buClrTx/>
              <a:buSzTx/>
              <a:buFont typeface="+mj-lt"/>
              <a:buAutoNum type="arabicPeriod"/>
              <a:tabLst/>
            </a:pPr>
            <a:r>
              <a:rPr kumimoji="0" lang="en-US" altLang="en-US" sz="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Then click upload button. </a:t>
            </a:r>
          </a:p>
          <a:p>
            <a:pPr marL="361950" marR="0" lvl="1" indent="-180975" algn="l" defTabSz="914400" rtl="0" eaLnBrk="0" fontAlgn="base" latinLnBrk="0" hangingPunct="0">
              <a:lnSpc>
                <a:spcPct val="78000"/>
              </a:lnSpc>
              <a:spcBef>
                <a:spcPct val="0"/>
              </a:spcBef>
              <a:spcAft>
                <a:spcPct val="0"/>
              </a:spcAft>
              <a:buClrTx/>
              <a:buSzTx/>
              <a:buFont typeface="+mj-lt"/>
              <a:buAutoNum type="arabicPeriod"/>
              <a:tabLst/>
            </a:pPr>
            <a:r>
              <a:rPr kumimoji="0" lang="en-US" altLang="en-US" sz="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If you want to add more document, click add document button and repeat steps #1 to 3.</a:t>
            </a:r>
            <a:endPar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sp>
        <p:nvSpPr>
          <p:cNvPr id="18" name="Rectangle 479">
            <a:extLst>
              <a:ext uri="{FF2B5EF4-FFF2-40B4-BE49-F238E27FC236}">
                <a16:creationId xmlns:a16="http://schemas.microsoft.com/office/drawing/2014/main" id="{0F459C0E-0223-0A78-4A28-03B418506455}"/>
              </a:ext>
            </a:extLst>
          </p:cNvPr>
          <p:cNvSpPr>
            <a:spLocks noChangeArrowheads="1"/>
          </p:cNvSpPr>
          <p:nvPr/>
        </p:nvSpPr>
        <p:spPr bwMode="auto">
          <a:xfrm>
            <a:off x="8584118" y="2648468"/>
            <a:ext cx="1644650" cy="188246"/>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PH"/>
          </a:p>
        </p:txBody>
      </p:sp>
      <p:sp>
        <p:nvSpPr>
          <p:cNvPr id="19" name="Rectangle 307">
            <a:extLst>
              <a:ext uri="{FF2B5EF4-FFF2-40B4-BE49-F238E27FC236}">
                <a16:creationId xmlns:a16="http://schemas.microsoft.com/office/drawing/2014/main" id="{F7D287B7-A35D-CECF-3489-53FC806644F3}"/>
              </a:ext>
            </a:extLst>
          </p:cNvPr>
          <p:cNvSpPr>
            <a:spLocks noChangeArrowheads="1"/>
          </p:cNvSpPr>
          <p:nvPr/>
        </p:nvSpPr>
        <p:spPr bwMode="auto">
          <a:xfrm>
            <a:off x="10382250" y="1988767"/>
            <a:ext cx="962025" cy="234751"/>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PH"/>
          </a:p>
        </p:txBody>
      </p:sp>
      <p:sp>
        <p:nvSpPr>
          <p:cNvPr id="20" name="Curved Up Arrow 468">
            <a:extLst>
              <a:ext uri="{FF2B5EF4-FFF2-40B4-BE49-F238E27FC236}">
                <a16:creationId xmlns:a16="http://schemas.microsoft.com/office/drawing/2014/main" id="{F988CC52-9049-18F3-87BC-ECF3121AD9AA}"/>
              </a:ext>
            </a:extLst>
          </p:cNvPr>
          <p:cNvSpPr>
            <a:spLocks noChangeArrowheads="1"/>
          </p:cNvSpPr>
          <p:nvPr/>
        </p:nvSpPr>
        <p:spPr bwMode="auto">
          <a:xfrm rot="20250796" flipH="1">
            <a:off x="10266369" y="2288506"/>
            <a:ext cx="539750" cy="254000"/>
          </a:xfrm>
          <a:prstGeom prst="curvedUpArrow">
            <a:avLst>
              <a:gd name="adj1" fmla="val 25008"/>
              <a:gd name="adj2" fmla="val 49997"/>
              <a:gd name="adj3" fmla="val 17500"/>
            </a:avLst>
          </a:prstGeom>
          <a:solidFill>
            <a:srgbClr val="000000"/>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en-PH"/>
          </a:p>
        </p:txBody>
      </p:sp>
      <p:cxnSp>
        <p:nvCxnSpPr>
          <p:cNvPr id="322" name="AutoShape 6">
            <a:extLst>
              <a:ext uri="{FF2B5EF4-FFF2-40B4-BE49-F238E27FC236}">
                <a16:creationId xmlns:a16="http://schemas.microsoft.com/office/drawing/2014/main" id="{F4AB0FDC-77DD-5BA6-0CB6-546F4BEC1CEE}"/>
              </a:ext>
            </a:extLst>
          </p:cNvPr>
          <p:cNvCxnSpPr>
            <a:cxnSpLocks noChangeShapeType="1"/>
            <a:endCxn id="35" idx="1"/>
          </p:cNvCxnSpPr>
          <p:nvPr/>
        </p:nvCxnSpPr>
        <p:spPr bwMode="auto">
          <a:xfrm flipV="1">
            <a:off x="10247305" y="2727955"/>
            <a:ext cx="200613" cy="36265"/>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cxnSp>
      <p:cxnSp>
        <p:nvCxnSpPr>
          <p:cNvPr id="25" name="AutoShape 7">
            <a:extLst>
              <a:ext uri="{FF2B5EF4-FFF2-40B4-BE49-F238E27FC236}">
                <a16:creationId xmlns:a16="http://schemas.microsoft.com/office/drawing/2014/main" id="{F0C41AA9-05D2-CE60-3EBD-3E7063C293E0}"/>
              </a:ext>
            </a:extLst>
          </p:cNvPr>
          <p:cNvCxnSpPr>
            <a:cxnSpLocks noChangeShapeType="1"/>
          </p:cNvCxnSpPr>
          <p:nvPr/>
        </p:nvCxnSpPr>
        <p:spPr bwMode="auto">
          <a:xfrm flipV="1">
            <a:off x="10244730" y="3019769"/>
            <a:ext cx="215684" cy="1874"/>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cxnSp>
      <p:sp>
        <p:nvSpPr>
          <p:cNvPr id="28" name="Rectangle 497">
            <a:extLst>
              <a:ext uri="{FF2B5EF4-FFF2-40B4-BE49-F238E27FC236}">
                <a16:creationId xmlns:a16="http://schemas.microsoft.com/office/drawing/2014/main" id="{A5AF7336-35A7-5316-508D-EF10E4D9564C}"/>
              </a:ext>
            </a:extLst>
          </p:cNvPr>
          <p:cNvSpPr>
            <a:spLocks noChangeArrowheads="1"/>
          </p:cNvSpPr>
          <p:nvPr/>
        </p:nvSpPr>
        <p:spPr bwMode="auto">
          <a:xfrm>
            <a:off x="10013524" y="2939751"/>
            <a:ext cx="215900" cy="1619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PH"/>
          </a:p>
        </p:txBody>
      </p:sp>
      <p:sp>
        <p:nvSpPr>
          <p:cNvPr id="35" name="Text Box 499">
            <a:extLst>
              <a:ext uri="{FF2B5EF4-FFF2-40B4-BE49-F238E27FC236}">
                <a16:creationId xmlns:a16="http://schemas.microsoft.com/office/drawing/2014/main" id="{3FDB3159-FA54-73D9-6EED-D16CFFD0FC11}"/>
              </a:ext>
            </a:extLst>
          </p:cNvPr>
          <p:cNvSpPr txBox="1">
            <a:spLocks noChangeArrowheads="1"/>
          </p:cNvSpPr>
          <p:nvPr/>
        </p:nvSpPr>
        <p:spPr bwMode="auto">
          <a:xfrm>
            <a:off x="10447918" y="2585080"/>
            <a:ext cx="558800"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rPr>
              <a:t>1</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7" name="Text Box 499">
            <a:extLst>
              <a:ext uri="{FF2B5EF4-FFF2-40B4-BE49-F238E27FC236}">
                <a16:creationId xmlns:a16="http://schemas.microsoft.com/office/drawing/2014/main" id="{2A1FE126-56DD-5C7F-3E21-576026F57CC4}"/>
              </a:ext>
            </a:extLst>
          </p:cNvPr>
          <p:cNvSpPr txBox="1">
            <a:spLocks noChangeArrowheads="1"/>
          </p:cNvSpPr>
          <p:nvPr/>
        </p:nvSpPr>
        <p:spPr bwMode="auto">
          <a:xfrm>
            <a:off x="10460414" y="2927433"/>
            <a:ext cx="558800"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rPr>
              <a:t>2</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8" name="Picture 47">
            <a:extLst>
              <a:ext uri="{FF2B5EF4-FFF2-40B4-BE49-F238E27FC236}">
                <a16:creationId xmlns:a16="http://schemas.microsoft.com/office/drawing/2014/main" id="{D1A1C868-CDD7-37DB-7553-A73DDE29AFBC}"/>
              </a:ext>
            </a:extLst>
          </p:cNvPr>
          <p:cNvPicPr>
            <a:picLocks noChangeAspect="1"/>
          </p:cNvPicPr>
          <p:nvPr/>
        </p:nvPicPr>
        <p:blipFill>
          <a:blip r:embed="rId4"/>
          <a:srcRect/>
          <a:stretch>
            <a:fillRect/>
          </a:stretch>
        </p:blipFill>
        <p:spPr bwMode="auto">
          <a:xfrm>
            <a:off x="5317173" y="3775231"/>
            <a:ext cx="6189345" cy="2322830"/>
          </a:xfrm>
          <a:prstGeom prst="rect">
            <a:avLst/>
          </a:prstGeom>
          <a:noFill/>
          <a:ln w="9525">
            <a:noFill/>
            <a:miter lim="800000"/>
            <a:headEnd/>
            <a:tailEnd/>
          </a:ln>
        </p:spPr>
      </p:pic>
    </p:spTree>
    <p:extLst>
      <p:ext uri="{BB962C8B-B14F-4D97-AF65-F5344CB8AC3E}">
        <p14:creationId xmlns:p14="http://schemas.microsoft.com/office/powerpoint/2010/main" val="25794454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805110" y="965527"/>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mj-lt"/>
              </a:rPr>
              <a:t>How To Edit Sales Journal Transaction?</a:t>
            </a:r>
            <a:endParaRPr lang="en-US" sz="2000" dirty="0">
              <a:solidFill>
                <a:srgbClr val="007434"/>
              </a:solidFill>
              <a:latin typeface="+mj-lt"/>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1491920"/>
            <a:ext cx="4179346" cy="427250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1.1.</a:t>
            </a: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  </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In the sales </a:t>
            </a:r>
            <a:r>
              <a:rPr lang="en-PH" sz="1200" dirty="0">
                <a:latin typeface="Chivo Light" panose="020B0303030202020804" pitchFamily="34" charset="0"/>
                <a:ea typeface="Times New Roman" panose="02020603050405020304" pitchFamily="18" charset="0"/>
                <a:cs typeface="Times New Roman" panose="02020603050405020304" pitchFamily="18" charset="0"/>
              </a:rPr>
              <a:t>journal</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 – main window, search the sales order transaction you wish to edit its information in the search bar. Or,</a:t>
            </a:r>
          </a:p>
          <a:p>
            <a:pPr marL="228600" marR="0">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1.2.</a:t>
            </a:r>
            <a:r>
              <a:rPr lang="en-PH" sz="1200" b="1"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In sales </a:t>
            </a:r>
            <a:r>
              <a:rPr lang="en-PH" sz="1200" dirty="0">
                <a:latin typeface="Chivo Light" panose="020B0303030202020804" pitchFamily="34" charset="0"/>
                <a:ea typeface="Times New Roman" panose="02020603050405020304" pitchFamily="18" charset="0"/>
                <a:cs typeface="Times New Roman" panose="02020603050405020304" pitchFamily="18" charset="0"/>
              </a:rPr>
              <a:t>journal</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 – main form, click the lookup button and select the transaction you wish to edit its information by typing its transaction number in the search bar.</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2.</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After you select the SJ transaction, if you wish to edit the header of the transaction click edit button. </a:t>
            </a:r>
          </a:p>
          <a:p>
            <a:pPr marL="457200" marR="0" indent="-228600">
              <a:lnSpc>
                <a:spcPct val="115000"/>
              </a:lnSpc>
              <a:spcBef>
                <a:spcPts val="0"/>
              </a:spcBef>
              <a:spcAft>
                <a:spcPts val="0"/>
              </a:spcAft>
              <a:buAutoNum type="arabicPeriod" startAt="2"/>
            </a:pPr>
            <a:endPar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3.</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 If you are done editing the sales order header, click save button in the upper side of the header.</a:t>
            </a:r>
          </a:p>
          <a:p>
            <a:pPr marL="228600" marR="0">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A3970DB8-934F-E30F-0602-D150FFB10E03}"/>
              </a:ext>
            </a:extLst>
          </p:cNvPr>
          <p:cNvSpPr txBox="1"/>
          <p:nvPr/>
        </p:nvSpPr>
        <p:spPr>
          <a:xfrm>
            <a:off x="7296700" y="2861781"/>
            <a:ext cx="2552700"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effectLst/>
                <a:latin typeface="Calibri" panose="020F0502020204030204" pitchFamily="34" charset="0"/>
                <a:ea typeface="Calibri" panose="020F0502020204030204" pitchFamily="34" charset="0"/>
                <a:cs typeface="Calibri" panose="020F0502020204030204" pitchFamily="34" charset="0"/>
              </a:rPr>
              <a:t>Sales Journal – Main </a:t>
            </a:r>
            <a:r>
              <a:rPr lang="en-PH" sz="1200" b="1" dirty="0">
                <a:latin typeface="Calibri" panose="020F0502020204030204" pitchFamily="34" charset="0"/>
                <a:ea typeface="Calibri" panose="020F0502020204030204" pitchFamily="34" charset="0"/>
                <a:cs typeface="Calibri" panose="020F0502020204030204" pitchFamily="34" charset="0"/>
              </a:rPr>
              <a:t>Window</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B71D43FF-7764-D088-83B4-EE19BA2A9179}"/>
              </a:ext>
            </a:extLst>
          </p:cNvPr>
          <p:cNvSpPr txBox="1"/>
          <p:nvPr/>
        </p:nvSpPr>
        <p:spPr>
          <a:xfrm>
            <a:off x="7376560" y="5714034"/>
            <a:ext cx="2552700"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effectLst/>
                <a:latin typeface="Calibri" panose="020F0502020204030204" pitchFamily="34" charset="0"/>
                <a:ea typeface="Calibri" panose="020F0502020204030204" pitchFamily="34" charset="0"/>
                <a:cs typeface="Calibri" panose="020F0502020204030204" pitchFamily="34" charset="0"/>
              </a:rPr>
              <a:t>Sales Journal – Main </a:t>
            </a:r>
            <a:r>
              <a:rPr lang="en-PH" sz="1200" b="1" dirty="0">
                <a:latin typeface="Calibri" panose="020F0502020204030204" pitchFamily="34" charset="0"/>
                <a:ea typeface="Calibri" panose="020F0502020204030204" pitchFamily="34" charset="0"/>
                <a:cs typeface="Calibri" panose="020F0502020204030204" pitchFamily="34" charset="0"/>
              </a:rPr>
              <a:t>Form</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pic>
        <p:nvPicPr>
          <p:cNvPr id="47" name="Picture 46">
            <a:extLst>
              <a:ext uri="{FF2B5EF4-FFF2-40B4-BE49-F238E27FC236}">
                <a16:creationId xmlns:a16="http://schemas.microsoft.com/office/drawing/2014/main" id="{EB9667B4-7753-B2D9-D672-63734C0C4A2E}"/>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8" name="TextBox 27">
            <a:extLst>
              <a:ext uri="{FF2B5EF4-FFF2-40B4-BE49-F238E27FC236}">
                <a16:creationId xmlns:a16="http://schemas.microsoft.com/office/drawing/2014/main" id="{544E27DB-5A83-4EC4-85D0-867189C66825}"/>
              </a:ext>
            </a:extLst>
          </p:cNvPr>
          <p:cNvSpPr txBox="1"/>
          <p:nvPr/>
        </p:nvSpPr>
        <p:spPr>
          <a:xfrm>
            <a:off x="585809" y="123167"/>
            <a:ext cx="482461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dirty="0">
                <a:solidFill>
                  <a:schemeClr val="accent6">
                    <a:lumMod val="20000"/>
                    <a:lumOff val="80000"/>
                  </a:schemeClr>
                </a:solidFill>
                <a:latin typeface="+mj-lt"/>
              </a:rPr>
              <a:t>Sales/ Sales Journal </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grpSp>
        <p:nvGrpSpPr>
          <p:cNvPr id="36" name="Group 35">
            <a:extLst>
              <a:ext uri="{FF2B5EF4-FFF2-40B4-BE49-F238E27FC236}">
                <a16:creationId xmlns:a16="http://schemas.microsoft.com/office/drawing/2014/main" id="{F4B3BA59-5F01-4DDF-8E09-F93C7BA41C50}"/>
              </a:ext>
            </a:extLst>
          </p:cNvPr>
          <p:cNvGrpSpPr/>
          <p:nvPr/>
        </p:nvGrpSpPr>
        <p:grpSpPr>
          <a:xfrm>
            <a:off x="5667615" y="1838336"/>
            <a:ext cx="1475739" cy="333375"/>
            <a:chOff x="0" y="0"/>
            <a:chExt cx="1476374" cy="333375"/>
          </a:xfrm>
        </p:grpSpPr>
        <p:sp>
          <p:nvSpPr>
            <p:cNvPr id="37" name="Rectangle 36">
              <a:extLst>
                <a:ext uri="{FF2B5EF4-FFF2-40B4-BE49-F238E27FC236}">
                  <a16:creationId xmlns:a16="http://schemas.microsoft.com/office/drawing/2014/main" id="{65EAF7EC-D8D2-4DCD-AED5-A7E32093F324}"/>
                </a:ext>
              </a:extLst>
            </p:cNvPr>
            <p:cNvSpPr/>
            <p:nvPr/>
          </p:nvSpPr>
          <p:spPr>
            <a:xfrm>
              <a:off x="0" y="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38" name="Straight Arrow Connector 37">
              <a:extLst>
                <a:ext uri="{FF2B5EF4-FFF2-40B4-BE49-F238E27FC236}">
                  <a16:creationId xmlns:a16="http://schemas.microsoft.com/office/drawing/2014/main" id="{6EAEE244-BAEB-46AA-8A11-7A25C11548C9}"/>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9" name="Text Box 39">
              <a:extLst>
                <a:ext uri="{FF2B5EF4-FFF2-40B4-BE49-F238E27FC236}">
                  <a16:creationId xmlns:a16="http://schemas.microsoft.com/office/drawing/2014/main" id="{AB5CEB7E-7FC8-44D1-97C9-6E5ACA751269}"/>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1.1.</a:t>
              </a:r>
              <a:endParaRPr lang="en-PH" sz="1100">
                <a:effectLst/>
                <a:ea typeface="Calibri" panose="020F0502020204030204" pitchFamily="34" charset="0"/>
                <a:cs typeface="Times New Roman" panose="02020603050405020304" pitchFamily="18" charset="0"/>
              </a:endParaRPr>
            </a:p>
          </p:txBody>
        </p:sp>
      </p:grpSp>
      <p:sp>
        <p:nvSpPr>
          <p:cNvPr id="4" name="Slide Number Placeholder 3">
            <a:extLst>
              <a:ext uri="{FF2B5EF4-FFF2-40B4-BE49-F238E27FC236}">
                <a16:creationId xmlns:a16="http://schemas.microsoft.com/office/drawing/2014/main" id="{BF83CFDF-1DCF-1CCA-63D0-5F1E4A1A937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grpSp>
        <p:nvGrpSpPr>
          <p:cNvPr id="8" name="Group 7">
            <a:extLst>
              <a:ext uri="{FF2B5EF4-FFF2-40B4-BE49-F238E27FC236}">
                <a16:creationId xmlns:a16="http://schemas.microsoft.com/office/drawing/2014/main" id="{283D3506-19C9-8E0A-B3AB-65D32A7D5805}"/>
              </a:ext>
            </a:extLst>
          </p:cNvPr>
          <p:cNvGrpSpPr/>
          <p:nvPr/>
        </p:nvGrpSpPr>
        <p:grpSpPr>
          <a:xfrm>
            <a:off x="5542830" y="782847"/>
            <a:ext cx="6060440" cy="2172970"/>
            <a:chOff x="5542830" y="782847"/>
            <a:chExt cx="6060440" cy="2172970"/>
          </a:xfrm>
        </p:grpSpPr>
        <p:pic>
          <p:nvPicPr>
            <p:cNvPr id="35" name="Picture 34">
              <a:extLst>
                <a:ext uri="{FF2B5EF4-FFF2-40B4-BE49-F238E27FC236}">
                  <a16:creationId xmlns:a16="http://schemas.microsoft.com/office/drawing/2014/main" id="{668DB0AC-3FFB-411B-9FB2-6C5BC31E1F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42830" y="782847"/>
              <a:ext cx="6060440" cy="2172970"/>
            </a:xfrm>
            <a:prstGeom prst="rect">
              <a:avLst/>
            </a:prstGeom>
          </p:spPr>
        </p:pic>
        <p:pic>
          <p:nvPicPr>
            <p:cNvPr id="2" name="Picture 1">
              <a:extLst>
                <a:ext uri="{FF2B5EF4-FFF2-40B4-BE49-F238E27FC236}">
                  <a16:creationId xmlns:a16="http://schemas.microsoft.com/office/drawing/2014/main" id="{D3197CAD-5620-A8D1-C32F-DA54183654D6}"/>
                </a:ext>
              </a:extLst>
            </p:cNvPr>
            <p:cNvPicPr>
              <a:picLocks noChangeAspect="1"/>
            </p:cNvPicPr>
            <p:nvPr/>
          </p:nvPicPr>
          <p:blipFill>
            <a:blip r:embed="rId4"/>
            <a:stretch>
              <a:fillRect/>
            </a:stretch>
          </p:blipFill>
          <p:spPr>
            <a:xfrm>
              <a:off x="6573836" y="820791"/>
              <a:ext cx="1219536" cy="168858"/>
            </a:xfrm>
            <a:prstGeom prst="rect">
              <a:avLst/>
            </a:prstGeom>
          </p:spPr>
        </p:pic>
      </p:grpSp>
      <p:grpSp>
        <p:nvGrpSpPr>
          <p:cNvPr id="6" name="Group 5">
            <a:extLst>
              <a:ext uri="{FF2B5EF4-FFF2-40B4-BE49-F238E27FC236}">
                <a16:creationId xmlns:a16="http://schemas.microsoft.com/office/drawing/2014/main" id="{14E93BA2-6643-7D82-87FB-7000E4642CB6}"/>
              </a:ext>
            </a:extLst>
          </p:cNvPr>
          <p:cNvGrpSpPr/>
          <p:nvPr/>
        </p:nvGrpSpPr>
        <p:grpSpPr>
          <a:xfrm>
            <a:off x="4913713" y="3444936"/>
            <a:ext cx="6677985" cy="2222673"/>
            <a:chOff x="4913713" y="3444936"/>
            <a:chExt cx="6677985" cy="2222673"/>
          </a:xfrm>
        </p:grpSpPr>
        <p:grpSp>
          <p:nvGrpSpPr>
            <p:cNvPr id="24" name="Group 23">
              <a:extLst>
                <a:ext uri="{FF2B5EF4-FFF2-40B4-BE49-F238E27FC236}">
                  <a16:creationId xmlns:a16="http://schemas.microsoft.com/office/drawing/2014/main" id="{20668156-2BE2-4557-8EFE-CBF20C9E074D}"/>
                </a:ext>
              </a:extLst>
            </p:cNvPr>
            <p:cNvGrpSpPr/>
            <p:nvPr/>
          </p:nvGrpSpPr>
          <p:grpSpPr>
            <a:xfrm>
              <a:off x="4913713" y="3444936"/>
              <a:ext cx="6677985" cy="2222673"/>
              <a:chOff x="4913713" y="3444936"/>
              <a:chExt cx="6677985" cy="2222673"/>
            </a:xfrm>
          </p:grpSpPr>
          <p:pic>
            <p:nvPicPr>
              <p:cNvPr id="40" name="Picture 39">
                <a:extLst>
                  <a:ext uri="{FF2B5EF4-FFF2-40B4-BE49-F238E27FC236}">
                    <a16:creationId xmlns:a16="http://schemas.microsoft.com/office/drawing/2014/main" id="{69A4EDF3-F55D-4406-B0AE-418A0176E4A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02353" y="3444936"/>
                <a:ext cx="6189345" cy="2061210"/>
              </a:xfrm>
              <a:prstGeom prst="rect">
                <a:avLst/>
              </a:prstGeom>
            </p:spPr>
          </p:pic>
          <p:grpSp>
            <p:nvGrpSpPr>
              <p:cNvPr id="16" name="Group 15">
                <a:extLst>
                  <a:ext uri="{FF2B5EF4-FFF2-40B4-BE49-F238E27FC236}">
                    <a16:creationId xmlns:a16="http://schemas.microsoft.com/office/drawing/2014/main" id="{55C5409B-6102-47DA-B227-1683AC43BC1E}"/>
                  </a:ext>
                </a:extLst>
              </p:cNvPr>
              <p:cNvGrpSpPr/>
              <p:nvPr/>
            </p:nvGrpSpPr>
            <p:grpSpPr>
              <a:xfrm>
                <a:off x="4913713" y="3903579"/>
                <a:ext cx="5866766" cy="1764030"/>
                <a:chOff x="3162617" y="2546985"/>
                <a:chExt cx="5866766" cy="1764030"/>
              </a:xfrm>
            </p:grpSpPr>
            <p:grpSp>
              <p:nvGrpSpPr>
                <p:cNvPr id="41" name="Group 40">
                  <a:extLst>
                    <a:ext uri="{FF2B5EF4-FFF2-40B4-BE49-F238E27FC236}">
                      <a16:creationId xmlns:a16="http://schemas.microsoft.com/office/drawing/2014/main" id="{03FFB8C0-6041-4E1F-9842-C28A46F3AB52}"/>
                    </a:ext>
                  </a:extLst>
                </p:cNvPr>
                <p:cNvGrpSpPr/>
                <p:nvPr/>
              </p:nvGrpSpPr>
              <p:grpSpPr>
                <a:xfrm>
                  <a:off x="4906327" y="3039110"/>
                  <a:ext cx="952500" cy="304800"/>
                  <a:chOff x="523874" y="28575"/>
                  <a:chExt cx="952500" cy="304800"/>
                </a:xfrm>
              </p:grpSpPr>
              <p:sp>
                <p:nvSpPr>
                  <p:cNvPr id="51" name="Rectangle 50">
                    <a:extLst>
                      <a:ext uri="{FF2B5EF4-FFF2-40B4-BE49-F238E27FC236}">
                        <a16:creationId xmlns:a16="http://schemas.microsoft.com/office/drawing/2014/main" id="{36AC40A6-59AF-4ED5-B029-97BDB5101FE5}"/>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52" name="Straight Arrow Connector 51">
                    <a:extLst>
                      <a:ext uri="{FF2B5EF4-FFF2-40B4-BE49-F238E27FC236}">
                        <a16:creationId xmlns:a16="http://schemas.microsoft.com/office/drawing/2014/main" id="{4030FFB5-4258-4C1E-A1BA-4C9198EDAB24}"/>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3" name="Text Box 44">
                    <a:extLst>
                      <a:ext uri="{FF2B5EF4-FFF2-40B4-BE49-F238E27FC236}">
                        <a16:creationId xmlns:a16="http://schemas.microsoft.com/office/drawing/2014/main" id="{6FA859B0-D0E5-45CB-9917-52D71F8CF629}"/>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1.2.</a:t>
                    </a:r>
                    <a:endParaRPr lang="en-PH" sz="1100">
                      <a:effectLst/>
                      <a:ea typeface="Calibri" panose="020F0502020204030204" pitchFamily="34" charset="0"/>
                      <a:cs typeface="Times New Roman" panose="02020603050405020304" pitchFamily="18" charset="0"/>
                    </a:endParaRPr>
                  </a:p>
                </p:txBody>
              </p:sp>
            </p:grpSp>
            <p:grpSp>
              <p:nvGrpSpPr>
                <p:cNvPr id="42" name="Group 41">
                  <a:extLst>
                    <a:ext uri="{FF2B5EF4-FFF2-40B4-BE49-F238E27FC236}">
                      <a16:creationId xmlns:a16="http://schemas.microsoft.com/office/drawing/2014/main" id="{AA54729C-AA4E-4575-88BB-DF15DBCF8014}"/>
                    </a:ext>
                  </a:extLst>
                </p:cNvPr>
                <p:cNvGrpSpPr/>
                <p:nvPr/>
              </p:nvGrpSpPr>
              <p:grpSpPr>
                <a:xfrm>
                  <a:off x="8048307" y="2633980"/>
                  <a:ext cx="981076" cy="304800"/>
                  <a:chOff x="333374" y="28575"/>
                  <a:chExt cx="981076" cy="304800"/>
                </a:xfrm>
              </p:grpSpPr>
              <p:sp>
                <p:nvSpPr>
                  <p:cNvPr id="48" name="Rectangle 47">
                    <a:extLst>
                      <a:ext uri="{FF2B5EF4-FFF2-40B4-BE49-F238E27FC236}">
                        <a16:creationId xmlns:a16="http://schemas.microsoft.com/office/drawing/2014/main" id="{3748B30A-123A-467A-A0BB-FFF2C17CAE76}"/>
                      </a:ext>
                    </a:extLst>
                  </p:cNvPr>
                  <p:cNvSpPr/>
                  <p:nvPr/>
                </p:nvSpPr>
                <p:spPr>
                  <a:xfrm>
                    <a:off x="333374" y="28575"/>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49" name="Straight Arrow Connector 48">
                    <a:extLst>
                      <a:ext uri="{FF2B5EF4-FFF2-40B4-BE49-F238E27FC236}">
                        <a16:creationId xmlns:a16="http://schemas.microsoft.com/office/drawing/2014/main" id="{C156968D-E422-43DC-841A-A9D0745853B2}"/>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0" name="Text Box 49">
                    <a:extLst>
                      <a:ext uri="{FF2B5EF4-FFF2-40B4-BE49-F238E27FC236}">
                        <a16:creationId xmlns:a16="http://schemas.microsoft.com/office/drawing/2014/main" id="{933D184D-C70C-499C-A626-A594483F163A}"/>
                      </a:ext>
                    </a:extLst>
                  </p:cNvPr>
                  <p:cNvSpPr txBox="1"/>
                  <p:nvPr/>
                </p:nvSpPr>
                <p:spPr>
                  <a:xfrm>
                    <a:off x="1009650" y="28575"/>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2.</a:t>
                    </a:r>
                    <a:endParaRPr lang="en-PH" sz="1100">
                      <a:effectLst/>
                      <a:ea typeface="Calibri" panose="020F0502020204030204" pitchFamily="34" charset="0"/>
                      <a:cs typeface="Times New Roman" panose="02020603050405020304" pitchFamily="18" charset="0"/>
                    </a:endParaRPr>
                  </a:p>
                </p:txBody>
              </p:sp>
            </p:grpSp>
            <p:grpSp>
              <p:nvGrpSpPr>
                <p:cNvPr id="43" name="Group 42">
                  <a:extLst>
                    <a:ext uri="{FF2B5EF4-FFF2-40B4-BE49-F238E27FC236}">
                      <a16:creationId xmlns:a16="http://schemas.microsoft.com/office/drawing/2014/main" id="{50874921-6766-40D7-9578-5AC4D0CA71AB}"/>
                    </a:ext>
                  </a:extLst>
                </p:cNvPr>
                <p:cNvGrpSpPr>
                  <a:grpSpLocks/>
                </p:cNvGrpSpPr>
                <p:nvPr/>
              </p:nvGrpSpPr>
              <p:grpSpPr bwMode="auto">
                <a:xfrm>
                  <a:off x="4847907" y="3431540"/>
                  <a:ext cx="2301875" cy="879475"/>
                  <a:chOff x="6116" y="177"/>
                  <a:chExt cx="3625" cy="1385"/>
                </a:xfrm>
              </p:grpSpPr>
              <p:pic>
                <p:nvPicPr>
                  <p:cNvPr id="45" name="Picture 44">
                    <a:extLst>
                      <a:ext uri="{FF2B5EF4-FFF2-40B4-BE49-F238E27FC236}">
                        <a16:creationId xmlns:a16="http://schemas.microsoft.com/office/drawing/2014/main" id="{F08C412C-C4F4-40C7-A88F-F6E87138D3D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16" y="177"/>
                    <a:ext cx="3625" cy="1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 name="Text Box 241">
                    <a:extLst>
                      <a:ext uri="{FF2B5EF4-FFF2-40B4-BE49-F238E27FC236}">
                        <a16:creationId xmlns:a16="http://schemas.microsoft.com/office/drawing/2014/main" id="{2AF1970F-0CEF-406D-8CE4-08D49374A330}"/>
                      </a:ext>
                    </a:extLst>
                  </p:cNvPr>
                  <p:cNvSpPr txBox="1">
                    <a:spLocks noChangeArrowheads="1"/>
                  </p:cNvSpPr>
                  <p:nvPr/>
                </p:nvSpPr>
                <p:spPr bwMode="auto">
                  <a:xfrm>
                    <a:off x="6116" y="177"/>
                    <a:ext cx="3625" cy="138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a:lnSpc>
                        <a:spcPct val="107000"/>
                      </a:lnSpc>
                      <a:spcBef>
                        <a:spcPts val="440"/>
                      </a:spcBef>
                      <a:spcAft>
                        <a:spcPts val="800"/>
                      </a:spcAft>
                    </a:pPr>
                    <a:r>
                      <a:rPr lang="en-PH" sz="1000" i="1" dirty="0">
                        <a:solidFill>
                          <a:srgbClr val="4F6128"/>
                        </a:solidFill>
                        <a:effectLst/>
                        <a:latin typeface="Calibri" panose="020F0502020204030204" pitchFamily="34" charset="0"/>
                        <a:ea typeface="Calibri" panose="020F0502020204030204" pitchFamily="34" charset="0"/>
                        <a:cs typeface="Times New Roman" panose="02020603050405020304" pitchFamily="18" charset="0"/>
                      </a:rPr>
                      <a:t>How to search SJ transaction?</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228600">
                      <a:lnSpc>
                        <a:spcPct val="115000"/>
                      </a:lnSpc>
                      <a:tabLst>
                        <a:tab pos="227330" algn="l"/>
                      </a:tabLst>
                    </a:pPr>
                    <a:r>
                      <a:rPr lang="en-US" sz="800" dirty="0">
                        <a:effectLst/>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228600">
                      <a:lnSpc>
                        <a:spcPts val="975"/>
                      </a:lnSpc>
                      <a:spcBef>
                        <a:spcPts val="5"/>
                      </a:spcBef>
                      <a:spcAft>
                        <a:spcPts val="1000"/>
                      </a:spcAft>
                      <a:tabLst>
                        <a:tab pos="203200" algn="l"/>
                      </a:tabLst>
                    </a:pPr>
                    <a:r>
                      <a:rPr lang="en-US" sz="800" dirty="0">
                        <a:effectLst/>
                        <a:latin typeface="Calibri" panose="020F0502020204030204" pitchFamily="34" charset="0"/>
                        <a:ea typeface="Calibri" panose="020F0502020204030204" pitchFamily="34" charset="0"/>
                        <a:cs typeface="Times New Roman" panose="02020603050405020304" pitchFamily="18" charset="0"/>
                      </a:rPr>
                      <a:t>Click ‘enter’ in the keyboard to</a:t>
                    </a:r>
                    <a:r>
                      <a:rPr lang="en-US" sz="8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800" dirty="0">
                        <a:effectLst/>
                        <a:latin typeface="Calibri" panose="020F0502020204030204" pitchFamily="34" charset="0"/>
                        <a:ea typeface="Calibri" panose="020F0502020204030204" pitchFamily="34" charset="0"/>
                        <a:cs typeface="Times New Roman" panose="02020603050405020304" pitchFamily="18" charset="0"/>
                      </a:rPr>
                      <a:t>search.</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p>
                    <a:pPr marL="202565" indent="-101600">
                      <a:lnSpc>
                        <a:spcPts val="975"/>
                      </a:lnSpc>
                      <a:spcAft>
                        <a:spcPts val="800"/>
                      </a:spcAft>
                      <a:tabLst>
                        <a:tab pos="203200" algn="l"/>
                      </a:tabLst>
                    </a:pPr>
                    <a:r>
                      <a:rPr lang="en-PH" sz="800" dirty="0">
                        <a:effectLst/>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p:txBody>
              </p:sp>
            </p:grpSp>
            <p:sp>
              <p:nvSpPr>
                <p:cNvPr id="44" name="Text Box 8">
                  <a:extLst>
                    <a:ext uri="{FF2B5EF4-FFF2-40B4-BE49-F238E27FC236}">
                      <a16:creationId xmlns:a16="http://schemas.microsoft.com/office/drawing/2014/main" id="{0C726356-340C-408F-999C-E4C26E7D8BEF}"/>
                    </a:ext>
                  </a:extLst>
                </p:cNvPr>
                <p:cNvSpPr txBox="1"/>
                <p:nvPr/>
              </p:nvSpPr>
              <p:spPr>
                <a:xfrm>
                  <a:off x="3162617" y="2546985"/>
                  <a:ext cx="1306195" cy="2730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HEADER</a:t>
                  </a:r>
                  <a:endParaRPr lang="en-PH" sz="1100">
                    <a:effectLst/>
                    <a:ea typeface="Calibri" panose="020F0502020204030204" pitchFamily="34" charset="0"/>
                    <a:cs typeface="Times New Roman" panose="02020603050405020304" pitchFamily="18" charset="0"/>
                  </a:endParaRPr>
                </a:p>
              </p:txBody>
            </p:sp>
          </p:grpSp>
        </p:grpSp>
        <p:pic>
          <p:nvPicPr>
            <p:cNvPr id="5" name="Picture 4">
              <a:extLst>
                <a:ext uri="{FF2B5EF4-FFF2-40B4-BE49-F238E27FC236}">
                  <a16:creationId xmlns:a16="http://schemas.microsoft.com/office/drawing/2014/main" id="{BB8E3141-2EAE-4DB5-E6D6-53637CEA5795}"/>
                </a:ext>
              </a:extLst>
            </p:cNvPr>
            <p:cNvPicPr>
              <a:picLocks noChangeAspect="1"/>
            </p:cNvPicPr>
            <p:nvPr/>
          </p:nvPicPr>
          <p:blipFill>
            <a:blip r:embed="rId4"/>
            <a:stretch>
              <a:fillRect/>
            </a:stretch>
          </p:blipFill>
          <p:spPr>
            <a:xfrm>
              <a:off x="6441057" y="3490594"/>
              <a:ext cx="1235978" cy="171135"/>
            </a:xfrm>
            <a:prstGeom prst="rect">
              <a:avLst/>
            </a:prstGeom>
          </p:spPr>
        </p:pic>
      </p:grpSp>
    </p:spTree>
    <p:extLst>
      <p:ext uri="{BB962C8B-B14F-4D97-AF65-F5344CB8AC3E}">
        <p14:creationId xmlns:p14="http://schemas.microsoft.com/office/powerpoint/2010/main" val="35026009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42052"/>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mj-lt"/>
              </a:rPr>
              <a:t>How To Edit Sales Journal Transaction?</a:t>
            </a:r>
            <a:endParaRPr lang="en-US" sz="2000" dirty="0">
              <a:solidFill>
                <a:srgbClr val="007434"/>
              </a:solidFill>
              <a:latin typeface="+mj-lt"/>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39813" y="1665554"/>
            <a:ext cx="4179346" cy="427250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r>
              <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4</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 If you want to edit the items in sales journal stock, edit right away the details you want to change and you will notice that after you change the details, the item you edited will be highlighted into blue. </a:t>
            </a:r>
          </a:p>
          <a:p>
            <a:pPr marL="228600" marR="0">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a:t>
            </a:r>
            <a:r>
              <a:rPr lang="en-PH" sz="1200"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 </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If you’re done editing, click save item button to save the changes you made in the items.</a:t>
            </a:r>
          </a:p>
          <a:p>
            <a:pPr marL="228600" marR="0">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6</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To delete all items in the stock, click delete item button.</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7</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To delete a specific item on the table, click the delete icon next to the item to delete it.</a:t>
            </a:r>
          </a:p>
          <a:p>
            <a:pPr marL="228600" marR="0">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47" name="Picture 46">
            <a:extLst>
              <a:ext uri="{FF2B5EF4-FFF2-40B4-BE49-F238E27FC236}">
                <a16:creationId xmlns:a16="http://schemas.microsoft.com/office/drawing/2014/main" id="{EB9667B4-7753-B2D9-D672-63734C0C4A2E}"/>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8" name="TextBox 27">
            <a:extLst>
              <a:ext uri="{FF2B5EF4-FFF2-40B4-BE49-F238E27FC236}">
                <a16:creationId xmlns:a16="http://schemas.microsoft.com/office/drawing/2014/main" id="{544E27DB-5A83-4EC4-85D0-867189C66825}"/>
              </a:ext>
            </a:extLst>
          </p:cNvPr>
          <p:cNvSpPr txBox="1"/>
          <p:nvPr/>
        </p:nvSpPr>
        <p:spPr>
          <a:xfrm>
            <a:off x="585809" y="123167"/>
            <a:ext cx="482461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dirty="0">
                <a:solidFill>
                  <a:schemeClr val="accent6">
                    <a:lumMod val="20000"/>
                    <a:lumOff val="80000"/>
                  </a:schemeClr>
                </a:solidFill>
                <a:latin typeface="+mj-lt"/>
              </a:rPr>
              <a:t>Sales/ Sales Journal </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grpSp>
        <p:nvGrpSpPr>
          <p:cNvPr id="4" name="Group 3">
            <a:extLst>
              <a:ext uri="{FF2B5EF4-FFF2-40B4-BE49-F238E27FC236}">
                <a16:creationId xmlns:a16="http://schemas.microsoft.com/office/drawing/2014/main" id="{2C6FE458-FA23-4D4A-B428-7668C5EE07D1}"/>
              </a:ext>
            </a:extLst>
          </p:cNvPr>
          <p:cNvGrpSpPr/>
          <p:nvPr/>
        </p:nvGrpSpPr>
        <p:grpSpPr>
          <a:xfrm>
            <a:off x="4833369" y="2085721"/>
            <a:ext cx="6619240" cy="2326005"/>
            <a:chOff x="4833369" y="1146524"/>
            <a:chExt cx="6619240" cy="2326005"/>
          </a:xfrm>
        </p:grpSpPr>
        <p:grpSp>
          <p:nvGrpSpPr>
            <p:cNvPr id="29" name="Group 28">
              <a:extLst>
                <a:ext uri="{FF2B5EF4-FFF2-40B4-BE49-F238E27FC236}">
                  <a16:creationId xmlns:a16="http://schemas.microsoft.com/office/drawing/2014/main" id="{EA805451-347B-477A-9FE6-6AC130FBC49F}"/>
                </a:ext>
              </a:extLst>
            </p:cNvPr>
            <p:cNvGrpSpPr/>
            <p:nvPr/>
          </p:nvGrpSpPr>
          <p:grpSpPr>
            <a:xfrm>
              <a:off x="5263264" y="1349938"/>
              <a:ext cx="6189345" cy="1529715"/>
              <a:chOff x="0" y="345037"/>
              <a:chExt cx="6189345" cy="1530253"/>
            </a:xfrm>
          </p:grpSpPr>
          <p:pic>
            <p:nvPicPr>
              <p:cNvPr id="30" name="Picture 29">
                <a:extLst>
                  <a:ext uri="{FF2B5EF4-FFF2-40B4-BE49-F238E27FC236}">
                    <a16:creationId xmlns:a16="http://schemas.microsoft.com/office/drawing/2014/main" id="{22CD8AF0-CEBE-478A-B599-94F074B75E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45037"/>
                <a:ext cx="6189345" cy="1530253"/>
              </a:xfrm>
              <a:prstGeom prst="rect">
                <a:avLst/>
              </a:prstGeom>
            </p:spPr>
          </p:pic>
          <p:sp>
            <p:nvSpPr>
              <p:cNvPr id="31" name="Rectangle 30">
                <a:extLst>
                  <a:ext uri="{FF2B5EF4-FFF2-40B4-BE49-F238E27FC236}">
                    <a16:creationId xmlns:a16="http://schemas.microsoft.com/office/drawing/2014/main" id="{27F753F7-489B-4CB0-AB14-0257A95592D1}"/>
                  </a:ext>
                </a:extLst>
              </p:cNvPr>
              <p:cNvSpPr/>
              <p:nvPr/>
            </p:nvSpPr>
            <p:spPr>
              <a:xfrm>
                <a:off x="558140" y="1366399"/>
                <a:ext cx="4132613" cy="41565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grpSp>
            <p:nvGrpSpPr>
              <p:cNvPr id="32" name="Group 31">
                <a:extLst>
                  <a:ext uri="{FF2B5EF4-FFF2-40B4-BE49-F238E27FC236}">
                    <a16:creationId xmlns:a16="http://schemas.microsoft.com/office/drawing/2014/main" id="{0A50D361-4A20-43BD-950C-8D72DAD246A8}"/>
                  </a:ext>
                </a:extLst>
              </p:cNvPr>
              <p:cNvGrpSpPr/>
              <p:nvPr/>
            </p:nvGrpSpPr>
            <p:grpSpPr>
              <a:xfrm>
                <a:off x="4748274" y="397787"/>
                <a:ext cx="647700" cy="722517"/>
                <a:chOff x="128649" y="-97513"/>
                <a:chExt cx="647700" cy="722517"/>
              </a:xfrm>
            </p:grpSpPr>
            <p:sp>
              <p:nvSpPr>
                <p:cNvPr id="33" name="Rectangle 32">
                  <a:extLst>
                    <a:ext uri="{FF2B5EF4-FFF2-40B4-BE49-F238E27FC236}">
                      <a16:creationId xmlns:a16="http://schemas.microsoft.com/office/drawing/2014/main" id="{C3C14598-E8B1-4C74-8D11-2C933FBB4ABA}"/>
                    </a:ext>
                  </a:extLst>
                </p:cNvPr>
                <p:cNvSpPr/>
                <p:nvPr/>
              </p:nvSpPr>
              <p:spPr>
                <a:xfrm>
                  <a:off x="128649" y="-97513"/>
                  <a:ext cx="647700" cy="24765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34" name="Straight Arrow Connector 33">
                  <a:extLst>
                    <a:ext uri="{FF2B5EF4-FFF2-40B4-BE49-F238E27FC236}">
                      <a16:creationId xmlns:a16="http://schemas.microsoft.com/office/drawing/2014/main" id="{7A9690C9-0062-4BAF-ADA0-82486207FCE0}"/>
                    </a:ext>
                  </a:extLst>
                </p:cNvPr>
                <p:cNvCxnSpPr>
                  <a:cxnSpLocks/>
                </p:cNvCxnSpPr>
                <p:nvPr/>
              </p:nvCxnSpPr>
              <p:spPr>
                <a:xfrm>
                  <a:off x="352486" y="166690"/>
                  <a:ext cx="0" cy="20824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4" name="Text Box 62">
                  <a:extLst>
                    <a:ext uri="{FF2B5EF4-FFF2-40B4-BE49-F238E27FC236}">
                      <a16:creationId xmlns:a16="http://schemas.microsoft.com/office/drawing/2014/main" id="{21F3ADF6-265D-47C0-814D-3FB896DC9740}"/>
                    </a:ext>
                  </a:extLst>
                </p:cNvPr>
                <p:cNvSpPr txBox="1"/>
                <p:nvPr/>
              </p:nvSpPr>
              <p:spPr>
                <a:xfrm>
                  <a:off x="252474" y="377354"/>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5</a:t>
                  </a:r>
                  <a:endParaRPr lang="en-PH" sz="1100">
                    <a:effectLst/>
                    <a:ea typeface="Calibri" panose="020F0502020204030204" pitchFamily="34" charset="0"/>
                    <a:cs typeface="Times New Roman" panose="02020603050405020304" pitchFamily="18" charset="0"/>
                  </a:endParaRPr>
                </a:p>
              </p:txBody>
            </p:sp>
          </p:grpSp>
        </p:grpSp>
        <p:grpSp>
          <p:nvGrpSpPr>
            <p:cNvPr id="2" name="Group 1">
              <a:extLst>
                <a:ext uri="{FF2B5EF4-FFF2-40B4-BE49-F238E27FC236}">
                  <a16:creationId xmlns:a16="http://schemas.microsoft.com/office/drawing/2014/main" id="{3754621C-CD7E-45A1-9FA6-0E77F5D7371E}"/>
                </a:ext>
              </a:extLst>
            </p:cNvPr>
            <p:cNvGrpSpPr/>
            <p:nvPr/>
          </p:nvGrpSpPr>
          <p:grpSpPr>
            <a:xfrm>
              <a:off x="4833369" y="1146524"/>
              <a:ext cx="6259195" cy="2326005"/>
              <a:chOff x="2966402" y="2265998"/>
              <a:chExt cx="6259195" cy="2326005"/>
            </a:xfrm>
          </p:grpSpPr>
          <p:sp>
            <p:nvSpPr>
              <p:cNvPr id="55" name="Text Box 81">
                <a:extLst>
                  <a:ext uri="{FF2B5EF4-FFF2-40B4-BE49-F238E27FC236}">
                    <a16:creationId xmlns:a16="http://schemas.microsoft.com/office/drawing/2014/main" id="{8E6729BA-2F7C-4480-AEC0-BC2D5AB64C65}"/>
                  </a:ext>
                </a:extLst>
              </p:cNvPr>
              <p:cNvSpPr txBox="1"/>
              <p:nvPr/>
            </p:nvSpPr>
            <p:spPr>
              <a:xfrm>
                <a:off x="3048317" y="2265998"/>
                <a:ext cx="913765" cy="28448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STOCK</a:t>
                </a:r>
                <a:endParaRPr lang="en-PH" sz="1100">
                  <a:effectLst/>
                  <a:ea typeface="Calibri" panose="020F0502020204030204" pitchFamily="34" charset="0"/>
                  <a:cs typeface="Times New Roman" panose="02020603050405020304" pitchFamily="18" charset="0"/>
                </a:endParaRPr>
              </a:p>
            </p:txBody>
          </p:sp>
          <p:pic>
            <p:nvPicPr>
              <p:cNvPr id="56" name="Picture 55">
                <a:extLst>
                  <a:ext uri="{FF2B5EF4-FFF2-40B4-BE49-F238E27FC236}">
                    <a16:creationId xmlns:a16="http://schemas.microsoft.com/office/drawing/2014/main" id="{6B2A363D-4046-48DF-9DB0-CD73F12202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36887" y="3974148"/>
                <a:ext cx="6188710" cy="617855"/>
              </a:xfrm>
              <a:prstGeom prst="rect">
                <a:avLst/>
              </a:prstGeom>
              <a:ln>
                <a:noFill/>
              </a:ln>
              <a:effectLst>
                <a:outerShdw blurRad="292100" dist="139700" dir="2700000" algn="tl" rotWithShape="0">
                  <a:srgbClr val="333333">
                    <a:alpha val="65000"/>
                  </a:srgbClr>
                </a:outerShdw>
              </a:effectLst>
            </p:spPr>
          </p:pic>
          <p:sp>
            <p:nvSpPr>
              <p:cNvPr id="57" name="Curved Left Arrow 95">
                <a:extLst>
                  <a:ext uri="{FF2B5EF4-FFF2-40B4-BE49-F238E27FC236}">
                    <a16:creationId xmlns:a16="http://schemas.microsoft.com/office/drawing/2014/main" id="{F224F7A5-2466-4CC4-9ACA-8DA28B4C9B07}"/>
                  </a:ext>
                </a:extLst>
              </p:cNvPr>
              <p:cNvSpPr/>
              <p:nvPr/>
            </p:nvSpPr>
            <p:spPr>
              <a:xfrm>
                <a:off x="5797232" y="3685223"/>
                <a:ext cx="344170" cy="593725"/>
              </a:xfrm>
              <a:prstGeom prst="curvedLef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sp>
            <p:nvSpPr>
              <p:cNvPr id="58" name="Text Box 98">
                <a:extLst>
                  <a:ext uri="{FF2B5EF4-FFF2-40B4-BE49-F238E27FC236}">
                    <a16:creationId xmlns:a16="http://schemas.microsoft.com/office/drawing/2014/main" id="{62E7E682-30DC-452A-96BA-209FE292C79F}"/>
                  </a:ext>
                </a:extLst>
              </p:cNvPr>
              <p:cNvSpPr txBox="1"/>
              <p:nvPr/>
            </p:nvSpPr>
            <p:spPr>
              <a:xfrm>
                <a:off x="2966402" y="3863023"/>
                <a:ext cx="199390" cy="247015"/>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4</a:t>
                </a:r>
                <a:endParaRPr lang="en-PH" sz="1100">
                  <a:effectLst/>
                  <a:ea typeface="Calibri" panose="020F0502020204030204" pitchFamily="34" charset="0"/>
                  <a:cs typeface="Times New Roman" panose="02020603050405020304" pitchFamily="18" charset="0"/>
                </a:endParaRPr>
              </a:p>
            </p:txBody>
          </p:sp>
        </p:grpSp>
      </p:grpSp>
      <p:sp>
        <p:nvSpPr>
          <p:cNvPr id="6" name="Slide Number Placeholder 5">
            <a:extLst>
              <a:ext uri="{FF2B5EF4-FFF2-40B4-BE49-F238E27FC236}">
                <a16:creationId xmlns:a16="http://schemas.microsoft.com/office/drawing/2014/main" id="{74D13EEB-DD2E-FEC7-4E19-BC1AA70470A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sp>
        <p:nvSpPr>
          <p:cNvPr id="7" name="Rectangle 6">
            <a:extLst>
              <a:ext uri="{FF2B5EF4-FFF2-40B4-BE49-F238E27FC236}">
                <a16:creationId xmlns:a16="http://schemas.microsoft.com/office/drawing/2014/main" id="{A32C174B-4D69-F6EA-61E9-AB932C19BB62}"/>
              </a:ext>
            </a:extLst>
          </p:cNvPr>
          <p:cNvSpPr/>
          <p:nvPr/>
        </p:nvSpPr>
        <p:spPr>
          <a:xfrm>
            <a:off x="10723684" y="2345034"/>
            <a:ext cx="647700" cy="24756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8" name="Straight Arrow Connector 7">
            <a:extLst>
              <a:ext uri="{FF2B5EF4-FFF2-40B4-BE49-F238E27FC236}">
                <a16:creationId xmlns:a16="http://schemas.microsoft.com/office/drawing/2014/main" id="{DF1D588F-5AA0-58EC-F4F0-5C1157FE4C48}"/>
              </a:ext>
            </a:extLst>
          </p:cNvPr>
          <p:cNvCxnSpPr>
            <a:cxnSpLocks/>
          </p:cNvCxnSpPr>
          <p:nvPr/>
        </p:nvCxnSpPr>
        <p:spPr>
          <a:xfrm>
            <a:off x="11084174" y="2589198"/>
            <a:ext cx="0" cy="20817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Text Box 62">
            <a:extLst>
              <a:ext uri="{FF2B5EF4-FFF2-40B4-BE49-F238E27FC236}">
                <a16:creationId xmlns:a16="http://schemas.microsoft.com/office/drawing/2014/main" id="{8D92E835-E8A7-7691-56DF-972102BA35AD}"/>
              </a:ext>
            </a:extLst>
          </p:cNvPr>
          <p:cNvSpPr txBox="1"/>
          <p:nvPr/>
        </p:nvSpPr>
        <p:spPr>
          <a:xfrm>
            <a:off x="10984162" y="2799788"/>
            <a:ext cx="200025" cy="247563"/>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dirty="0">
                <a:ea typeface="Calibri" panose="020F0502020204030204" pitchFamily="34" charset="0"/>
                <a:cs typeface="Times New Roman" panose="02020603050405020304" pitchFamily="18" charset="0"/>
              </a:rPr>
              <a:t>6</a:t>
            </a:r>
            <a:endParaRPr lang="en-PH" sz="1100" dirty="0">
              <a:effectLst/>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id="{8DE2BBBB-3E54-228F-D340-391D8109B3CD}"/>
              </a:ext>
            </a:extLst>
          </p:cNvPr>
          <p:cNvSpPr/>
          <p:nvPr/>
        </p:nvSpPr>
        <p:spPr>
          <a:xfrm>
            <a:off x="5530441" y="3344308"/>
            <a:ext cx="188110" cy="22716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11" name="Straight Arrow Connector 10">
            <a:extLst>
              <a:ext uri="{FF2B5EF4-FFF2-40B4-BE49-F238E27FC236}">
                <a16:creationId xmlns:a16="http://schemas.microsoft.com/office/drawing/2014/main" id="{62A466F9-4018-3D94-927E-EE3888B21C77}"/>
              </a:ext>
            </a:extLst>
          </p:cNvPr>
          <p:cNvCxnSpPr>
            <a:cxnSpLocks/>
          </p:cNvCxnSpPr>
          <p:nvPr/>
        </p:nvCxnSpPr>
        <p:spPr>
          <a:xfrm>
            <a:off x="5618538" y="3564111"/>
            <a:ext cx="0" cy="20817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 Box 62">
            <a:extLst>
              <a:ext uri="{FF2B5EF4-FFF2-40B4-BE49-F238E27FC236}">
                <a16:creationId xmlns:a16="http://schemas.microsoft.com/office/drawing/2014/main" id="{F0006185-6DB8-4A59-9538-7CFD21E3A072}"/>
              </a:ext>
            </a:extLst>
          </p:cNvPr>
          <p:cNvSpPr txBox="1"/>
          <p:nvPr/>
        </p:nvSpPr>
        <p:spPr>
          <a:xfrm>
            <a:off x="5518526" y="3774701"/>
            <a:ext cx="200025" cy="247563"/>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dirty="0">
                <a:effectLst/>
                <a:ea typeface="Calibri" panose="020F0502020204030204" pitchFamily="34" charset="0"/>
                <a:cs typeface="Times New Roman" panose="02020603050405020304" pitchFamily="18" charset="0"/>
              </a:rPr>
              <a:t>7</a:t>
            </a:r>
            <a:endParaRPr lang="en-PH" sz="11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02645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9CF38233-DF8B-AB2A-3860-C275FCF3BA0E}"/>
              </a:ext>
            </a:extLst>
          </p:cNvPr>
          <p:cNvGrpSpPr/>
          <p:nvPr/>
        </p:nvGrpSpPr>
        <p:grpSpPr>
          <a:xfrm>
            <a:off x="5374888" y="3403679"/>
            <a:ext cx="6189345" cy="2061210"/>
            <a:chOff x="5374888" y="3403679"/>
            <a:chExt cx="6189345" cy="2061210"/>
          </a:xfrm>
        </p:grpSpPr>
        <p:pic>
          <p:nvPicPr>
            <p:cNvPr id="49" name="Picture 48">
              <a:extLst>
                <a:ext uri="{FF2B5EF4-FFF2-40B4-BE49-F238E27FC236}">
                  <a16:creationId xmlns:a16="http://schemas.microsoft.com/office/drawing/2014/main" id="{B1F79F8F-A593-404A-B2B6-F51C21BDFF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74888" y="3403679"/>
              <a:ext cx="6189345" cy="2061210"/>
            </a:xfrm>
            <a:prstGeom prst="rect">
              <a:avLst/>
            </a:prstGeom>
          </p:spPr>
        </p:pic>
        <p:pic>
          <p:nvPicPr>
            <p:cNvPr id="5" name="Picture 4">
              <a:extLst>
                <a:ext uri="{FF2B5EF4-FFF2-40B4-BE49-F238E27FC236}">
                  <a16:creationId xmlns:a16="http://schemas.microsoft.com/office/drawing/2014/main" id="{50956510-10EE-6F42-44C8-53FA6DEDD4CB}"/>
                </a:ext>
              </a:extLst>
            </p:cNvPr>
            <p:cNvPicPr>
              <a:picLocks noChangeAspect="1"/>
            </p:cNvPicPr>
            <p:nvPr/>
          </p:nvPicPr>
          <p:blipFill>
            <a:blip r:embed="rId3"/>
            <a:stretch>
              <a:fillRect/>
            </a:stretch>
          </p:blipFill>
          <p:spPr>
            <a:xfrm>
              <a:off x="6414446" y="3430689"/>
              <a:ext cx="1219536" cy="168858"/>
            </a:xfrm>
            <a:prstGeom prst="rect">
              <a:avLst/>
            </a:prstGeom>
          </p:spPr>
        </p:pic>
      </p:grpSp>
      <p:sp>
        <p:nvSpPr>
          <p:cNvPr id="12" name="Text Box 18">
            <a:extLst>
              <a:ext uri="{FF2B5EF4-FFF2-40B4-BE49-F238E27FC236}">
                <a16:creationId xmlns:a16="http://schemas.microsoft.com/office/drawing/2014/main" id="{9A8214E9-BA24-C1CD-FE2E-59471D8D7178}"/>
              </a:ext>
            </a:extLst>
          </p:cNvPr>
          <p:cNvSpPr txBox="1"/>
          <p:nvPr/>
        </p:nvSpPr>
        <p:spPr>
          <a:xfrm>
            <a:off x="540588" y="1827541"/>
            <a:ext cx="4179346" cy="286383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1.1 </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In the sales </a:t>
            </a:r>
            <a:r>
              <a:rPr lang="en-PH" sz="1200" dirty="0">
                <a:latin typeface="Chivo Light" panose="020B0303030202020804" pitchFamily="34" charset="0"/>
                <a:ea typeface="Times New Roman" panose="02020603050405020304" pitchFamily="18" charset="0"/>
                <a:cs typeface="Times New Roman" panose="02020603050405020304" pitchFamily="18" charset="0"/>
              </a:rPr>
              <a:t>journal</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 – main window, search the transaction you want to delete.</a:t>
            </a:r>
          </a:p>
          <a:p>
            <a:pPr marL="228600" marR="0">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1.2.</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 In sales journal – main form, click the lookup button and select the transaction you want to delete.</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2.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done, click delete button.</a:t>
            </a: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30" name="TextBox 29">
            <a:extLst>
              <a:ext uri="{FF2B5EF4-FFF2-40B4-BE49-F238E27FC236}">
                <a16:creationId xmlns:a16="http://schemas.microsoft.com/office/drawing/2014/main" id="{206411CD-D453-3C70-B863-B05DFE4DD718}"/>
              </a:ext>
            </a:extLst>
          </p:cNvPr>
          <p:cNvSpPr txBox="1"/>
          <p:nvPr/>
        </p:nvSpPr>
        <p:spPr>
          <a:xfrm>
            <a:off x="805110" y="1320441"/>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mj-lt"/>
              </a:rPr>
              <a:t>How To Delete Sales Journal Transaction?</a:t>
            </a:r>
            <a:endParaRPr lang="en-US" sz="2000" dirty="0">
              <a:solidFill>
                <a:srgbClr val="007434"/>
              </a:solidFill>
              <a:latin typeface="+mj-lt"/>
            </a:endParaRPr>
          </a:p>
        </p:txBody>
      </p:sp>
      <p:sp>
        <p:nvSpPr>
          <p:cNvPr id="41" name="TextBox 40">
            <a:extLst>
              <a:ext uri="{FF2B5EF4-FFF2-40B4-BE49-F238E27FC236}">
                <a16:creationId xmlns:a16="http://schemas.microsoft.com/office/drawing/2014/main" id="{5F215506-CA7E-755F-74BA-DBA6C0290AC7}"/>
              </a:ext>
            </a:extLst>
          </p:cNvPr>
          <p:cNvSpPr txBox="1"/>
          <p:nvPr/>
        </p:nvSpPr>
        <p:spPr>
          <a:xfrm>
            <a:off x="7402810" y="2659403"/>
            <a:ext cx="2552700"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effectLst/>
                <a:latin typeface="Calibri" panose="020F0502020204030204" pitchFamily="34" charset="0"/>
                <a:ea typeface="Calibri" panose="020F0502020204030204" pitchFamily="34" charset="0"/>
                <a:cs typeface="Calibri" panose="020F0502020204030204" pitchFamily="34" charset="0"/>
              </a:rPr>
              <a:t>Sales Journal – Main Window</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58" name="TextBox 57">
            <a:extLst>
              <a:ext uri="{FF2B5EF4-FFF2-40B4-BE49-F238E27FC236}">
                <a16:creationId xmlns:a16="http://schemas.microsoft.com/office/drawing/2014/main" id="{75E90F7D-99C6-4EAE-0C31-58FAE035D67B}"/>
              </a:ext>
            </a:extLst>
          </p:cNvPr>
          <p:cNvSpPr txBox="1"/>
          <p:nvPr/>
        </p:nvSpPr>
        <p:spPr>
          <a:xfrm>
            <a:off x="7402810" y="5692984"/>
            <a:ext cx="2552700"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effectLst/>
                <a:latin typeface="Calibri" panose="020F0502020204030204" pitchFamily="34" charset="0"/>
                <a:ea typeface="Calibri" panose="020F0502020204030204" pitchFamily="34" charset="0"/>
                <a:cs typeface="Calibri" panose="020F0502020204030204" pitchFamily="34" charset="0"/>
              </a:rPr>
              <a:t>Sales Journal – Main </a:t>
            </a:r>
            <a:r>
              <a:rPr lang="en-PH" sz="1200" b="1" dirty="0">
                <a:latin typeface="Calibri" panose="020F0502020204030204" pitchFamily="34" charset="0"/>
                <a:ea typeface="Calibri" panose="020F0502020204030204" pitchFamily="34" charset="0"/>
                <a:cs typeface="Calibri" panose="020F0502020204030204" pitchFamily="34" charset="0"/>
              </a:rPr>
              <a:t>Form</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29" name="TextBox 28">
            <a:extLst>
              <a:ext uri="{FF2B5EF4-FFF2-40B4-BE49-F238E27FC236}">
                <a16:creationId xmlns:a16="http://schemas.microsoft.com/office/drawing/2014/main" id="{98C746B6-A2E2-4F42-BF81-05783F8C0A7F}"/>
              </a:ext>
            </a:extLst>
          </p:cNvPr>
          <p:cNvSpPr txBox="1"/>
          <p:nvPr/>
        </p:nvSpPr>
        <p:spPr>
          <a:xfrm>
            <a:off x="585809" y="131770"/>
            <a:ext cx="482461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dirty="0">
                <a:solidFill>
                  <a:schemeClr val="accent6">
                    <a:lumMod val="20000"/>
                    <a:lumOff val="80000"/>
                  </a:schemeClr>
                </a:solidFill>
                <a:latin typeface="+mj-lt"/>
              </a:rPr>
              <a:t>Sales/ Sales Journal </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grpSp>
        <p:nvGrpSpPr>
          <p:cNvPr id="32" name="Group 31">
            <a:extLst>
              <a:ext uri="{FF2B5EF4-FFF2-40B4-BE49-F238E27FC236}">
                <a16:creationId xmlns:a16="http://schemas.microsoft.com/office/drawing/2014/main" id="{1D09E2B9-5A57-4E99-8A3C-70F8E4D404A5}"/>
              </a:ext>
            </a:extLst>
          </p:cNvPr>
          <p:cNvGrpSpPr/>
          <p:nvPr/>
        </p:nvGrpSpPr>
        <p:grpSpPr>
          <a:xfrm>
            <a:off x="5671700" y="1576674"/>
            <a:ext cx="1475739" cy="333375"/>
            <a:chOff x="0" y="0"/>
            <a:chExt cx="1476374" cy="333375"/>
          </a:xfrm>
        </p:grpSpPr>
        <p:sp>
          <p:nvSpPr>
            <p:cNvPr id="33" name="Rectangle 32">
              <a:extLst>
                <a:ext uri="{FF2B5EF4-FFF2-40B4-BE49-F238E27FC236}">
                  <a16:creationId xmlns:a16="http://schemas.microsoft.com/office/drawing/2014/main" id="{271EB825-93C4-4962-A3F0-D1BDF9EE32C0}"/>
                </a:ext>
              </a:extLst>
            </p:cNvPr>
            <p:cNvSpPr/>
            <p:nvPr/>
          </p:nvSpPr>
          <p:spPr>
            <a:xfrm>
              <a:off x="0" y="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dirty="0"/>
            </a:p>
          </p:txBody>
        </p:sp>
        <p:cxnSp>
          <p:nvCxnSpPr>
            <p:cNvPr id="34" name="Straight Arrow Connector 33">
              <a:extLst>
                <a:ext uri="{FF2B5EF4-FFF2-40B4-BE49-F238E27FC236}">
                  <a16:creationId xmlns:a16="http://schemas.microsoft.com/office/drawing/2014/main" id="{635421CB-3CBB-4F8C-9422-BC042D7B8F96}"/>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Text Box 695">
              <a:extLst>
                <a:ext uri="{FF2B5EF4-FFF2-40B4-BE49-F238E27FC236}">
                  <a16:creationId xmlns:a16="http://schemas.microsoft.com/office/drawing/2014/main" id="{30A12E30-BDDB-49EC-A18C-689D1A8B947D}"/>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1.1.</a:t>
              </a:r>
              <a:endParaRPr lang="en-PH" sz="1100">
                <a:effectLst/>
                <a:ea typeface="Calibri" panose="020F0502020204030204" pitchFamily="34" charset="0"/>
                <a:cs typeface="Times New Roman" panose="02020603050405020304" pitchFamily="18" charset="0"/>
              </a:endParaRPr>
            </a:p>
          </p:txBody>
        </p:sp>
      </p:grpSp>
      <p:grpSp>
        <p:nvGrpSpPr>
          <p:cNvPr id="50" name="Group 49">
            <a:extLst>
              <a:ext uri="{FF2B5EF4-FFF2-40B4-BE49-F238E27FC236}">
                <a16:creationId xmlns:a16="http://schemas.microsoft.com/office/drawing/2014/main" id="{8DA73422-C798-423E-A6B9-48CBD159E4DB}"/>
              </a:ext>
            </a:extLst>
          </p:cNvPr>
          <p:cNvGrpSpPr/>
          <p:nvPr/>
        </p:nvGrpSpPr>
        <p:grpSpPr>
          <a:xfrm>
            <a:off x="4852211" y="3846898"/>
            <a:ext cx="4544645" cy="1766566"/>
            <a:chOff x="0" y="0"/>
            <a:chExt cx="4545064" cy="1766579"/>
          </a:xfrm>
        </p:grpSpPr>
        <p:grpSp>
          <p:nvGrpSpPr>
            <p:cNvPr id="51" name="Group 50">
              <a:extLst>
                <a:ext uri="{FF2B5EF4-FFF2-40B4-BE49-F238E27FC236}">
                  <a16:creationId xmlns:a16="http://schemas.microsoft.com/office/drawing/2014/main" id="{7E5F21DA-7EFF-46F5-B86D-F626406D9AEF}"/>
                </a:ext>
              </a:extLst>
            </p:cNvPr>
            <p:cNvGrpSpPr/>
            <p:nvPr/>
          </p:nvGrpSpPr>
          <p:grpSpPr>
            <a:xfrm>
              <a:off x="1746913" y="491319"/>
              <a:ext cx="952500" cy="304800"/>
              <a:chOff x="523874" y="28575"/>
              <a:chExt cx="952500" cy="304800"/>
            </a:xfrm>
          </p:grpSpPr>
          <p:sp>
            <p:nvSpPr>
              <p:cNvPr id="64" name="Rectangle 63">
                <a:extLst>
                  <a:ext uri="{FF2B5EF4-FFF2-40B4-BE49-F238E27FC236}">
                    <a16:creationId xmlns:a16="http://schemas.microsoft.com/office/drawing/2014/main" id="{6D0486CD-E909-4D69-8DE0-8DF284EFB647}"/>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65" name="Straight Arrow Connector 64">
                <a:extLst>
                  <a:ext uri="{FF2B5EF4-FFF2-40B4-BE49-F238E27FC236}">
                    <a16:creationId xmlns:a16="http://schemas.microsoft.com/office/drawing/2014/main" id="{0ECBA2F4-4310-437C-B79E-EFB41B86BE7B}"/>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6" name="Text Box 296">
                <a:extLst>
                  <a:ext uri="{FF2B5EF4-FFF2-40B4-BE49-F238E27FC236}">
                    <a16:creationId xmlns:a16="http://schemas.microsoft.com/office/drawing/2014/main" id="{AC4A4A5F-0744-478D-A694-27C8A7777FEA}"/>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1.2.</a:t>
                </a:r>
                <a:endParaRPr lang="en-PH" sz="1100">
                  <a:effectLst/>
                  <a:ea typeface="Calibri" panose="020F0502020204030204" pitchFamily="34" charset="0"/>
                  <a:cs typeface="Times New Roman" panose="02020603050405020304" pitchFamily="18" charset="0"/>
                </a:endParaRPr>
              </a:p>
            </p:txBody>
          </p:sp>
        </p:grpSp>
        <p:grpSp>
          <p:nvGrpSpPr>
            <p:cNvPr id="52" name="Group 51">
              <a:extLst>
                <a:ext uri="{FF2B5EF4-FFF2-40B4-BE49-F238E27FC236}">
                  <a16:creationId xmlns:a16="http://schemas.microsoft.com/office/drawing/2014/main" id="{8667E172-9F1B-49AF-A50D-D1A2CE1DD48F}"/>
                </a:ext>
              </a:extLst>
            </p:cNvPr>
            <p:cNvGrpSpPr/>
            <p:nvPr/>
          </p:nvGrpSpPr>
          <p:grpSpPr>
            <a:xfrm>
              <a:off x="1951630" y="81886"/>
              <a:ext cx="1087953" cy="304800"/>
              <a:chOff x="333374" y="28575"/>
              <a:chExt cx="981076" cy="304800"/>
            </a:xfrm>
          </p:grpSpPr>
          <p:sp>
            <p:nvSpPr>
              <p:cNvPr id="61" name="Rectangle 60">
                <a:extLst>
                  <a:ext uri="{FF2B5EF4-FFF2-40B4-BE49-F238E27FC236}">
                    <a16:creationId xmlns:a16="http://schemas.microsoft.com/office/drawing/2014/main" id="{ADD8B2CD-77B3-4E22-B1D8-FADA6BDC309C}"/>
                  </a:ext>
                </a:extLst>
              </p:cNvPr>
              <p:cNvSpPr/>
              <p:nvPr/>
            </p:nvSpPr>
            <p:spPr>
              <a:xfrm>
                <a:off x="333374" y="28575"/>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62" name="Straight Arrow Connector 61">
                <a:extLst>
                  <a:ext uri="{FF2B5EF4-FFF2-40B4-BE49-F238E27FC236}">
                    <a16:creationId xmlns:a16="http://schemas.microsoft.com/office/drawing/2014/main" id="{CD4AB1AB-9409-400C-BA81-0D68338D95D6}"/>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3" name="Text Box 700">
                <a:extLst>
                  <a:ext uri="{FF2B5EF4-FFF2-40B4-BE49-F238E27FC236}">
                    <a16:creationId xmlns:a16="http://schemas.microsoft.com/office/drawing/2014/main" id="{CB70BDFC-0D16-4FA8-8B2F-9C5E284027DD}"/>
                  </a:ext>
                </a:extLst>
              </p:cNvPr>
              <p:cNvSpPr txBox="1"/>
              <p:nvPr/>
            </p:nvSpPr>
            <p:spPr>
              <a:xfrm>
                <a:off x="1009650" y="28575"/>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2.</a:t>
                </a:r>
                <a:endParaRPr lang="en-PH" sz="1100">
                  <a:effectLst/>
                  <a:ea typeface="Calibri" panose="020F0502020204030204" pitchFamily="34" charset="0"/>
                  <a:cs typeface="Times New Roman" panose="02020603050405020304" pitchFamily="18" charset="0"/>
                </a:endParaRPr>
              </a:p>
            </p:txBody>
          </p:sp>
        </p:grpSp>
        <p:grpSp>
          <p:nvGrpSpPr>
            <p:cNvPr id="53" name="Group 52">
              <a:extLst>
                <a:ext uri="{FF2B5EF4-FFF2-40B4-BE49-F238E27FC236}">
                  <a16:creationId xmlns:a16="http://schemas.microsoft.com/office/drawing/2014/main" id="{AE9736EC-2A2C-4781-82DB-33A8290454A0}"/>
                </a:ext>
              </a:extLst>
            </p:cNvPr>
            <p:cNvGrpSpPr>
              <a:grpSpLocks/>
            </p:cNvGrpSpPr>
            <p:nvPr/>
          </p:nvGrpSpPr>
          <p:grpSpPr bwMode="auto">
            <a:xfrm>
              <a:off x="1678039" y="887104"/>
              <a:ext cx="2867025" cy="879475"/>
              <a:chOff x="6116" y="177"/>
              <a:chExt cx="4515" cy="1385"/>
            </a:xfrm>
          </p:grpSpPr>
          <p:pic>
            <p:nvPicPr>
              <p:cNvPr id="59" name="Picture 58">
                <a:extLst>
                  <a:ext uri="{FF2B5EF4-FFF2-40B4-BE49-F238E27FC236}">
                    <a16:creationId xmlns:a16="http://schemas.microsoft.com/office/drawing/2014/main" id="{D1E784D0-31E1-4CFD-9B8B-509A925326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6" y="177"/>
                <a:ext cx="3625" cy="1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 name="Text Box 241">
                <a:extLst>
                  <a:ext uri="{FF2B5EF4-FFF2-40B4-BE49-F238E27FC236}">
                    <a16:creationId xmlns:a16="http://schemas.microsoft.com/office/drawing/2014/main" id="{FFBC831A-E88F-4AA0-873C-E379B59E6AD5}"/>
                  </a:ext>
                </a:extLst>
              </p:cNvPr>
              <p:cNvSpPr txBox="1">
                <a:spLocks noChangeArrowheads="1"/>
              </p:cNvSpPr>
              <p:nvPr/>
            </p:nvSpPr>
            <p:spPr bwMode="auto">
              <a:xfrm>
                <a:off x="6116" y="177"/>
                <a:ext cx="4515" cy="138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a:lnSpc>
                    <a:spcPct val="107000"/>
                  </a:lnSpc>
                  <a:spcBef>
                    <a:spcPts val="440"/>
                  </a:spcBef>
                  <a:spcAft>
                    <a:spcPts val="800"/>
                  </a:spcAft>
                </a:pPr>
                <a:r>
                  <a:rPr lang="en-PH" sz="1000" i="1" dirty="0">
                    <a:solidFill>
                      <a:srgbClr val="4F6128"/>
                    </a:solidFill>
                    <a:effectLst/>
                    <a:latin typeface="Calibri" panose="020F0502020204030204" pitchFamily="34" charset="0"/>
                    <a:ea typeface="Calibri" panose="020F0502020204030204" pitchFamily="34" charset="0"/>
                    <a:cs typeface="Times New Roman" panose="02020603050405020304" pitchFamily="18" charset="0"/>
                  </a:rPr>
                  <a:t>How to search SJ transaction?</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p>
                <a:pPr marL="685800" lvl="1" indent="-228600">
                  <a:lnSpc>
                    <a:spcPct val="115000"/>
                  </a:lnSpc>
                  <a:buSzPts val="800"/>
                  <a:buFont typeface="+mj-lt"/>
                  <a:buAutoNum type="arabicPeriod"/>
                  <a:tabLst>
                    <a:tab pos="227330" algn="l"/>
                  </a:tabLst>
                </a:pPr>
                <a:r>
                  <a:rPr lang="en-US" sz="800" dirty="0">
                    <a:effectLst/>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p>
                <a:pPr marL="685800" lvl="1" indent="-228600">
                  <a:lnSpc>
                    <a:spcPts val="975"/>
                  </a:lnSpc>
                  <a:spcBef>
                    <a:spcPts val="5"/>
                  </a:spcBef>
                  <a:spcAft>
                    <a:spcPts val="1000"/>
                  </a:spcAft>
                  <a:buSzPts val="800"/>
                  <a:buFont typeface="+mj-lt"/>
                  <a:buAutoNum type="arabicPeriod"/>
                  <a:tabLst>
                    <a:tab pos="203200" algn="l"/>
                  </a:tabLst>
                </a:pPr>
                <a:r>
                  <a:rPr lang="en-US" sz="800" dirty="0">
                    <a:effectLst/>
                    <a:latin typeface="Calibri" panose="020F0502020204030204" pitchFamily="34" charset="0"/>
                    <a:ea typeface="Calibri" panose="020F0502020204030204" pitchFamily="34" charset="0"/>
                    <a:cs typeface="Times New Roman" panose="02020603050405020304" pitchFamily="18" charset="0"/>
                  </a:rPr>
                  <a:t>Click ‘enter’ in the keyboard to</a:t>
                </a:r>
                <a:r>
                  <a:rPr lang="en-US" sz="8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800" dirty="0">
                    <a:effectLst/>
                    <a:latin typeface="Calibri" panose="020F0502020204030204" pitchFamily="34" charset="0"/>
                    <a:ea typeface="Calibri" panose="020F0502020204030204" pitchFamily="34" charset="0"/>
                    <a:cs typeface="Times New Roman" panose="02020603050405020304" pitchFamily="18" charset="0"/>
                  </a:rPr>
                  <a:t>search.</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p>
                <a:pPr marL="685800" lvl="1" indent="-228600">
                  <a:lnSpc>
                    <a:spcPts val="975"/>
                  </a:lnSpc>
                  <a:spcAft>
                    <a:spcPts val="800"/>
                  </a:spcAft>
                  <a:buSzPts val="800"/>
                  <a:buFont typeface="+mj-lt"/>
                  <a:buAutoNum type="arabicPeriod"/>
                  <a:tabLst>
                    <a:tab pos="203200" algn="l"/>
                  </a:tabLst>
                </a:pPr>
                <a:r>
                  <a:rPr lang="en-PH" sz="800" dirty="0">
                    <a:effectLst/>
                    <a:latin typeface="Calibri" panose="020F0502020204030204" pitchFamily="34" charset="0"/>
                    <a:ea typeface="Calibri" panose="020F0502020204030204" pitchFamily="34" charset="0"/>
                    <a:cs typeface="Times New Roman" panose="02020603050405020304" pitchFamily="18" charset="0"/>
                  </a:rPr>
                  <a:t>Click to select the transaction you want to delete</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p:txBody>
          </p:sp>
        </p:grpSp>
        <p:sp>
          <p:nvSpPr>
            <p:cNvPr id="54" name="Text Box 696">
              <a:extLst>
                <a:ext uri="{FF2B5EF4-FFF2-40B4-BE49-F238E27FC236}">
                  <a16:creationId xmlns:a16="http://schemas.microsoft.com/office/drawing/2014/main" id="{E01B05A3-EF95-44CC-987D-FD18FAE52935}"/>
                </a:ext>
              </a:extLst>
            </p:cNvPr>
            <p:cNvSpPr txBox="1"/>
            <p:nvPr/>
          </p:nvSpPr>
          <p:spPr>
            <a:xfrm>
              <a:off x="0" y="0"/>
              <a:ext cx="1306286" cy="273132"/>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HEADER</a:t>
              </a:r>
              <a:endParaRPr lang="en-PH" sz="1100">
                <a:effectLst/>
                <a:ea typeface="Calibri" panose="020F0502020204030204" pitchFamily="34" charset="0"/>
                <a:cs typeface="Times New Roman" panose="02020603050405020304" pitchFamily="18" charset="0"/>
              </a:endParaRPr>
            </a:p>
          </p:txBody>
        </p:sp>
      </p:grpSp>
      <p:sp>
        <p:nvSpPr>
          <p:cNvPr id="4" name="Slide Number Placeholder 3">
            <a:extLst>
              <a:ext uri="{FF2B5EF4-FFF2-40B4-BE49-F238E27FC236}">
                <a16:creationId xmlns:a16="http://schemas.microsoft.com/office/drawing/2014/main" id="{F76DCA9E-4F84-51D9-9F3B-DABD00A4803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grpSp>
        <p:nvGrpSpPr>
          <p:cNvPr id="7" name="Group 6">
            <a:extLst>
              <a:ext uri="{FF2B5EF4-FFF2-40B4-BE49-F238E27FC236}">
                <a16:creationId xmlns:a16="http://schemas.microsoft.com/office/drawing/2014/main" id="{6F88DA8F-80E8-E67B-65BF-2F02446B6644}"/>
              </a:ext>
            </a:extLst>
          </p:cNvPr>
          <p:cNvGrpSpPr/>
          <p:nvPr/>
        </p:nvGrpSpPr>
        <p:grpSpPr>
          <a:xfrm>
            <a:off x="5545751" y="514253"/>
            <a:ext cx="6060440" cy="2172970"/>
            <a:chOff x="5545751" y="514253"/>
            <a:chExt cx="6060440" cy="2172970"/>
          </a:xfrm>
        </p:grpSpPr>
        <p:pic>
          <p:nvPicPr>
            <p:cNvPr id="31" name="Picture 30">
              <a:extLst>
                <a:ext uri="{FF2B5EF4-FFF2-40B4-BE49-F238E27FC236}">
                  <a16:creationId xmlns:a16="http://schemas.microsoft.com/office/drawing/2014/main" id="{AC5D308C-8DAA-4F2B-914C-88DE8A74304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45751" y="514253"/>
              <a:ext cx="6060440" cy="2172970"/>
            </a:xfrm>
            <a:prstGeom prst="rect">
              <a:avLst/>
            </a:prstGeom>
          </p:spPr>
        </p:pic>
        <p:pic>
          <p:nvPicPr>
            <p:cNvPr id="2" name="Picture 1">
              <a:extLst>
                <a:ext uri="{FF2B5EF4-FFF2-40B4-BE49-F238E27FC236}">
                  <a16:creationId xmlns:a16="http://schemas.microsoft.com/office/drawing/2014/main" id="{131AB989-9284-FC39-6495-BEE3B4291E31}"/>
                </a:ext>
              </a:extLst>
            </p:cNvPr>
            <p:cNvPicPr>
              <a:picLocks noChangeAspect="1"/>
            </p:cNvPicPr>
            <p:nvPr/>
          </p:nvPicPr>
          <p:blipFill>
            <a:blip r:embed="rId3"/>
            <a:stretch>
              <a:fillRect/>
            </a:stretch>
          </p:blipFill>
          <p:spPr>
            <a:xfrm>
              <a:off x="6579814" y="556484"/>
              <a:ext cx="1062557" cy="147123"/>
            </a:xfrm>
            <a:prstGeom prst="rect">
              <a:avLst/>
            </a:prstGeom>
          </p:spPr>
        </p:pic>
      </p:grpSp>
    </p:spTree>
    <p:extLst>
      <p:ext uri="{BB962C8B-B14F-4D97-AF65-F5344CB8AC3E}">
        <p14:creationId xmlns:p14="http://schemas.microsoft.com/office/powerpoint/2010/main" val="38128188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65" name="TextBox 64">
            <a:extLst>
              <a:ext uri="{FF2B5EF4-FFF2-40B4-BE49-F238E27FC236}">
                <a16:creationId xmlns:a16="http://schemas.microsoft.com/office/drawing/2014/main" id="{E7777D04-D73F-74AB-C30B-7D3C9397264F}"/>
              </a:ext>
            </a:extLst>
          </p:cNvPr>
          <p:cNvSpPr txBox="1"/>
          <p:nvPr/>
        </p:nvSpPr>
        <p:spPr>
          <a:xfrm>
            <a:off x="1071707" y="1484148"/>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mj-lt"/>
              </a:rPr>
              <a:t>Other Buttons</a:t>
            </a:r>
            <a:endParaRPr lang="en-US" sz="2000" dirty="0">
              <a:solidFill>
                <a:srgbClr val="007434"/>
              </a:solidFill>
              <a:latin typeface="+mj-lt"/>
            </a:endParaRPr>
          </a:p>
        </p:txBody>
      </p:sp>
      <p:sp>
        <p:nvSpPr>
          <p:cNvPr id="15" name="TextBox 14">
            <a:extLst>
              <a:ext uri="{FF2B5EF4-FFF2-40B4-BE49-F238E27FC236}">
                <a16:creationId xmlns:a16="http://schemas.microsoft.com/office/drawing/2014/main" id="{473755D2-F3DC-4ED7-8747-C5A483B7383F}"/>
              </a:ext>
            </a:extLst>
          </p:cNvPr>
          <p:cNvSpPr txBox="1"/>
          <p:nvPr/>
        </p:nvSpPr>
        <p:spPr>
          <a:xfrm>
            <a:off x="585809" y="123167"/>
            <a:ext cx="482461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dirty="0">
                <a:solidFill>
                  <a:schemeClr val="accent6">
                    <a:lumMod val="20000"/>
                    <a:lumOff val="80000"/>
                  </a:schemeClr>
                </a:solidFill>
                <a:latin typeface="+mj-lt"/>
              </a:rPr>
              <a:t>Sales/ Sales Journal </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sp>
        <p:nvSpPr>
          <p:cNvPr id="4" name="Slide Number Placeholder 3">
            <a:extLst>
              <a:ext uri="{FF2B5EF4-FFF2-40B4-BE49-F238E27FC236}">
                <a16:creationId xmlns:a16="http://schemas.microsoft.com/office/drawing/2014/main" id="{2050FC24-EB98-9B59-7C90-F257A2E4111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graphicFrame>
        <p:nvGraphicFramePr>
          <p:cNvPr id="7" name="Table 6">
            <a:extLst>
              <a:ext uri="{FF2B5EF4-FFF2-40B4-BE49-F238E27FC236}">
                <a16:creationId xmlns:a16="http://schemas.microsoft.com/office/drawing/2014/main" id="{09BCAEE1-5869-F6DD-B3E6-F3D3C8F31C66}"/>
              </a:ext>
            </a:extLst>
          </p:cNvPr>
          <p:cNvGraphicFramePr>
            <a:graphicFrameLocks noGrp="1"/>
          </p:cNvGraphicFramePr>
          <p:nvPr/>
        </p:nvGraphicFramePr>
        <p:xfrm>
          <a:off x="2648190" y="2004912"/>
          <a:ext cx="6186170" cy="2670175"/>
        </p:xfrm>
        <a:graphic>
          <a:graphicData uri="http://schemas.openxmlformats.org/drawingml/2006/table">
            <a:tbl>
              <a:tblPr firstRow="1" firstCol="1" bandRow="1">
                <a:tableStyleId>{5940675A-B579-460E-94D1-54222C63F5DA}</a:tableStyleId>
              </a:tblPr>
              <a:tblGrid>
                <a:gridCol w="993597">
                  <a:extLst>
                    <a:ext uri="{9D8B030D-6E8A-4147-A177-3AD203B41FA5}">
                      <a16:colId xmlns:a16="http://schemas.microsoft.com/office/drawing/2014/main" val="3415315536"/>
                    </a:ext>
                  </a:extLst>
                </a:gridCol>
                <a:gridCol w="1171852">
                  <a:extLst>
                    <a:ext uri="{9D8B030D-6E8A-4147-A177-3AD203B41FA5}">
                      <a16:colId xmlns:a16="http://schemas.microsoft.com/office/drawing/2014/main" val="906130530"/>
                    </a:ext>
                  </a:extLst>
                </a:gridCol>
                <a:gridCol w="4020721">
                  <a:extLst>
                    <a:ext uri="{9D8B030D-6E8A-4147-A177-3AD203B41FA5}">
                      <a16:colId xmlns:a16="http://schemas.microsoft.com/office/drawing/2014/main" val="1098265409"/>
                    </a:ext>
                  </a:extLst>
                </a:gridCol>
              </a:tblGrid>
              <a:tr h="336550">
                <a:tc>
                  <a:txBody>
                    <a:bodyPr/>
                    <a:lstStyle/>
                    <a:p>
                      <a:pPr>
                        <a:lnSpc>
                          <a:spcPct val="107000"/>
                        </a:lnSpc>
                        <a:spcAft>
                          <a:spcPts val="800"/>
                        </a:spcAft>
                        <a:tabLst>
                          <a:tab pos="1162050" algn="l"/>
                        </a:tabLst>
                      </a:pPr>
                      <a:endParaRPr lang="en-PH" sz="900">
                        <a:effectLst/>
                        <a:latin typeface="Chivo Light"/>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dirty="0">
                          <a:effectLst/>
                        </a:rPr>
                        <a:t>Print Button</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PH" sz="900" dirty="0">
                          <a:effectLst/>
                        </a:rPr>
                        <a:t>Print button is use to print transaction.</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5848879"/>
                  </a:ext>
                </a:extLst>
              </a:tr>
              <a:tr h="365125">
                <a:tc>
                  <a:txBody>
                    <a:bodyPr/>
                    <a:lstStyle/>
                    <a:p>
                      <a:pPr>
                        <a:lnSpc>
                          <a:spcPct val="107000"/>
                        </a:lnSpc>
                        <a:spcAft>
                          <a:spcPts val="800"/>
                        </a:spcAft>
                        <a:tabLst>
                          <a:tab pos="1162050" algn="l"/>
                        </a:tabLst>
                      </a:pPr>
                      <a:endParaRPr lang="en-PH" sz="900">
                        <a:effectLst/>
                        <a:latin typeface="Chivo Light"/>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a:effectLst/>
                        </a:rPr>
                        <a:t>Logs Button</a:t>
                      </a:r>
                      <a:endParaRPr lang="en-PH"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dirty="0">
                          <a:effectLst/>
                        </a:rPr>
                        <a:t>Logs Button is use to monitor the activities made in the module.</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98493135"/>
                  </a:ext>
                </a:extLst>
              </a:tr>
              <a:tr h="393700">
                <a:tc>
                  <a:txBody>
                    <a:bodyPr/>
                    <a:lstStyle/>
                    <a:p>
                      <a:pPr>
                        <a:lnSpc>
                          <a:spcPct val="107000"/>
                        </a:lnSpc>
                        <a:spcAft>
                          <a:spcPts val="800"/>
                        </a:spcAft>
                        <a:tabLst>
                          <a:tab pos="1162050" algn="l"/>
                        </a:tabLst>
                      </a:pP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a:effectLst/>
                        </a:rPr>
                        <a:t>Lock Button</a:t>
                      </a:r>
                      <a:endParaRPr lang="en-PH"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a:effectLst/>
                        </a:rPr>
                        <a:t>Lock button is use to lock the transaction to refrain from changing the details in the transaction</a:t>
                      </a:r>
                      <a:endParaRPr lang="en-PH"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94974876"/>
                  </a:ext>
                </a:extLst>
              </a:tr>
              <a:tr h="393700">
                <a:tc>
                  <a:txBody>
                    <a:bodyPr/>
                    <a:lstStyle/>
                    <a:p>
                      <a:pPr>
                        <a:lnSpc>
                          <a:spcPct val="107000"/>
                        </a:lnSpc>
                        <a:spcAft>
                          <a:spcPts val="800"/>
                        </a:spcAft>
                        <a:tabLst>
                          <a:tab pos="1162050" algn="l"/>
                        </a:tabLst>
                      </a:pPr>
                      <a:endParaRPr lang="en-PH" sz="900">
                        <a:effectLst/>
                        <a:latin typeface="Chivo Light"/>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a:effectLst/>
                        </a:rPr>
                        <a:t>Back to Listing Button</a:t>
                      </a:r>
                      <a:endParaRPr lang="en-PH"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dirty="0">
                          <a:effectLst/>
                        </a:rPr>
                        <a:t>Back to Listing Button is use to go back from main form to main window</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71412428"/>
                  </a:ext>
                </a:extLst>
              </a:tr>
              <a:tr h="393700">
                <a:tc>
                  <a:txBody>
                    <a:bodyPr/>
                    <a:lstStyle/>
                    <a:p>
                      <a:pPr>
                        <a:lnSpc>
                          <a:spcPct val="107000"/>
                        </a:lnSpc>
                        <a:spcAft>
                          <a:spcPts val="800"/>
                        </a:spcAft>
                        <a:tabLst>
                          <a:tab pos="1162050" algn="l"/>
                        </a:tabLst>
                      </a:pPr>
                      <a:endParaRPr lang="en-PH" sz="900">
                        <a:effectLst/>
                        <a:latin typeface="Chivo Light"/>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a:effectLst/>
                        </a:rPr>
                        <a:t>Hide Head Button</a:t>
                      </a:r>
                      <a:endParaRPr lang="en-PH"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dirty="0">
                          <a:effectLst/>
                        </a:rPr>
                        <a:t>Hide Head Button is use to minimize the main form.</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99672917"/>
                  </a:ext>
                </a:extLst>
              </a:tr>
              <a:tr h="393700">
                <a:tc>
                  <a:txBody>
                    <a:bodyPr/>
                    <a:lstStyle/>
                    <a:p>
                      <a:pPr>
                        <a:lnSpc>
                          <a:spcPct val="107000"/>
                        </a:lnSpc>
                        <a:spcAft>
                          <a:spcPts val="800"/>
                        </a:spcAft>
                        <a:tabLst>
                          <a:tab pos="1162050" algn="l"/>
                        </a:tabLst>
                      </a:pP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a:effectLst/>
                        </a:rPr>
                        <a:t>Full Screen Button</a:t>
                      </a:r>
                      <a:endParaRPr lang="en-PH"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dirty="0">
                          <a:effectLst/>
                        </a:rPr>
                        <a:t>Full Screen Button is use to allow the main form to full screen.</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74682782"/>
                  </a:ext>
                </a:extLst>
              </a:tr>
              <a:tr h="393700">
                <a:tc>
                  <a:txBody>
                    <a:bodyPr/>
                    <a:lstStyle/>
                    <a:p>
                      <a:pPr>
                        <a:lnSpc>
                          <a:spcPct val="107000"/>
                        </a:lnSpc>
                        <a:spcAft>
                          <a:spcPts val="800"/>
                        </a:spcAft>
                        <a:tabLst>
                          <a:tab pos="1162050" algn="l"/>
                        </a:tabLst>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a:effectLst/>
                        </a:rPr>
                        <a:t>Open New Tab Button</a:t>
                      </a:r>
                      <a:endParaRPr lang="en-PH"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dirty="0">
                          <a:effectLst/>
                        </a:rPr>
                        <a:t>Open New Tab Button is use to open new tab module you currently using.</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23038834"/>
                  </a:ext>
                </a:extLst>
              </a:tr>
            </a:tbl>
          </a:graphicData>
        </a:graphic>
      </p:graphicFrame>
      <p:pic>
        <p:nvPicPr>
          <p:cNvPr id="9" name="Picture 91">
            <a:extLst>
              <a:ext uri="{FF2B5EF4-FFF2-40B4-BE49-F238E27FC236}">
                <a16:creationId xmlns:a16="http://schemas.microsoft.com/office/drawing/2014/main" id="{23E15640-3F1D-C7CF-5118-8206563379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2618" y="2024228"/>
            <a:ext cx="866775" cy="2857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2">
            <a:extLst>
              <a:ext uri="{FF2B5EF4-FFF2-40B4-BE49-F238E27FC236}">
                <a16:creationId xmlns:a16="http://schemas.microsoft.com/office/drawing/2014/main" id="{A787E934-2CE8-603C-20C5-7C9F7D9487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13911" y="2377898"/>
            <a:ext cx="866775" cy="2857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93">
            <a:extLst>
              <a:ext uri="{FF2B5EF4-FFF2-40B4-BE49-F238E27FC236}">
                <a16:creationId xmlns:a16="http://schemas.microsoft.com/office/drawing/2014/main" id="{C03921B5-DF02-80BB-BA0D-D50F3F03E91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05976" y="3158440"/>
            <a:ext cx="846137" cy="28575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94">
            <a:extLst>
              <a:ext uri="{FF2B5EF4-FFF2-40B4-BE49-F238E27FC236}">
                <a16:creationId xmlns:a16="http://schemas.microsoft.com/office/drawing/2014/main" id="{37DA55C5-26B8-BB84-71F3-421DDBFE1A9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00419" y="3558534"/>
            <a:ext cx="838200" cy="28575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96">
            <a:extLst>
              <a:ext uri="{FF2B5EF4-FFF2-40B4-BE49-F238E27FC236}">
                <a16:creationId xmlns:a16="http://schemas.microsoft.com/office/drawing/2014/main" id="{398E80D9-84A9-08D8-9DB4-9DAF5420F1E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05976" y="3958628"/>
            <a:ext cx="827087" cy="284163"/>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97">
            <a:extLst>
              <a:ext uri="{FF2B5EF4-FFF2-40B4-BE49-F238E27FC236}">
                <a16:creationId xmlns:a16="http://schemas.microsoft.com/office/drawing/2014/main" id="{D0D4E61C-D093-9E88-A79E-A322B8EF47A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06623" y="4326522"/>
            <a:ext cx="817562" cy="284163"/>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329">
            <a:extLst>
              <a:ext uri="{FF2B5EF4-FFF2-40B4-BE49-F238E27FC236}">
                <a16:creationId xmlns:a16="http://schemas.microsoft.com/office/drawing/2014/main" id="{1994DD8B-EBB6-C32B-123B-524B24747C4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13911" y="2732339"/>
            <a:ext cx="828675" cy="342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1381382"/>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1048</Words>
  <Application>Microsoft Office PowerPoint</Application>
  <PresentationFormat>Widescreen</PresentationFormat>
  <Paragraphs>159</Paragraphs>
  <Slides>11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Animosa Extra Bold</vt:lpstr>
      <vt:lpstr>Arial</vt:lpstr>
      <vt:lpstr>Bodoni MT Condensed</vt:lpstr>
      <vt:lpstr>Calibri</vt:lpstr>
      <vt:lpstr>Calibri Light</vt:lpstr>
      <vt:lpstr>Chivo Light</vt:lpstr>
      <vt:lpstr>Times New Roman</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Janine Calawod</dc:creator>
  <cp:lastModifiedBy>Janine Calawod</cp:lastModifiedBy>
  <cp:revision>4</cp:revision>
  <dcterms:created xsi:type="dcterms:W3CDTF">2023-01-10T05:44:13Z</dcterms:created>
  <dcterms:modified xsi:type="dcterms:W3CDTF">2023-01-10T05:45:51Z</dcterms:modified>
</cp:coreProperties>
</file>