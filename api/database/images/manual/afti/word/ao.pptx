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59" r:id="rId2"/>
    <p:sldId id="460" r:id="rId3"/>
    <p:sldId id="461" r:id="rId4"/>
    <p:sldId id="462" r:id="rId5"/>
    <p:sldId id="463" r:id="rId6"/>
    <p:sldId id="464" r:id="rId7"/>
    <p:sldId id="466" r:id="rId8"/>
    <p:sldId id="4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EB4A-3408-1B97-1B34-05AE5640F8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4CE41D-ED3A-FB15-B2CB-48AE9AE25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2DF44-2CFE-99D1-62FB-C419C3595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5D17A-142B-4705-ADE1-A3098ECE97EC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2A000-96DA-5E5F-9A77-6569656A3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FD326-4FC0-72EB-DF56-0FD78B9EE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427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F9D75-E04D-B634-D919-617757394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6432A-85F7-6833-67C8-01C4E7216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7A2C-3294-4947-A3DE-F536E8B16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770F1-593C-41E5-9DDC-A7DDE7DA3A0C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15DCA-9125-891E-96C8-87AF8FF5A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9F385-A188-DB80-34AE-99BFE3772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610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F34D8-AC3A-C1B6-226A-B0342CC95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1E8B-24DF-615A-8729-9497B6EA1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1F83F-6442-4F8D-A89C-5E43D4324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BA4C9-61EB-4E89-89EA-F649D387A885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243A9-4120-4241-6DD2-BB67522C9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42F45-390E-7F61-65CB-09F84E0C7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023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6E399-2560-08C2-7560-8CDD4F0BE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C3219-FB0A-90C1-5347-5D8D63A15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6AE50-4292-C9EB-8B25-09DE0EA02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747A3-5AAE-74E5-58AC-112C24B4D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50626-E323-4146-837D-79DA438855EF}" type="datetime1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45C81-CA6F-521E-53EF-EEB98F96F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839E4-86AD-5375-DD4F-F846EF925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296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C6130-117C-998F-E56B-57FCF1096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E80B8-EA33-707F-EC6C-EBC7B1352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28F7F-ECE8-BAAD-7338-2D78A59EE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DAF716-F429-44D0-6E93-815FF3C4F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2A37D0-605C-BB9A-385B-6A85770C86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3F5C74-EA7F-FDB3-FB93-77C9E914F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F3B27-06CD-4A16-84A3-AF5F748FC93B}" type="datetime1">
              <a:rPr lang="en-US" smtClean="0"/>
              <a:t>1/10/2023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E1775E-89CF-943A-9CDA-597023CE8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E9C5D8-2060-0E24-EC81-3C64B264C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176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700E-1F64-71E3-B8E2-5003EE14F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92E4C6-4425-4600-DADA-0FAA915F0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8157D-198D-4A55-A6AF-F9A96DD09084}" type="datetime1">
              <a:rPr lang="en-US" smtClean="0"/>
              <a:t>1/10/2023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25CC1-1CF0-5FE6-B23F-FC0640815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A12A78-3142-4A2A-6A14-2861FE055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7" y="6361105"/>
            <a:ext cx="495813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69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8CDC6-AE80-3C7C-7A54-83C4F8A35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FA7D0-D9E5-4981-8E91-F86A007EC8E4}" type="datetime1">
              <a:rPr lang="en-US" smtClean="0"/>
              <a:t>1/10/2023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C87A10-784A-0882-62A6-ACF915286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3EFA-8AAD-4032-2084-C183504C0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573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06DDE-4887-BBF0-A054-1795A6026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A9F60-2E86-61FF-D6C4-8EEFEF4FB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C98BF-6198-66C9-1808-3E0DE1D9B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3C433-2EF0-6879-AA30-D7F23FA1D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55C73-8B4C-45CE-9F74-EC399096C6A5}" type="datetime1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B4456-36C8-9DCF-5C14-8BA06584B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FA8EE-1367-107D-033E-8A0158C5E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218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698BA-7366-CA58-0AE4-D2030C175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964958-D645-44EB-2EDC-93CCA39A19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D1894-31E7-5B16-FAA4-8794FE103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EEAB6-A5F9-0B9E-BFB9-37D999F61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69AC3-3FEF-4BD8-8E00-675B95488D0A}" type="datetime1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57A55-6F18-17DA-8716-BC16F3F9C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47226-21F6-2D27-6044-9FC188E6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951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426E2-26EB-63EF-501D-68A4434E7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8B2B9-8CC9-2B50-B062-946D7E785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2974C-952F-86C3-A75E-105A3A2EF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2B63B-3CDB-4958-B2A2-640C52D819C0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495DF-D0C7-812E-EDA8-AEA85D875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DC9A3-8AF0-8B35-01FB-6FDA728B4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953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59C450-90ED-272A-E463-AAA21A2E5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DA328-475F-1FE7-6643-FADC6BE1F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27D1A-7BFF-DDEC-3AEE-1846C4553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7D481-5643-4F4C-B901-C5733B76A666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493FD-135D-1E5D-ED17-848900B65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E65E1-7A80-1403-F41E-7FDEAAED1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3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DF1DB1-AAB5-C0D6-F8F5-5C3D1F05C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64012-DD5E-82B0-E0A6-F22247B5B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C52C1-D777-85DB-34DD-7DB776F29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46D66-831C-4C42-918D-32B4B0271D98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BF4A8-E610-C555-2196-67DC47368D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77A19-A289-6A34-54CB-69755ED14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69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1017646" y="2105561"/>
            <a:ext cx="10289512" cy="132343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doni MT Condensed" panose="02070606080606020203" pitchFamily="18" charset="0"/>
                <a:ea typeface="+mn-ea"/>
                <a:cs typeface="+mn-cs"/>
              </a:rPr>
              <a:t>Service Sales Order</a:t>
            </a:r>
            <a:endParaRPr kumimoji="0" lang="en-US" sz="8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Bodoni MT Condensed" panose="02070606080606020203" pitchFamily="18" charset="0"/>
              <a:ea typeface="+mn-ea"/>
              <a:cs typeface="+mn-cs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F98AB504-F121-820A-CAC3-1E72B851128C}"/>
              </a:ext>
            </a:extLst>
          </p:cNvPr>
          <p:cNvSpPr txBox="1"/>
          <p:nvPr/>
        </p:nvSpPr>
        <p:spPr>
          <a:xfrm>
            <a:off x="0" y="5769429"/>
            <a:ext cx="12191999" cy="1088572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Open Sans" panose="020B0606030504020204" pitchFamily="34" charset="0"/>
                <a:cs typeface="Times New Roman" panose="02020603050405020304" pitchFamily="18" charset="0"/>
              </a:rPr>
              <a:t>Service Sales Order is where service order of customers is recorded from quotation.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3A7496-1034-196F-6300-3534FAADF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8714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01940-C472-2128-749A-74F3CCB5F124}"/>
              </a:ext>
            </a:extLst>
          </p:cNvPr>
          <p:cNvSpPr txBox="1"/>
          <p:nvPr/>
        </p:nvSpPr>
        <p:spPr>
          <a:xfrm>
            <a:off x="805110" y="2375033"/>
            <a:ext cx="3887062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Main Window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0" name="Text Box 15">
            <a:extLst>
              <a:ext uri="{FF2B5EF4-FFF2-40B4-BE49-F238E27FC236}">
                <a16:creationId xmlns:a16="http://schemas.microsoft.com/office/drawing/2014/main" id="{E1DF78E5-41B8-4843-8426-68AD1D115D04}"/>
              </a:ext>
            </a:extLst>
          </p:cNvPr>
          <p:cNvSpPr txBox="1"/>
          <p:nvPr/>
        </p:nvSpPr>
        <p:spPr>
          <a:xfrm>
            <a:off x="832872" y="2847734"/>
            <a:ext cx="3887062" cy="127176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227330" lvl="2" indent="0" algn="l" defTabSz="914400" rtl="0" eaLnBrk="1" fontAlgn="auto" latinLnBrk="0" hangingPunct="1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click the Service Sales Order module under Sales, Service Sales Order transactions list will display based on filtered date and status in the sales order main window.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8989E4-F23C-F4AC-684B-2BE81114D33A}"/>
              </a:ext>
            </a:extLst>
          </p:cNvPr>
          <p:cNvSpPr txBox="1"/>
          <p:nvPr/>
        </p:nvSpPr>
        <p:spPr>
          <a:xfrm>
            <a:off x="7284343" y="4577453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 Sales order – Main Window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3AF19C-814C-4975-A22C-FCF6AC461B65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Sales/ Service Sales Order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2FCBCF-0F55-FEEC-7EA4-F4A4F9264E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966" y="2280547"/>
            <a:ext cx="5984240" cy="194500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16A7AF6-B102-F292-C031-FABB4E7A70E3}"/>
              </a:ext>
            </a:extLst>
          </p:cNvPr>
          <p:cNvGrpSpPr/>
          <p:nvPr/>
        </p:nvGrpSpPr>
        <p:grpSpPr>
          <a:xfrm>
            <a:off x="5319966" y="2996911"/>
            <a:ext cx="5855970" cy="1223010"/>
            <a:chOff x="3168015" y="2817495"/>
            <a:chExt cx="5855970" cy="122301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9516E8B-AB88-76DE-22D2-3389FF462045}"/>
                </a:ext>
              </a:extLst>
            </p:cNvPr>
            <p:cNvSpPr/>
            <p:nvPr/>
          </p:nvSpPr>
          <p:spPr>
            <a:xfrm>
              <a:off x="3168015" y="3840480"/>
              <a:ext cx="885825" cy="16192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C607CD2-9407-F708-7C85-CBAFE69D26C7}"/>
                </a:ext>
              </a:extLst>
            </p:cNvPr>
            <p:cNvSpPr/>
            <p:nvPr/>
          </p:nvSpPr>
          <p:spPr>
            <a:xfrm>
              <a:off x="4215765" y="2817495"/>
              <a:ext cx="4808220" cy="122301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403925DD-2462-DADF-ADC1-5D51025DA9D2}"/>
                </a:ext>
              </a:extLst>
            </p:cNvPr>
            <p:cNvCxnSpPr/>
            <p:nvPr/>
          </p:nvCxnSpPr>
          <p:spPr>
            <a:xfrm>
              <a:off x="4082415" y="3931285"/>
              <a:ext cx="142875" cy="450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372DE2-59DB-B986-5463-F32324D2B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3952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678873" y="1032424"/>
            <a:ext cx="4133461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How To Create Service Sales order  Transaction?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9A8214E9-BA24-C1CD-FE2E-59471D8D7178}"/>
              </a:ext>
            </a:extLst>
          </p:cNvPr>
          <p:cNvSpPr txBox="1"/>
          <p:nvPr/>
        </p:nvSpPr>
        <p:spPr>
          <a:xfrm>
            <a:off x="540588" y="1771320"/>
            <a:ext cx="4179346" cy="3814137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P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Service Sales Order – Main Window, you will notice a create button in the upper left of the window. Click the create button and you will be redirect in service sales order – main form.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click the create button a dialog box will pop out with list of pending customer service quotations. Search and select a customer or the quotation transaction.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9" name="Text Box 27">
            <a:extLst>
              <a:ext uri="{FF2B5EF4-FFF2-40B4-BE49-F238E27FC236}">
                <a16:creationId xmlns:a16="http://schemas.microsoft.com/office/drawing/2014/main" id="{C0041F90-1A0F-8769-2E1A-BA60672B2ED3}"/>
              </a:ext>
            </a:extLst>
          </p:cNvPr>
          <p:cNvSpPr txBox="1"/>
          <p:nvPr/>
        </p:nvSpPr>
        <p:spPr>
          <a:xfrm>
            <a:off x="678873" y="4067395"/>
            <a:ext cx="3902776" cy="1172899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1430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388AC9D8-E4B5-58A0-4094-8A9CB20669C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93359DA-0E35-C2AE-7680-F17A03960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49DEC-339C-45EE-3FAD-E06A215F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758FCE-AB65-4065-84DE-724E55F1A273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Sales/ Service Sales Order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E5D14CD-271E-38B9-171A-F3CBDDCA49F8}"/>
              </a:ext>
            </a:extLst>
          </p:cNvPr>
          <p:cNvGrpSpPr/>
          <p:nvPr/>
        </p:nvGrpSpPr>
        <p:grpSpPr>
          <a:xfrm>
            <a:off x="5554618" y="315372"/>
            <a:ext cx="12193588" cy="1778000"/>
            <a:chOff x="-1588" y="0"/>
            <a:chExt cx="12193588" cy="1778000"/>
          </a:xfrm>
        </p:grpSpPr>
        <p:pic>
          <p:nvPicPr>
            <p:cNvPr id="22533" name="Picture 19">
              <a:extLst>
                <a:ext uri="{FF2B5EF4-FFF2-40B4-BE49-F238E27FC236}">
                  <a16:creationId xmlns:a16="http://schemas.microsoft.com/office/drawing/2014/main" id="{4790325B-DCE6-9793-165C-27580E5EB6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588" y="638175"/>
              <a:ext cx="6189663" cy="11398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" name="Group 1">
              <a:extLst>
                <a:ext uri="{FF2B5EF4-FFF2-40B4-BE49-F238E27FC236}">
                  <a16:creationId xmlns:a16="http://schemas.microsoft.com/office/drawing/2014/main" id="{8CD66193-7843-3819-8370-5C9678FD5C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1450" y="881063"/>
              <a:ext cx="1209675" cy="333375"/>
              <a:chOff x="0" y="0"/>
              <a:chExt cx="12096" cy="3333"/>
            </a:xfrm>
          </p:grpSpPr>
          <p:sp>
            <p:nvSpPr>
              <p:cNvPr id="8" name="Rectangle 20">
                <a:extLst>
                  <a:ext uri="{FF2B5EF4-FFF2-40B4-BE49-F238E27FC236}">
                    <a16:creationId xmlns:a16="http://schemas.microsoft.com/office/drawing/2014/main" id="{F3FD74A8-D33E-804F-5134-C4536451AA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8001" cy="333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Straight Arrow Connector 21">
                <a:extLst>
                  <a:ext uri="{FF2B5EF4-FFF2-40B4-BE49-F238E27FC236}">
                    <a16:creationId xmlns:a16="http://schemas.microsoft.com/office/drawing/2014/main" id="{15850D8D-27D8-F036-78FC-40CB57E62C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1" y="1333"/>
                <a:ext cx="2000" cy="95"/>
              </a:xfrm>
              <a:prstGeom prst="straightConnector1">
                <a:avLst/>
              </a:prstGeom>
              <a:noFill/>
              <a:ln w="635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Text Box 22">
                <a:extLst>
                  <a:ext uri="{FF2B5EF4-FFF2-40B4-BE49-F238E27FC236}">
                    <a16:creationId xmlns:a16="http://schemas.microsoft.com/office/drawing/2014/main" id="{B7148459-1FA2-4259-E4AD-AF7DE57AA9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96" y="285"/>
                <a:ext cx="2000" cy="2477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599E7EC1-40A1-ED7D-C190-173296704C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Rectangle 8">
              <a:extLst>
                <a:ext uri="{FF2B5EF4-FFF2-40B4-BE49-F238E27FC236}">
                  <a16:creationId xmlns:a16="http://schemas.microsoft.com/office/drawing/2014/main" id="{E8C2D9BE-7B33-502A-226F-7F4DC02A15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4B0A758-5562-2222-A38E-30F1BEFE1837}"/>
              </a:ext>
            </a:extLst>
          </p:cNvPr>
          <p:cNvGrpSpPr/>
          <p:nvPr/>
        </p:nvGrpSpPr>
        <p:grpSpPr>
          <a:xfrm>
            <a:off x="5648281" y="2373485"/>
            <a:ext cx="12192000" cy="3397250"/>
            <a:chOff x="0" y="0"/>
            <a:chExt cx="12192000" cy="3397250"/>
          </a:xfrm>
        </p:grpSpPr>
        <p:pic>
          <p:nvPicPr>
            <p:cNvPr id="22537" name="Picture 13">
              <a:extLst>
                <a:ext uri="{FF2B5EF4-FFF2-40B4-BE49-F238E27FC236}">
                  <a16:creationId xmlns:a16="http://schemas.microsoft.com/office/drawing/2014/main" id="{BCF3F24F-55D2-18A5-6CE6-A347855271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38" y="457200"/>
              <a:ext cx="6189662" cy="29400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9" name="Group 11">
              <a:extLst>
                <a:ext uri="{FF2B5EF4-FFF2-40B4-BE49-F238E27FC236}">
                  <a16:creationId xmlns:a16="http://schemas.microsoft.com/office/drawing/2014/main" id="{B317F66D-F1F8-8B92-F690-64DAB853A5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7525" y="1201738"/>
              <a:ext cx="5407025" cy="1216288"/>
              <a:chOff x="1894" y="6568"/>
              <a:chExt cx="8514" cy="1915"/>
            </a:xfrm>
          </p:grpSpPr>
          <p:sp>
            <p:nvSpPr>
              <p:cNvPr id="30" name="Text Box 16">
                <a:extLst>
                  <a:ext uri="{FF2B5EF4-FFF2-40B4-BE49-F238E27FC236}">
                    <a16:creationId xmlns:a16="http://schemas.microsoft.com/office/drawing/2014/main" id="{8F80E91A-7C3B-3973-81AA-FD3E98B6D3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94" y="7338"/>
                <a:ext cx="5354" cy="1145"/>
              </a:xfrm>
              <a:prstGeom prst="rect">
                <a:avLst/>
              </a:prstGeom>
              <a:solidFill>
                <a:srgbClr val="FFF2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032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032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032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032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032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032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032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032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032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228600" marR="0" lvl="0" indent="-141288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203200" algn="l"/>
                  </a:tabLst>
                  <a:defRPr/>
                </a:pPr>
                <a:r>
                  <a:rPr kumimoji="0" lang="en-PH" altLang="en-US" sz="10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4F6128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How to search quotation transaction?</a:t>
                </a:r>
                <a:endParaRPr kumimoji="0" lang="en-PH" altLang="en-US" sz="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  <a:p>
                <a:pPr marL="360363" marR="0" lvl="0" indent="-1841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r>
                  <a:rPr kumimoji="0" lang="en-PH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Type the transaction number of quotation in the search bar.</a:t>
                </a:r>
                <a:endParaRPr kumimoji="0" lang="en-PH" altLang="en-US" sz="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  <a:p>
                <a:pPr marL="360363" marR="0" lvl="0" indent="-1841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r>
                  <a:rPr kumimoji="0" lang="en-PH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And it will automatically sort out.</a:t>
                </a:r>
                <a:endParaRPr kumimoji="0" lang="en-PH" altLang="en-US" sz="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  <a:p>
                <a:pPr marL="360363" marR="0" lvl="0" indent="-1841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r>
                  <a:rPr kumimoji="0" lang="en-PH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Then click the selected transaction in quotation</a:t>
                </a:r>
                <a:endParaRPr kumimoji="0" lang="en-PH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grpSp>
            <p:nvGrpSpPr>
              <p:cNvPr id="31" name="Group 28">
                <a:extLst>
                  <a:ext uri="{FF2B5EF4-FFF2-40B4-BE49-F238E27FC236}">
                    <a16:creationId xmlns:a16="http://schemas.microsoft.com/office/drawing/2014/main" id="{2E395DE0-968B-7072-F633-5B5059A486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94" y="6568"/>
                <a:ext cx="8514" cy="493"/>
                <a:chOff x="-40101" y="1772"/>
                <a:chExt cx="55921" cy="3656"/>
              </a:xfrm>
            </p:grpSpPr>
            <p:sp>
              <p:nvSpPr>
                <p:cNvPr id="32" name="Rectangle 29">
                  <a:extLst>
                    <a:ext uri="{FF2B5EF4-FFF2-40B4-BE49-F238E27FC236}">
                      <a16:creationId xmlns:a16="http://schemas.microsoft.com/office/drawing/2014/main" id="{6C31891F-B8D7-F7EE-A037-C27503B6EB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40101" y="1772"/>
                  <a:ext cx="51455" cy="3657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Straight Arrow Connector 30">
                  <a:extLst>
                    <a:ext uri="{FF2B5EF4-FFF2-40B4-BE49-F238E27FC236}">
                      <a16:creationId xmlns:a16="http://schemas.microsoft.com/office/drawing/2014/main" id="{89AC7BD1-6019-2DED-AB61-AE36943C0A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354" y="3232"/>
                  <a:ext cx="2000" cy="96"/>
                </a:xfrm>
                <a:prstGeom prst="straightConnector1">
                  <a:avLst/>
                </a:prstGeom>
                <a:noFill/>
                <a:ln w="635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Text Box 31">
                  <a:extLst>
                    <a:ext uri="{FF2B5EF4-FFF2-40B4-BE49-F238E27FC236}">
                      <a16:creationId xmlns:a16="http://schemas.microsoft.com/office/drawing/2014/main" id="{5452C502-B0A3-BA2C-BC49-ACDF429D6E6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436" y="1834"/>
                  <a:ext cx="2384" cy="3339"/>
                </a:xfrm>
                <a:prstGeom prst="rect">
                  <a:avLst/>
                </a:prstGeom>
                <a:solidFill>
                  <a:srgbClr val="FFFF00"/>
                </a:soli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2</a:t>
                  </a: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22538" name="Picture 123">
              <a:extLst>
                <a:ext uri="{FF2B5EF4-FFF2-40B4-BE49-F238E27FC236}">
                  <a16:creationId xmlns:a16="http://schemas.microsoft.com/office/drawing/2014/main" id="{58A850C7-023E-C34C-3A82-487FFB955C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2025" y="457200"/>
              <a:ext cx="1944688" cy="158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" name="Rectangle 17">
              <a:extLst>
                <a:ext uri="{FF2B5EF4-FFF2-40B4-BE49-F238E27FC236}">
                  <a16:creationId xmlns:a16="http://schemas.microsoft.com/office/drawing/2014/main" id="{127FFB86-DB26-5CC1-AF3F-7BC88530E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Rectangle 20">
              <a:extLst>
                <a:ext uri="{FF2B5EF4-FFF2-40B4-BE49-F238E27FC236}">
                  <a16:creationId xmlns:a16="http://schemas.microsoft.com/office/drawing/2014/main" id="{1D9D5CB4-87D8-65BF-611E-3CCDE2D54A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5163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1240119" y="642052"/>
            <a:ext cx="4133461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How To Create Service Sales order  Transaction?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79" name="Text Box 27">
            <a:extLst>
              <a:ext uri="{FF2B5EF4-FFF2-40B4-BE49-F238E27FC236}">
                <a16:creationId xmlns:a16="http://schemas.microsoft.com/office/drawing/2014/main" id="{C0041F90-1A0F-8769-2E1A-BA60672B2ED3}"/>
              </a:ext>
            </a:extLst>
          </p:cNvPr>
          <p:cNvSpPr txBox="1"/>
          <p:nvPr/>
        </p:nvSpPr>
        <p:spPr>
          <a:xfrm>
            <a:off x="678873" y="1866904"/>
            <a:ext cx="3902776" cy="4419596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1430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select the quotation, you will be redirect in service sales order – main form where you all information from quotation will be copied.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Check the transaction.</a:t>
            </a:r>
          </a:p>
          <a:p>
            <a:pPr marL="11430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finalize the transaction, click post button located in the header.</a:t>
            </a:r>
          </a:p>
          <a:p>
            <a:pPr marL="11430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388AC9D8-E4B5-58A0-4094-8A9CB20669C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49DEC-339C-45EE-3FAD-E06A215F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758FCE-AB65-4065-84DE-724E55F1A273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Sales/ Service Sales Order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7458BB-E853-A818-6461-F112A80EB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511" y="408023"/>
            <a:ext cx="5440680" cy="30791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A0DE7F-2208-1D82-1FC1-E78DE867C7EA}"/>
              </a:ext>
            </a:extLst>
          </p:cNvPr>
          <p:cNvSpPr txBox="1"/>
          <p:nvPr/>
        </p:nvSpPr>
        <p:spPr>
          <a:xfrm>
            <a:off x="7689134" y="3487138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 Sales order – Main Form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105B25-7DC3-749A-8948-266658EDEE99}"/>
              </a:ext>
            </a:extLst>
          </p:cNvPr>
          <p:cNvGrpSpPr/>
          <p:nvPr/>
        </p:nvGrpSpPr>
        <p:grpSpPr>
          <a:xfrm>
            <a:off x="6096000" y="3696053"/>
            <a:ext cx="12192000" cy="2870200"/>
            <a:chOff x="0" y="0"/>
            <a:chExt cx="12192000" cy="2870200"/>
          </a:xfrm>
        </p:grpSpPr>
        <p:pic>
          <p:nvPicPr>
            <p:cNvPr id="24577" name="Picture 686">
              <a:extLst>
                <a:ext uri="{FF2B5EF4-FFF2-40B4-BE49-F238E27FC236}">
                  <a16:creationId xmlns:a16="http://schemas.microsoft.com/office/drawing/2014/main" id="{F01BACF6-9529-0A89-7814-67BF1C900F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713" y="527050"/>
              <a:ext cx="5248275" cy="2343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E491860-C3D7-0577-A603-019B8E0CD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92735" y="817387"/>
              <a:ext cx="4958715" cy="130746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330B4DC9-0A91-12BE-DEA1-34625AA58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9425" y="828675"/>
              <a:ext cx="311150" cy="150813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Rectangle 4">
              <a:extLst>
                <a:ext uri="{FF2B5EF4-FFF2-40B4-BE49-F238E27FC236}">
                  <a16:creationId xmlns:a16="http://schemas.microsoft.com/office/drawing/2014/main" id="{E6405A21-16F4-2B5D-5569-620E7D6EF9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450" y="723900"/>
              <a:ext cx="222250" cy="14922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AutoShape 3">
              <a:extLst>
                <a:ext uri="{FF2B5EF4-FFF2-40B4-BE49-F238E27FC236}">
                  <a16:creationId xmlns:a16="http://schemas.microsoft.com/office/drawing/2014/main" id="{48A06689-3307-62F0-1DB8-15677177F7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0813" y="771525"/>
              <a:ext cx="127000" cy="206375"/>
            </a:xfrm>
            <a:prstGeom prst="curvedLeftArrow">
              <a:avLst>
                <a:gd name="adj1" fmla="val 32500"/>
                <a:gd name="adj2" fmla="val 65000"/>
                <a:gd name="adj3" fmla="val 33333"/>
              </a:avLst>
            </a:prstGeom>
            <a:solidFill>
              <a:srgbClr val="393737"/>
            </a:solidFill>
            <a:ln w="9525">
              <a:solidFill>
                <a:srgbClr val="393737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Rectangle 2">
              <a:extLst>
                <a:ext uri="{FF2B5EF4-FFF2-40B4-BE49-F238E27FC236}">
                  <a16:creationId xmlns:a16="http://schemas.microsoft.com/office/drawing/2014/main" id="{EE5E80B4-71DB-E0CF-8672-9F0A5A7A6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8838" y="771525"/>
              <a:ext cx="358775" cy="27463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PH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5</a:t>
              </a:r>
              <a:endParaRPr kumimoji="0" lang="en-PH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Rectangle 7">
              <a:extLst>
                <a:ext uri="{FF2B5EF4-FFF2-40B4-BE49-F238E27FC236}">
                  <a16:creationId xmlns:a16="http://schemas.microsoft.com/office/drawing/2014/main" id="{3D1C4802-C173-4A32-6D13-D83C31E9B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Rectangle 9">
              <a:extLst>
                <a:ext uri="{FF2B5EF4-FFF2-40B4-BE49-F238E27FC236}">
                  <a16:creationId xmlns:a16="http://schemas.microsoft.com/office/drawing/2014/main" id="{6F9E14D7-214A-56EF-52AD-0DFD544272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8646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8">
            <a:extLst>
              <a:ext uri="{FF2B5EF4-FFF2-40B4-BE49-F238E27FC236}">
                <a16:creationId xmlns:a16="http://schemas.microsoft.com/office/drawing/2014/main" id="{9A8214E9-BA24-C1CD-FE2E-59471D8D7178}"/>
              </a:ext>
            </a:extLst>
          </p:cNvPr>
          <p:cNvSpPr txBox="1"/>
          <p:nvPr/>
        </p:nvSpPr>
        <p:spPr>
          <a:xfrm>
            <a:off x="540588" y="2513341"/>
            <a:ext cx="4179346" cy="2863837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 </a:t>
            </a: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service sales order – main window, search the transaction you want to delete.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1.2.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service sales order – main form, click the lookup button and select the transaction you want to delete.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done, click delete button.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388AC9D8-E4B5-58A0-4094-8A9CB20669C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6411CD-D453-3C70-B863-B05DFE4DD718}"/>
              </a:ext>
            </a:extLst>
          </p:cNvPr>
          <p:cNvSpPr txBox="1"/>
          <p:nvPr/>
        </p:nvSpPr>
        <p:spPr>
          <a:xfrm>
            <a:off x="632549" y="1311545"/>
            <a:ext cx="4109790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How To Delete Service Sales Order Transaction?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215506-CA7E-755F-74BA-DBA6C0290AC7}"/>
              </a:ext>
            </a:extLst>
          </p:cNvPr>
          <p:cNvSpPr txBox="1"/>
          <p:nvPr/>
        </p:nvSpPr>
        <p:spPr>
          <a:xfrm>
            <a:off x="7555888" y="2571114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 Sales Order – Main Window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65F91F1-ABF3-4922-BFB1-42E1925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8F2ED8-A2B1-3D8B-E8CD-E7E11E7AEEE1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Sales/ Service Sales Order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16A3C33-F26F-BF9E-4F48-E894DA32B2ED}"/>
              </a:ext>
            </a:extLst>
          </p:cNvPr>
          <p:cNvGrpSpPr/>
          <p:nvPr/>
        </p:nvGrpSpPr>
        <p:grpSpPr>
          <a:xfrm>
            <a:off x="5547271" y="184852"/>
            <a:ext cx="12192000" cy="2386262"/>
            <a:chOff x="0" y="0"/>
            <a:chExt cx="12192000" cy="2386262"/>
          </a:xfrm>
        </p:grpSpPr>
        <p:pic>
          <p:nvPicPr>
            <p:cNvPr id="25601" name="Picture 318">
              <a:extLst>
                <a:ext uri="{FF2B5EF4-FFF2-40B4-BE49-F238E27FC236}">
                  <a16:creationId xmlns:a16="http://schemas.microsoft.com/office/drawing/2014/main" id="{615C4679-07A7-33CB-0F19-6A8459E9AB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836" y="584449"/>
              <a:ext cx="6080125" cy="18018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1" name="Group 2">
              <a:extLst>
                <a:ext uri="{FF2B5EF4-FFF2-40B4-BE49-F238E27FC236}">
                  <a16:creationId xmlns:a16="http://schemas.microsoft.com/office/drawing/2014/main" id="{67C80056-4F8E-7721-E508-214E0EC154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288" y="1409700"/>
              <a:ext cx="1476375" cy="333375"/>
              <a:chOff x="0" y="0"/>
              <a:chExt cx="14763" cy="3333"/>
            </a:xfrm>
          </p:grpSpPr>
          <p:sp>
            <p:nvSpPr>
              <p:cNvPr id="22" name="Rectangle 121">
                <a:extLst>
                  <a:ext uri="{FF2B5EF4-FFF2-40B4-BE49-F238E27FC236}">
                    <a16:creationId xmlns:a16="http://schemas.microsoft.com/office/drawing/2014/main" id="{1E9E148A-6EC1-5451-83E5-0528CC368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8001" cy="333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Straight Arrow Connector 122">
                <a:extLst>
                  <a:ext uri="{FF2B5EF4-FFF2-40B4-BE49-F238E27FC236}">
                    <a16:creationId xmlns:a16="http://schemas.microsoft.com/office/drawing/2014/main" id="{5F9D474C-EA0C-59D4-2733-A42BC3910B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1" y="1333"/>
                <a:ext cx="2000" cy="95"/>
              </a:xfrm>
              <a:prstGeom prst="straightConnector1">
                <a:avLst/>
              </a:prstGeom>
              <a:noFill/>
              <a:ln w="635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Text Box 695">
                <a:extLst>
                  <a:ext uri="{FF2B5EF4-FFF2-40B4-BE49-F238E27FC236}">
                    <a16:creationId xmlns:a16="http://schemas.microsoft.com/office/drawing/2014/main" id="{6A186B3C-31E5-5964-1B79-21210D080F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96" y="285"/>
                <a:ext cx="4667" cy="2477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1.1.</a:t>
                </a: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5" name="Rectangle 6">
              <a:extLst>
                <a:ext uri="{FF2B5EF4-FFF2-40B4-BE49-F238E27FC236}">
                  <a16:creationId xmlns:a16="http://schemas.microsoft.com/office/drawing/2014/main" id="{854847F5-206E-181F-C749-5F51E144F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Rectangle 8">
              <a:extLst>
                <a:ext uri="{FF2B5EF4-FFF2-40B4-BE49-F238E27FC236}">
                  <a16:creationId xmlns:a16="http://schemas.microsoft.com/office/drawing/2014/main" id="{A82CC877-C9B4-941E-C197-4DE8E1A42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PH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hivo Light" panose="020B03030302020208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	</a:t>
              </a:r>
              <a:endParaRPr kumimoji="0" lang="en-PH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Rectangle 9">
              <a:extLst>
                <a:ext uri="{FF2B5EF4-FFF2-40B4-BE49-F238E27FC236}">
                  <a16:creationId xmlns:a16="http://schemas.microsoft.com/office/drawing/2014/main" id="{74F80B01-18E2-4377-7B1F-735D23F9D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259013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ECD2A5F-2379-D934-4345-6F706EADD4FD}"/>
              </a:ext>
            </a:extLst>
          </p:cNvPr>
          <p:cNvGrpSpPr/>
          <p:nvPr/>
        </p:nvGrpSpPr>
        <p:grpSpPr>
          <a:xfrm>
            <a:off x="4980465" y="2724571"/>
            <a:ext cx="12485756" cy="2992438"/>
            <a:chOff x="-293756" y="0"/>
            <a:chExt cx="12485756" cy="2992438"/>
          </a:xfrm>
        </p:grpSpPr>
        <p:pic>
          <p:nvPicPr>
            <p:cNvPr id="25611" name="Picture 328">
              <a:extLst>
                <a:ext uri="{FF2B5EF4-FFF2-40B4-BE49-F238E27FC236}">
                  <a16:creationId xmlns:a16="http://schemas.microsoft.com/office/drawing/2014/main" id="{A5C3549F-7787-DA2B-CB94-37A76124DD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461" y="600530"/>
              <a:ext cx="6413500" cy="2139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9" name="Group 12">
              <a:extLst>
                <a:ext uri="{FF2B5EF4-FFF2-40B4-BE49-F238E27FC236}">
                  <a16:creationId xmlns:a16="http://schemas.microsoft.com/office/drawing/2014/main" id="{9DB3BBF3-294F-5F29-7968-BCAAC7D231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914" y="1747838"/>
              <a:ext cx="3303588" cy="1244600"/>
              <a:chOff x="6116" y="177"/>
              <a:chExt cx="3625" cy="1385"/>
            </a:xfrm>
          </p:grpSpPr>
          <p:pic>
            <p:nvPicPr>
              <p:cNvPr id="702" name="Picture 242">
                <a:extLst>
                  <a:ext uri="{FF2B5EF4-FFF2-40B4-BE49-F238E27FC236}">
                    <a16:creationId xmlns:a16="http://schemas.microsoft.com/office/drawing/2014/main" id="{5E37FE44-AF78-94AF-DC38-01A0B652804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16" y="177"/>
                <a:ext cx="3625" cy="138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1" name="Text Box 13">
                <a:extLst>
                  <a:ext uri="{FF2B5EF4-FFF2-40B4-BE49-F238E27FC236}">
                    <a16:creationId xmlns:a16="http://schemas.microsoft.com/office/drawing/2014/main" id="{A8CD2A85-F6DB-90E0-2985-05890A5FE7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6" y="177"/>
                <a:ext cx="3625" cy="1385"/>
              </a:xfrm>
              <a:prstGeom prst="rect">
                <a:avLst/>
              </a:prstGeom>
              <a:solidFill>
                <a:srgbClr val="FFF2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032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032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032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032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032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032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032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032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032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45720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203200" algn="l"/>
                  </a:tabLst>
                  <a:defRPr/>
                </a:pPr>
                <a:endParaRPr kumimoji="0" lang="en-PH" altLang="en-US" sz="1000" b="0" i="1" u="none" strike="noStrike" kern="1200" cap="none" spc="0" normalizeH="0" baseline="0" noProof="0" dirty="0">
                  <a:ln>
                    <a:noFill/>
                  </a:ln>
                  <a:solidFill>
                    <a:srgbClr val="4F6128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203200" algn="l"/>
                  </a:tabLst>
                  <a:defRPr/>
                </a:pPr>
                <a:r>
                  <a:rPr kumimoji="0" lang="en-PH" altLang="en-US" sz="10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4F6128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How to search Service SO transaction?</a:t>
                </a:r>
                <a:endParaRPr kumimoji="0" lang="en-PH" altLang="en-US" sz="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  <a:p>
                <a:pPr marL="685800" marR="0" lvl="1" indent="-1524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+mj-lt"/>
                  <a:buAutoNum type="arabicPeriod"/>
                  <a:tabLst>
                    <a:tab pos="203200" algn="l"/>
                  </a:tabLst>
                  <a:defRPr/>
                </a:pPr>
                <a:r>
                  <a:rPr kumimoji="0" lang="en-PH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Type the transaction number in the search bar.</a:t>
                </a:r>
                <a:endParaRPr kumimoji="0" lang="en-PH" altLang="en-US" sz="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  <a:p>
                <a:pPr marL="685800" marR="0" lvl="1" indent="-1524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+mj-lt"/>
                  <a:buAutoNum type="arabicPeriod"/>
                  <a:tabLst>
                    <a:tab pos="203200" algn="l"/>
                  </a:tabLst>
                  <a:defRPr/>
                </a:pPr>
                <a:r>
                  <a:rPr kumimoji="0" lang="en-PH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Click ‘enter’ in the keyboard to search.</a:t>
                </a:r>
                <a:endParaRPr kumimoji="0" lang="en-PH" altLang="en-US" sz="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  <a:p>
                <a:pPr marL="685800" marR="0" lvl="1" indent="-1524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+mj-lt"/>
                  <a:buAutoNum type="arabicPeriod"/>
                  <a:tabLst>
                    <a:tab pos="203200" algn="l"/>
                  </a:tabLst>
                  <a:defRPr/>
                </a:pPr>
                <a:r>
                  <a:rPr kumimoji="0" lang="en-PH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Click to select the transaction you want to delete.</a:t>
                </a:r>
                <a:endParaRPr kumimoji="0" lang="en-PH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2" name="Text Box 16">
              <a:extLst>
                <a:ext uri="{FF2B5EF4-FFF2-40B4-BE49-F238E27FC236}">
                  <a16:creationId xmlns:a16="http://schemas.microsoft.com/office/drawing/2014/main" id="{1B61178C-B9FD-34CF-9011-CD134A9CD1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93756" y="505919"/>
              <a:ext cx="1306513" cy="2730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HEADER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AutoShape 15">
              <a:extLst>
                <a:ext uri="{FF2B5EF4-FFF2-40B4-BE49-F238E27FC236}">
                  <a16:creationId xmlns:a16="http://schemas.microsoft.com/office/drawing/2014/main" id="{B68C98AF-0428-F8A9-AB10-02750AB6B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6025" y="1449388"/>
              <a:ext cx="177800" cy="490537"/>
            </a:xfrm>
            <a:prstGeom prst="curvedRightArrow">
              <a:avLst>
                <a:gd name="adj1" fmla="val 55179"/>
                <a:gd name="adj2" fmla="val 110357"/>
                <a:gd name="adj3" fmla="val 33333"/>
              </a:avLst>
            </a:prstGeom>
            <a:solidFill>
              <a:srgbClr val="000000"/>
            </a:solidFill>
            <a:ln w="38100">
              <a:solidFill>
                <a:srgbClr val="272727"/>
              </a:solidFill>
              <a:miter lim="800000"/>
              <a:headEnd/>
              <a:tailEnd/>
            </a:ln>
            <a:effectLst>
              <a:outerShdw dist="28398" dir="3806097" algn="ctr" rotWithShape="0">
                <a:srgbClr val="7F7F7F">
                  <a:alpha val="5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Rectangle 10">
              <a:extLst>
                <a:ext uri="{FF2B5EF4-FFF2-40B4-BE49-F238E27FC236}">
                  <a16:creationId xmlns:a16="http://schemas.microsoft.com/office/drawing/2014/main" id="{2B9E857C-1904-3E0B-41FC-F958D5817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914" y="1396839"/>
              <a:ext cx="293688" cy="160337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Rectangle 17">
              <a:extLst>
                <a:ext uri="{FF2B5EF4-FFF2-40B4-BE49-F238E27FC236}">
                  <a16:creationId xmlns:a16="http://schemas.microsoft.com/office/drawing/2014/main" id="{F1AD0DC6-D8AD-09C1-8A1F-FE2768118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Rectangle 19">
              <a:extLst>
                <a:ext uri="{FF2B5EF4-FFF2-40B4-BE49-F238E27FC236}">
                  <a16:creationId xmlns:a16="http://schemas.microsoft.com/office/drawing/2014/main" id="{18BF6E8F-D082-D045-F3FF-DF0B549418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altLang="en-US" sz="9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PH" altLang="en-US" sz="9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hivo Light" panose="020B03030302020208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	</a:t>
              </a:r>
              <a:endParaRPr kumimoji="0" lang="en-PH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Rectangle 21">
              <a:extLst>
                <a:ext uri="{FF2B5EF4-FFF2-40B4-BE49-F238E27FC236}">
                  <a16:creationId xmlns:a16="http://schemas.microsoft.com/office/drawing/2014/main" id="{5D3FB9EC-5705-1594-877B-82C53B5BD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1440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94038" algn="ctr"/>
                  <a:tab pos="618966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94038" algn="ctr"/>
                  <a:tab pos="618966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94038" algn="ctr"/>
                  <a:tab pos="618966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94038" algn="ctr"/>
                  <a:tab pos="618966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94038" algn="ctr"/>
                  <a:tab pos="618966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94038" algn="ctr"/>
                  <a:tab pos="618966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94038" algn="ctr"/>
                  <a:tab pos="618966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94038" algn="ctr"/>
                  <a:tab pos="618966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94038" algn="ctr"/>
                  <a:tab pos="618966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094038" algn="ctr"/>
                  <a:tab pos="6189663" algn="r"/>
                </a:tabLst>
                <a:defRPr/>
              </a:pPr>
              <a:endParaRPr kumimoji="0" lang="en-PH" altLang="en-US" sz="9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094038" algn="ctr"/>
                  <a:tab pos="6189663" algn="r"/>
                </a:tabLst>
                <a:defRPr/>
              </a:pPr>
              <a:r>
                <a:rPr kumimoji="0" lang="en-PH" altLang="en-US" sz="9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hivo Light" panose="020B03030302020208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	</a:t>
              </a:r>
              <a:endParaRPr kumimoji="0" lang="en-US" altLang="en-US" sz="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094038" algn="ctr"/>
                  <a:tab pos="6189663" algn="r"/>
                </a:tabLst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Rectangle 22">
              <a:extLst>
                <a:ext uri="{FF2B5EF4-FFF2-40B4-BE49-F238E27FC236}">
                  <a16:creationId xmlns:a16="http://schemas.microsoft.com/office/drawing/2014/main" id="{586DF831-7D49-2393-488B-DD43DB49D5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37160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392D443-157F-E6FA-6549-64D26B398B48}"/>
              </a:ext>
            </a:extLst>
          </p:cNvPr>
          <p:cNvSpPr txBox="1"/>
          <p:nvPr/>
        </p:nvSpPr>
        <p:spPr>
          <a:xfrm>
            <a:off x="7264082" y="5846878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 Sales Order – Main Form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530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E13CC3-0EBB-4997-FCE7-B09A824D1CEB}"/>
              </a:ext>
            </a:extLst>
          </p:cNvPr>
          <p:cNvSpPr txBox="1"/>
          <p:nvPr/>
        </p:nvSpPr>
        <p:spPr>
          <a:xfrm>
            <a:off x="805110" y="1053547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Other Information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8" name="Text Box 102">
            <a:extLst>
              <a:ext uri="{FF2B5EF4-FFF2-40B4-BE49-F238E27FC236}">
                <a16:creationId xmlns:a16="http://schemas.microsoft.com/office/drawing/2014/main" id="{9C27B11D-33B2-DB7D-A894-E01425B3F550}"/>
              </a:ext>
            </a:extLst>
          </p:cNvPr>
          <p:cNvSpPr txBox="1"/>
          <p:nvPr/>
        </p:nvSpPr>
        <p:spPr>
          <a:xfrm>
            <a:off x="805109" y="1589413"/>
            <a:ext cx="3852820" cy="4125586"/>
          </a:xfrm>
          <a:prstGeom prst="rect">
            <a:avLst/>
          </a:prstGeom>
          <a:noFill/>
          <a:ln w="6350">
            <a:solidFill>
              <a:srgbClr val="E7E6E6">
                <a:lumMod val="90000"/>
              </a:srgbClr>
            </a:solidFill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227330" lvl="0" indent="0" algn="l" defTabSz="914400" rtl="0" eaLnBrk="1" fontAlgn="auto" latinLnBrk="0" hangingPunct="1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click the arrow icon parallel in the main form on the upper right, the service sales order – main form will be minimize and the other tab will be visible.</a:t>
            </a:r>
            <a:endParaRPr kumimoji="0" lang="en-PH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000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alibri" panose="020F0502020204030204"/>
                <a:ea typeface="Times New Roman" panose="02020603050405020304" pitchFamily="18" charset="0"/>
                <a:cs typeface="Times New Roman" panose="02020603050405020304" pitchFamily="18" charset="0"/>
              </a:rPr>
              <a:t>Shipping/ billing Address tab</a:t>
            </a:r>
          </a:p>
          <a:p>
            <a:pPr marL="4000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alibri" panose="020F0502020204030204"/>
                <a:ea typeface="Times New Roman" panose="02020603050405020304" pitchFamily="18" charset="0"/>
                <a:cs typeface="Times New Roman" panose="02020603050405020304" pitchFamily="18" charset="0"/>
              </a:rPr>
              <a:t>Instruction tab</a:t>
            </a:r>
          </a:p>
          <a:p>
            <a:pPr marL="4000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alibri" panose="020F0502020204030204"/>
                <a:ea typeface="Times New Roman" panose="02020603050405020304" pitchFamily="18" charset="0"/>
                <a:cs typeface="Times New Roman" panose="02020603050405020304" pitchFamily="18" charset="0"/>
              </a:rPr>
              <a:t>Lead Time Duration</a:t>
            </a:r>
          </a:p>
          <a:p>
            <a:pPr marL="4000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alibri" panose="020F0502020204030204"/>
                <a:ea typeface="Times New Roman" panose="02020603050405020304" pitchFamily="18" charset="0"/>
                <a:cs typeface="Times New Roman" panose="02020603050405020304" pitchFamily="18" charset="0"/>
              </a:rPr>
              <a:t>Terms, Taxes and Changes</a:t>
            </a:r>
          </a:p>
          <a:p>
            <a:pPr marL="4000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alibri" panose="020F0502020204030204"/>
                <a:ea typeface="Times New Roman" panose="02020603050405020304" pitchFamily="18" charset="0"/>
                <a:cs typeface="Times New Roman" panose="02020603050405020304" pitchFamily="18" charset="0"/>
              </a:rPr>
              <a:t>Comments Tab</a:t>
            </a:r>
          </a:p>
          <a:p>
            <a:pPr marL="0" marR="227330" lvl="0" indent="0" algn="l" defTabSz="914400" rtl="0" eaLnBrk="1" fontAlgn="auto" latinLnBrk="0" hangingPunct="1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PH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Click the arrow icon parallel to the tab you want to view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After you click the arrow, details copied from QTN will display</a:t>
            </a:r>
          </a:p>
          <a:p>
            <a:pPr marL="0" marR="227330" lvl="0" indent="0" algn="l" defTabSz="914400" rtl="0" eaLnBrk="1" fontAlgn="auto" latinLnBrk="0" hangingPunct="1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227330" lvl="0" indent="0" algn="l" defTabSz="914400" rtl="0" eaLnBrk="1" fontAlgn="auto" latinLnBrk="0" hangingPunct="1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227330" lvl="0" indent="0" algn="l" defTabSz="914400" rtl="0" eaLnBrk="1" fontAlgn="auto" latinLnBrk="0" hangingPunct="1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1CC16-0912-B5FE-360F-C6F20FD1F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CA529D-EE15-612F-2DC9-84328DD3718D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Sales/ Service Sales Order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pic>
        <p:nvPicPr>
          <p:cNvPr id="2" name="Picture 57">
            <a:extLst>
              <a:ext uri="{FF2B5EF4-FFF2-40B4-BE49-F238E27FC236}">
                <a16:creationId xmlns:a16="http://schemas.microsoft.com/office/drawing/2014/main" id="{A7FAB617-C659-F738-AF23-B8523B2C9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315" y="2087429"/>
            <a:ext cx="6589618" cy="2085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3931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1CC16-0912-B5FE-360F-C6F20FD1F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CA529D-EE15-612F-2DC9-84328DD3718D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Sales/ Service Sales Order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EF9739-2CCD-D094-6CA0-FE7D6E23D37D}"/>
              </a:ext>
            </a:extLst>
          </p:cNvPr>
          <p:cNvSpPr txBox="1"/>
          <p:nvPr/>
        </p:nvSpPr>
        <p:spPr>
          <a:xfrm>
            <a:off x="585809" y="1945960"/>
            <a:ext cx="4072120" cy="18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alibri" panose="020F0502020204030204"/>
                <a:ea typeface="Times New Roman" panose="02020603050405020304" pitchFamily="18" charset="0"/>
                <a:cs typeface="Times New Roman" panose="02020603050405020304" pitchFamily="18" charset="0"/>
              </a:rPr>
              <a:t>Attachment tab</a:t>
            </a:r>
            <a:endParaRPr kumimoji="0" lang="en-PH" sz="1200" b="1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Click the arrow icon parallel to attachment tab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Click add document button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Once you click the add document button, a dialog box of upload documents will pop out.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upload files, follow ‘how to upload document”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FB6F591-E33D-C207-07DA-3BD8C9017D61}"/>
              </a:ext>
            </a:extLst>
          </p:cNvPr>
          <p:cNvGrpSpPr/>
          <p:nvPr/>
        </p:nvGrpSpPr>
        <p:grpSpPr>
          <a:xfrm>
            <a:off x="5653370" y="2109532"/>
            <a:ext cx="5814730" cy="2119568"/>
            <a:chOff x="5653370" y="2109532"/>
            <a:chExt cx="5365296" cy="1684178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F0C762C-5F8C-3EA5-0D6A-0F4F2DF43E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653370" y="2109532"/>
              <a:ext cx="4888865" cy="135763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22" name="Picture 5">
              <a:extLst>
                <a:ext uri="{FF2B5EF4-FFF2-40B4-BE49-F238E27FC236}">
                  <a16:creationId xmlns:a16="http://schemas.microsoft.com/office/drawing/2014/main" id="{C317F8CD-2E20-6EEB-298F-BBB5BCD9EE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04016" y="2537998"/>
              <a:ext cx="1795462" cy="12557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Rectangle 5">
              <a:extLst>
                <a:ext uri="{FF2B5EF4-FFF2-40B4-BE49-F238E27FC236}">
                  <a16:creationId xmlns:a16="http://schemas.microsoft.com/office/drawing/2014/main" id="{8894D353-82E0-5CC4-923B-6F5FB361C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2630" y="2542367"/>
              <a:ext cx="648799" cy="161087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AutoShape 4">
              <a:extLst>
                <a:ext uri="{FF2B5EF4-FFF2-40B4-BE49-F238E27FC236}">
                  <a16:creationId xmlns:a16="http://schemas.microsoft.com/office/drawing/2014/main" id="{A7263C73-DE0C-A7F5-157E-F0F3CD07C1D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32617" flipH="1">
              <a:off x="9813753" y="2669207"/>
              <a:ext cx="232349" cy="92593"/>
            </a:xfrm>
            <a:prstGeom prst="curvedUpArrow">
              <a:avLst>
                <a:gd name="adj1" fmla="val 29502"/>
                <a:gd name="adj2" fmla="val 58981"/>
                <a:gd name="adj3" fmla="val 17500"/>
              </a:avLst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Text Box 3">
              <a:extLst>
                <a:ext uri="{FF2B5EF4-FFF2-40B4-BE49-F238E27FC236}">
                  <a16:creationId xmlns:a16="http://schemas.microsoft.com/office/drawing/2014/main" id="{AB2EB368-B91C-7F8F-68A9-B21CD206A1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43811" y="2256977"/>
              <a:ext cx="474855" cy="28539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Text Box 1">
              <a:extLst>
                <a:ext uri="{FF2B5EF4-FFF2-40B4-BE49-F238E27FC236}">
                  <a16:creationId xmlns:a16="http://schemas.microsoft.com/office/drawing/2014/main" id="{30096ADF-2976-013F-499B-C3E4744C42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44991" y="2550698"/>
              <a:ext cx="2195512" cy="1118235"/>
            </a:xfrm>
            <a:prstGeom prst="rect">
              <a:avLst/>
            </a:prstGeom>
            <a:solidFill>
              <a:srgbClr val="FFF2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8890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03200" algn="l"/>
                </a:tabLst>
                <a:defRPr/>
              </a:pPr>
              <a:r>
                <a:rPr kumimoji="0" lang="en-PH" altLang="en-US" sz="1000" b="0" i="1" u="none" strike="noStrike" kern="1200" cap="none" spc="0" normalizeH="0" baseline="0" noProof="0" dirty="0">
                  <a:ln>
                    <a:noFill/>
                  </a:ln>
                  <a:solidFill>
                    <a:srgbClr val="4F6128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How to upload document?</a:t>
              </a:r>
            </a:p>
            <a:p>
              <a:pPr marL="266700" marR="0" lvl="0" indent="-889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en-PH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Type the title of the document.</a:t>
              </a:r>
              <a:endParaRPr kumimoji="0" lang="en-PH" alt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266700" marR="0" lvl="0" indent="-889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en-PH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add button to add the document you want to upload</a:t>
              </a:r>
              <a:endParaRPr kumimoji="0" lang="en-PH" alt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266700" marR="0" lvl="0" indent="-889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en-PH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Then click upload button.</a:t>
              </a:r>
              <a:endParaRPr kumimoji="0" lang="en-PH" alt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266700" marR="0" lvl="0" indent="-889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en-PH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If you want to add more document, click add document button and repeat steps 1 to #3</a:t>
              </a:r>
              <a:endParaRPr kumimoji="0" lang="en-PH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7940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E7777D04-D73F-74AB-C30B-7D3C9397264F}"/>
              </a:ext>
            </a:extLst>
          </p:cNvPr>
          <p:cNvSpPr txBox="1"/>
          <p:nvPr/>
        </p:nvSpPr>
        <p:spPr>
          <a:xfrm>
            <a:off x="3095170" y="1766651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Other Buttons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1CC16-0912-B5FE-360F-C6F20FD1F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CA529D-EE15-612F-2DC9-84328DD3718D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Sales/ Service Sales Order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F476DD-47F8-065A-BE08-F55298A2C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4210" y="2104043"/>
            <a:ext cx="6416040" cy="289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50355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589</Words>
  <Application>Microsoft Office PowerPoint</Application>
  <PresentationFormat>Widescreen</PresentationFormat>
  <Paragraphs>102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Animosa Extra Bold</vt:lpstr>
      <vt:lpstr>Arial</vt:lpstr>
      <vt:lpstr>Bodoni MT Condensed</vt:lpstr>
      <vt:lpstr>Calibri</vt:lpstr>
      <vt:lpstr>Calibri Light</vt:lpstr>
      <vt:lpstr>Chivo Light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Janine Calawod</dc:creator>
  <cp:lastModifiedBy>Janine Calawod</cp:lastModifiedBy>
  <cp:revision>1</cp:revision>
  <dcterms:created xsi:type="dcterms:W3CDTF">2023-01-10T05:46:41Z</dcterms:created>
  <dcterms:modified xsi:type="dcterms:W3CDTF">2023-01-10T05:47:02Z</dcterms:modified>
</cp:coreProperties>
</file>