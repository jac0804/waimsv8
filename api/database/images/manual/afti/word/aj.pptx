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96" r:id="rId2"/>
    <p:sldId id="397" r:id="rId3"/>
    <p:sldId id="398" r:id="rId4"/>
    <p:sldId id="399" r:id="rId5"/>
    <p:sldId id="400" r:id="rId6"/>
    <p:sldId id="401" r:id="rId7"/>
    <p:sldId id="402" r:id="rId8"/>
    <p:sldId id="404" r:id="rId9"/>
    <p:sldId id="405" r:id="rId10"/>
    <p:sldId id="406" r:id="rId11"/>
    <p:sldId id="40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498689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46741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14781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739375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61020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97899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779362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90323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70199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523846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676526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28887456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spcBef>
                <a:spcPts val="0"/>
              </a:spcBef>
            </a:pPr>
            <a:endParaRPr lang="en-US" sz="1400" dirty="0">
              <a:solidFill>
                <a:schemeClr val="bg1"/>
              </a:solidFill>
              <a:ea typeface="Open Sans" panose="020B0606030504020204" pitchFamily="34" charset="0"/>
              <a:cs typeface="Times New Roman" panose="02020603050405020304" pitchFamily="18" charset="0"/>
            </a:endParaRPr>
          </a:p>
          <a:p>
            <a:pPr marL="0" marR="0" algn="ctr">
              <a:spcBef>
                <a:spcPts val="0"/>
              </a:spcBef>
            </a:pPr>
            <a:r>
              <a:rPr lang="en-US" sz="1400" dirty="0">
                <a:solidFill>
                  <a:schemeClr val="bg1"/>
                </a:solidFill>
                <a:effectLst/>
                <a:ea typeface="Open Sans" panose="020B0606030504020204" pitchFamily="34" charset="0"/>
                <a:cs typeface="Times New Roman" panose="02020603050405020304" pitchFamily="18" charset="0"/>
              </a:rPr>
              <a:t>This module </a:t>
            </a:r>
            <a:r>
              <a:rPr lang="en-US" sz="1400" dirty="0">
                <a:solidFill>
                  <a:schemeClr val="bg1"/>
                </a:solidFill>
                <a:ea typeface="Open Sans" panose="020B0606030504020204" pitchFamily="34" charset="0"/>
                <a:cs typeface="Times New Roman" panose="02020603050405020304" pitchFamily="18" charset="0"/>
              </a:rPr>
              <a:t>transacts adjustments in the inventory count.</a:t>
            </a: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4A8F0E4-420B-D956-5A6B-DABBD12DDC05}"/>
              </a:ext>
            </a:extLst>
          </p:cNvPr>
          <p:cNvSpPr txBox="1"/>
          <p:nvPr/>
        </p:nvSpPr>
        <p:spPr>
          <a:xfrm>
            <a:off x="1017646" y="2105561"/>
            <a:ext cx="10289512" cy="1569660"/>
          </a:xfrm>
          <a:prstGeom prst="rect">
            <a:avLst/>
          </a:prstGeom>
          <a:noFill/>
          <a:effectLst/>
        </p:spPr>
        <p:txBody>
          <a:bodyPr wrap="square" rtlCol="0">
            <a:spAutoFit/>
          </a:bodyPr>
          <a:lstStyle/>
          <a:p>
            <a:pPr algn="ctr"/>
            <a:r>
              <a:rPr lang="en-US" sz="9600" b="1" dirty="0">
                <a:solidFill>
                  <a:srgbClr val="00B050"/>
                </a:solidFill>
                <a:latin typeface="Bodoni MT Condensed" panose="02070606080606020203" pitchFamily="18" charset="0"/>
              </a:rPr>
              <a:t>Inventory Adjustment</a:t>
            </a:r>
            <a:endParaRPr lang="en-US" sz="9600" dirty="0">
              <a:solidFill>
                <a:srgbClr val="00B050"/>
              </a:solidFill>
              <a:latin typeface="Bodoni MT Condensed" panose="02070606080606020203" pitchFamily="18" charset="0"/>
            </a:endParaRPr>
          </a:p>
        </p:txBody>
      </p:sp>
    </p:spTree>
    <p:extLst>
      <p:ext uri="{BB962C8B-B14F-4D97-AF65-F5344CB8AC3E}">
        <p14:creationId xmlns:p14="http://schemas.microsoft.com/office/powerpoint/2010/main" val="2251149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a:lnSpc>
                <a:spcPct val="107000"/>
              </a:lnSpc>
              <a:spcBef>
                <a:spcPts val="19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you click the Inventory Adjustment module under Inventory, it will display all the transactions based on filtered date and status in the Inventory Adjustment main window.</a:t>
            </a:r>
            <a:r>
              <a:rPr lang="en-PH" sz="1000" dirty="0">
                <a:effectLst/>
                <a:latin typeface="Chivo Light" panose="020B0303030202020804" pitchFamily="34" charset="0"/>
                <a:ea typeface="Times New Roman" panose="02020603050405020304" pitchFamily="18"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5" name="Group 4">
            <a:extLst>
              <a:ext uri="{FF2B5EF4-FFF2-40B4-BE49-F238E27FC236}">
                <a16:creationId xmlns:a16="http://schemas.microsoft.com/office/drawing/2014/main" id="{2FD60C2B-422D-05F2-3852-96D9E0719557}"/>
              </a:ext>
            </a:extLst>
          </p:cNvPr>
          <p:cNvGrpSpPr/>
          <p:nvPr/>
        </p:nvGrpSpPr>
        <p:grpSpPr>
          <a:xfrm>
            <a:off x="5069888" y="2115305"/>
            <a:ext cx="7051088" cy="2128793"/>
            <a:chOff x="5069888" y="2115305"/>
            <a:chExt cx="7051088" cy="2128793"/>
          </a:xfrm>
        </p:grpSpPr>
        <p:pic>
          <p:nvPicPr>
            <p:cNvPr id="4" name="Picture 3">
              <a:extLst>
                <a:ext uri="{FF2B5EF4-FFF2-40B4-BE49-F238E27FC236}">
                  <a16:creationId xmlns:a16="http://schemas.microsoft.com/office/drawing/2014/main" id="{213147C1-6C7F-4200-599A-61D1DE7F2DCB}"/>
                </a:ext>
              </a:extLst>
            </p:cNvPr>
            <p:cNvPicPr>
              <a:picLocks noChangeAspect="1"/>
            </p:cNvPicPr>
            <p:nvPr/>
          </p:nvPicPr>
          <p:blipFill>
            <a:blip r:embed="rId3"/>
            <a:stretch>
              <a:fillRect/>
            </a:stretch>
          </p:blipFill>
          <p:spPr>
            <a:xfrm>
              <a:off x="5120101" y="2115305"/>
              <a:ext cx="7000875" cy="2128793"/>
            </a:xfrm>
            <a:prstGeom prst="rect">
              <a:avLst/>
            </a:prstGeom>
          </p:spPr>
        </p:pic>
        <p:sp>
          <p:nvSpPr>
            <p:cNvPr id="10" name="Rectangle 9">
              <a:extLst>
                <a:ext uri="{FF2B5EF4-FFF2-40B4-BE49-F238E27FC236}">
                  <a16:creationId xmlns:a16="http://schemas.microsoft.com/office/drawing/2014/main" id="{F18004E0-9A1A-AFE4-2288-F4A59C29D523}"/>
                </a:ext>
              </a:extLst>
            </p:cNvPr>
            <p:cNvSpPr/>
            <p:nvPr/>
          </p:nvSpPr>
          <p:spPr>
            <a:xfrm>
              <a:off x="5069888" y="3571084"/>
              <a:ext cx="990600"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ectangle 10">
              <a:extLst>
                <a:ext uri="{FF2B5EF4-FFF2-40B4-BE49-F238E27FC236}">
                  <a16:creationId xmlns:a16="http://schemas.microsoft.com/office/drawing/2014/main" id="{BC552671-65ED-7E1B-AC75-97C8D36B9BB8}"/>
                </a:ext>
              </a:extLst>
            </p:cNvPr>
            <p:cNvSpPr/>
            <p:nvPr/>
          </p:nvSpPr>
          <p:spPr>
            <a:xfrm>
              <a:off x="6106573" y="3027284"/>
              <a:ext cx="5929280" cy="5717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2" name="Straight Arrow Connector 11">
              <a:extLst>
                <a:ext uri="{FF2B5EF4-FFF2-40B4-BE49-F238E27FC236}">
                  <a16:creationId xmlns:a16="http://schemas.microsoft.com/office/drawing/2014/main" id="{23FA76C3-E2F6-5DC0-0C3F-7CB8267E6B98}"/>
                </a:ext>
              </a:extLst>
            </p:cNvPr>
            <p:cNvCxnSpPr>
              <a:cxnSpLocks/>
            </p:cNvCxnSpPr>
            <p:nvPr/>
          </p:nvCxnSpPr>
          <p:spPr>
            <a:xfrm flipV="1">
              <a:off x="5868984" y="3347042"/>
              <a:ext cx="230541" cy="270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 name="TextBox 1">
            <a:extLst>
              <a:ext uri="{FF2B5EF4-FFF2-40B4-BE49-F238E27FC236}">
                <a16:creationId xmlns:a16="http://schemas.microsoft.com/office/drawing/2014/main" id="{22ED6AA6-ECD7-3D0B-1150-534D5CACE223}"/>
              </a:ext>
            </a:extLst>
          </p:cNvPr>
          <p:cNvSpPr txBox="1"/>
          <p:nvPr/>
        </p:nvSpPr>
        <p:spPr>
          <a:xfrm>
            <a:off x="594804" y="123167"/>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Inventory Adjustment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15" name="TextBox 14">
            <a:extLst>
              <a:ext uri="{FF2B5EF4-FFF2-40B4-BE49-F238E27FC236}">
                <a16:creationId xmlns:a16="http://schemas.microsoft.com/office/drawing/2014/main" id="{EE5D6CF7-FAFF-975C-AEE7-A62CEE60DAC4}"/>
              </a:ext>
            </a:extLst>
          </p:cNvPr>
          <p:cNvSpPr txBox="1"/>
          <p:nvPr/>
        </p:nvSpPr>
        <p:spPr>
          <a:xfrm>
            <a:off x="7525333" y="4654973"/>
            <a:ext cx="2772763"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Inventory Adjustment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484B9B92-9883-DF31-8BE0-526AE3D823D9}"/>
              </a:ext>
            </a:extLst>
          </p:cNvPr>
          <p:cNvSpPr txBox="1"/>
          <p:nvPr/>
        </p:nvSpPr>
        <p:spPr>
          <a:xfrm>
            <a:off x="832872" y="2179356"/>
            <a:ext cx="3887062"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Main Window</a:t>
            </a:r>
            <a:endParaRPr lang="en-US" dirty="0">
              <a:solidFill>
                <a:srgbClr val="007434"/>
              </a:solidFill>
              <a:latin typeface="Calibri Light" panose="020F0302020204030204" pitchFamily="34" charset="0"/>
              <a:cs typeface="Calibri Light" panose="020F0302020204030204" pitchFamily="34" charset="0"/>
            </a:endParaRPr>
          </a:p>
        </p:txBody>
      </p:sp>
      <p:sp>
        <p:nvSpPr>
          <p:cNvPr id="3" name="Slide Number Placeholder 9">
            <a:extLst>
              <a:ext uri="{FF2B5EF4-FFF2-40B4-BE49-F238E27FC236}">
                <a16:creationId xmlns:a16="http://schemas.microsoft.com/office/drawing/2014/main" id="{46188395-4279-73F0-7874-606B183BF642}"/>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989258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1329093"/>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How To Create Inventory Adjustment Transaction?</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89597" y="2031938"/>
            <a:ext cx="4179346" cy="301919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457200" marR="0" indent="-228600">
              <a:lnSpc>
                <a:spcPct val="115000"/>
              </a:lnSpc>
              <a:spcBef>
                <a:spcPts val="0"/>
              </a:spcBef>
              <a:spcAft>
                <a:spcPts val="0"/>
              </a:spcAft>
              <a:buClr>
                <a:srgbClr val="00863D"/>
              </a:buClr>
              <a:buSzPct val="102000"/>
              <a:buFont typeface="+mj-lt"/>
              <a:buAutoNum type="arabicPeriod"/>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a:t>
            </a:r>
            <a:r>
              <a:rPr lang="en-US" sz="1200" dirty="0">
                <a:latin typeface="Chivo Light" panose="020B0303030202020804" pitchFamily="34" charset="0"/>
                <a:ea typeface="Times New Roman" panose="02020603050405020304" pitchFamily="18" charset="0"/>
                <a:cs typeface="Times New Roman" panose="02020603050405020304" pitchFamily="18" charset="0"/>
              </a:rPr>
              <a:t>Inventory Adjustment</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Main Window, you will notice a create button in the upper left of the window. Click the create button and you will be redirect in Inventory Adjustment – main form.</a:t>
            </a:r>
          </a:p>
          <a:p>
            <a:pPr marL="457200" marR="0" indent="-228600">
              <a:lnSpc>
                <a:spcPct val="115000"/>
              </a:lnSpc>
              <a:spcBef>
                <a:spcPts val="0"/>
              </a:spcBef>
              <a:spcAft>
                <a:spcPts val="0"/>
              </a:spcAft>
              <a:buClr>
                <a:srgbClr val="00863D"/>
              </a:buClr>
              <a:buSzPct val="102000"/>
              <a:buFont typeface="+mj-lt"/>
              <a:buAutoNum type="arabicPeriod"/>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Clr>
                <a:srgbClr val="00863D"/>
              </a:buClr>
              <a:buSzPct val="102000"/>
              <a:buFont typeface="+mj-lt"/>
              <a:buAutoNum type="arabicPeriod"/>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create button, the system will generat</a:t>
            </a:r>
            <a:r>
              <a:rPr lang="en-US" sz="1200" dirty="0">
                <a:latin typeface="Chivo Light" panose="020B0303030202020804" pitchFamily="34" charset="0"/>
                <a:ea typeface="Times New Roman" panose="02020603050405020304" pitchFamily="18" charset="0"/>
                <a:cs typeface="Times New Roman" panose="02020603050405020304" pitchFamily="18" charset="0"/>
              </a:rPr>
              <a:t>e automatic document # and plot the default warehouse</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You may encode other details needed for your transaction.</a:t>
            </a:r>
            <a:r>
              <a:rPr lang="en-PH" sz="12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cap="all" dirty="0">
              <a:solidFill>
                <a:srgbClr val="4472C4"/>
              </a:solidFill>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Clr>
                <a:srgbClr val="00863D"/>
              </a:buClr>
              <a:buSzPct val="102000"/>
              <a:buFont typeface="+mj-lt"/>
              <a:buAutoNum type="arabicPeriod"/>
            </a:pPr>
            <a:endParaRPr kumimoji="0" lang="en-US" sz="1100" b="0" i="0" u="none" strike="noStrike" kern="1200" cap="all" spc="0" normalizeH="0" baseline="0" noProof="0" dirty="0">
              <a:ln>
                <a:noFill/>
              </a:ln>
              <a:solidFill>
                <a:srgbClr val="4472C4"/>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Clr>
                <a:srgbClr val="00863D"/>
              </a:buClr>
              <a:buSzPct val="102000"/>
              <a:buFont typeface="+mj-lt"/>
              <a:buAutoNum type="arabicPeriod"/>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930FFB15-3E6A-F366-5CEF-A595FC680DBB}"/>
              </a:ext>
            </a:extLst>
          </p:cNvPr>
          <p:cNvGrpSpPr/>
          <p:nvPr/>
        </p:nvGrpSpPr>
        <p:grpSpPr>
          <a:xfrm>
            <a:off x="5148121" y="1127100"/>
            <a:ext cx="6918665" cy="905009"/>
            <a:chOff x="5148121" y="1127100"/>
            <a:chExt cx="6918665" cy="905009"/>
          </a:xfrm>
        </p:grpSpPr>
        <p:pic>
          <p:nvPicPr>
            <p:cNvPr id="6" name="Picture 5">
              <a:extLst>
                <a:ext uri="{FF2B5EF4-FFF2-40B4-BE49-F238E27FC236}">
                  <a16:creationId xmlns:a16="http://schemas.microsoft.com/office/drawing/2014/main" id="{93A340F2-FD1B-E4CD-12A8-BB13862C704E}"/>
                </a:ext>
              </a:extLst>
            </p:cNvPr>
            <p:cNvPicPr>
              <a:picLocks noChangeAspect="1"/>
            </p:cNvPicPr>
            <p:nvPr/>
          </p:nvPicPr>
          <p:blipFill>
            <a:blip r:embed="rId2"/>
            <a:stretch>
              <a:fillRect/>
            </a:stretch>
          </p:blipFill>
          <p:spPr>
            <a:xfrm>
              <a:off x="5148121" y="1127100"/>
              <a:ext cx="6918665" cy="905009"/>
            </a:xfrm>
            <a:prstGeom prst="rect">
              <a:avLst/>
            </a:prstGeom>
          </p:spPr>
        </p:pic>
        <p:grpSp>
          <p:nvGrpSpPr>
            <p:cNvPr id="37" name="Group 36">
              <a:extLst>
                <a:ext uri="{FF2B5EF4-FFF2-40B4-BE49-F238E27FC236}">
                  <a16:creationId xmlns:a16="http://schemas.microsoft.com/office/drawing/2014/main" id="{F0CBA4B8-FE60-879F-A50D-EFE3456D6BB9}"/>
                </a:ext>
              </a:extLst>
            </p:cNvPr>
            <p:cNvGrpSpPr/>
            <p:nvPr/>
          </p:nvGrpSpPr>
          <p:grpSpPr>
            <a:xfrm>
              <a:off x="5160852" y="1138184"/>
              <a:ext cx="1209675" cy="280959"/>
              <a:chOff x="0" y="-1055020"/>
              <a:chExt cx="1209675" cy="333375"/>
            </a:xfrm>
          </p:grpSpPr>
          <p:sp>
            <p:nvSpPr>
              <p:cNvPr id="39" name="Rectangle 38">
                <a:extLst>
                  <a:ext uri="{FF2B5EF4-FFF2-40B4-BE49-F238E27FC236}">
                    <a16:creationId xmlns:a16="http://schemas.microsoft.com/office/drawing/2014/main" id="{87CCF5BE-7018-0302-D4E7-ABA17640CBA8}"/>
                  </a:ext>
                </a:extLst>
              </p:cNvPr>
              <p:cNvSpPr/>
              <p:nvPr/>
            </p:nvSpPr>
            <p:spPr>
              <a:xfrm>
                <a:off x="0" y="-105502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0" name="Straight Arrow Connector 39">
                <a:extLst>
                  <a:ext uri="{FF2B5EF4-FFF2-40B4-BE49-F238E27FC236}">
                    <a16:creationId xmlns:a16="http://schemas.microsoft.com/office/drawing/2014/main" id="{62633670-1FBD-4149-FAB1-66951CB3915E}"/>
                  </a:ext>
                </a:extLst>
              </p:cNvPr>
              <p:cNvCxnSpPr/>
              <p:nvPr/>
            </p:nvCxnSpPr>
            <p:spPr>
              <a:xfrm>
                <a:off x="800100" y="-92167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355">
                <a:extLst>
                  <a:ext uri="{FF2B5EF4-FFF2-40B4-BE49-F238E27FC236}">
                    <a16:creationId xmlns:a16="http://schemas.microsoft.com/office/drawing/2014/main" id="{6AA2D00E-0A25-569D-331D-16D775C28166}"/>
                  </a:ext>
                </a:extLst>
              </p:cNvPr>
              <p:cNvSpPr txBox="1"/>
              <p:nvPr/>
            </p:nvSpPr>
            <p:spPr>
              <a:xfrm>
                <a:off x="1009650" y="-102644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a:t>
                </a:r>
              </a:p>
            </p:txBody>
          </p:sp>
        </p:grpSp>
      </p:gr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3"/>
          <a:stretch>
            <a:fillRect/>
          </a:stretch>
        </p:blipFill>
        <p:spPr>
          <a:xfrm>
            <a:off x="10780479" y="6391410"/>
            <a:ext cx="1047454" cy="267619"/>
          </a:xfrm>
          <a:prstGeom prst="rect">
            <a:avLst/>
          </a:prstGeom>
          <a:effectLst/>
        </p:spPr>
      </p:pic>
      <p:grpSp>
        <p:nvGrpSpPr>
          <p:cNvPr id="20" name="Group 19">
            <a:extLst>
              <a:ext uri="{FF2B5EF4-FFF2-40B4-BE49-F238E27FC236}">
                <a16:creationId xmlns:a16="http://schemas.microsoft.com/office/drawing/2014/main" id="{9F83FEA0-B69F-C887-D36F-92BEA710D977}"/>
              </a:ext>
            </a:extLst>
          </p:cNvPr>
          <p:cNvGrpSpPr/>
          <p:nvPr/>
        </p:nvGrpSpPr>
        <p:grpSpPr>
          <a:xfrm>
            <a:off x="4981188" y="2664688"/>
            <a:ext cx="7007747" cy="2235778"/>
            <a:chOff x="4981188" y="2664688"/>
            <a:chExt cx="7007747" cy="2235778"/>
          </a:xfrm>
        </p:grpSpPr>
        <p:pic>
          <p:nvPicPr>
            <p:cNvPr id="19" name="Picture 18">
              <a:extLst>
                <a:ext uri="{FF2B5EF4-FFF2-40B4-BE49-F238E27FC236}">
                  <a16:creationId xmlns:a16="http://schemas.microsoft.com/office/drawing/2014/main" id="{EB8B6719-2A64-E378-1046-BC57D4F5ED41}"/>
                </a:ext>
              </a:extLst>
            </p:cNvPr>
            <p:cNvPicPr>
              <a:picLocks noChangeAspect="1"/>
            </p:cNvPicPr>
            <p:nvPr/>
          </p:nvPicPr>
          <p:blipFill>
            <a:blip r:embed="rId4"/>
            <a:stretch>
              <a:fillRect/>
            </a:stretch>
          </p:blipFill>
          <p:spPr>
            <a:xfrm>
              <a:off x="5148121" y="2664688"/>
              <a:ext cx="6840814" cy="2235778"/>
            </a:xfrm>
            <a:prstGeom prst="rect">
              <a:avLst/>
            </a:prstGeom>
          </p:spPr>
        </p:pic>
        <p:sp>
          <p:nvSpPr>
            <p:cNvPr id="13" name="Text Box 406">
              <a:extLst>
                <a:ext uri="{FF2B5EF4-FFF2-40B4-BE49-F238E27FC236}">
                  <a16:creationId xmlns:a16="http://schemas.microsoft.com/office/drawing/2014/main" id="{52013C73-A8D9-C5F5-5F53-3C1ABC1F7DF0}"/>
                </a:ext>
              </a:extLst>
            </p:cNvPr>
            <p:cNvSpPr txBox="1"/>
            <p:nvPr/>
          </p:nvSpPr>
          <p:spPr>
            <a:xfrm>
              <a:off x="4981188" y="2664688"/>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sp>
          <p:nvSpPr>
            <p:cNvPr id="14" name="Rectangle 13">
              <a:extLst>
                <a:ext uri="{FF2B5EF4-FFF2-40B4-BE49-F238E27FC236}">
                  <a16:creationId xmlns:a16="http://schemas.microsoft.com/office/drawing/2014/main" id="{B4255341-A947-78AE-AADE-C65F636EF14A}"/>
                </a:ext>
              </a:extLst>
            </p:cNvPr>
            <p:cNvSpPr/>
            <p:nvPr/>
          </p:nvSpPr>
          <p:spPr>
            <a:xfrm>
              <a:off x="10605987" y="2911068"/>
              <a:ext cx="482979" cy="23740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5" name="Straight Arrow Connector 14">
              <a:extLst>
                <a:ext uri="{FF2B5EF4-FFF2-40B4-BE49-F238E27FC236}">
                  <a16:creationId xmlns:a16="http://schemas.microsoft.com/office/drawing/2014/main" id="{7258A838-7300-DDCB-B20A-3EBF435C4AFE}"/>
                </a:ext>
              </a:extLst>
            </p:cNvPr>
            <p:cNvCxnSpPr/>
            <p:nvPr/>
          </p:nvCxnSpPr>
          <p:spPr>
            <a:xfrm>
              <a:off x="11066106" y="2920593"/>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 Box 388">
              <a:extLst>
                <a:ext uri="{FF2B5EF4-FFF2-40B4-BE49-F238E27FC236}">
                  <a16:creationId xmlns:a16="http://schemas.microsoft.com/office/drawing/2014/main" id="{397CEA4E-2ED3-FF52-B3CD-DBCE5C2EDF22}"/>
                </a:ext>
              </a:extLst>
            </p:cNvPr>
            <p:cNvSpPr txBox="1"/>
            <p:nvPr/>
          </p:nvSpPr>
          <p:spPr>
            <a:xfrm>
              <a:off x="11268671" y="280756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3</a:t>
              </a:r>
            </a:p>
          </p:txBody>
        </p:sp>
        <p:sp>
          <p:nvSpPr>
            <p:cNvPr id="17" name="Rectangle 16">
              <a:extLst>
                <a:ext uri="{FF2B5EF4-FFF2-40B4-BE49-F238E27FC236}">
                  <a16:creationId xmlns:a16="http://schemas.microsoft.com/office/drawing/2014/main" id="{AA0412FC-15A8-A8E5-CA65-245346A381B8}"/>
                </a:ext>
              </a:extLst>
            </p:cNvPr>
            <p:cNvSpPr/>
            <p:nvPr/>
          </p:nvSpPr>
          <p:spPr>
            <a:xfrm>
              <a:off x="5177094" y="3190482"/>
              <a:ext cx="6811841" cy="67526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 name="Text Box 388">
              <a:extLst>
                <a:ext uri="{FF2B5EF4-FFF2-40B4-BE49-F238E27FC236}">
                  <a16:creationId xmlns:a16="http://schemas.microsoft.com/office/drawing/2014/main" id="{2C36A3CD-3535-E490-58B1-D72F7D3F2E09}"/>
                </a:ext>
              </a:extLst>
            </p:cNvPr>
            <p:cNvSpPr txBox="1"/>
            <p:nvPr/>
          </p:nvSpPr>
          <p:spPr>
            <a:xfrm>
              <a:off x="9082889" y="3429000"/>
              <a:ext cx="474979" cy="2374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2</a:t>
              </a:r>
            </a:p>
          </p:txBody>
        </p:sp>
      </p:grpSp>
      <p:sp>
        <p:nvSpPr>
          <p:cNvPr id="4" name="TextBox 3">
            <a:extLst>
              <a:ext uri="{FF2B5EF4-FFF2-40B4-BE49-F238E27FC236}">
                <a16:creationId xmlns:a16="http://schemas.microsoft.com/office/drawing/2014/main" id="{C29A7D95-FA83-FF9A-E934-3AE0B4F6C85A}"/>
              </a:ext>
            </a:extLst>
          </p:cNvPr>
          <p:cNvSpPr txBox="1"/>
          <p:nvPr/>
        </p:nvSpPr>
        <p:spPr>
          <a:xfrm>
            <a:off x="594804" y="123167"/>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Inventory Adjustment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2" name="Slide Number Placeholder 9">
            <a:extLst>
              <a:ext uri="{FF2B5EF4-FFF2-40B4-BE49-F238E27FC236}">
                <a16:creationId xmlns:a16="http://schemas.microsoft.com/office/drawing/2014/main" id="{2AD9CF70-7A9C-85DB-16F1-1FFB0DEDFA02}"/>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586868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608034" y="2481926"/>
            <a:ext cx="4179346" cy="179882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457200" marR="0" indent="-228600">
              <a:lnSpc>
                <a:spcPct val="115000"/>
              </a:lnSpc>
              <a:spcBef>
                <a:spcPts val="0"/>
              </a:spcBef>
              <a:spcAft>
                <a:spcPts val="0"/>
              </a:spcAft>
              <a:buClr>
                <a:srgbClr val="00863D"/>
              </a:buClr>
              <a:buFont typeface="+mj-lt"/>
              <a:buAutoNum type="arabicPeriod" startAt="4"/>
            </a:pPr>
            <a:r>
              <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After saving the header, you may now add the item in the stock by clicking add button. </a:t>
            </a:r>
          </a:p>
          <a:p>
            <a:pPr marL="457200" marR="0" indent="-228600">
              <a:lnSpc>
                <a:spcPct val="115000"/>
              </a:lnSpc>
              <a:spcBef>
                <a:spcPts val="0"/>
              </a:spcBef>
              <a:spcAft>
                <a:spcPts val="0"/>
              </a:spcAft>
              <a:buClr>
                <a:srgbClr val="00863D"/>
              </a:buClr>
              <a:buFont typeface="+mj-lt"/>
              <a:buAutoNum type="arabicPeriod" startAt="4"/>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Clr>
                <a:srgbClr val="00863D"/>
              </a:buClr>
              <a:buFont typeface="+mj-lt"/>
              <a:buAutoNum type="arabicPeriod" startAt="4"/>
            </a:pPr>
            <a:r>
              <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After you click the add button, a dialog box with item list pop out, search and select the item</a:t>
            </a: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13" name="Group 12">
            <a:extLst>
              <a:ext uri="{FF2B5EF4-FFF2-40B4-BE49-F238E27FC236}">
                <a16:creationId xmlns:a16="http://schemas.microsoft.com/office/drawing/2014/main" id="{654709C5-5755-2E23-EE79-15C0FEEFDCCC}"/>
              </a:ext>
            </a:extLst>
          </p:cNvPr>
          <p:cNvGrpSpPr/>
          <p:nvPr/>
        </p:nvGrpSpPr>
        <p:grpSpPr>
          <a:xfrm>
            <a:off x="4804110" y="1449671"/>
            <a:ext cx="7196804" cy="2141814"/>
            <a:chOff x="4804110" y="1449671"/>
            <a:chExt cx="7196804" cy="2141814"/>
          </a:xfrm>
        </p:grpSpPr>
        <p:pic>
          <p:nvPicPr>
            <p:cNvPr id="12" name="Picture 11">
              <a:extLst>
                <a:ext uri="{FF2B5EF4-FFF2-40B4-BE49-F238E27FC236}">
                  <a16:creationId xmlns:a16="http://schemas.microsoft.com/office/drawing/2014/main" id="{77C88816-F577-87D8-0DAF-1A4044C1862B}"/>
                </a:ext>
              </a:extLst>
            </p:cNvPr>
            <p:cNvPicPr>
              <a:picLocks noChangeAspect="1"/>
            </p:cNvPicPr>
            <p:nvPr/>
          </p:nvPicPr>
          <p:blipFill>
            <a:blip r:embed="rId2"/>
            <a:stretch>
              <a:fillRect/>
            </a:stretch>
          </p:blipFill>
          <p:spPr>
            <a:xfrm>
              <a:off x="5513232" y="1449671"/>
              <a:ext cx="6487682" cy="2120364"/>
            </a:xfrm>
            <a:prstGeom prst="rect">
              <a:avLst/>
            </a:prstGeom>
          </p:spPr>
        </p:pic>
        <p:sp>
          <p:nvSpPr>
            <p:cNvPr id="9" name="Rectangle 8">
              <a:extLst>
                <a:ext uri="{FF2B5EF4-FFF2-40B4-BE49-F238E27FC236}">
                  <a16:creationId xmlns:a16="http://schemas.microsoft.com/office/drawing/2014/main" id="{F2AE684C-E214-8751-1D5F-00C020BE18EE}"/>
                </a:ext>
              </a:extLst>
            </p:cNvPr>
            <p:cNvSpPr/>
            <p:nvPr/>
          </p:nvSpPr>
          <p:spPr>
            <a:xfrm>
              <a:off x="5534346" y="2628680"/>
              <a:ext cx="6466568" cy="96280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Text Box 465">
              <a:extLst>
                <a:ext uri="{FF2B5EF4-FFF2-40B4-BE49-F238E27FC236}">
                  <a16:creationId xmlns:a16="http://schemas.microsoft.com/office/drawing/2014/main" id="{94C679E0-B882-8A7E-A21F-A4A45FA9790B}"/>
                </a:ext>
              </a:extLst>
            </p:cNvPr>
            <p:cNvSpPr txBox="1"/>
            <p:nvPr/>
          </p:nvSpPr>
          <p:spPr>
            <a:xfrm>
              <a:off x="4804110" y="2852296"/>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Stock</a:t>
              </a:r>
            </a:p>
          </p:txBody>
        </p:sp>
        <p:sp>
          <p:nvSpPr>
            <p:cNvPr id="20" name="Rectangle 19">
              <a:extLst>
                <a:ext uri="{FF2B5EF4-FFF2-40B4-BE49-F238E27FC236}">
                  <a16:creationId xmlns:a16="http://schemas.microsoft.com/office/drawing/2014/main" id="{1CC44169-3E2B-F7E4-F98A-C59721EE58F7}"/>
                </a:ext>
              </a:extLst>
            </p:cNvPr>
            <p:cNvSpPr/>
            <p:nvPr/>
          </p:nvSpPr>
          <p:spPr>
            <a:xfrm>
              <a:off x="9699450" y="2668146"/>
              <a:ext cx="574149" cy="1841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9" name="Straight Arrow Connector 28">
              <a:extLst>
                <a:ext uri="{FF2B5EF4-FFF2-40B4-BE49-F238E27FC236}">
                  <a16:creationId xmlns:a16="http://schemas.microsoft.com/office/drawing/2014/main" id="{CF6F27EA-FF73-A013-6D5A-BDB5F9031912}"/>
                </a:ext>
              </a:extLst>
            </p:cNvPr>
            <p:cNvCxnSpPr/>
            <p:nvPr/>
          </p:nvCxnSpPr>
          <p:spPr>
            <a:xfrm>
              <a:off x="10273599" y="2765012"/>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 Box 454">
              <a:extLst>
                <a:ext uri="{FF2B5EF4-FFF2-40B4-BE49-F238E27FC236}">
                  <a16:creationId xmlns:a16="http://schemas.microsoft.com/office/drawing/2014/main" id="{7224715B-1E23-7A83-F488-04431D885CF7}"/>
                </a:ext>
              </a:extLst>
            </p:cNvPr>
            <p:cNvSpPr txBox="1"/>
            <p:nvPr/>
          </p:nvSpPr>
          <p:spPr>
            <a:xfrm>
              <a:off x="10474118" y="2619802"/>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4</a:t>
              </a:r>
            </a:p>
          </p:txBody>
        </p:sp>
      </p:grpSp>
      <p:grpSp>
        <p:nvGrpSpPr>
          <p:cNvPr id="32" name="Group 31">
            <a:extLst>
              <a:ext uri="{FF2B5EF4-FFF2-40B4-BE49-F238E27FC236}">
                <a16:creationId xmlns:a16="http://schemas.microsoft.com/office/drawing/2014/main" id="{C4F38157-C361-DA5C-BACD-03EADEDACB52}"/>
              </a:ext>
            </a:extLst>
          </p:cNvPr>
          <p:cNvGrpSpPr/>
          <p:nvPr/>
        </p:nvGrpSpPr>
        <p:grpSpPr>
          <a:xfrm>
            <a:off x="5721100" y="4356126"/>
            <a:ext cx="5995451" cy="1448759"/>
            <a:chOff x="0" y="0"/>
            <a:chExt cx="6189345" cy="1583690"/>
          </a:xfrm>
        </p:grpSpPr>
        <p:pic>
          <p:nvPicPr>
            <p:cNvPr id="33" name="Picture 32">
              <a:extLst>
                <a:ext uri="{FF2B5EF4-FFF2-40B4-BE49-F238E27FC236}">
                  <a16:creationId xmlns:a16="http://schemas.microsoft.com/office/drawing/2014/main" id="{453211E4-1924-B39E-3A89-41A6CD1C4B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189345" cy="1583690"/>
            </a:xfrm>
            <a:prstGeom prst="rect">
              <a:avLst/>
            </a:prstGeom>
          </p:spPr>
        </p:pic>
        <p:sp>
          <p:nvSpPr>
            <p:cNvPr id="34" name="Rectangle 33">
              <a:extLst>
                <a:ext uri="{FF2B5EF4-FFF2-40B4-BE49-F238E27FC236}">
                  <a16:creationId xmlns:a16="http://schemas.microsoft.com/office/drawing/2014/main" id="{D3D42B14-48EB-7076-2456-FEA478C1979F}"/>
                </a:ext>
              </a:extLst>
            </p:cNvPr>
            <p:cNvSpPr/>
            <p:nvPr/>
          </p:nvSpPr>
          <p:spPr>
            <a:xfrm>
              <a:off x="241300" y="438150"/>
              <a:ext cx="1482280" cy="379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5" name="Straight Arrow Connector 34">
              <a:extLst>
                <a:ext uri="{FF2B5EF4-FFF2-40B4-BE49-F238E27FC236}">
                  <a16:creationId xmlns:a16="http://schemas.microsoft.com/office/drawing/2014/main" id="{B9D8555A-E7BD-846E-C722-511BEF2F509A}"/>
                </a:ext>
              </a:extLst>
            </p:cNvPr>
            <p:cNvCxnSpPr/>
            <p:nvPr/>
          </p:nvCxnSpPr>
          <p:spPr>
            <a:xfrm>
              <a:off x="1695450" y="73660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 Box 545">
              <a:extLst>
                <a:ext uri="{FF2B5EF4-FFF2-40B4-BE49-F238E27FC236}">
                  <a16:creationId xmlns:a16="http://schemas.microsoft.com/office/drawing/2014/main" id="{5DB3DB5A-D751-CE69-635C-30B4D142F278}"/>
                </a:ext>
              </a:extLst>
            </p:cNvPr>
            <p:cNvSpPr txBox="1"/>
            <p:nvPr/>
          </p:nvSpPr>
          <p:spPr>
            <a:xfrm>
              <a:off x="1898650" y="51435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a:t>
              </a:r>
            </a:p>
          </p:txBody>
        </p:sp>
        <p:cxnSp>
          <p:nvCxnSpPr>
            <p:cNvPr id="37" name="Straight Arrow Connector 36">
              <a:extLst>
                <a:ext uri="{FF2B5EF4-FFF2-40B4-BE49-F238E27FC236}">
                  <a16:creationId xmlns:a16="http://schemas.microsoft.com/office/drawing/2014/main" id="{2BEA4194-F4AA-7675-95AC-7B559650D6F2}"/>
                </a:ext>
              </a:extLst>
            </p:cNvPr>
            <p:cNvCxnSpPr/>
            <p:nvPr/>
          </p:nvCxnSpPr>
          <p:spPr>
            <a:xfrm>
              <a:off x="3913970" y="116985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548">
              <a:extLst>
                <a:ext uri="{FF2B5EF4-FFF2-40B4-BE49-F238E27FC236}">
                  <a16:creationId xmlns:a16="http://schemas.microsoft.com/office/drawing/2014/main" id="{AC7C03D1-4077-3038-55A9-D1FADAFE3CE6}"/>
                </a:ext>
              </a:extLst>
            </p:cNvPr>
            <p:cNvSpPr txBox="1"/>
            <p:nvPr/>
          </p:nvSpPr>
          <p:spPr>
            <a:xfrm>
              <a:off x="4107011" y="1007326"/>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a:t>
              </a:r>
            </a:p>
          </p:txBody>
        </p:sp>
      </p:grpSp>
      <p:sp>
        <p:nvSpPr>
          <p:cNvPr id="5" name="TextBox 4">
            <a:extLst>
              <a:ext uri="{FF2B5EF4-FFF2-40B4-BE49-F238E27FC236}">
                <a16:creationId xmlns:a16="http://schemas.microsoft.com/office/drawing/2014/main" id="{B4D47A5E-D7F9-9481-2245-2FA1411D8F86}"/>
              </a:ext>
            </a:extLst>
          </p:cNvPr>
          <p:cNvSpPr txBox="1"/>
          <p:nvPr/>
        </p:nvSpPr>
        <p:spPr>
          <a:xfrm>
            <a:off x="594804" y="123167"/>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Inventory Adjustment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8" name="TextBox 7">
            <a:extLst>
              <a:ext uri="{FF2B5EF4-FFF2-40B4-BE49-F238E27FC236}">
                <a16:creationId xmlns:a16="http://schemas.microsoft.com/office/drawing/2014/main" id="{91073345-5A77-ADCA-F422-0D9D4B5E614E}"/>
              </a:ext>
            </a:extLst>
          </p:cNvPr>
          <p:cNvSpPr txBox="1"/>
          <p:nvPr/>
        </p:nvSpPr>
        <p:spPr>
          <a:xfrm>
            <a:off x="1522069" y="641652"/>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How To Create Inventory Adjustment Transaction?</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2" name="Slide Number Placeholder 9">
            <a:extLst>
              <a:ext uri="{FF2B5EF4-FFF2-40B4-BE49-F238E27FC236}">
                <a16:creationId xmlns:a16="http://schemas.microsoft.com/office/drawing/2014/main" id="{5AF04DC1-C446-B6A0-3E43-32A9A159B596}"/>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4184423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9" y="1534309"/>
            <a:ext cx="4179346" cy="468521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498199" y="2543365"/>
            <a:ext cx="4179346" cy="192569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item, a dialog box where item details will be encoded will pop out.</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Enter the necessary quantity, change the amount, </a:t>
            </a:r>
            <a:r>
              <a:rPr lang="en-US" sz="1200" dirty="0" err="1">
                <a:effectLst/>
                <a:latin typeface="Chivo Light" panose="020B0303030202020804" pitchFamily="34" charset="0"/>
                <a:ea typeface="Times New Roman" panose="02020603050405020304" pitchFamily="18" charset="0"/>
                <a:cs typeface="Times New Roman" panose="02020603050405020304" pitchFamily="18" charset="0"/>
              </a:rPr>
              <a:t>uom</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warehouse.</a:t>
            </a: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add to cart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46" name="Group 45">
            <a:extLst>
              <a:ext uri="{FF2B5EF4-FFF2-40B4-BE49-F238E27FC236}">
                <a16:creationId xmlns:a16="http://schemas.microsoft.com/office/drawing/2014/main" id="{429E73B2-666F-4673-085D-8006A91D7328}"/>
              </a:ext>
            </a:extLst>
          </p:cNvPr>
          <p:cNvGrpSpPr/>
          <p:nvPr/>
        </p:nvGrpSpPr>
        <p:grpSpPr>
          <a:xfrm>
            <a:off x="5504456" y="1481274"/>
            <a:ext cx="6189345" cy="4335145"/>
            <a:chOff x="5504456" y="638477"/>
            <a:chExt cx="6189345" cy="4335145"/>
          </a:xfrm>
        </p:grpSpPr>
        <p:pic>
          <p:nvPicPr>
            <p:cNvPr id="38" name="Picture 37">
              <a:extLst>
                <a:ext uri="{FF2B5EF4-FFF2-40B4-BE49-F238E27FC236}">
                  <a16:creationId xmlns:a16="http://schemas.microsoft.com/office/drawing/2014/main" id="{633A6C2C-9BDF-9F9A-91D7-DBE8C6CD2D7F}"/>
                </a:ext>
              </a:extLst>
            </p:cNvPr>
            <p:cNvPicPr>
              <a:picLocks noChangeAspect="1"/>
            </p:cNvPicPr>
            <p:nvPr/>
          </p:nvPicPr>
          <p:blipFill>
            <a:blip r:embed="rId2"/>
            <a:stretch>
              <a:fillRect/>
            </a:stretch>
          </p:blipFill>
          <p:spPr>
            <a:xfrm>
              <a:off x="5504456" y="638477"/>
              <a:ext cx="6189345" cy="4335145"/>
            </a:xfrm>
            <a:prstGeom prst="rect">
              <a:avLst/>
            </a:prstGeom>
          </p:spPr>
        </p:pic>
        <p:grpSp>
          <p:nvGrpSpPr>
            <p:cNvPr id="45" name="Group 44">
              <a:extLst>
                <a:ext uri="{FF2B5EF4-FFF2-40B4-BE49-F238E27FC236}">
                  <a16:creationId xmlns:a16="http://schemas.microsoft.com/office/drawing/2014/main" id="{71367F95-1354-0905-C40C-A41E8CF4A1BC}"/>
                </a:ext>
              </a:extLst>
            </p:cNvPr>
            <p:cNvGrpSpPr/>
            <p:nvPr/>
          </p:nvGrpSpPr>
          <p:grpSpPr>
            <a:xfrm>
              <a:off x="5574338" y="1908625"/>
              <a:ext cx="5694045" cy="2943860"/>
              <a:chOff x="3248977" y="1957070"/>
              <a:chExt cx="5694045" cy="2943860"/>
            </a:xfrm>
          </p:grpSpPr>
          <p:sp>
            <p:nvSpPr>
              <p:cNvPr id="39" name="Rectangle 38">
                <a:extLst>
                  <a:ext uri="{FF2B5EF4-FFF2-40B4-BE49-F238E27FC236}">
                    <a16:creationId xmlns:a16="http://schemas.microsoft.com/office/drawing/2014/main" id="{27281933-B6C6-A621-0991-22EBD1C6797F}"/>
                  </a:ext>
                </a:extLst>
              </p:cNvPr>
              <p:cNvSpPr/>
              <p:nvPr/>
            </p:nvSpPr>
            <p:spPr>
              <a:xfrm>
                <a:off x="3248977" y="1957070"/>
                <a:ext cx="3120390" cy="2492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0" name="Straight Arrow Connector 39">
                <a:extLst>
                  <a:ext uri="{FF2B5EF4-FFF2-40B4-BE49-F238E27FC236}">
                    <a16:creationId xmlns:a16="http://schemas.microsoft.com/office/drawing/2014/main" id="{1D7AF9E1-9ADC-BDB0-5F74-A8E603390554}"/>
                  </a:ext>
                </a:extLst>
              </p:cNvPr>
              <p:cNvCxnSpPr/>
              <p:nvPr/>
            </p:nvCxnSpPr>
            <p:spPr>
              <a:xfrm flipV="1">
                <a:off x="6360477" y="4344035"/>
                <a:ext cx="201295" cy="59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562">
                <a:extLst>
                  <a:ext uri="{FF2B5EF4-FFF2-40B4-BE49-F238E27FC236}">
                    <a16:creationId xmlns:a16="http://schemas.microsoft.com/office/drawing/2014/main" id="{04E3F1E6-6D2F-6EF1-13E8-EB0BD9B6845A}"/>
                  </a:ext>
                </a:extLst>
              </p:cNvPr>
              <p:cNvSpPr txBox="1"/>
              <p:nvPr/>
            </p:nvSpPr>
            <p:spPr>
              <a:xfrm>
                <a:off x="6567487" y="411353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5.2.</a:t>
                </a:r>
              </a:p>
            </p:txBody>
          </p:sp>
          <p:sp>
            <p:nvSpPr>
              <p:cNvPr id="42" name="Rectangle 41">
                <a:extLst>
                  <a:ext uri="{FF2B5EF4-FFF2-40B4-BE49-F238E27FC236}">
                    <a16:creationId xmlns:a16="http://schemas.microsoft.com/office/drawing/2014/main" id="{ADF6A383-4782-8266-E380-4D28BB9F2261}"/>
                  </a:ext>
                </a:extLst>
              </p:cNvPr>
              <p:cNvSpPr/>
              <p:nvPr/>
            </p:nvSpPr>
            <p:spPr>
              <a:xfrm>
                <a:off x="7132002" y="4569460"/>
                <a:ext cx="1161415" cy="3314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3" name="Straight Arrow Connector 42">
                <a:extLst>
                  <a:ext uri="{FF2B5EF4-FFF2-40B4-BE49-F238E27FC236}">
                    <a16:creationId xmlns:a16="http://schemas.microsoft.com/office/drawing/2014/main" id="{ACE004F7-1066-3A86-7E86-842193EC2FEC}"/>
                  </a:ext>
                </a:extLst>
              </p:cNvPr>
              <p:cNvCxnSpPr/>
              <p:nvPr/>
            </p:nvCxnSpPr>
            <p:spPr>
              <a:xfrm flipV="1">
                <a:off x="8283257" y="4819015"/>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 Box 569">
                <a:extLst>
                  <a:ext uri="{FF2B5EF4-FFF2-40B4-BE49-F238E27FC236}">
                    <a16:creationId xmlns:a16="http://schemas.microsoft.com/office/drawing/2014/main" id="{838A991B-E7C8-B0F6-64BC-1111F62102B1}"/>
                  </a:ext>
                </a:extLst>
              </p:cNvPr>
              <p:cNvSpPr txBox="1"/>
              <p:nvPr/>
            </p:nvSpPr>
            <p:spPr>
              <a:xfrm>
                <a:off x="8468042" y="459994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5.3</a:t>
                </a:r>
              </a:p>
            </p:txBody>
          </p:sp>
        </p:grpSp>
      </p:grpSp>
      <p:sp>
        <p:nvSpPr>
          <p:cNvPr id="5" name="TextBox 4">
            <a:extLst>
              <a:ext uri="{FF2B5EF4-FFF2-40B4-BE49-F238E27FC236}">
                <a16:creationId xmlns:a16="http://schemas.microsoft.com/office/drawing/2014/main" id="{EE019A66-F7F4-AA9D-077D-7E291403B056}"/>
              </a:ext>
            </a:extLst>
          </p:cNvPr>
          <p:cNvSpPr txBox="1"/>
          <p:nvPr/>
        </p:nvSpPr>
        <p:spPr>
          <a:xfrm>
            <a:off x="1522069" y="641652"/>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How To Create Inventory Adjustment Transaction?</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6" name="TextBox 5">
            <a:extLst>
              <a:ext uri="{FF2B5EF4-FFF2-40B4-BE49-F238E27FC236}">
                <a16:creationId xmlns:a16="http://schemas.microsoft.com/office/drawing/2014/main" id="{169B5A3A-2517-FB88-7DAA-A4CB351D1C8D}"/>
              </a:ext>
            </a:extLst>
          </p:cNvPr>
          <p:cNvSpPr txBox="1"/>
          <p:nvPr/>
        </p:nvSpPr>
        <p:spPr>
          <a:xfrm>
            <a:off x="594804" y="123167"/>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Inventory Adjustment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2" name="Slide Number Placeholder 9">
            <a:extLst>
              <a:ext uri="{FF2B5EF4-FFF2-40B4-BE49-F238E27FC236}">
                <a16:creationId xmlns:a16="http://schemas.microsoft.com/office/drawing/2014/main" id="{163775E6-DAEB-9FD6-9990-8D10C924822C}"/>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767439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9" y="1534309"/>
            <a:ext cx="4179346" cy="468521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597771" y="2667614"/>
            <a:ext cx="4179346" cy="144780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5.4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add to cart button, you will notice in the upper right of item list an icon of add to cart. Click that, then click accept button to plot the items in the stock.</a:t>
            </a: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58" name="Group 57">
            <a:extLst>
              <a:ext uri="{FF2B5EF4-FFF2-40B4-BE49-F238E27FC236}">
                <a16:creationId xmlns:a16="http://schemas.microsoft.com/office/drawing/2014/main" id="{2662E337-33A0-AE58-A245-7088FC3B965A}"/>
              </a:ext>
            </a:extLst>
          </p:cNvPr>
          <p:cNvGrpSpPr/>
          <p:nvPr/>
        </p:nvGrpSpPr>
        <p:grpSpPr>
          <a:xfrm>
            <a:off x="5037659" y="2667614"/>
            <a:ext cx="6601017" cy="1690769"/>
            <a:chOff x="4924701" y="4661196"/>
            <a:chExt cx="6769100" cy="1803718"/>
          </a:xfrm>
        </p:grpSpPr>
        <p:pic>
          <p:nvPicPr>
            <p:cNvPr id="56" name="Picture 55">
              <a:extLst>
                <a:ext uri="{FF2B5EF4-FFF2-40B4-BE49-F238E27FC236}">
                  <a16:creationId xmlns:a16="http://schemas.microsoft.com/office/drawing/2014/main" id="{23F78448-DA05-1D67-4599-7B62557415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6151" y="4661196"/>
              <a:ext cx="6189345" cy="1699895"/>
            </a:xfrm>
            <a:prstGeom prst="rect">
              <a:avLst/>
            </a:prstGeom>
          </p:spPr>
        </p:pic>
        <p:grpSp>
          <p:nvGrpSpPr>
            <p:cNvPr id="55" name="Group 54">
              <a:extLst>
                <a:ext uri="{FF2B5EF4-FFF2-40B4-BE49-F238E27FC236}">
                  <a16:creationId xmlns:a16="http://schemas.microsoft.com/office/drawing/2014/main" id="{73B3167C-4235-F3A7-BC79-48D397340B4D}"/>
                </a:ext>
              </a:extLst>
            </p:cNvPr>
            <p:cNvGrpSpPr/>
            <p:nvPr/>
          </p:nvGrpSpPr>
          <p:grpSpPr>
            <a:xfrm>
              <a:off x="4924701" y="4666594"/>
              <a:ext cx="6769100" cy="1798320"/>
              <a:chOff x="2711450" y="2846388"/>
              <a:chExt cx="6769100" cy="1798320"/>
            </a:xfrm>
          </p:grpSpPr>
          <p:pic>
            <p:nvPicPr>
              <p:cNvPr id="48" name="Picture 47">
                <a:extLst>
                  <a:ext uri="{FF2B5EF4-FFF2-40B4-BE49-F238E27FC236}">
                    <a16:creationId xmlns:a16="http://schemas.microsoft.com/office/drawing/2014/main" id="{A023C2B2-67E3-BE78-223E-39899EE962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1450" y="3515043"/>
                <a:ext cx="6189345" cy="1129665"/>
              </a:xfrm>
              <a:prstGeom prst="rect">
                <a:avLst/>
              </a:prstGeom>
              <a:ln>
                <a:noFill/>
              </a:ln>
              <a:effectLst>
                <a:outerShdw blurRad="292100" dist="139700" dir="2700000" algn="tl" rotWithShape="0">
                  <a:srgbClr val="333333">
                    <a:alpha val="65000"/>
                  </a:srgbClr>
                </a:outerShdw>
              </a:effectLst>
            </p:spPr>
          </p:pic>
          <p:sp>
            <p:nvSpPr>
              <p:cNvPr id="49" name="Rectangle 48">
                <a:extLst>
                  <a:ext uri="{FF2B5EF4-FFF2-40B4-BE49-F238E27FC236}">
                    <a16:creationId xmlns:a16="http://schemas.microsoft.com/office/drawing/2014/main" id="{D20C851F-E33F-8811-CCD8-56F7B3149F7A}"/>
                  </a:ext>
                </a:extLst>
              </p:cNvPr>
              <p:cNvSpPr/>
              <p:nvPr/>
            </p:nvSpPr>
            <p:spPr>
              <a:xfrm>
                <a:off x="8302625" y="2846388"/>
                <a:ext cx="531495" cy="3314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0" name="Straight Arrow Connector 49">
                <a:extLst>
                  <a:ext uri="{FF2B5EF4-FFF2-40B4-BE49-F238E27FC236}">
                    <a16:creationId xmlns:a16="http://schemas.microsoft.com/office/drawing/2014/main" id="{5FBF3449-DCBC-730B-70C2-F308F86A50B0}"/>
                  </a:ext>
                </a:extLst>
              </p:cNvPr>
              <p:cNvCxnSpPr/>
              <p:nvPr/>
            </p:nvCxnSpPr>
            <p:spPr>
              <a:xfrm flipV="1">
                <a:off x="8820785" y="3129598"/>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Text Box 588">
                <a:extLst>
                  <a:ext uri="{FF2B5EF4-FFF2-40B4-BE49-F238E27FC236}">
                    <a16:creationId xmlns:a16="http://schemas.microsoft.com/office/drawing/2014/main" id="{3B8B6686-1C68-E095-94C3-A2D224CBF851}"/>
                  </a:ext>
                </a:extLst>
              </p:cNvPr>
              <p:cNvSpPr txBox="1"/>
              <p:nvPr/>
            </p:nvSpPr>
            <p:spPr>
              <a:xfrm>
                <a:off x="9005570" y="287242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5.6</a:t>
                </a:r>
              </a:p>
            </p:txBody>
          </p:sp>
          <p:sp>
            <p:nvSpPr>
              <p:cNvPr id="52" name="Rectangle 51">
                <a:extLst>
                  <a:ext uri="{FF2B5EF4-FFF2-40B4-BE49-F238E27FC236}">
                    <a16:creationId xmlns:a16="http://schemas.microsoft.com/office/drawing/2014/main" id="{A667FB6D-E2C9-45B7-0466-487BAF188BA8}"/>
                  </a:ext>
                </a:extLst>
              </p:cNvPr>
              <p:cNvSpPr/>
              <p:nvPr/>
            </p:nvSpPr>
            <p:spPr>
              <a:xfrm>
                <a:off x="8373745" y="4414838"/>
                <a:ext cx="459740" cy="2120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3" name="Straight Arrow Connector 52">
                <a:extLst>
                  <a:ext uri="{FF2B5EF4-FFF2-40B4-BE49-F238E27FC236}">
                    <a16:creationId xmlns:a16="http://schemas.microsoft.com/office/drawing/2014/main" id="{89FE8166-1861-FB1A-FBA7-7B446816AEDC}"/>
                  </a:ext>
                </a:extLst>
              </p:cNvPr>
              <p:cNvCxnSpPr/>
              <p:nvPr/>
            </p:nvCxnSpPr>
            <p:spPr>
              <a:xfrm flipV="1">
                <a:off x="8829040" y="4518343"/>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Text Box 592">
                <a:extLst>
                  <a:ext uri="{FF2B5EF4-FFF2-40B4-BE49-F238E27FC236}">
                    <a16:creationId xmlns:a16="http://schemas.microsoft.com/office/drawing/2014/main" id="{E37D6C15-2F9F-E097-993D-9C33415B49EC}"/>
                  </a:ext>
                </a:extLst>
              </p:cNvPr>
              <p:cNvSpPr txBox="1"/>
              <p:nvPr/>
            </p:nvSpPr>
            <p:spPr>
              <a:xfrm>
                <a:off x="9002395" y="431958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5.6</a:t>
                </a:r>
              </a:p>
            </p:txBody>
          </p:sp>
        </p:grpSp>
        <p:sp>
          <p:nvSpPr>
            <p:cNvPr id="57" name="Curved Right Arrow 589">
              <a:extLst>
                <a:ext uri="{FF2B5EF4-FFF2-40B4-BE49-F238E27FC236}">
                  <a16:creationId xmlns:a16="http://schemas.microsoft.com/office/drawing/2014/main" id="{C048120B-7530-6489-8FC2-06EFF6D2EE36}"/>
                </a:ext>
              </a:extLst>
            </p:cNvPr>
            <p:cNvSpPr/>
            <p:nvPr/>
          </p:nvSpPr>
          <p:spPr>
            <a:xfrm>
              <a:off x="10040578" y="4905988"/>
              <a:ext cx="474345" cy="60515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5" name="TextBox 4">
            <a:extLst>
              <a:ext uri="{FF2B5EF4-FFF2-40B4-BE49-F238E27FC236}">
                <a16:creationId xmlns:a16="http://schemas.microsoft.com/office/drawing/2014/main" id="{3F79478B-E454-0E8A-1D98-9C7D2DA74861}"/>
              </a:ext>
            </a:extLst>
          </p:cNvPr>
          <p:cNvSpPr txBox="1"/>
          <p:nvPr/>
        </p:nvSpPr>
        <p:spPr>
          <a:xfrm>
            <a:off x="594804" y="123167"/>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Inventory Adjustment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6" name="TextBox 5">
            <a:extLst>
              <a:ext uri="{FF2B5EF4-FFF2-40B4-BE49-F238E27FC236}">
                <a16:creationId xmlns:a16="http://schemas.microsoft.com/office/drawing/2014/main" id="{69B241B3-A02B-87B4-406A-73F38BD99E38}"/>
              </a:ext>
            </a:extLst>
          </p:cNvPr>
          <p:cNvSpPr txBox="1"/>
          <p:nvPr/>
        </p:nvSpPr>
        <p:spPr>
          <a:xfrm>
            <a:off x="1522069" y="641652"/>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How To Create Inventory Adjustment Transaction?</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2" name="Slide Number Placeholder 9">
            <a:extLst>
              <a:ext uri="{FF2B5EF4-FFF2-40B4-BE49-F238E27FC236}">
                <a16:creationId xmlns:a16="http://schemas.microsoft.com/office/drawing/2014/main" id="{34366B06-E0AF-8B8C-4323-B327B42FCE8D}"/>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50834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915EA52E-8557-8A2D-C81F-529D80BAA5CE}"/>
              </a:ext>
            </a:extLst>
          </p:cNvPr>
          <p:cNvPicPr>
            <a:picLocks noChangeAspect="1"/>
          </p:cNvPicPr>
          <p:nvPr/>
        </p:nvPicPr>
        <p:blipFill>
          <a:blip r:embed="rId2"/>
          <a:stretch>
            <a:fillRect/>
          </a:stretch>
        </p:blipFill>
        <p:spPr>
          <a:xfrm>
            <a:off x="5448709" y="3337705"/>
            <a:ext cx="6408484" cy="2098594"/>
          </a:xfrm>
          <a:prstGeom prst="rect">
            <a:avLst/>
          </a:prstGeom>
        </p:spPr>
      </p:pic>
      <p:pic>
        <p:nvPicPr>
          <p:cNvPr id="40" name="Picture 39">
            <a:extLst>
              <a:ext uri="{FF2B5EF4-FFF2-40B4-BE49-F238E27FC236}">
                <a16:creationId xmlns:a16="http://schemas.microsoft.com/office/drawing/2014/main" id="{531BD9AA-1CDD-1E97-656E-396CF30C1325}"/>
              </a:ext>
            </a:extLst>
          </p:cNvPr>
          <p:cNvPicPr>
            <a:picLocks noChangeAspect="1"/>
          </p:cNvPicPr>
          <p:nvPr/>
        </p:nvPicPr>
        <p:blipFill>
          <a:blip r:embed="rId3"/>
          <a:stretch>
            <a:fillRect/>
          </a:stretch>
        </p:blipFill>
        <p:spPr>
          <a:xfrm>
            <a:off x="5815056" y="4084047"/>
            <a:ext cx="5675790" cy="2332183"/>
          </a:xfrm>
          <a:prstGeom prst="rect">
            <a:avLst/>
          </a:prstGeom>
        </p:spPr>
      </p:pic>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458440" y="1685111"/>
            <a:ext cx="4179346" cy="40209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5.5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add more items, repeat 5 to 5.3 before doing 5.4</a:t>
            </a:r>
          </a:p>
          <a:p>
            <a:pPr marL="228600" marR="0">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5.7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accept button in the dialog box of selected items in 5.5., the items selected will be plotted in the stock as shown below.</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5.8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You may still edit the details per item in the stock. Change directly the details needed to be change.</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5.9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save item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5.10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Click the maximize arrow to enable the post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5.11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finalize, the transaction, click post button located in the header.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31" name="Group 30">
            <a:extLst>
              <a:ext uri="{FF2B5EF4-FFF2-40B4-BE49-F238E27FC236}">
                <a16:creationId xmlns:a16="http://schemas.microsoft.com/office/drawing/2014/main" id="{DA12D48E-365C-DB6E-BA2B-E19CF171A473}"/>
              </a:ext>
            </a:extLst>
          </p:cNvPr>
          <p:cNvGrpSpPr/>
          <p:nvPr/>
        </p:nvGrpSpPr>
        <p:grpSpPr>
          <a:xfrm>
            <a:off x="5430294" y="1068547"/>
            <a:ext cx="6408482" cy="2098593"/>
            <a:chOff x="5430294" y="1068547"/>
            <a:chExt cx="6408482" cy="2098593"/>
          </a:xfrm>
        </p:grpSpPr>
        <p:pic>
          <p:nvPicPr>
            <p:cNvPr id="30" name="Picture 29">
              <a:extLst>
                <a:ext uri="{FF2B5EF4-FFF2-40B4-BE49-F238E27FC236}">
                  <a16:creationId xmlns:a16="http://schemas.microsoft.com/office/drawing/2014/main" id="{F92C291A-F8BA-0E38-2A2F-FF54D1FE19BA}"/>
                </a:ext>
              </a:extLst>
            </p:cNvPr>
            <p:cNvPicPr>
              <a:picLocks noChangeAspect="1"/>
            </p:cNvPicPr>
            <p:nvPr/>
          </p:nvPicPr>
          <p:blipFill>
            <a:blip r:embed="rId2"/>
            <a:stretch>
              <a:fillRect/>
            </a:stretch>
          </p:blipFill>
          <p:spPr>
            <a:xfrm>
              <a:off x="5430294" y="1068547"/>
              <a:ext cx="6408482" cy="2098593"/>
            </a:xfrm>
            <a:prstGeom prst="rect">
              <a:avLst/>
            </a:prstGeom>
          </p:spPr>
        </p:pic>
        <p:sp>
          <p:nvSpPr>
            <p:cNvPr id="7" name="Rectangle 6">
              <a:extLst>
                <a:ext uri="{FF2B5EF4-FFF2-40B4-BE49-F238E27FC236}">
                  <a16:creationId xmlns:a16="http://schemas.microsoft.com/office/drawing/2014/main" id="{B9E27BAA-C0B1-2B1F-AA4B-1622CC463E67}"/>
                </a:ext>
              </a:extLst>
            </p:cNvPr>
            <p:cNvSpPr/>
            <p:nvPr/>
          </p:nvSpPr>
          <p:spPr>
            <a:xfrm>
              <a:off x="10721039" y="1531937"/>
              <a:ext cx="589915" cy="225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 name="Straight Arrow Connector 7">
              <a:extLst>
                <a:ext uri="{FF2B5EF4-FFF2-40B4-BE49-F238E27FC236}">
                  <a16:creationId xmlns:a16="http://schemas.microsoft.com/office/drawing/2014/main" id="{DA6529EC-A443-8D91-4C29-3406C88F6F7C}"/>
                </a:ext>
              </a:extLst>
            </p:cNvPr>
            <p:cNvCxnSpPr>
              <a:cxnSpLocks/>
            </p:cNvCxnSpPr>
            <p:nvPr/>
          </p:nvCxnSpPr>
          <p:spPr>
            <a:xfrm>
              <a:off x="10919282" y="1702502"/>
              <a:ext cx="68947" cy="1515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672">
              <a:extLst>
                <a:ext uri="{FF2B5EF4-FFF2-40B4-BE49-F238E27FC236}">
                  <a16:creationId xmlns:a16="http://schemas.microsoft.com/office/drawing/2014/main" id="{CC9BF2D1-3F27-ED78-C541-41D1A839711D}"/>
                </a:ext>
              </a:extLst>
            </p:cNvPr>
            <p:cNvSpPr txBox="1"/>
            <p:nvPr/>
          </p:nvSpPr>
          <p:spPr>
            <a:xfrm>
              <a:off x="10919282" y="1854052"/>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5.9</a:t>
              </a:r>
            </a:p>
          </p:txBody>
        </p:sp>
      </p:grpSp>
      <p:sp>
        <p:nvSpPr>
          <p:cNvPr id="19" name="Rectangle 18">
            <a:extLst>
              <a:ext uri="{FF2B5EF4-FFF2-40B4-BE49-F238E27FC236}">
                <a16:creationId xmlns:a16="http://schemas.microsoft.com/office/drawing/2014/main" id="{94929149-BD3E-8281-EC17-02592CBE1056}"/>
              </a:ext>
            </a:extLst>
          </p:cNvPr>
          <p:cNvSpPr/>
          <p:nvPr/>
        </p:nvSpPr>
        <p:spPr>
          <a:xfrm>
            <a:off x="11230139" y="3551011"/>
            <a:ext cx="216162" cy="21931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0" name="Straight Arrow Connector 19">
            <a:extLst>
              <a:ext uri="{FF2B5EF4-FFF2-40B4-BE49-F238E27FC236}">
                <a16:creationId xmlns:a16="http://schemas.microsoft.com/office/drawing/2014/main" id="{D476FF34-3AC6-E694-0021-386679FBD91D}"/>
              </a:ext>
            </a:extLst>
          </p:cNvPr>
          <p:cNvCxnSpPr>
            <a:cxnSpLocks/>
          </p:cNvCxnSpPr>
          <p:nvPr/>
        </p:nvCxnSpPr>
        <p:spPr>
          <a:xfrm>
            <a:off x="11343611" y="3779005"/>
            <a:ext cx="213348" cy="1067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 Box 689">
            <a:extLst>
              <a:ext uri="{FF2B5EF4-FFF2-40B4-BE49-F238E27FC236}">
                <a16:creationId xmlns:a16="http://schemas.microsoft.com/office/drawing/2014/main" id="{98EF624B-EF9E-FF8C-CFB5-2E670F4B42A0}"/>
              </a:ext>
            </a:extLst>
          </p:cNvPr>
          <p:cNvSpPr txBox="1"/>
          <p:nvPr/>
        </p:nvSpPr>
        <p:spPr>
          <a:xfrm>
            <a:off x="11364283" y="3921245"/>
            <a:ext cx="438619" cy="28123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5.10</a:t>
            </a:r>
          </a:p>
        </p:txBody>
      </p:sp>
      <p:sp>
        <p:nvSpPr>
          <p:cNvPr id="22" name="Curved Right Arrow 691">
            <a:extLst>
              <a:ext uri="{FF2B5EF4-FFF2-40B4-BE49-F238E27FC236}">
                <a16:creationId xmlns:a16="http://schemas.microsoft.com/office/drawing/2014/main" id="{AF71E09E-A1BE-6A82-3E62-40D6DEAB8C9D}"/>
              </a:ext>
            </a:extLst>
          </p:cNvPr>
          <p:cNvSpPr/>
          <p:nvPr/>
        </p:nvSpPr>
        <p:spPr>
          <a:xfrm>
            <a:off x="10404641" y="3648273"/>
            <a:ext cx="602085" cy="628451"/>
          </a:xfrm>
          <a:prstGeom prst="curvedRightArrow">
            <a:avLst>
              <a:gd name="adj1" fmla="val 21871"/>
              <a:gd name="adj2" fmla="val 36049"/>
              <a:gd name="adj3" fmla="val 33529"/>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Rectangle 12">
            <a:extLst>
              <a:ext uri="{FF2B5EF4-FFF2-40B4-BE49-F238E27FC236}">
                <a16:creationId xmlns:a16="http://schemas.microsoft.com/office/drawing/2014/main" id="{22D6CAC1-E02A-F65E-60B4-72EB5286F19E}"/>
              </a:ext>
            </a:extLst>
          </p:cNvPr>
          <p:cNvSpPr/>
          <p:nvPr/>
        </p:nvSpPr>
        <p:spPr>
          <a:xfrm>
            <a:off x="9348617" y="4067134"/>
            <a:ext cx="336558" cy="2381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4" name="Straight Arrow Connector 13">
            <a:extLst>
              <a:ext uri="{FF2B5EF4-FFF2-40B4-BE49-F238E27FC236}">
                <a16:creationId xmlns:a16="http://schemas.microsoft.com/office/drawing/2014/main" id="{8DD4B660-E5F3-6AF1-8378-8EF225E81C2F}"/>
              </a:ext>
            </a:extLst>
          </p:cNvPr>
          <p:cNvCxnSpPr/>
          <p:nvPr/>
        </p:nvCxnSpPr>
        <p:spPr>
          <a:xfrm flipV="1">
            <a:off x="9725271" y="4119987"/>
            <a:ext cx="136081" cy="680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 Box 694">
            <a:extLst>
              <a:ext uri="{FF2B5EF4-FFF2-40B4-BE49-F238E27FC236}">
                <a16:creationId xmlns:a16="http://schemas.microsoft.com/office/drawing/2014/main" id="{9EFAF573-37E8-50E0-9659-BD77BC29FC75}"/>
              </a:ext>
            </a:extLst>
          </p:cNvPr>
          <p:cNvSpPr txBox="1"/>
          <p:nvPr/>
        </p:nvSpPr>
        <p:spPr>
          <a:xfrm>
            <a:off x="9845557" y="4003346"/>
            <a:ext cx="454414" cy="27337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5.11</a:t>
            </a:r>
          </a:p>
        </p:txBody>
      </p:sp>
      <p:sp>
        <p:nvSpPr>
          <p:cNvPr id="4" name="TextBox 3">
            <a:extLst>
              <a:ext uri="{FF2B5EF4-FFF2-40B4-BE49-F238E27FC236}">
                <a16:creationId xmlns:a16="http://schemas.microsoft.com/office/drawing/2014/main" id="{2B00686B-9C41-3DB2-D04B-E46874365271}"/>
              </a:ext>
            </a:extLst>
          </p:cNvPr>
          <p:cNvSpPr txBox="1"/>
          <p:nvPr/>
        </p:nvSpPr>
        <p:spPr>
          <a:xfrm>
            <a:off x="1522069" y="641652"/>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How To Create Inventory Adjustment Transaction?</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5" name="TextBox 4">
            <a:extLst>
              <a:ext uri="{FF2B5EF4-FFF2-40B4-BE49-F238E27FC236}">
                <a16:creationId xmlns:a16="http://schemas.microsoft.com/office/drawing/2014/main" id="{A8958E83-4B9B-ABA8-A26F-0981D24E6C20}"/>
              </a:ext>
            </a:extLst>
          </p:cNvPr>
          <p:cNvSpPr txBox="1"/>
          <p:nvPr/>
        </p:nvSpPr>
        <p:spPr>
          <a:xfrm>
            <a:off x="594804" y="123167"/>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Inventory Adjustment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2" name="Slide Number Placeholder 9">
            <a:extLst>
              <a:ext uri="{FF2B5EF4-FFF2-40B4-BE49-F238E27FC236}">
                <a16:creationId xmlns:a16="http://schemas.microsoft.com/office/drawing/2014/main" id="{4D9C1A7A-0323-A2D3-0D94-9CB6E32CE3E5}"/>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642606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0C7480B-7ED0-2B47-1DF9-F518DB67BF21}"/>
              </a:ext>
            </a:extLst>
          </p:cNvPr>
          <p:cNvPicPr>
            <a:picLocks noChangeAspect="1"/>
          </p:cNvPicPr>
          <p:nvPr/>
        </p:nvPicPr>
        <p:blipFill>
          <a:blip r:embed="rId2"/>
          <a:stretch>
            <a:fillRect/>
          </a:stretch>
        </p:blipFill>
        <p:spPr>
          <a:xfrm>
            <a:off x="4832825" y="3602681"/>
            <a:ext cx="6791389" cy="2790583"/>
          </a:xfrm>
          <a:prstGeom prst="rect">
            <a:avLst/>
          </a:prstGeom>
        </p:spPr>
      </p:pic>
      <p:pic>
        <p:nvPicPr>
          <p:cNvPr id="7" name="Picture 6">
            <a:extLst>
              <a:ext uri="{FF2B5EF4-FFF2-40B4-BE49-F238E27FC236}">
                <a16:creationId xmlns:a16="http://schemas.microsoft.com/office/drawing/2014/main" id="{356391D3-7F13-BD17-09F1-78C68D034CA2}"/>
              </a:ext>
            </a:extLst>
          </p:cNvPr>
          <p:cNvPicPr>
            <a:picLocks noChangeAspect="1"/>
          </p:cNvPicPr>
          <p:nvPr/>
        </p:nvPicPr>
        <p:blipFill>
          <a:blip r:embed="rId3"/>
          <a:stretch>
            <a:fillRect/>
          </a:stretch>
        </p:blipFill>
        <p:spPr>
          <a:xfrm>
            <a:off x="4947323" y="729990"/>
            <a:ext cx="7014980" cy="2188023"/>
          </a:xfrm>
          <a:prstGeom prst="rect">
            <a:avLst/>
          </a:prstGeom>
        </p:spPr>
      </p:pic>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the inventory adjustment– main window, search the  transaction you wish to edit its information in the search bar. Or,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inventory adjustment– main form, click the lookup button and select the transaction you wish to edit its information by typing its transaction number in the search bar.</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transaction, if you wish to edit the header of the transaction click edit button.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If you are done editing, click save button in the upper side of the header.</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grpSp>
        <p:nvGrpSpPr>
          <p:cNvPr id="17" name="Group 16">
            <a:extLst>
              <a:ext uri="{FF2B5EF4-FFF2-40B4-BE49-F238E27FC236}">
                <a16:creationId xmlns:a16="http://schemas.microsoft.com/office/drawing/2014/main" id="{20336060-7936-AF0F-787C-E6433EDAE074}"/>
              </a:ext>
            </a:extLst>
          </p:cNvPr>
          <p:cNvGrpSpPr/>
          <p:nvPr/>
        </p:nvGrpSpPr>
        <p:grpSpPr>
          <a:xfrm>
            <a:off x="5951861" y="1465096"/>
            <a:ext cx="1564519" cy="251828"/>
            <a:chOff x="0" y="0"/>
            <a:chExt cx="1476374" cy="361950"/>
          </a:xfrm>
        </p:grpSpPr>
        <p:sp>
          <p:nvSpPr>
            <p:cNvPr id="18" name="Rectangle 17">
              <a:extLst>
                <a:ext uri="{FF2B5EF4-FFF2-40B4-BE49-F238E27FC236}">
                  <a16:creationId xmlns:a16="http://schemas.microsoft.com/office/drawing/2014/main" id="{17E3F88F-F0CF-FD38-5B2C-F1C5F035C97E}"/>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9" name="Straight Arrow Connector 18">
              <a:extLst>
                <a:ext uri="{FF2B5EF4-FFF2-40B4-BE49-F238E27FC236}">
                  <a16:creationId xmlns:a16="http://schemas.microsoft.com/office/drawing/2014/main" id="{B4D25E9A-0678-9DD4-6B7A-020DF8A5A05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 Box 734">
              <a:extLst>
                <a:ext uri="{FF2B5EF4-FFF2-40B4-BE49-F238E27FC236}">
                  <a16:creationId xmlns:a16="http://schemas.microsoft.com/office/drawing/2014/main" id="{3142913A-2290-8BF2-A952-476D2175D9D6}"/>
                </a:ext>
              </a:extLst>
            </p:cNvPr>
            <p:cNvSpPr txBox="1"/>
            <p:nvPr/>
          </p:nvSpPr>
          <p:spPr>
            <a:xfrm>
              <a:off x="1009649" y="28575"/>
              <a:ext cx="466725" cy="333375"/>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1.1.</a:t>
              </a:r>
            </a:p>
          </p:txBody>
        </p:sp>
      </p:grpSp>
      <p:grpSp>
        <p:nvGrpSpPr>
          <p:cNvPr id="25" name="Group 24">
            <a:extLst>
              <a:ext uri="{FF2B5EF4-FFF2-40B4-BE49-F238E27FC236}">
                <a16:creationId xmlns:a16="http://schemas.microsoft.com/office/drawing/2014/main" id="{75C33D07-BBCC-8D02-2F53-17367C29E947}"/>
              </a:ext>
            </a:extLst>
          </p:cNvPr>
          <p:cNvGrpSpPr/>
          <p:nvPr/>
        </p:nvGrpSpPr>
        <p:grpSpPr>
          <a:xfrm>
            <a:off x="6280509" y="3862144"/>
            <a:ext cx="952500" cy="304800"/>
            <a:chOff x="523874" y="28575"/>
            <a:chExt cx="952500" cy="304800"/>
          </a:xfrm>
        </p:grpSpPr>
        <p:sp>
          <p:nvSpPr>
            <p:cNvPr id="43" name="Rectangle 42">
              <a:extLst>
                <a:ext uri="{FF2B5EF4-FFF2-40B4-BE49-F238E27FC236}">
                  <a16:creationId xmlns:a16="http://schemas.microsoft.com/office/drawing/2014/main" id="{983A04F5-A004-B6D9-3EF0-78211965BA23}"/>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4" name="Straight Arrow Connector 43">
              <a:extLst>
                <a:ext uri="{FF2B5EF4-FFF2-40B4-BE49-F238E27FC236}">
                  <a16:creationId xmlns:a16="http://schemas.microsoft.com/office/drawing/2014/main" id="{AE00018E-715F-7CF3-7545-9D725846103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 Box 746">
              <a:extLst>
                <a:ext uri="{FF2B5EF4-FFF2-40B4-BE49-F238E27FC236}">
                  <a16:creationId xmlns:a16="http://schemas.microsoft.com/office/drawing/2014/main" id="{ED705FE3-23BB-69C5-B77F-993F27D00181}"/>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1.2.</a:t>
              </a:r>
            </a:p>
          </p:txBody>
        </p:sp>
      </p:grpSp>
      <p:grpSp>
        <p:nvGrpSpPr>
          <p:cNvPr id="26" name="Group 25">
            <a:extLst>
              <a:ext uri="{FF2B5EF4-FFF2-40B4-BE49-F238E27FC236}">
                <a16:creationId xmlns:a16="http://schemas.microsoft.com/office/drawing/2014/main" id="{D2225BD8-F3F0-4BB5-91AA-BCAF1CA1A078}"/>
              </a:ext>
            </a:extLst>
          </p:cNvPr>
          <p:cNvGrpSpPr/>
          <p:nvPr/>
        </p:nvGrpSpPr>
        <p:grpSpPr>
          <a:xfrm>
            <a:off x="10323130" y="3600788"/>
            <a:ext cx="981076" cy="304800"/>
            <a:chOff x="333374" y="28575"/>
            <a:chExt cx="981076" cy="304800"/>
          </a:xfrm>
        </p:grpSpPr>
        <p:sp>
          <p:nvSpPr>
            <p:cNvPr id="40" name="Rectangle 39">
              <a:extLst>
                <a:ext uri="{FF2B5EF4-FFF2-40B4-BE49-F238E27FC236}">
                  <a16:creationId xmlns:a16="http://schemas.microsoft.com/office/drawing/2014/main" id="{B56BC8B7-7F59-8F01-5368-4897AB727497}"/>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1" name="Straight Arrow Connector 40">
              <a:extLst>
                <a:ext uri="{FF2B5EF4-FFF2-40B4-BE49-F238E27FC236}">
                  <a16:creationId xmlns:a16="http://schemas.microsoft.com/office/drawing/2014/main" id="{349FAC0E-98A9-5389-21B8-F99551498BFA}"/>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739">
              <a:extLst>
                <a:ext uri="{FF2B5EF4-FFF2-40B4-BE49-F238E27FC236}">
                  <a16:creationId xmlns:a16="http://schemas.microsoft.com/office/drawing/2014/main" id="{37943493-E1D8-16BB-76D9-34289990385E}"/>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2.</a:t>
              </a:r>
            </a:p>
          </p:txBody>
        </p:sp>
      </p:grpSp>
      <p:sp>
        <p:nvSpPr>
          <p:cNvPr id="27" name="Text Box 241">
            <a:extLst>
              <a:ext uri="{FF2B5EF4-FFF2-40B4-BE49-F238E27FC236}">
                <a16:creationId xmlns:a16="http://schemas.microsoft.com/office/drawing/2014/main" id="{A16BE8EA-4542-BAE6-D889-1975280FA2FC}"/>
              </a:ext>
            </a:extLst>
          </p:cNvPr>
          <p:cNvSpPr txBox="1">
            <a:spLocks noChangeArrowheads="1"/>
          </p:cNvSpPr>
          <p:nvPr/>
        </p:nvSpPr>
        <p:spPr bwMode="auto">
          <a:xfrm>
            <a:off x="7303876" y="4646751"/>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transaction?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ct val="115000"/>
              </a:lnSpc>
              <a:spcBef>
                <a:spcPts val="0"/>
              </a:spcBef>
              <a:spcAft>
                <a:spcPts val="0"/>
              </a:spcAft>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ts val="975"/>
              </a:lnSpc>
              <a:spcBef>
                <a:spcPts val="5"/>
              </a:spcBef>
              <a:spcAft>
                <a:spcPts val="0"/>
              </a:spcAft>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search.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202565" marR="0" indent="-101600">
              <a:lnSpc>
                <a:spcPts val="975"/>
              </a:lnSpc>
              <a:spcBef>
                <a:spcPts val="0"/>
              </a:spcBef>
              <a:spcAft>
                <a:spcPts val="0"/>
              </a:spcAft>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8" name="Text Box 735">
            <a:extLst>
              <a:ext uri="{FF2B5EF4-FFF2-40B4-BE49-F238E27FC236}">
                <a16:creationId xmlns:a16="http://schemas.microsoft.com/office/drawing/2014/main" id="{8194CCE8-9127-96C7-C026-CAD2EA7AD4FF}"/>
              </a:ext>
            </a:extLst>
          </p:cNvPr>
          <p:cNvSpPr txBox="1"/>
          <p:nvPr/>
        </p:nvSpPr>
        <p:spPr>
          <a:xfrm>
            <a:off x="5083194" y="3406234"/>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4" name="TextBox 3">
            <a:extLst>
              <a:ext uri="{FF2B5EF4-FFF2-40B4-BE49-F238E27FC236}">
                <a16:creationId xmlns:a16="http://schemas.microsoft.com/office/drawing/2014/main" id="{83F8A514-1865-7953-28EA-8819840885F2}"/>
              </a:ext>
            </a:extLst>
          </p:cNvPr>
          <p:cNvSpPr txBox="1"/>
          <p:nvPr/>
        </p:nvSpPr>
        <p:spPr>
          <a:xfrm>
            <a:off x="805110" y="940347"/>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How To Edit Inventory Adjustment Transaction?</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13" name="TextBox 12">
            <a:extLst>
              <a:ext uri="{FF2B5EF4-FFF2-40B4-BE49-F238E27FC236}">
                <a16:creationId xmlns:a16="http://schemas.microsoft.com/office/drawing/2014/main" id="{528FE090-4319-7BB8-AE02-F05D92FAA5E5}"/>
              </a:ext>
            </a:extLst>
          </p:cNvPr>
          <p:cNvSpPr txBox="1"/>
          <p:nvPr/>
        </p:nvSpPr>
        <p:spPr>
          <a:xfrm>
            <a:off x="7543090" y="2784512"/>
            <a:ext cx="2737252"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Inventory Adjustment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A4B46384-654B-DFB9-A43A-8A5CC731E8AA}"/>
              </a:ext>
            </a:extLst>
          </p:cNvPr>
          <p:cNvSpPr txBox="1"/>
          <p:nvPr/>
        </p:nvSpPr>
        <p:spPr>
          <a:xfrm>
            <a:off x="7516380" y="6243988"/>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Inventory Adjustment </a:t>
            </a:r>
            <a:r>
              <a:rPr lang="en-PH" sz="1200" b="1" dirty="0">
                <a:effectLst/>
                <a:latin typeface="Calibri" panose="020F0502020204030204" pitchFamily="34" charset="0"/>
                <a:ea typeface="Calibri" panose="020F0502020204030204" pitchFamily="34" charset="0"/>
                <a:cs typeface="Calibri" panose="020F0502020204030204" pitchFamily="34" charset="0"/>
              </a:rPr>
              <a:t>– Main </a:t>
            </a:r>
            <a:r>
              <a:rPr lang="en-PH" sz="1200" b="1" dirty="0">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F949241-7463-6B43-27FE-03B49380FC90}"/>
              </a:ext>
            </a:extLst>
          </p:cNvPr>
          <p:cNvSpPr txBox="1"/>
          <p:nvPr/>
        </p:nvSpPr>
        <p:spPr>
          <a:xfrm>
            <a:off x="594804" y="123167"/>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Inventory Adjustment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2" name="Slide Number Placeholder 9">
            <a:extLst>
              <a:ext uri="{FF2B5EF4-FFF2-40B4-BE49-F238E27FC236}">
                <a16:creationId xmlns:a16="http://schemas.microsoft.com/office/drawing/2014/main" id="{766645A6-D4E2-086B-0934-E84016419685}"/>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4154084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2203928"/>
            <a:ext cx="4179346" cy="285634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want to edit the items in stock, edit right away the details you want to change and you will notice that after you change the details, the item you edited will be highlighted into blue.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you’re done editing, click save item button to save the changes you made in the items.</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6</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7</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6A60718B-3512-B150-C4AB-C0D8F9AC6E36}"/>
              </a:ext>
            </a:extLst>
          </p:cNvPr>
          <p:cNvSpPr txBox="1"/>
          <p:nvPr/>
        </p:nvSpPr>
        <p:spPr>
          <a:xfrm>
            <a:off x="594804" y="123167"/>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Inventory Adjustment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14" name="TextBox 13">
            <a:extLst>
              <a:ext uri="{FF2B5EF4-FFF2-40B4-BE49-F238E27FC236}">
                <a16:creationId xmlns:a16="http://schemas.microsoft.com/office/drawing/2014/main" id="{5B6D290C-C235-EA53-28DE-A7C8B058284D}"/>
              </a:ext>
            </a:extLst>
          </p:cNvPr>
          <p:cNvSpPr txBox="1"/>
          <p:nvPr/>
        </p:nvSpPr>
        <p:spPr>
          <a:xfrm>
            <a:off x="1522069" y="622637"/>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How To Edit Inventory Adjustment Transaction?</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7" name="Slide Number Placeholder 9">
            <a:extLst>
              <a:ext uri="{FF2B5EF4-FFF2-40B4-BE49-F238E27FC236}">
                <a16:creationId xmlns:a16="http://schemas.microsoft.com/office/drawing/2014/main" id="{320605CC-F39B-FEE0-AC25-DCB67FBC8D0E}"/>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22" name="Group 21">
            <a:extLst>
              <a:ext uri="{FF2B5EF4-FFF2-40B4-BE49-F238E27FC236}">
                <a16:creationId xmlns:a16="http://schemas.microsoft.com/office/drawing/2014/main" id="{64CE1F20-3CE9-B0FE-D7DF-B01E196409A2}"/>
              </a:ext>
            </a:extLst>
          </p:cNvPr>
          <p:cNvGrpSpPr/>
          <p:nvPr/>
        </p:nvGrpSpPr>
        <p:grpSpPr>
          <a:xfrm>
            <a:off x="5171495" y="2046996"/>
            <a:ext cx="6440200" cy="2332990"/>
            <a:chOff x="5171495" y="2046996"/>
            <a:chExt cx="6440200" cy="2332990"/>
          </a:xfrm>
        </p:grpSpPr>
        <p:grpSp>
          <p:nvGrpSpPr>
            <p:cNvPr id="37" name="Group 36">
              <a:extLst>
                <a:ext uri="{FF2B5EF4-FFF2-40B4-BE49-F238E27FC236}">
                  <a16:creationId xmlns:a16="http://schemas.microsoft.com/office/drawing/2014/main" id="{12A44C92-CADE-0A3F-55FB-46D46E71C72D}"/>
                </a:ext>
              </a:extLst>
            </p:cNvPr>
            <p:cNvGrpSpPr/>
            <p:nvPr/>
          </p:nvGrpSpPr>
          <p:grpSpPr>
            <a:xfrm>
              <a:off x="5171495" y="2046996"/>
              <a:ext cx="6440200" cy="2332990"/>
              <a:chOff x="5171495" y="941067"/>
              <a:chExt cx="6440200" cy="2332990"/>
            </a:xfrm>
          </p:grpSpPr>
          <p:grpSp>
            <p:nvGrpSpPr>
              <p:cNvPr id="2" name="Group 1">
                <a:extLst>
                  <a:ext uri="{FF2B5EF4-FFF2-40B4-BE49-F238E27FC236}">
                    <a16:creationId xmlns:a16="http://schemas.microsoft.com/office/drawing/2014/main" id="{9DD2F1C1-AD26-DAF6-1518-3D69C1C1561E}"/>
                  </a:ext>
                </a:extLst>
              </p:cNvPr>
              <p:cNvGrpSpPr/>
              <p:nvPr/>
            </p:nvGrpSpPr>
            <p:grpSpPr>
              <a:xfrm>
                <a:off x="5365200" y="970444"/>
                <a:ext cx="6246495" cy="1658617"/>
                <a:chOff x="31914" y="203778"/>
                <a:chExt cx="6246768" cy="1659243"/>
              </a:xfrm>
            </p:grpSpPr>
            <p:pic>
              <p:nvPicPr>
                <p:cNvPr id="4" name="Picture 3">
                  <a:extLst>
                    <a:ext uri="{FF2B5EF4-FFF2-40B4-BE49-F238E27FC236}">
                      <a16:creationId xmlns:a16="http://schemas.microsoft.com/office/drawing/2014/main" id="{E2D85EC2-9AF2-00ED-A5B7-B54B9FA7E4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14" y="226272"/>
                  <a:ext cx="6246768" cy="1636749"/>
                </a:xfrm>
                <a:prstGeom prst="rect">
                  <a:avLst/>
                </a:prstGeom>
              </p:spPr>
            </p:pic>
            <p:sp>
              <p:nvSpPr>
                <p:cNvPr id="6" name="Rectangle 5">
                  <a:extLst>
                    <a:ext uri="{FF2B5EF4-FFF2-40B4-BE49-F238E27FC236}">
                      <a16:creationId xmlns:a16="http://schemas.microsoft.com/office/drawing/2014/main" id="{7005D413-A128-D1FF-480B-005B6443269C}"/>
                    </a:ext>
                  </a:extLst>
                </p:cNvPr>
                <p:cNvSpPr/>
                <p:nvPr/>
              </p:nvSpPr>
              <p:spPr>
                <a:xfrm>
                  <a:off x="510637" y="1116963"/>
                  <a:ext cx="2157714" cy="7247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8" name="Group 7">
                  <a:extLst>
                    <a:ext uri="{FF2B5EF4-FFF2-40B4-BE49-F238E27FC236}">
                      <a16:creationId xmlns:a16="http://schemas.microsoft.com/office/drawing/2014/main" id="{5D28E592-EDE9-DCD2-7C24-D35F009C65A9}"/>
                    </a:ext>
                  </a:extLst>
                </p:cNvPr>
                <p:cNvGrpSpPr/>
                <p:nvPr/>
              </p:nvGrpSpPr>
              <p:grpSpPr>
                <a:xfrm>
                  <a:off x="4926412" y="203778"/>
                  <a:ext cx="647700" cy="796655"/>
                  <a:chOff x="306787" y="-291522"/>
                  <a:chExt cx="647700" cy="796655"/>
                </a:xfrm>
              </p:grpSpPr>
              <p:sp>
                <p:nvSpPr>
                  <p:cNvPr id="9" name="Rectangle 8">
                    <a:extLst>
                      <a:ext uri="{FF2B5EF4-FFF2-40B4-BE49-F238E27FC236}">
                        <a16:creationId xmlns:a16="http://schemas.microsoft.com/office/drawing/2014/main" id="{A24C8B27-9191-CF04-3AD0-FD825DA105AE}"/>
                      </a:ext>
                    </a:extLst>
                  </p:cNvPr>
                  <p:cNvSpPr/>
                  <p:nvPr/>
                </p:nvSpPr>
                <p:spPr>
                  <a:xfrm>
                    <a:off x="306787" y="-291522"/>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0" name="Straight Arrow Connector 9">
                    <a:extLst>
                      <a:ext uri="{FF2B5EF4-FFF2-40B4-BE49-F238E27FC236}">
                        <a16:creationId xmlns:a16="http://schemas.microsoft.com/office/drawing/2014/main" id="{C0EA476A-5856-DFA9-BDDF-CA27E1681222}"/>
                      </a:ext>
                    </a:extLst>
                  </p:cNvPr>
                  <p:cNvCxnSpPr>
                    <a:cxnSpLocks/>
                  </p:cNvCxnSpPr>
                  <p:nvPr/>
                </p:nvCxnSpPr>
                <p:spPr>
                  <a:xfrm>
                    <a:off x="630637" y="-5772"/>
                    <a:ext cx="0" cy="247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 Box 756">
                    <a:extLst>
                      <a:ext uri="{FF2B5EF4-FFF2-40B4-BE49-F238E27FC236}">
                        <a16:creationId xmlns:a16="http://schemas.microsoft.com/office/drawing/2014/main" id="{33B8641A-00EA-0A67-A1D8-B331ECE19738}"/>
                      </a:ext>
                    </a:extLst>
                  </p:cNvPr>
                  <p:cNvSpPr txBox="1"/>
                  <p:nvPr/>
                </p:nvSpPr>
                <p:spPr>
                  <a:xfrm>
                    <a:off x="530625" y="25748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5</a:t>
                    </a:r>
                  </a:p>
                </p:txBody>
              </p:sp>
            </p:grpSp>
          </p:grpSp>
          <p:grpSp>
            <p:nvGrpSpPr>
              <p:cNvPr id="32" name="Group 31">
                <a:extLst>
                  <a:ext uri="{FF2B5EF4-FFF2-40B4-BE49-F238E27FC236}">
                    <a16:creationId xmlns:a16="http://schemas.microsoft.com/office/drawing/2014/main" id="{FA4F012E-CA8C-35E6-9B3C-0C2F32B5D5ED}"/>
                  </a:ext>
                </a:extLst>
              </p:cNvPr>
              <p:cNvGrpSpPr/>
              <p:nvPr/>
            </p:nvGrpSpPr>
            <p:grpSpPr>
              <a:xfrm>
                <a:off x="5171495" y="941067"/>
                <a:ext cx="3176904" cy="2332990"/>
                <a:chOff x="0" y="0"/>
                <a:chExt cx="3177391" cy="2332990"/>
              </a:xfrm>
            </p:grpSpPr>
            <p:sp>
              <p:nvSpPr>
                <p:cNvPr id="33" name="Text Box 749">
                  <a:extLst>
                    <a:ext uri="{FF2B5EF4-FFF2-40B4-BE49-F238E27FC236}">
                      <a16:creationId xmlns:a16="http://schemas.microsoft.com/office/drawing/2014/main" id="{1505071B-2C57-07B5-96FC-DD72EA149204}"/>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STOCK</a:t>
                  </a:r>
                </a:p>
              </p:txBody>
            </p:sp>
            <p:pic>
              <p:nvPicPr>
                <p:cNvPr id="34" name="Picture 33">
                  <a:extLst>
                    <a:ext uri="{FF2B5EF4-FFF2-40B4-BE49-F238E27FC236}">
                      <a16:creationId xmlns:a16="http://schemas.microsoft.com/office/drawing/2014/main" id="{3C86A8D0-A2A4-E89A-E92E-568B439FED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829" y="1714500"/>
                  <a:ext cx="2893060" cy="618490"/>
                </a:xfrm>
                <a:prstGeom prst="rect">
                  <a:avLst/>
                </a:prstGeom>
                <a:ln>
                  <a:noFill/>
                </a:ln>
                <a:effectLst>
                  <a:outerShdw blurRad="292100" dist="139700" dir="2700000" algn="tl" rotWithShape="0">
                    <a:srgbClr val="333333">
                      <a:alpha val="65000"/>
                    </a:srgbClr>
                  </a:outerShdw>
                </a:effectLst>
              </p:spPr>
            </p:pic>
            <p:sp>
              <p:nvSpPr>
                <p:cNvPr id="35" name="Curved Left Arrow 758">
                  <a:extLst>
                    <a:ext uri="{FF2B5EF4-FFF2-40B4-BE49-F238E27FC236}">
                      <a16:creationId xmlns:a16="http://schemas.microsoft.com/office/drawing/2014/main" id="{A6C917EE-8813-0D38-FA2F-0CD68D5132F6}"/>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 name="Text Box 757">
                  <a:extLst>
                    <a:ext uri="{FF2B5EF4-FFF2-40B4-BE49-F238E27FC236}">
                      <a16:creationId xmlns:a16="http://schemas.microsoft.com/office/drawing/2014/main" id="{15EE30EA-34E4-FCA1-BAFA-3A3939FA4CA0}"/>
                    </a:ext>
                  </a:extLst>
                </p:cNvPr>
                <p:cNvSpPr txBox="1"/>
                <p:nvPr/>
              </p:nvSpPr>
              <p:spPr>
                <a:xfrm>
                  <a:off x="0" y="1594757"/>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4</a:t>
                  </a:r>
                </a:p>
              </p:txBody>
            </p:sp>
          </p:grpSp>
        </p:grpSp>
        <p:sp>
          <p:nvSpPr>
            <p:cNvPr id="15" name="Rectangle 14">
              <a:extLst>
                <a:ext uri="{FF2B5EF4-FFF2-40B4-BE49-F238E27FC236}">
                  <a16:creationId xmlns:a16="http://schemas.microsoft.com/office/drawing/2014/main" id="{6A695C3B-B3B6-6673-E66B-FFDD3B06559E}"/>
                </a:ext>
              </a:extLst>
            </p:cNvPr>
            <p:cNvSpPr/>
            <p:nvPr/>
          </p:nvSpPr>
          <p:spPr>
            <a:xfrm>
              <a:off x="10935589" y="2076150"/>
              <a:ext cx="647672" cy="28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6" name="Straight Arrow Connector 15">
              <a:extLst>
                <a:ext uri="{FF2B5EF4-FFF2-40B4-BE49-F238E27FC236}">
                  <a16:creationId xmlns:a16="http://schemas.microsoft.com/office/drawing/2014/main" id="{00EB9B80-9BE3-03EE-CB54-D5FDA138A3F8}"/>
                </a:ext>
              </a:extLst>
            </p:cNvPr>
            <p:cNvCxnSpPr>
              <a:cxnSpLocks/>
            </p:cNvCxnSpPr>
            <p:nvPr/>
          </p:nvCxnSpPr>
          <p:spPr>
            <a:xfrm>
              <a:off x="11259425" y="2361792"/>
              <a:ext cx="0" cy="247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 Box 756">
              <a:extLst>
                <a:ext uri="{FF2B5EF4-FFF2-40B4-BE49-F238E27FC236}">
                  <a16:creationId xmlns:a16="http://schemas.microsoft.com/office/drawing/2014/main" id="{2CBF191D-C3FA-3219-1285-95E322C11929}"/>
                </a:ext>
              </a:extLst>
            </p:cNvPr>
            <p:cNvSpPr txBox="1"/>
            <p:nvPr/>
          </p:nvSpPr>
          <p:spPr>
            <a:xfrm>
              <a:off x="11159417" y="2624948"/>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6</a:t>
              </a:r>
            </a:p>
          </p:txBody>
        </p:sp>
        <p:sp>
          <p:nvSpPr>
            <p:cNvPr id="18" name="Rectangle 17">
              <a:extLst>
                <a:ext uri="{FF2B5EF4-FFF2-40B4-BE49-F238E27FC236}">
                  <a16:creationId xmlns:a16="http://schemas.microsoft.com/office/drawing/2014/main" id="{5A8519C3-7CBA-69DC-D8AB-44E4628C5131}"/>
                </a:ext>
              </a:extLst>
            </p:cNvPr>
            <p:cNvSpPr/>
            <p:nvPr/>
          </p:nvSpPr>
          <p:spPr>
            <a:xfrm>
              <a:off x="5559297" y="2937872"/>
              <a:ext cx="200016" cy="2475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9" name="Straight Arrow Connector 18">
              <a:extLst>
                <a:ext uri="{FF2B5EF4-FFF2-40B4-BE49-F238E27FC236}">
                  <a16:creationId xmlns:a16="http://schemas.microsoft.com/office/drawing/2014/main" id="{D7E05516-A6C9-86CE-B8C6-82403C325118}"/>
                </a:ext>
              </a:extLst>
            </p:cNvPr>
            <p:cNvCxnSpPr>
              <a:cxnSpLocks/>
            </p:cNvCxnSpPr>
            <p:nvPr/>
          </p:nvCxnSpPr>
          <p:spPr>
            <a:xfrm>
              <a:off x="5652313" y="3181444"/>
              <a:ext cx="0" cy="1654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756">
              <a:extLst>
                <a:ext uri="{FF2B5EF4-FFF2-40B4-BE49-F238E27FC236}">
                  <a16:creationId xmlns:a16="http://schemas.microsoft.com/office/drawing/2014/main" id="{B62A1C3E-5BF5-814D-85C0-0EA1630F8A36}"/>
                </a:ext>
              </a:extLst>
            </p:cNvPr>
            <p:cNvSpPr txBox="1"/>
            <p:nvPr/>
          </p:nvSpPr>
          <p:spPr>
            <a:xfrm>
              <a:off x="5559297" y="3376441"/>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3178584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DDCE9141-58C1-93EB-7DA3-A986AB7B7128}"/>
              </a:ext>
            </a:extLst>
          </p:cNvPr>
          <p:cNvPicPr>
            <a:picLocks noChangeAspect="1"/>
          </p:cNvPicPr>
          <p:nvPr/>
        </p:nvPicPr>
        <p:blipFill>
          <a:blip r:embed="rId2"/>
          <a:stretch>
            <a:fillRect/>
          </a:stretch>
        </p:blipFill>
        <p:spPr>
          <a:xfrm>
            <a:off x="4832825" y="3602681"/>
            <a:ext cx="6791389" cy="2790583"/>
          </a:xfrm>
          <a:prstGeom prst="rect">
            <a:avLst/>
          </a:prstGeom>
        </p:spPr>
      </p:pic>
      <p:pic>
        <p:nvPicPr>
          <p:cNvPr id="26" name="Picture 25">
            <a:extLst>
              <a:ext uri="{FF2B5EF4-FFF2-40B4-BE49-F238E27FC236}">
                <a16:creationId xmlns:a16="http://schemas.microsoft.com/office/drawing/2014/main" id="{A24EDA87-AEDF-4181-8BF8-B8A8E215E779}"/>
              </a:ext>
            </a:extLst>
          </p:cNvPr>
          <p:cNvPicPr>
            <a:picLocks noChangeAspect="1"/>
          </p:cNvPicPr>
          <p:nvPr/>
        </p:nvPicPr>
        <p:blipFill>
          <a:blip r:embed="rId3"/>
          <a:stretch>
            <a:fillRect/>
          </a:stretch>
        </p:blipFill>
        <p:spPr>
          <a:xfrm>
            <a:off x="4947323" y="729990"/>
            <a:ext cx="7014980" cy="2188023"/>
          </a:xfrm>
          <a:prstGeom prst="rect">
            <a:avLst/>
          </a:prstGeom>
        </p:spPr>
      </p:pic>
      <p:sp>
        <p:nvSpPr>
          <p:cNvPr id="12" name="Text Box 18">
            <a:extLst>
              <a:ext uri="{FF2B5EF4-FFF2-40B4-BE49-F238E27FC236}">
                <a16:creationId xmlns:a16="http://schemas.microsoft.com/office/drawing/2014/main" id="{9A8214E9-BA24-C1CD-FE2E-59471D8D7178}"/>
              </a:ext>
            </a:extLst>
          </p:cNvPr>
          <p:cNvSpPr txBox="1"/>
          <p:nvPr/>
        </p:nvSpPr>
        <p:spPr>
          <a:xfrm>
            <a:off x="540588" y="2650501"/>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the inventory adjustment – main window, search the transaction you want to delete.</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inventory adjustment - main form, click the lookup button and select the transaction you want to delete.</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delete button.</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94EC8BBB-ABF4-E5BD-2132-C9FFD3FADA25}"/>
              </a:ext>
            </a:extLst>
          </p:cNvPr>
          <p:cNvSpPr txBox="1"/>
          <p:nvPr/>
        </p:nvSpPr>
        <p:spPr>
          <a:xfrm>
            <a:off x="867115" y="1343662"/>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How To Delete Inventory Adjustment Transaction?</a:t>
            </a:r>
            <a:endParaRPr lang="en-US" sz="1400" dirty="0">
              <a:solidFill>
                <a:srgbClr val="007434"/>
              </a:solidFill>
              <a:latin typeface="Calibri Light" panose="020F0302020204030204" pitchFamily="34" charset="0"/>
              <a:cs typeface="Calibri Light" panose="020F0302020204030204" pitchFamily="34" charset="0"/>
            </a:endParaRPr>
          </a:p>
        </p:txBody>
      </p:sp>
      <p:grpSp>
        <p:nvGrpSpPr>
          <p:cNvPr id="7" name="Group 6">
            <a:extLst>
              <a:ext uri="{FF2B5EF4-FFF2-40B4-BE49-F238E27FC236}">
                <a16:creationId xmlns:a16="http://schemas.microsoft.com/office/drawing/2014/main" id="{160AF1FF-2E4F-E831-E927-005CD28150FB}"/>
              </a:ext>
            </a:extLst>
          </p:cNvPr>
          <p:cNvGrpSpPr/>
          <p:nvPr/>
        </p:nvGrpSpPr>
        <p:grpSpPr>
          <a:xfrm>
            <a:off x="5906426" y="1454983"/>
            <a:ext cx="1556330" cy="289950"/>
            <a:chOff x="0" y="0"/>
            <a:chExt cx="1476374" cy="333375"/>
          </a:xfrm>
        </p:grpSpPr>
        <p:sp>
          <p:nvSpPr>
            <p:cNvPr id="8" name="Rectangle 7">
              <a:extLst>
                <a:ext uri="{FF2B5EF4-FFF2-40B4-BE49-F238E27FC236}">
                  <a16:creationId xmlns:a16="http://schemas.microsoft.com/office/drawing/2014/main" id="{8F6DBE5C-F18B-6747-FAE4-37A6801694AA}"/>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9" name="Straight Arrow Connector 8">
              <a:extLst>
                <a:ext uri="{FF2B5EF4-FFF2-40B4-BE49-F238E27FC236}">
                  <a16:creationId xmlns:a16="http://schemas.microsoft.com/office/drawing/2014/main" id="{F68E1B5A-8FBF-6ADA-4C2F-A52DF3F9399E}"/>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 Box 734">
              <a:extLst>
                <a:ext uri="{FF2B5EF4-FFF2-40B4-BE49-F238E27FC236}">
                  <a16:creationId xmlns:a16="http://schemas.microsoft.com/office/drawing/2014/main" id="{C688206B-DE4B-EBB4-9229-91325F8FB233}"/>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1.1.</a:t>
              </a:r>
            </a:p>
          </p:txBody>
        </p:sp>
      </p:grpSp>
      <p:sp>
        <p:nvSpPr>
          <p:cNvPr id="11" name="TextBox 10">
            <a:extLst>
              <a:ext uri="{FF2B5EF4-FFF2-40B4-BE49-F238E27FC236}">
                <a16:creationId xmlns:a16="http://schemas.microsoft.com/office/drawing/2014/main" id="{DCB8F23C-9BFF-5E66-AE38-D531B7AFD2F6}"/>
              </a:ext>
            </a:extLst>
          </p:cNvPr>
          <p:cNvSpPr txBox="1"/>
          <p:nvPr/>
        </p:nvSpPr>
        <p:spPr>
          <a:xfrm>
            <a:off x="7545146" y="2650501"/>
            <a:ext cx="2681929"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Inventory Adjustment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15" name="Group 14">
            <a:extLst>
              <a:ext uri="{FF2B5EF4-FFF2-40B4-BE49-F238E27FC236}">
                <a16:creationId xmlns:a16="http://schemas.microsoft.com/office/drawing/2014/main" id="{BECBBCB1-EBBB-6ACC-EC37-87EC4B89AF3A}"/>
              </a:ext>
            </a:extLst>
          </p:cNvPr>
          <p:cNvGrpSpPr/>
          <p:nvPr/>
        </p:nvGrpSpPr>
        <p:grpSpPr>
          <a:xfrm>
            <a:off x="6308353" y="3852108"/>
            <a:ext cx="952500" cy="304800"/>
            <a:chOff x="523874" y="28575"/>
            <a:chExt cx="952500" cy="304800"/>
          </a:xfrm>
        </p:grpSpPr>
        <p:sp>
          <p:nvSpPr>
            <p:cNvPr id="22" name="Rectangle 21">
              <a:extLst>
                <a:ext uri="{FF2B5EF4-FFF2-40B4-BE49-F238E27FC236}">
                  <a16:creationId xmlns:a16="http://schemas.microsoft.com/office/drawing/2014/main" id="{8B329044-556F-1FCA-4C3D-8C2B46D05781}"/>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3" name="Straight Arrow Connector 22">
              <a:extLst>
                <a:ext uri="{FF2B5EF4-FFF2-40B4-BE49-F238E27FC236}">
                  <a16:creationId xmlns:a16="http://schemas.microsoft.com/office/drawing/2014/main" id="{E2BAB1B4-C719-6BCD-752E-27B18D511D9F}"/>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 Box 746">
              <a:extLst>
                <a:ext uri="{FF2B5EF4-FFF2-40B4-BE49-F238E27FC236}">
                  <a16:creationId xmlns:a16="http://schemas.microsoft.com/office/drawing/2014/main" id="{6A201AC3-5203-CDA1-E463-EAD0879818F9}"/>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1.2.</a:t>
              </a:r>
            </a:p>
          </p:txBody>
        </p:sp>
      </p:grpSp>
      <p:grpSp>
        <p:nvGrpSpPr>
          <p:cNvPr id="16" name="Group 15">
            <a:extLst>
              <a:ext uri="{FF2B5EF4-FFF2-40B4-BE49-F238E27FC236}">
                <a16:creationId xmlns:a16="http://schemas.microsoft.com/office/drawing/2014/main" id="{3C9642A6-6E87-F427-42A8-5FEA40E17EA4}"/>
              </a:ext>
            </a:extLst>
          </p:cNvPr>
          <p:cNvGrpSpPr/>
          <p:nvPr/>
        </p:nvGrpSpPr>
        <p:grpSpPr>
          <a:xfrm>
            <a:off x="8123148" y="3574138"/>
            <a:ext cx="981076" cy="304800"/>
            <a:chOff x="-1819885" y="25144"/>
            <a:chExt cx="981076" cy="304800"/>
          </a:xfrm>
        </p:grpSpPr>
        <p:sp>
          <p:nvSpPr>
            <p:cNvPr id="19" name="Rectangle 18">
              <a:extLst>
                <a:ext uri="{FF2B5EF4-FFF2-40B4-BE49-F238E27FC236}">
                  <a16:creationId xmlns:a16="http://schemas.microsoft.com/office/drawing/2014/main" id="{752C1C19-203C-E339-B22B-4E5BD7495C83}"/>
                </a:ext>
              </a:extLst>
            </p:cNvPr>
            <p:cNvSpPr/>
            <p:nvPr/>
          </p:nvSpPr>
          <p:spPr>
            <a:xfrm>
              <a:off x="-1819885" y="25144"/>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0" name="Straight Arrow Connector 19">
              <a:extLst>
                <a:ext uri="{FF2B5EF4-FFF2-40B4-BE49-F238E27FC236}">
                  <a16:creationId xmlns:a16="http://schemas.microsoft.com/office/drawing/2014/main" id="{B8D5B66C-C746-1772-0B7F-E9A0D74661C2}"/>
                </a:ext>
              </a:extLst>
            </p:cNvPr>
            <p:cNvCxnSpPr/>
            <p:nvPr/>
          </p:nvCxnSpPr>
          <p:spPr>
            <a:xfrm>
              <a:off x="-1353159" y="129919"/>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 Box 739">
              <a:extLst>
                <a:ext uri="{FF2B5EF4-FFF2-40B4-BE49-F238E27FC236}">
                  <a16:creationId xmlns:a16="http://schemas.microsoft.com/office/drawing/2014/main" id="{A834782D-34D3-17C8-3F49-378E76FC034E}"/>
                </a:ext>
              </a:extLst>
            </p:cNvPr>
            <p:cNvSpPr txBox="1"/>
            <p:nvPr/>
          </p:nvSpPr>
          <p:spPr>
            <a:xfrm>
              <a:off x="-1143609" y="25144"/>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2.</a:t>
              </a:r>
            </a:p>
          </p:txBody>
        </p:sp>
      </p:grpSp>
      <p:sp>
        <p:nvSpPr>
          <p:cNvPr id="17" name="Text Box 241">
            <a:extLst>
              <a:ext uri="{FF2B5EF4-FFF2-40B4-BE49-F238E27FC236}">
                <a16:creationId xmlns:a16="http://schemas.microsoft.com/office/drawing/2014/main" id="{89D2ECA7-EE61-AD80-B847-9A793A2CCF37}"/>
              </a:ext>
            </a:extLst>
          </p:cNvPr>
          <p:cNvSpPr txBox="1">
            <a:spLocks noChangeArrowheads="1"/>
          </p:cNvSpPr>
          <p:nvPr/>
        </p:nvSpPr>
        <p:spPr bwMode="auto">
          <a:xfrm>
            <a:off x="7127355" y="4595547"/>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transaction?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ct val="115000"/>
              </a:lnSpc>
              <a:spcBef>
                <a:spcPts val="0"/>
              </a:spcBef>
              <a:spcAft>
                <a:spcPts val="0"/>
              </a:spcAft>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ts val="975"/>
              </a:lnSpc>
              <a:spcBef>
                <a:spcPts val="5"/>
              </a:spcBef>
              <a:spcAft>
                <a:spcPts val="0"/>
              </a:spcAft>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search.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202565" marR="0" indent="-101600">
              <a:lnSpc>
                <a:spcPts val="975"/>
              </a:lnSpc>
              <a:spcBef>
                <a:spcPts val="0"/>
              </a:spcBef>
              <a:spcAft>
                <a:spcPts val="0"/>
              </a:spcAft>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 Box 735">
            <a:extLst>
              <a:ext uri="{FF2B5EF4-FFF2-40B4-BE49-F238E27FC236}">
                <a16:creationId xmlns:a16="http://schemas.microsoft.com/office/drawing/2014/main" id="{A67B3D76-837D-F8CB-D93F-D92AA839DA33}"/>
              </a:ext>
            </a:extLst>
          </p:cNvPr>
          <p:cNvSpPr txBox="1"/>
          <p:nvPr/>
        </p:nvSpPr>
        <p:spPr>
          <a:xfrm>
            <a:off x="4906673" y="3355030"/>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sp>
        <p:nvSpPr>
          <p:cNvPr id="25" name="TextBox 24">
            <a:extLst>
              <a:ext uri="{FF2B5EF4-FFF2-40B4-BE49-F238E27FC236}">
                <a16:creationId xmlns:a16="http://schemas.microsoft.com/office/drawing/2014/main" id="{2F1761A6-5D92-3617-C69B-7E59EEF34D97}"/>
              </a:ext>
            </a:extLst>
          </p:cNvPr>
          <p:cNvSpPr txBox="1"/>
          <p:nvPr/>
        </p:nvSpPr>
        <p:spPr>
          <a:xfrm>
            <a:off x="7545146" y="6140576"/>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Inventory Adjustment – Main </a:t>
            </a:r>
            <a:r>
              <a:rPr lang="en-PH" sz="1200" b="1" dirty="0">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371622A-0377-8D03-0F62-9C3887185D6F}"/>
              </a:ext>
            </a:extLst>
          </p:cNvPr>
          <p:cNvSpPr txBox="1"/>
          <p:nvPr/>
        </p:nvSpPr>
        <p:spPr>
          <a:xfrm>
            <a:off x="594804" y="123167"/>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Inventory Adjustment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4" name="Slide Number Placeholder 9">
            <a:extLst>
              <a:ext uri="{FF2B5EF4-FFF2-40B4-BE49-F238E27FC236}">
                <a16:creationId xmlns:a16="http://schemas.microsoft.com/office/drawing/2014/main" id="{D61DCF72-4D2E-D468-9AD2-0B043254C918}"/>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682675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Other Information</a:t>
            </a:r>
            <a:endParaRPr lang="en-US" sz="1600" dirty="0">
              <a:solidFill>
                <a:srgbClr val="007434"/>
              </a:solidFill>
              <a:latin typeface="Calibri Light" panose="020F0302020204030204" pitchFamily="34" charset="0"/>
              <a:cs typeface="Calibri Light" panose="020F0302020204030204" pitchFamily="34" charset="0"/>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805109" y="4516141"/>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Other Buttons</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589414"/>
            <a:ext cx="3852820" cy="2121974"/>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a:lnSpc>
                <a:spcPct val="107000"/>
              </a:lnSpc>
              <a:spcBef>
                <a:spcPts val="19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Inventory Adjustment – main form will be minimize and the other information will be displayed as shown in the photo below.</a:t>
            </a:r>
          </a:p>
          <a:p>
            <a:pPr marL="0" marR="227330">
              <a:lnSpc>
                <a:spcPct val="107000"/>
              </a:lnSpc>
              <a:spcBef>
                <a:spcPts val="19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227330">
              <a:lnSpc>
                <a:spcPct val="107000"/>
              </a:lnSpc>
              <a:spcBef>
                <a:spcPts val="190"/>
              </a:spcBef>
              <a:spcAft>
                <a:spcPts val="80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96E78E19-4025-2CF4-0152-5EE4A8E0C0E1}"/>
              </a:ext>
            </a:extLst>
          </p:cNvPr>
          <p:cNvPicPr>
            <a:picLocks noChangeAspect="1"/>
          </p:cNvPicPr>
          <p:nvPr/>
        </p:nvPicPr>
        <p:blipFill>
          <a:blip r:embed="rId3"/>
          <a:stretch>
            <a:fillRect/>
          </a:stretch>
        </p:blipFill>
        <p:spPr>
          <a:xfrm>
            <a:off x="5278170" y="2106525"/>
            <a:ext cx="6108721" cy="280440"/>
          </a:xfrm>
          <a:prstGeom prst="rect">
            <a:avLst/>
          </a:prstGeom>
        </p:spPr>
      </p:pic>
      <p:graphicFrame>
        <p:nvGraphicFramePr>
          <p:cNvPr id="9" name="Table 8">
            <a:extLst>
              <a:ext uri="{FF2B5EF4-FFF2-40B4-BE49-F238E27FC236}">
                <a16:creationId xmlns:a16="http://schemas.microsoft.com/office/drawing/2014/main" id="{2CC38310-1171-651E-3978-D224B3AE1462}"/>
              </a:ext>
            </a:extLst>
          </p:cNvPr>
          <p:cNvGraphicFramePr>
            <a:graphicFrameLocks noGrp="1"/>
          </p:cNvGraphicFramePr>
          <p:nvPr/>
        </p:nvGraphicFramePr>
        <p:xfrm>
          <a:off x="5362815" y="2852637"/>
          <a:ext cx="6186170" cy="2670175"/>
        </p:xfrm>
        <a:graphic>
          <a:graphicData uri="http://schemas.openxmlformats.org/drawingml/2006/table">
            <a:tbl>
              <a:tblPr firstRow="1" firstCol="1" bandRow="1">
                <a:tableStyleId>{5940675A-B579-460E-94D1-54222C63F5DA}</a:tableStyleId>
              </a:tblPr>
              <a:tblGrid>
                <a:gridCol w="993597">
                  <a:extLst>
                    <a:ext uri="{9D8B030D-6E8A-4147-A177-3AD203B41FA5}">
                      <a16:colId xmlns:a16="http://schemas.microsoft.com/office/drawing/2014/main" val="3415315536"/>
                    </a:ext>
                  </a:extLst>
                </a:gridCol>
                <a:gridCol w="1171852">
                  <a:extLst>
                    <a:ext uri="{9D8B030D-6E8A-4147-A177-3AD203B41FA5}">
                      <a16:colId xmlns:a16="http://schemas.microsoft.com/office/drawing/2014/main" val="906130530"/>
                    </a:ext>
                  </a:extLst>
                </a:gridCol>
                <a:gridCol w="4020721">
                  <a:extLst>
                    <a:ext uri="{9D8B030D-6E8A-4147-A177-3AD203B41FA5}">
                      <a16:colId xmlns:a16="http://schemas.microsoft.com/office/drawing/2014/main" val="1098265409"/>
                    </a:ext>
                  </a:extLst>
                </a:gridCol>
              </a:tblGrid>
              <a:tr h="33655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Print Button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PH" sz="900" dirty="0">
                          <a:effectLst/>
                        </a:rPr>
                        <a:t>Print button is use to print transaction.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5848879"/>
                  </a:ext>
                </a:extLst>
              </a:tr>
              <a:tr h="365125">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Logs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Logs Button is use to monitor the activities made in the module.</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98493135"/>
                  </a:ext>
                </a:extLst>
              </a:tr>
              <a:tr h="393700">
                <a:tc>
                  <a:txBody>
                    <a:bodyPr/>
                    <a:lstStyle/>
                    <a:p>
                      <a:pPr>
                        <a:lnSpc>
                          <a:spcPct val="107000"/>
                        </a:lnSpc>
                        <a:spcAft>
                          <a:spcPts val="800"/>
                        </a:spcAft>
                        <a:tabLst>
                          <a:tab pos="1162050" algn="l"/>
                        </a:tabLst>
                      </a:pP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Lock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Lock button is use to lock the transaction to refrain from changing the details in the transaction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94974876"/>
                  </a:ext>
                </a:extLst>
              </a:tr>
              <a:tr h="39370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Back to Listing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Back to Listing Button is use to go back from main form to main window</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71412428"/>
                  </a:ext>
                </a:extLst>
              </a:tr>
              <a:tr h="39370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Hide Head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Hide Head Button is use to minimize the main form.</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99672917"/>
                  </a:ext>
                </a:extLst>
              </a:tr>
              <a:tr h="393700">
                <a:tc>
                  <a:txBody>
                    <a:bodyPr/>
                    <a:lstStyle/>
                    <a:p>
                      <a:pPr>
                        <a:lnSpc>
                          <a:spcPct val="107000"/>
                        </a:lnSpc>
                        <a:spcAft>
                          <a:spcPts val="800"/>
                        </a:spcAft>
                        <a:tabLst>
                          <a:tab pos="1162050" algn="l"/>
                        </a:tabLs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Full Screen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Full Screen Button is use to allow the main form to full screen.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4682782"/>
                  </a:ext>
                </a:extLst>
              </a:tr>
              <a:tr h="393700">
                <a:tc>
                  <a:txBody>
                    <a:bodyPr/>
                    <a:lstStyle/>
                    <a:p>
                      <a:pPr>
                        <a:lnSpc>
                          <a:spcPct val="107000"/>
                        </a:lnSpc>
                        <a:spcAft>
                          <a:spcPts val="800"/>
                        </a:spcAft>
                        <a:tabLst>
                          <a:tab pos="1162050" algn="l"/>
                        </a:tabLs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Open New Tab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Open New Tab Button is use to open new tab module you currently using.</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3038834"/>
                  </a:ext>
                </a:extLst>
              </a:tr>
            </a:tbl>
          </a:graphicData>
        </a:graphic>
      </p:graphicFrame>
      <p:pic>
        <p:nvPicPr>
          <p:cNvPr id="2055" name="Picture 91">
            <a:extLst>
              <a:ext uri="{FF2B5EF4-FFF2-40B4-BE49-F238E27FC236}">
                <a16:creationId xmlns:a16="http://schemas.microsoft.com/office/drawing/2014/main" id="{3938FAF1-901C-1849-ADB2-1B95F1F970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7243" y="2871953"/>
            <a:ext cx="866775" cy="2857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92">
            <a:extLst>
              <a:ext uri="{FF2B5EF4-FFF2-40B4-BE49-F238E27FC236}">
                <a16:creationId xmlns:a16="http://schemas.microsoft.com/office/drawing/2014/main" id="{1611F7B4-4D21-E1B1-616F-DAFC192AAB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8536" y="3225623"/>
            <a:ext cx="866775" cy="2857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93">
            <a:extLst>
              <a:ext uri="{FF2B5EF4-FFF2-40B4-BE49-F238E27FC236}">
                <a16:creationId xmlns:a16="http://schemas.microsoft.com/office/drawing/2014/main" id="{7897DD70-24B4-F416-F0F6-E59F74E040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0601" y="4006165"/>
            <a:ext cx="846137" cy="28575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94">
            <a:extLst>
              <a:ext uri="{FF2B5EF4-FFF2-40B4-BE49-F238E27FC236}">
                <a16:creationId xmlns:a16="http://schemas.microsoft.com/office/drawing/2014/main" id="{AEF9AD98-279B-982E-3454-92C107FD52B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5044" y="4406259"/>
            <a:ext cx="838200" cy="28575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96">
            <a:extLst>
              <a:ext uri="{FF2B5EF4-FFF2-40B4-BE49-F238E27FC236}">
                <a16:creationId xmlns:a16="http://schemas.microsoft.com/office/drawing/2014/main" id="{C1F2970D-EEC7-6580-761C-EFA812B9FBB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20601" y="4806353"/>
            <a:ext cx="827087" cy="284163"/>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97">
            <a:extLst>
              <a:ext uri="{FF2B5EF4-FFF2-40B4-BE49-F238E27FC236}">
                <a16:creationId xmlns:a16="http://schemas.microsoft.com/office/drawing/2014/main" id="{DB98C824-E1DF-AB33-7C10-506CFCAE5C3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21248" y="5174247"/>
            <a:ext cx="817562" cy="284163"/>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329">
            <a:extLst>
              <a:ext uri="{FF2B5EF4-FFF2-40B4-BE49-F238E27FC236}">
                <a16:creationId xmlns:a16="http://schemas.microsoft.com/office/drawing/2014/main" id="{1EB27DB7-82D9-E3D3-D3F2-1DEE67711A5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28536" y="3580064"/>
            <a:ext cx="828675" cy="3429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57ED0D9-0948-4A52-DFC2-95F52E306EFF}"/>
              </a:ext>
            </a:extLst>
          </p:cNvPr>
          <p:cNvSpPr txBox="1"/>
          <p:nvPr/>
        </p:nvSpPr>
        <p:spPr>
          <a:xfrm>
            <a:off x="594804" y="123167"/>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Inventory Adjustment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pic>
        <p:nvPicPr>
          <p:cNvPr id="7" name="Picture 6">
            <a:extLst>
              <a:ext uri="{FF2B5EF4-FFF2-40B4-BE49-F238E27FC236}">
                <a16:creationId xmlns:a16="http://schemas.microsoft.com/office/drawing/2014/main" id="{F24C072E-854A-8265-96A4-0A53EED44AA7}"/>
              </a:ext>
            </a:extLst>
          </p:cNvPr>
          <p:cNvPicPr>
            <a:picLocks noChangeAspect="1"/>
          </p:cNvPicPr>
          <p:nvPr/>
        </p:nvPicPr>
        <p:blipFill>
          <a:blip r:embed="rId11"/>
          <a:stretch>
            <a:fillRect/>
          </a:stretch>
        </p:blipFill>
        <p:spPr>
          <a:xfrm>
            <a:off x="5362815" y="838049"/>
            <a:ext cx="5938459" cy="1202681"/>
          </a:xfrm>
          <a:prstGeom prst="rect">
            <a:avLst/>
          </a:prstGeom>
        </p:spPr>
      </p:pic>
      <p:sp>
        <p:nvSpPr>
          <p:cNvPr id="2" name="Slide Number Placeholder 9">
            <a:extLst>
              <a:ext uri="{FF2B5EF4-FFF2-40B4-BE49-F238E27FC236}">
                <a16:creationId xmlns:a16="http://schemas.microsoft.com/office/drawing/2014/main" id="{E9E04169-14E2-C8A9-E586-D5161AFAC1B0}"/>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5321909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1043</Words>
  <Application>Microsoft Office PowerPoint</Application>
  <PresentationFormat>Widescreen</PresentationFormat>
  <Paragraphs>170</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Animosa Extra Bold</vt:lpstr>
      <vt:lpstr>Arial</vt:lpstr>
      <vt:lpstr>Bodoni MT Condensed</vt:lpstr>
      <vt:lpstr>Calibri</vt:lpstr>
      <vt:lpstr>Calibri Light</vt:lpstr>
      <vt:lpstr>Century Gothic</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2</cp:revision>
  <dcterms:created xsi:type="dcterms:W3CDTF">2023-01-10T07:01:46Z</dcterms:created>
  <dcterms:modified xsi:type="dcterms:W3CDTF">2023-01-10T07:02:19Z</dcterms:modified>
</cp:coreProperties>
</file>