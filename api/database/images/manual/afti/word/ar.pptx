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9" r:id="rId2"/>
    <p:sldId id="280" r:id="rId3"/>
    <p:sldId id="281" r:id="rId4"/>
    <p:sldId id="282" r:id="rId5"/>
    <p:sldId id="283" r:id="rId6"/>
    <p:sldId id="284" r:id="rId7"/>
    <p:sldId id="285" r:id="rId8"/>
    <p:sldId id="286" r:id="rId9"/>
    <p:sldId id="287" r:id="rId10"/>
    <p:sldId id="28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5T07:03:13.387"/>
    </inkml:context>
    <inkml:brush xml:id="br0">
      <inkml:brushProperty name="width" value="0.05" units="cm"/>
      <inkml:brushProperty name="height" value="0.05" units="cm"/>
    </inkml:brush>
  </inkml:definitions>
  <inkml:trace contextRef="#ctx0" brushRef="#br0">32 29 32767,'0'0'0,"0"7"0,-31-43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074972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82511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960910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717538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5633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831578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8273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897416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834914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46574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31259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1969632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NULL"/><Relationship Id="rId5" Type="http://schemas.openxmlformats.org/officeDocument/2006/relationships/customXml" Target="../ink/ink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2453143" y="1075473"/>
            <a:ext cx="7812291" cy="3046988"/>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Accounts Receivable Setup</a:t>
            </a:r>
            <a:endParaRPr kumimoji="0" lang="en-US" sz="96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A module where outstanding Accounts Receivable is setup per Customer given the cut off date when starting to use the system.</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4123989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EA824E-A2CD-C8AD-8976-C46F3D6DA896}"/>
              </a:ext>
            </a:extLst>
          </p:cNvPr>
          <p:cNvPicPr>
            <a:picLocks noChangeAspect="1"/>
          </p:cNvPicPr>
          <p:nvPr/>
        </p:nvPicPr>
        <p:blipFill>
          <a:blip r:embed="rId2"/>
          <a:stretch>
            <a:fillRect/>
          </a:stretch>
        </p:blipFill>
        <p:spPr>
          <a:xfrm>
            <a:off x="5278434" y="1661645"/>
            <a:ext cx="6549499" cy="2822645"/>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310217" y="116666"/>
            <a:ext cx="4876848" cy="646331"/>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Receivable Setup</a:t>
            </a:r>
            <a:r>
              <a:rPr kumimoji="0" lang="en-US"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106925"/>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579626"/>
            <a:ext cx="3887062" cy="1271768"/>
          </a:xfrm>
          <a:prstGeom prst="rect">
            <a:avLst/>
          </a:prstGeom>
          <a:noFill/>
          <a:ln w="6350">
            <a:solidFill>
              <a:schemeClr val="bg2"/>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PH"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Accounts Receivable Setup module under Receivables, Accounts Receivable Setup transactions list will display based on filtered date and status in the Accounts Receivable Setup - main window.</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126285" y="4959000"/>
            <a:ext cx="2552700" cy="47884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Accounts Receivable Setup–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2" name="Group 1">
            <a:extLst>
              <a:ext uri="{FF2B5EF4-FFF2-40B4-BE49-F238E27FC236}">
                <a16:creationId xmlns:a16="http://schemas.microsoft.com/office/drawing/2014/main" id="{B5663DEA-2538-703F-CA05-BE4608872A52}"/>
              </a:ext>
            </a:extLst>
          </p:cNvPr>
          <p:cNvGrpSpPr/>
          <p:nvPr/>
        </p:nvGrpSpPr>
        <p:grpSpPr>
          <a:xfrm>
            <a:off x="5254579" y="2798618"/>
            <a:ext cx="6392476" cy="1685672"/>
            <a:chOff x="67519" y="-68331"/>
            <a:chExt cx="6392964" cy="1685672"/>
          </a:xfrm>
        </p:grpSpPr>
        <p:sp>
          <p:nvSpPr>
            <p:cNvPr id="5" name="Rectangle 4">
              <a:extLst>
                <a:ext uri="{FF2B5EF4-FFF2-40B4-BE49-F238E27FC236}">
                  <a16:creationId xmlns:a16="http://schemas.microsoft.com/office/drawing/2014/main" id="{581705E1-30A3-69EE-A031-99236E39210B}"/>
                </a:ext>
              </a:extLst>
            </p:cNvPr>
            <p:cNvSpPr/>
            <p:nvPr/>
          </p:nvSpPr>
          <p:spPr>
            <a:xfrm>
              <a:off x="1009243" y="-68331"/>
              <a:ext cx="5451240" cy="16856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54A77C2-6DCB-E888-15CC-C0FBCCB7346F}"/>
                </a:ext>
              </a:extLst>
            </p:cNvPr>
            <p:cNvSpPr/>
            <p:nvPr/>
          </p:nvSpPr>
          <p:spPr>
            <a:xfrm>
              <a:off x="67519" y="691513"/>
              <a:ext cx="841485" cy="1659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2" name="Slide Number Placeholder 9">
            <a:extLst>
              <a:ext uri="{FF2B5EF4-FFF2-40B4-BE49-F238E27FC236}">
                <a16:creationId xmlns:a16="http://schemas.microsoft.com/office/drawing/2014/main" id="{5604AD2D-C9EF-A4FB-EAE8-D0079B2FE9DB}"/>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6457A8EE-2DCF-295D-6279-AE270F71A924}"/>
              </a:ext>
            </a:extLst>
          </p:cNvPr>
          <p:cNvCxnSpPr>
            <a:cxnSpLocks/>
          </p:cNvCxnSpPr>
          <p:nvPr/>
        </p:nvCxnSpPr>
        <p:spPr>
          <a:xfrm>
            <a:off x="5942055" y="3734455"/>
            <a:ext cx="254176" cy="1169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70028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F5637ED-70B5-0AA6-4E6A-6EF9E88E5303}"/>
              </a:ext>
            </a:extLst>
          </p:cNvPr>
          <p:cNvPicPr>
            <a:picLocks noChangeAspect="1"/>
          </p:cNvPicPr>
          <p:nvPr/>
        </p:nvPicPr>
        <p:blipFill>
          <a:blip r:embed="rId2"/>
          <a:stretch>
            <a:fillRect/>
          </a:stretch>
        </p:blipFill>
        <p:spPr>
          <a:xfrm>
            <a:off x="5106907" y="3020054"/>
            <a:ext cx="6808003" cy="3106984"/>
          </a:xfrm>
          <a:prstGeom prst="rect">
            <a:avLst/>
          </a:prstGeom>
        </p:spPr>
      </p:pic>
      <p:pic>
        <p:nvPicPr>
          <p:cNvPr id="6" name="Picture 5">
            <a:extLst>
              <a:ext uri="{FF2B5EF4-FFF2-40B4-BE49-F238E27FC236}">
                <a16:creationId xmlns:a16="http://schemas.microsoft.com/office/drawing/2014/main" id="{575BC708-9B19-8B70-DE4E-3C4E3A1FC670}"/>
              </a:ext>
            </a:extLst>
          </p:cNvPr>
          <p:cNvPicPr>
            <a:picLocks noChangeAspect="1"/>
          </p:cNvPicPr>
          <p:nvPr/>
        </p:nvPicPr>
        <p:blipFill>
          <a:blip r:embed="rId3"/>
          <a:stretch>
            <a:fillRect/>
          </a:stretch>
        </p:blipFill>
        <p:spPr>
          <a:xfrm>
            <a:off x="5106907" y="1032769"/>
            <a:ext cx="6881659" cy="1427147"/>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Accounts Receivable Setup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19984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Accounts Receivable Setup – Main Window, you will notice a create button in the upper left of the window. Click the create button and you will be redirect Accounts Receivable Setup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1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customers. Search and select a customer</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t>
            </a: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24" name="Group 23">
            <a:extLst>
              <a:ext uri="{FF2B5EF4-FFF2-40B4-BE49-F238E27FC236}">
                <a16:creationId xmlns:a16="http://schemas.microsoft.com/office/drawing/2014/main" id="{01C188FE-D51D-015F-8F04-7AF5D38534BD}"/>
              </a:ext>
            </a:extLst>
          </p:cNvPr>
          <p:cNvGrpSpPr/>
          <p:nvPr/>
        </p:nvGrpSpPr>
        <p:grpSpPr>
          <a:xfrm>
            <a:off x="5266483" y="1376583"/>
            <a:ext cx="1209675" cy="276225"/>
            <a:chOff x="0" y="0"/>
            <a:chExt cx="1209675" cy="276225"/>
          </a:xfrm>
        </p:grpSpPr>
        <p:sp>
          <p:nvSpPr>
            <p:cNvPr id="25" name="Rectangle 24">
              <a:extLst>
                <a:ext uri="{FF2B5EF4-FFF2-40B4-BE49-F238E27FC236}">
                  <a16:creationId xmlns:a16="http://schemas.microsoft.com/office/drawing/2014/main" id="{BFB212D8-DF62-0776-94E6-532B5C91BC0D}"/>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9E0B250D-0AC6-19A4-54C3-EA078F809470}"/>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1196">
              <a:extLst>
                <a:ext uri="{FF2B5EF4-FFF2-40B4-BE49-F238E27FC236}">
                  <a16:creationId xmlns:a16="http://schemas.microsoft.com/office/drawing/2014/main" id="{27F3B889-DCB1-DACC-7A9A-00F37D8C32FF}"/>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nvGrpSpPr>
          <p:cNvPr id="16" name="Group 15">
            <a:extLst>
              <a:ext uri="{FF2B5EF4-FFF2-40B4-BE49-F238E27FC236}">
                <a16:creationId xmlns:a16="http://schemas.microsoft.com/office/drawing/2014/main" id="{80624E0C-81CE-5E53-2144-8ACEEC88C6AB}"/>
              </a:ext>
            </a:extLst>
          </p:cNvPr>
          <p:cNvGrpSpPr/>
          <p:nvPr/>
        </p:nvGrpSpPr>
        <p:grpSpPr>
          <a:xfrm>
            <a:off x="5584661" y="3944764"/>
            <a:ext cx="5571763" cy="1508078"/>
            <a:chOff x="457200" y="784746"/>
            <a:chExt cx="5571763" cy="1508078"/>
          </a:xfrm>
        </p:grpSpPr>
        <p:grpSp>
          <p:nvGrpSpPr>
            <p:cNvPr id="30" name="Group 29">
              <a:extLst>
                <a:ext uri="{FF2B5EF4-FFF2-40B4-BE49-F238E27FC236}">
                  <a16:creationId xmlns:a16="http://schemas.microsoft.com/office/drawing/2014/main" id="{EDA7FFD2-88FB-6913-0487-7362681F67DA}"/>
                </a:ext>
              </a:extLst>
            </p:cNvPr>
            <p:cNvGrpSpPr/>
            <p:nvPr/>
          </p:nvGrpSpPr>
          <p:grpSpPr>
            <a:xfrm>
              <a:off x="457200" y="784746"/>
              <a:ext cx="5571763" cy="487734"/>
              <a:chOff x="-4022453" y="183411"/>
              <a:chExt cx="5604480" cy="566290"/>
            </a:xfrm>
          </p:grpSpPr>
          <p:sp>
            <p:nvSpPr>
              <p:cNvPr id="32" name="Rectangle 31">
                <a:extLst>
                  <a:ext uri="{FF2B5EF4-FFF2-40B4-BE49-F238E27FC236}">
                    <a16:creationId xmlns:a16="http://schemas.microsoft.com/office/drawing/2014/main" id="{02BF04D5-5435-BC29-F01F-C642D592D00C}"/>
                  </a:ext>
                </a:extLst>
              </p:cNvPr>
              <p:cNvSpPr/>
              <p:nvPr/>
            </p:nvSpPr>
            <p:spPr>
              <a:xfrm>
                <a:off x="-4022453" y="384058"/>
                <a:ext cx="5326425"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497ACB03-F2B1-A9F1-EE9F-91966C0B1BEC}"/>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31">
                <a:extLst>
                  <a:ext uri="{FF2B5EF4-FFF2-40B4-BE49-F238E27FC236}">
                    <a16:creationId xmlns:a16="http://schemas.microsoft.com/office/drawing/2014/main" id="{792DA742-79A5-A9F8-CA0E-E801E829D275}"/>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31" name="Text Box 241">
              <a:extLst>
                <a:ext uri="{FF2B5EF4-FFF2-40B4-BE49-F238E27FC236}">
                  <a16:creationId xmlns:a16="http://schemas.microsoft.com/office/drawing/2014/main" id="{07C6D035-A7C4-94AD-0CA5-210FCE58767D}"/>
                </a:ext>
              </a:extLst>
            </p:cNvPr>
            <p:cNvSpPr txBox="1">
              <a:spLocks noChangeArrowheads="1"/>
            </p:cNvSpPr>
            <p:nvPr/>
          </p:nvSpPr>
          <p:spPr bwMode="auto">
            <a:xfrm>
              <a:off x="1419367" y="1317009"/>
              <a:ext cx="2786492" cy="97581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customer?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342900" algn="l" defTabSz="914400" rtl="0" eaLnBrk="1" fontAlgn="auto" latinLnBrk="0" hangingPunct="1">
                <a:lnSpc>
                  <a:spcPct val="115000"/>
                </a:lnSpc>
                <a:spcBef>
                  <a:spcPts val="0"/>
                </a:spcBef>
                <a:spcAft>
                  <a:spcPts val="0"/>
                </a:spcAft>
                <a:buClrTx/>
                <a:buSzPts val="800"/>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customer</a:t>
              </a:r>
              <a:r>
                <a:rPr lang="en-US" sz="8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name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342900" algn="l" defTabSz="914400" rtl="0" eaLnBrk="1" fontAlgn="auto" latinLnBrk="0" hangingPunct="1">
                <a:lnSpc>
                  <a:spcPts val="975"/>
                </a:lnSpc>
                <a:spcBef>
                  <a:spcPts val="5"/>
                </a:spcBef>
                <a:spcAft>
                  <a:spcPts val="0"/>
                </a:spcAft>
                <a:buClrTx/>
                <a:buSzPts val="800"/>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342900" algn="l" defTabSz="914400" rtl="0" eaLnBrk="1" fontAlgn="auto" latinLnBrk="0" hangingPunct="1">
                <a:lnSpc>
                  <a:spcPts val="975"/>
                </a:lnSpc>
                <a:spcBef>
                  <a:spcPts val="0"/>
                </a:spcBef>
                <a:spcAft>
                  <a:spcPts val="0"/>
                </a:spcAft>
                <a:buClrTx/>
                <a:buSzPts val="800"/>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customer.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35" name="Text Box 1197">
            <a:extLst>
              <a:ext uri="{FF2B5EF4-FFF2-40B4-BE49-F238E27FC236}">
                <a16:creationId xmlns:a16="http://schemas.microsoft.com/office/drawing/2014/main" id="{43122292-BD35-48F3-6B03-509A04780B35}"/>
              </a:ext>
            </a:extLst>
          </p:cNvPr>
          <p:cNvSpPr txBox="1"/>
          <p:nvPr/>
        </p:nvSpPr>
        <p:spPr>
          <a:xfrm>
            <a:off x="805110" y="3944974"/>
            <a:ext cx="3914825" cy="126313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customer, you will be redirect in Accounts Receivable Setup – main form where you will encode the other necessary information of the transaction and record the journal entry</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8DC69C6-E34F-30AD-B540-DA5BD0A871EA}"/>
              </a:ext>
            </a:extLst>
          </p:cNvPr>
          <p:cNvSpPr txBox="1"/>
          <p:nvPr/>
        </p:nvSpPr>
        <p:spPr>
          <a:xfrm>
            <a:off x="297037" y="101465"/>
            <a:ext cx="4928370" cy="646331"/>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Receivable Setup</a:t>
            </a:r>
            <a:r>
              <a:rPr kumimoji="0" lang="en-US"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1485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C667E247-2162-287F-AE46-D3C8A1E5A7B0}"/>
              </a:ext>
            </a:extLst>
          </p:cNvPr>
          <p:cNvPicPr>
            <a:picLocks noChangeAspect="1"/>
          </p:cNvPicPr>
          <p:nvPr/>
        </p:nvPicPr>
        <p:blipFill>
          <a:blip r:embed="rId2"/>
          <a:stretch>
            <a:fillRect/>
          </a:stretch>
        </p:blipFill>
        <p:spPr>
          <a:xfrm>
            <a:off x="5904240" y="3812358"/>
            <a:ext cx="5141094" cy="2501243"/>
          </a:xfrm>
          <a:prstGeom prst="rect">
            <a:avLst/>
          </a:prstGeom>
        </p:spPr>
      </p:pic>
      <p:pic>
        <p:nvPicPr>
          <p:cNvPr id="16" name="Picture 15">
            <a:extLst>
              <a:ext uri="{FF2B5EF4-FFF2-40B4-BE49-F238E27FC236}">
                <a16:creationId xmlns:a16="http://schemas.microsoft.com/office/drawing/2014/main" id="{AD4D9DB5-8C21-3DF7-F5AB-2AA2DB3822D0}"/>
              </a:ext>
            </a:extLst>
          </p:cNvPr>
          <p:cNvPicPr>
            <a:picLocks noChangeAspect="1"/>
          </p:cNvPicPr>
          <p:nvPr/>
        </p:nvPicPr>
        <p:blipFill>
          <a:blip r:embed="rId3"/>
          <a:stretch>
            <a:fillRect/>
          </a:stretch>
        </p:blipFill>
        <p:spPr>
          <a:xfrm>
            <a:off x="5524505" y="694669"/>
            <a:ext cx="6135210" cy="2987710"/>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Accounts Receivable Setup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5" name="Text Box 1209">
            <a:extLst>
              <a:ext uri="{FF2B5EF4-FFF2-40B4-BE49-F238E27FC236}">
                <a16:creationId xmlns:a16="http://schemas.microsoft.com/office/drawing/2014/main" id="{4F5C4C4B-FEE4-25C5-466D-F7C19DFEE41D}"/>
              </a:ext>
            </a:extLst>
          </p:cNvPr>
          <p:cNvSpPr txBox="1"/>
          <p:nvPr/>
        </p:nvSpPr>
        <p:spPr>
          <a:xfrm>
            <a:off x="504182" y="1618330"/>
            <a:ext cx="3914825" cy="215394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customer, some details such as address, date are automatically plotted in their respective field.</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current date is also plotted automatically but if you wish to change the date – click the date picker and select its respective date.</a:t>
            </a: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4.3</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add the necessary information if necessary and fill out required fields.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4.4 </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6" name="Group 5">
            <a:extLst>
              <a:ext uri="{FF2B5EF4-FFF2-40B4-BE49-F238E27FC236}">
                <a16:creationId xmlns:a16="http://schemas.microsoft.com/office/drawing/2014/main" id="{921662EE-7930-6611-ACC8-9E97BB60BB01}"/>
              </a:ext>
            </a:extLst>
          </p:cNvPr>
          <p:cNvGrpSpPr/>
          <p:nvPr/>
        </p:nvGrpSpPr>
        <p:grpSpPr>
          <a:xfrm>
            <a:off x="4715356" y="977161"/>
            <a:ext cx="6675756" cy="2623670"/>
            <a:chOff x="0" y="386303"/>
            <a:chExt cx="6675935" cy="2624166"/>
          </a:xfrm>
        </p:grpSpPr>
        <p:sp>
          <p:nvSpPr>
            <p:cNvPr id="8" name="Rectangle 7">
              <a:extLst>
                <a:ext uri="{FF2B5EF4-FFF2-40B4-BE49-F238E27FC236}">
                  <a16:creationId xmlns:a16="http://schemas.microsoft.com/office/drawing/2014/main" id="{1A224AB9-0FD4-0EFE-4078-5AD10F187D8C}"/>
                </a:ext>
              </a:extLst>
            </p:cNvPr>
            <p:cNvSpPr/>
            <p:nvPr/>
          </p:nvSpPr>
          <p:spPr>
            <a:xfrm>
              <a:off x="818866" y="709683"/>
              <a:ext cx="5822950" cy="112576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4C4C6A03-0F12-B33F-3878-E659E54D603B}"/>
                </a:ext>
              </a:extLst>
            </p:cNvPr>
            <p:cNvSpPr/>
            <p:nvPr/>
          </p:nvSpPr>
          <p:spPr>
            <a:xfrm>
              <a:off x="852985" y="2095519"/>
              <a:ext cx="5822950" cy="91495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 Box 1208">
              <a:extLst>
                <a:ext uri="{FF2B5EF4-FFF2-40B4-BE49-F238E27FC236}">
                  <a16:creationId xmlns:a16="http://schemas.microsoft.com/office/drawing/2014/main" id="{D8482B7D-CD7B-F4AC-58D4-7D89ECBEF6C3}"/>
                </a:ext>
              </a:extLst>
            </p:cNvPr>
            <p:cNvSpPr txBox="1"/>
            <p:nvPr/>
          </p:nvSpPr>
          <p:spPr>
            <a:xfrm>
              <a:off x="0" y="2490717"/>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11" name="Text Box 1202">
              <a:extLst>
                <a:ext uri="{FF2B5EF4-FFF2-40B4-BE49-F238E27FC236}">
                  <a16:creationId xmlns:a16="http://schemas.microsoft.com/office/drawing/2014/main" id="{A601481C-5941-6831-BF2A-1CCC7F565BD1}"/>
                </a:ext>
              </a:extLst>
            </p:cNvPr>
            <p:cNvSpPr txBox="1"/>
            <p:nvPr/>
          </p:nvSpPr>
          <p:spPr>
            <a:xfrm>
              <a:off x="27156" y="915885"/>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12" name="Text Box 1203">
              <a:extLst>
                <a:ext uri="{FF2B5EF4-FFF2-40B4-BE49-F238E27FC236}">
                  <a16:creationId xmlns:a16="http://schemas.microsoft.com/office/drawing/2014/main" id="{5540C61A-CEB6-93FF-A550-B5C7C909AB43}"/>
                </a:ext>
              </a:extLst>
            </p:cNvPr>
            <p:cNvSpPr txBox="1"/>
            <p:nvPr/>
          </p:nvSpPr>
          <p:spPr>
            <a:xfrm>
              <a:off x="5493818" y="1197049"/>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 to 4.3</a:t>
              </a:r>
            </a:p>
          </p:txBody>
        </p:sp>
        <p:sp>
          <p:nvSpPr>
            <p:cNvPr id="13" name="Rectangle 12">
              <a:extLst>
                <a:ext uri="{FF2B5EF4-FFF2-40B4-BE49-F238E27FC236}">
                  <a16:creationId xmlns:a16="http://schemas.microsoft.com/office/drawing/2014/main" id="{78AFD747-C0AE-1D75-D5A9-8F37B48F180B}"/>
                </a:ext>
              </a:extLst>
            </p:cNvPr>
            <p:cNvSpPr/>
            <p:nvPr/>
          </p:nvSpPr>
          <p:spPr>
            <a:xfrm>
              <a:off x="5209815" y="502309"/>
              <a:ext cx="413385" cy="1663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10A9453A-3872-9696-CC52-EE42ACD81370}"/>
                </a:ext>
              </a:extLst>
            </p:cNvPr>
            <p:cNvCxnSpPr/>
            <p:nvPr/>
          </p:nvCxnSpPr>
          <p:spPr>
            <a:xfrm>
              <a:off x="5598776" y="504872"/>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1199">
              <a:extLst>
                <a:ext uri="{FF2B5EF4-FFF2-40B4-BE49-F238E27FC236}">
                  <a16:creationId xmlns:a16="http://schemas.microsoft.com/office/drawing/2014/main" id="{D2E7551C-007F-4DE2-1316-152C183642D3}"/>
                </a:ext>
              </a:extLst>
            </p:cNvPr>
            <p:cNvSpPr txBox="1"/>
            <p:nvPr/>
          </p:nvSpPr>
          <p:spPr>
            <a:xfrm>
              <a:off x="5803493" y="38630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4.4</a:t>
              </a:r>
            </a:p>
          </p:txBody>
        </p:sp>
      </p:grpSp>
      <p:sp>
        <p:nvSpPr>
          <p:cNvPr id="3" name="Text Box 1210">
            <a:extLst>
              <a:ext uri="{FF2B5EF4-FFF2-40B4-BE49-F238E27FC236}">
                <a16:creationId xmlns:a16="http://schemas.microsoft.com/office/drawing/2014/main" id="{1CFF90FA-1377-7FA9-BD4C-5BD9C78BFC6F}"/>
              </a:ext>
            </a:extLst>
          </p:cNvPr>
          <p:cNvSpPr txBox="1"/>
          <p:nvPr/>
        </p:nvSpPr>
        <p:spPr>
          <a:xfrm>
            <a:off x="117984" y="4486387"/>
            <a:ext cx="4271904" cy="100336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saving the header, you may now add accounts by clicking add new account, search an account to add.</a:t>
            </a:r>
          </a:p>
          <a:p>
            <a:pPr marL="457200" marR="0" lvl="1"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03BC2A07-47A0-1365-7C1B-3F52494D221A}"/>
                  </a:ext>
                </a:extLst>
              </p14:cNvPr>
              <p14:cNvContentPartPr/>
              <p14:nvPr/>
            </p14:nvContentPartPr>
            <p14:xfrm>
              <a:off x="13443243" y="3058422"/>
              <a:ext cx="11880" cy="13320"/>
            </p14:xfrm>
          </p:contentPart>
        </mc:Choice>
        <mc:Fallback xmlns="">
          <p:pic>
            <p:nvPicPr>
              <p:cNvPr id="2" name="Ink 1">
                <a:extLst>
                  <a:ext uri="{FF2B5EF4-FFF2-40B4-BE49-F238E27FC236}">
                    <a16:creationId xmlns:a16="http://schemas.microsoft.com/office/drawing/2014/main" id="{03BC2A07-47A0-1365-7C1B-3F52494D221A}"/>
                  </a:ext>
                </a:extLst>
              </p:cNvPr>
              <p:cNvPicPr/>
              <p:nvPr/>
            </p:nvPicPr>
            <p:blipFill>
              <a:blip r:embed="rId6"/>
              <a:stretch>
                <a:fillRect/>
              </a:stretch>
            </p:blipFill>
            <p:spPr>
              <a:xfrm>
                <a:off x="13434603" y="3049422"/>
                <a:ext cx="29520" cy="30960"/>
              </a:xfrm>
              <a:prstGeom prst="rect">
                <a:avLst/>
              </a:prstGeom>
            </p:spPr>
          </p:pic>
        </mc:Fallback>
      </mc:AlternateContent>
      <p:sp>
        <p:nvSpPr>
          <p:cNvPr id="15" name="TextBox 14">
            <a:extLst>
              <a:ext uri="{FF2B5EF4-FFF2-40B4-BE49-F238E27FC236}">
                <a16:creationId xmlns:a16="http://schemas.microsoft.com/office/drawing/2014/main" id="{49965681-AD19-BC98-9BF2-B1A9449762F4}"/>
              </a:ext>
            </a:extLst>
          </p:cNvPr>
          <p:cNvSpPr txBox="1"/>
          <p:nvPr/>
        </p:nvSpPr>
        <p:spPr>
          <a:xfrm>
            <a:off x="242091" y="47800"/>
            <a:ext cx="4864816" cy="646331"/>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Receivable Setup</a:t>
            </a:r>
            <a:r>
              <a:rPr kumimoji="0" lang="en-US"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E4E2A4D2-E43C-008E-B31E-42862381E4BC}"/>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1470C954-5630-1A8F-2D69-3307CCEBB3AA}"/>
              </a:ext>
            </a:extLst>
          </p:cNvPr>
          <p:cNvSpPr/>
          <p:nvPr/>
        </p:nvSpPr>
        <p:spPr>
          <a:xfrm>
            <a:off x="9340229" y="4309719"/>
            <a:ext cx="566330" cy="20646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4" name="Straight Arrow Connector 23">
            <a:extLst>
              <a:ext uri="{FF2B5EF4-FFF2-40B4-BE49-F238E27FC236}">
                <a16:creationId xmlns:a16="http://schemas.microsoft.com/office/drawing/2014/main" id="{B94D8F5C-BB75-48E4-83A9-1B1A391EE20F}"/>
              </a:ext>
            </a:extLst>
          </p:cNvPr>
          <p:cNvCxnSpPr>
            <a:cxnSpLocks/>
          </p:cNvCxnSpPr>
          <p:nvPr/>
        </p:nvCxnSpPr>
        <p:spPr>
          <a:xfrm flipV="1">
            <a:off x="9920992" y="4412953"/>
            <a:ext cx="235238" cy="2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 Box 672">
            <a:extLst>
              <a:ext uri="{FF2B5EF4-FFF2-40B4-BE49-F238E27FC236}">
                <a16:creationId xmlns:a16="http://schemas.microsoft.com/office/drawing/2014/main" id="{35361D14-A60E-8D33-7D75-BA3498C3C926}"/>
              </a:ext>
            </a:extLst>
          </p:cNvPr>
          <p:cNvSpPr txBox="1"/>
          <p:nvPr/>
        </p:nvSpPr>
        <p:spPr>
          <a:xfrm>
            <a:off x="10151176" y="4295905"/>
            <a:ext cx="450038" cy="272231"/>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26" name="Curved Right Arrow 315">
            <a:extLst>
              <a:ext uri="{FF2B5EF4-FFF2-40B4-BE49-F238E27FC236}">
                <a16:creationId xmlns:a16="http://schemas.microsoft.com/office/drawing/2014/main" id="{4BBE0EA8-18F0-EDCF-5CF8-FFD14176E9BE}"/>
              </a:ext>
            </a:extLst>
          </p:cNvPr>
          <p:cNvSpPr/>
          <p:nvPr/>
        </p:nvSpPr>
        <p:spPr>
          <a:xfrm>
            <a:off x="8870593" y="4353941"/>
            <a:ext cx="450038" cy="39470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 Box 241">
            <a:extLst>
              <a:ext uri="{FF2B5EF4-FFF2-40B4-BE49-F238E27FC236}">
                <a16:creationId xmlns:a16="http://schemas.microsoft.com/office/drawing/2014/main" id="{7F56CDD1-0DFF-FD2B-AF2C-131C22558FD9}"/>
              </a:ext>
            </a:extLst>
          </p:cNvPr>
          <p:cNvSpPr txBox="1">
            <a:spLocks noChangeArrowheads="1"/>
          </p:cNvSpPr>
          <p:nvPr/>
        </p:nvSpPr>
        <p:spPr bwMode="auto">
          <a:xfrm>
            <a:off x="6026709" y="5101835"/>
            <a:ext cx="3311255" cy="705077"/>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an account?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account name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account.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1" name="Rectangle 30">
            <a:extLst>
              <a:ext uri="{FF2B5EF4-FFF2-40B4-BE49-F238E27FC236}">
                <a16:creationId xmlns:a16="http://schemas.microsoft.com/office/drawing/2014/main" id="{BFCE70CD-9BB2-FFF1-DD43-E3B265732F79}"/>
              </a:ext>
            </a:extLst>
          </p:cNvPr>
          <p:cNvSpPr/>
          <p:nvPr/>
        </p:nvSpPr>
        <p:spPr>
          <a:xfrm>
            <a:off x="6657669" y="4740729"/>
            <a:ext cx="2846549" cy="25883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5076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Accounts Receivable Setup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grpSp>
        <p:nvGrpSpPr>
          <p:cNvPr id="2" name="Group 1">
            <a:extLst>
              <a:ext uri="{FF2B5EF4-FFF2-40B4-BE49-F238E27FC236}">
                <a16:creationId xmlns:a16="http://schemas.microsoft.com/office/drawing/2014/main" id="{8C9B3553-3818-FBB2-832C-EE3C3A89E162}"/>
              </a:ext>
            </a:extLst>
          </p:cNvPr>
          <p:cNvGrpSpPr/>
          <p:nvPr/>
        </p:nvGrpSpPr>
        <p:grpSpPr>
          <a:xfrm>
            <a:off x="5372901" y="642052"/>
            <a:ext cx="6184900" cy="3636009"/>
            <a:chOff x="0" y="0"/>
            <a:chExt cx="6184900" cy="3636275"/>
          </a:xfrm>
        </p:grpSpPr>
        <p:pic>
          <p:nvPicPr>
            <p:cNvPr id="15" name="Picture 14">
              <a:extLst>
                <a:ext uri="{FF2B5EF4-FFF2-40B4-BE49-F238E27FC236}">
                  <a16:creationId xmlns:a16="http://schemas.microsoft.com/office/drawing/2014/main" id="{6E7B57B2-58D2-6358-C741-E3F3BBF0BD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184900" cy="3387725"/>
            </a:xfrm>
            <a:prstGeom prst="rect">
              <a:avLst/>
            </a:prstGeom>
          </p:spPr>
        </p:pic>
        <p:sp>
          <p:nvSpPr>
            <p:cNvPr id="16" name="Rectangle 15">
              <a:extLst>
                <a:ext uri="{FF2B5EF4-FFF2-40B4-BE49-F238E27FC236}">
                  <a16:creationId xmlns:a16="http://schemas.microsoft.com/office/drawing/2014/main" id="{E052F6BF-54CD-1A2F-9FCB-92A4CFA352A8}"/>
                </a:ext>
              </a:extLst>
            </p:cNvPr>
            <p:cNvSpPr/>
            <p:nvPr/>
          </p:nvSpPr>
          <p:spPr>
            <a:xfrm>
              <a:off x="1828800" y="1610436"/>
              <a:ext cx="2468245" cy="53273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352CB656-7214-17F3-E815-AB8C8CB7439C}"/>
                </a:ext>
              </a:extLst>
            </p:cNvPr>
            <p:cNvCxnSpPr/>
            <p:nvPr/>
          </p:nvCxnSpPr>
          <p:spPr>
            <a:xfrm>
              <a:off x="4339988" y="194736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 Box 1244">
              <a:extLst>
                <a:ext uri="{FF2B5EF4-FFF2-40B4-BE49-F238E27FC236}">
                  <a16:creationId xmlns:a16="http://schemas.microsoft.com/office/drawing/2014/main" id="{6EA3ED4A-DA1D-FCEA-17AE-A823F51853C6}"/>
                </a:ext>
              </a:extLst>
            </p:cNvPr>
            <p:cNvSpPr txBox="1"/>
            <p:nvPr/>
          </p:nvSpPr>
          <p:spPr>
            <a:xfrm>
              <a:off x="4524233" y="1774209"/>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sp>
          <p:nvSpPr>
            <p:cNvPr id="19" name="Rectangle 18">
              <a:extLst>
                <a:ext uri="{FF2B5EF4-FFF2-40B4-BE49-F238E27FC236}">
                  <a16:creationId xmlns:a16="http://schemas.microsoft.com/office/drawing/2014/main" id="{7DAF29C9-6C74-9070-4F12-746D3D14BF01}"/>
                </a:ext>
              </a:extLst>
            </p:cNvPr>
            <p:cNvSpPr/>
            <p:nvPr/>
          </p:nvSpPr>
          <p:spPr>
            <a:xfrm>
              <a:off x="1835624" y="2183642"/>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id="{E7ED09EC-4B5C-ED23-FE26-73494952B367}"/>
                </a:ext>
              </a:extLst>
            </p:cNvPr>
            <p:cNvCxnSpPr/>
            <p:nvPr/>
          </p:nvCxnSpPr>
          <p:spPr>
            <a:xfrm>
              <a:off x="4339988" y="2322678"/>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 Box 1242">
              <a:extLst>
                <a:ext uri="{FF2B5EF4-FFF2-40B4-BE49-F238E27FC236}">
                  <a16:creationId xmlns:a16="http://schemas.microsoft.com/office/drawing/2014/main" id="{5247DB89-6CF6-6830-5DB8-D764F0897872}"/>
                </a:ext>
              </a:extLst>
            </p:cNvPr>
            <p:cNvSpPr txBox="1"/>
            <p:nvPr/>
          </p:nvSpPr>
          <p:spPr>
            <a:xfrm>
              <a:off x="4524233" y="208810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8</a:t>
              </a:r>
            </a:p>
          </p:txBody>
        </p:sp>
        <p:sp>
          <p:nvSpPr>
            <p:cNvPr id="25" name="Rectangle 24">
              <a:extLst>
                <a:ext uri="{FF2B5EF4-FFF2-40B4-BE49-F238E27FC236}">
                  <a16:creationId xmlns:a16="http://schemas.microsoft.com/office/drawing/2014/main" id="{BF0EE75D-7935-8B10-8F9D-FB1176F197BC}"/>
                </a:ext>
              </a:extLst>
            </p:cNvPr>
            <p:cNvSpPr/>
            <p:nvPr/>
          </p:nvSpPr>
          <p:spPr>
            <a:xfrm>
              <a:off x="3521122" y="2954740"/>
              <a:ext cx="926275" cy="24938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E40093E0-F694-0DF4-FCF4-EF9FCB109D0A}"/>
                </a:ext>
              </a:extLst>
            </p:cNvPr>
            <p:cNvCxnSpPr/>
            <p:nvPr/>
          </p:nvCxnSpPr>
          <p:spPr>
            <a:xfrm flipH="1">
              <a:off x="4330321" y="3159456"/>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1237">
              <a:extLst>
                <a:ext uri="{FF2B5EF4-FFF2-40B4-BE49-F238E27FC236}">
                  <a16:creationId xmlns:a16="http://schemas.microsoft.com/office/drawing/2014/main" id="{9DF32455-72CD-8AF9-D3B4-2618559484C9}"/>
                </a:ext>
              </a:extLst>
            </p:cNvPr>
            <p:cNvSpPr txBox="1"/>
            <p:nvPr/>
          </p:nvSpPr>
          <p:spPr>
            <a:xfrm>
              <a:off x="3807725" y="335052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sp>
          <p:nvSpPr>
            <p:cNvPr id="31" name="Rectangle 30">
              <a:extLst>
                <a:ext uri="{FF2B5EF4-FFF2-40B4-BE49-F238E27FC236}">
                  <a16:creationId xmlns:a16="http://schemas.microsoft.com/office/drawing/2014/main" id="{6865D534-34A7-F185-B4CB-48E9518312D4}"/>
                </a:ext>
              </a:extLst>
            </p:cNvPr>
            <p:cNvSpPr/>
            <p:nvPr/>
          </p:nvSpPr>
          <p:spPr>
            <a:xfrm>
              <a:off x="2831910" y="2954740"/>
              <a:ext cx="604520"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4C146A5A-347C-7437-616D-CFD89A7C2B84}"/>
                </a:ext>
              </a:extLst>
            </p:cNvPr>
            <p:cNvCxnSpPr/>
            <p:nvPr/>
          </p:nvCxnSpPr>
          <p:spPr>
            <a:xfrm flipH="1">
              <a:off x="3320387" y="3159456"/>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1235">
              <a:extLst>
                <a:ext uri="{FF2B5EF4-FFF2-40B4-BE49-F238E27FC236}">
                  <a16:creationId xmlns:a16="http://schemas.microsoft.com/office/drawing/2014/main" id="{A8217BBA-B343-F8BF-88FB-AE3256C48469}"/>
                </a:ext>
              </a:extLst>
            </p:cNvPr>
            <p:cNvSpPr txBox="1"/>
            <p:nvPr/>
          </p:nvSpPr>
          <p:spPr>
            <a:xfrm>
              <a:off x="2797791" y="335052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9.2</a:t>
              </a:r>
            </a:p>
          </p:txBody>
        </p:sp>
        <p:sp>
          <p:nvSpPr>
            <p:cNvPr id="35" name="Rectangle 34">
              <a:extLst>
                <a:ext uri="{FF2B5EF4-FFF2-40B4-BE49-F238E27FC236}">
                  <a16:creationId xmlns:a16="http://schemas.microsoft.com/office/drawing/2014/main" id="{C6B4ABA2-220B-4391-7223-933A716644C4}"/>
                </a:ext>
              </a:extLst>
            </p:cNvPr>
            <p:cNvSpPr/>
            <p:nvPr/>
          </p:nvSpPr>
          <p:spPr>
            <a:xfrm>
              <a:off x="2094931" y="2954740"/>
              <a:ext cx="687647"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9" name="Straight Arrow Connector 38">
              <a:extLst>
                <a:ext uri="{FF2B5EF4-FFF2-40B4-BE49-F238E27FC236}">
                  <a16:creationId xmlns:a16="http://schemas.microsoft.com/office/drawing/2014/main" id="{676DD283-3EF7-0923-43D5-63E54DEB0F8E}"/>
                </a:ext>
              </a:extLst>
            </p:cNvPr>
            <p:cNvCxnSpPr/>
            <p:nvPr/>
          </p:nvCxnSpPr>
          <p:spPr>
            <a:xfrm flipH="1">
              <a:off x="2658470" y="3152633"/>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1231">
              <a:extLst>
                <a:ext uri="{FF2B5EF4-FFF2-40B4-BE49-F238E27FC236}">
                  <a16:creationId xmlns:a16="http://schemas.microsoft.com/office/drawing/2014/main" id="{3F89A5FF-A4E5-B99F-9EB8-E14C0C3F1EA2}"/>
                </a:ext>
              </a:extLst>
            </p:cNvPr>
            <p:cNvSpPr txBox="1"/>
            <p:nvPr/>
          </p:nvSpPr>
          <p:spPr>
            <a:xfrm>
              <a:off x="2135875" y="3343701"/>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9.1</a:t>
              </a:r>
            </a:p>
          </p:txBody>
        </p:sp>
        <p:sp>
          <p:nvSpPr>
            <p:cNvPr id="46" name="Rectangle 45">
              <a:extLst>
                <a:ext uri="{FF2B5EF4-FFF2-40B4-BE49-F238E27FC236}">
                  <a16:creationId xmlns:a16="http://schemas.microsoft.com/office/drawing/2014/main" id="{90D57409-7B9B-F0C1-78AF-423A75A5575E}"/>
                </a:ext>
              </a:extLst>
            </p:cNvPr>
            <p:cNvSpPr/>
            <p:nvPr/>
          </p:nvSpPr>
          <p:spPr>
            <a:xfrm>
              <a:off x="1835624" y="771098"/>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7" name="Straight Arrow Connector 46">
              <a:extLst>
                <a:ext uri="{FF2B5EF4-FFF2-40B4-BE49-F238E27FC236}">
                  <a16:creationId xmlns:a16="http://schemas.microsoft.com/office/drawing/2014/main" id="{AF790355-CAF1-1DC2-6512-F53C15251CCB}"/>
                </a:ext>
              </a:extLst>
            </p:cNvPr>
            <p:cNvCxnSpPr/>
            <p:nvPr/>
          </p:nvCxnSpPr>
          <p:spPr>
            <a:xfrm>
              <a:off x="4339988" y="964726"/>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 Box 1227">
              <a:extLst>
                <a:ext uri="{FF2B5EF4-FFF2-40B4-BE49-F238E27FC236}">
                  <a16:creationId xmlns:a16="http://schemas.microsoft.com/office/drawing/2014/main" id="{64268DCC-23D1-DAC8-7973-1074C88E8801}"/>
                </a:ext>
              </a:extLst>
            </p:cNvPr>
            <p:cNvSpPr txBox="1"/>
            <p:nvPr/>
          </p:nvSpPr>
          <p:spPr>
            <a:xfrm>
              <a:off x="4558352" y="76427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
        <p:nvSpPr>
          <p:cNvPr id="50" name="Text Box 1246">
            <a:extLst>
              <a:ext uri="{FF2B5EF4-FFF2-40B4-BE49-F238E27FC236}">
                <a16:creationId xmlns:a16="http://schemas.microsoft.com/office/drawing/2014/main" id="{FEF9E8FE-79B5-5491-40D1-04A1013F439C}"/>
              </a:ext>
            </a:extLst>
          </p:cNvPr>
          <p:cNvSpPr txBox="1"/>
          <p:nvPr/>
        </p:nvSpPr>
        <p:spPr>
          <a:xfrm>
            <a:off x="541044" y="1295411"/>
            <a:ext cx="3914825" cy="255052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a:t>
            </a:r>
            <a:r>
              <a:rPr kumimoji="0" lang="en-US" sz="1200" b="0" i="0" u="none" strike="noStrike" kern="1200" cap="none" spc="0" normalizeH="0" baseline="0" noProof="0" dirty="0">
                <a:ln>
                  <a:noFill/>
                </a:ln>
                <a:solidFill>
                  <a:prstClr val="black">
                    <a:lumMod val="75000"/>
                    <a:lumOff val="25000"/>
                  </a:prstClr>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an account, a dialog box will prompt. Enter the details of the account.</a:t>
            </a:r>
          </a:p>
          <a:p>
            <a:pPr marL="9017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75000"/>
                  <a:lumOff val="25000"/>
                </a:prstClr>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Enter the details of the account. For the amount, enter the amount either in debit or credit field. But if you want to copy of amount in the balance, click the balance to autofill the credit field.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8.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You may also add notes if necessary.</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2" name="Text Box 1252">
            <a:extLst>
              <a:ext uri="{FF2B5EF4-FFF2-40B4-BE49-F238E27FC236}">
                <a16:creationId xmlns:a16="http://schemas.microsoft.com/office/drawing/2014/main" id="{1EC9495B-58F2-5B90-3BC7-64240497CDF4}"/>
              </a:ext>
            </a:extLst>
          </p:cNvPr>
          <p:cNvSpPr txBox="1"/>
          <p:nvPr/>
        </p:nvSpPr>
        <p:spPr>
          <a:xfrm>
            <a:off x="634199" y="4228209"/>
            <a:ext cx="3821670" cy="16403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9.1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save the account, if you want to add more other account, click add to cart button and select more accounts again.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9.2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OR If you want to plot the selected account already in Accounts Receivable setup– detail, you may click add/ save button.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53" name="Group 52">
            <a:extLst>
              <a:ext uri="{FF2B5EF4-FFF2-40B4-BE49-F238E27FC236}">
                <a16:creationId xmlns:a16="http://schemas.microsoft.com/office/drawing/2014/main" id="{D5646B72-4F7E-ABA2-5877-2C707C4A03CF}"/>
              </a:ext>
            </a:extLst>
          </p:cNvPr>
          <p:cNvGrpSpPr/>
          <p:nvPr/>
        </p:nvGrpSpPr>
        <p:grpSpPr>
          <a:xfrm>
            <a:off x="5372901" y="4467751"/>
            <a:ext cx="6189345" cy="1623059"/>
            <a:chOff x="0" y="0"/>
            <a:chExt cx="6189345" cy="1623629"/>
          </a:xfrm>
        </p:grpSpPr>
        <p:pic>
          <p:nvPicPr>
            <p:cNvPr id="54" name="Picture 53">
              <a:extLst>
                <a:ext uri="{FF2B5EF4-FFF2-40B4-BE49-F238E27FC236}">
                  <a16:creationId xmlns:a16="http://schemas.microsoft.com/office/drawing/2014/main" id="{DDBC043D-50C2-EA1A-87DB-A815DEBD6E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189345" cy="1508125"/>
            </a:xfrm>
            <a:prstGeom prst="rect">
              <a:avLst/>
            </a:prstGeom>
          </p:spPr>
        </p:pic>
        <p:sp>
          <p:nvSpPr>
            <p:cNvPr id="55" name="Text Box 241">
              <a:extLst>
                <a:ext uri="{FF2B5EF4-FFF2-40B4-BE49-F238E27FC236}">
                  <a16:creationId xmlns:a16="http://schemas.microsoft.com/office/drawing/2014/main" id="{3F2D2012-ED89-3EC3-4DF7-401EB05FBBC4}"/>
                </a:ext>
              </a:extLst>
            </p:cNvPr>
            <p:cNvSpPr txBox="1">
              <a:spLocks noChangeArrowheads="1"/>
            </p:cNvSpPr>
            <p:nvPr/>
          </p:nvSpPr>
          <p:spPr bwMode="auto">
            <a:xfrm>
              <a:off x="0" y="648269"/>
              <a:ext cx="4108450"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plot the selected accounts in the Accounts Receivable Setup – detail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cart icon.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a dialog box with list of selected accounts will pop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accept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6" name="Rectangle 55">
              <a:extLst>
                <a:ext uri="{FF2B5EF4-FFF2-40B4-BE49-F238E27FC236}">
                  <a16:creationId xmlns:a16="http://schemas.microsoft.com/office/drawing/2014/main" id="{08593A88-FE74-30AB-49F4-EADE4FC17014}"/>
                </a:ext>
              </a:extLst>
            </p:cNvPr>
            <p:cNvSpPr/>
            <p:nvPr/>
          </p:nvSpPr>
          <p:spPr>
            <a:xfrm>
              <a:off x="5459105" y="47767"/>
              <a:ext cx="449563"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 name="TextBox 2">
            <a:extLst>
              <a:ext uri="{FF2B5EF4-FFF2-40B4-BE49-F238E27FC236}">
                <a16:creationId xmlns:a16="http://schemas.microsoft.com/office/drawing/2014/main" id="{F6D799F8-59EF-DFD5-7D76-D2EDE63EED97}"/>
              </a:ext>
            </a:extLst>
          </p:cNvPr>
          <p:cNvSpPr txBox="1"/>
          <p:nvPr/>
        </p:nvSpPr>
        <p:spPr>
          <a:xfrm>
            <a:off x="207389" y="123167"/>
            <a:ext cx="4899517" cy="646331"/>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Receivable Setup</a:t>
            </a:r>
            <a:r>
              <a:rPr kumimoji="0" lang="en-US"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C59A385D-8D78-D779-21B2-C0B1016CF331}"/>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4025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2074EEF-44AE-826C-23AD-138FF66E73A5}"/>
              </a:ext>
            </a:extLst>
          </p:cNvPr>
          <p:cNvPicPr>
            <a:picLocks noChangeAspect="1"/>
          </p:cNvPicPr>
          <p:nvPr/>
        </p:nvPicPr>
        <p:blipFill>
          <a:blip r:embed="rId2"/>
          <a:stretch>
            <a:fillRect/>
          </a:stretch>
        </p:blipFill>
        <p:spPr>
          <a:xfrm>
            <a:off x="5243865" y="1491363"/>
            <a:ext cx="6095999" cy="2296184"/>
          </a:xfrm>
          <a:prstGeom prst="rect">
            <a:avLst/>
          </a:prstGeom>
        </p:spPr>
      </p:pic>
      <p:pic>
        <p:nvPicPr>
          <p:cNvPr id="16" name="Picture 15">
            <a:extLst>
              <a:ext uri="{FF2B5EF4-FFF2-40B4-BE49-F238E27FC236}">
                <a16:creationId xmlns:a16="http://schemas.microsoft.com/office/drawing/2014/main" id="{C3F318AC-79D4-27CD-9BB6-9668B0A2E828}"/>
              </a:ext>
            </a:extLst>
          </p:cNvPr>
          <p:cNvPicPr>
            <a:picLocks noChangeAspect="1"/>
          </p:cNvPicPr>
          <p:nvPr/>
        </p:nvPicPr>
        <p:blipFill>
          <a:blip r:embed="rId3"/>
          <a:stretch>
            <a:fillRect/>
          </a:stretch>
        </p:blipFill>
        <p:spPr>
          <a:xfrm>
            <a:off x="5647260" y="2402220"/>
            <a:ext cx="4944060" cy="2669186"/>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Accounts Receivable Setup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52" name="Text Box 1252">
            <a:extLst>
              <a:ext uri="{FF2B5EF4-FFF2-40B4-BE49-F238E27FC236}">
                <a16:creationId xmlns:a16="http://schemas.microsoft.com/office/drawing/2014/main" id="{1EC9495B-58F2-5B90-3BC7-64240497CDF4}"/>
              </a:ext>
            </a:extLst>
          </p:cNvPr>
          <p:cNvSpPr txBox="1"/>
          <p:nvPr/>
        </p:nvSpPr>
        <p:spPr>
          <a:xfrm>
            <a:off x="720129" y="2437964"/>
            <a:ext cx="3821670" cy="123905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10.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the arrow to enable the buttons in the header.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finalize, click post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3" name="Group 2">
            <a:extLst>
              <a:ext uri="{FF2B5EF4-FFF2-40B4-BE49-F238E27FC236}">
                <a16:creationId xmlns:a16="http://schemas.microsoft.com/office/drawing/2014/main" id="{A4EE4DC4-49B0-E8C0-0CA1-E2ED27E47F82}"/>
              </a:ext>
            </a:extLst>
          </p:cNvPr>
          <p:cNvGrpSpPr/>
          <p:nvPr/>
        </p:nvGrpSpPr>
        <p:grpSpPr>
          <a:xfrm>
            <a:off x="8363466" y="1814002"/>
            <a:ext cx="2775895" cy="1104253"/>
            <a:chOff x="3499291" y="382137"/>
            <a:chExt cx="2775987" cy="1104568"/>
          </a:xfrm>
        </p:grpSpPr>
        <p:sp>
          <p:nvSpPr>
            <p:cNvPr id="6" name="Rectangle 5">
              <a:extLst>
                <a:ext uri="{FF2B5EF4-FFF2-40B4-BE49-F238E27FC236}">
                  <a16:creationId xmlns:a16="http://schemas.microsoft.com/office/drawing/2014/main" id="{C68B164C-3E7E-7A64-28EF-6AEB0B022C88}"/>
                </a:ext>
              </a:extLst>
            </p:cNvPr>
            <p:cNvSpPr/>
            <p:nvPr/>
          </p:nvSpPr>
          <p:spPr>
            <a:xfrm>
              <a:off x="5493224" y="443552"/>
              <a:ext cx="181140" cy="23009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DDE3DB81-8EA8-1F4E-3008-11BC336BDB35}"/>
                </a:ext>
              </a:extLst>
            </p:cNvPr>
            <p:cNvCxnSpPr/>
            <p:nvPr/>
          </p:nvCxnSpPr>
          <p:spPr>
            <a:xfrm flipV="1">
              <a:off x="5677469" y="515772"/>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 Box 1258">
              <a:extLst>
                <a:ext uri="{FF2B5EF4-FFF2-40B4-BE49-F238E27FC236}">
                  <a16:creationId xmlns:a16="http://schemas.microsoft.com/office/drawing/2014/main" id="{E5BE83E9-6911-FE22-A691-F142795E0A46}"/>
                </a:ext>
              </a:extLst>
            </p:cNvPr>
            <p:cNvSpPr txBox="1"/>
            <p:nvPr/>
          </p:nvSpPr>
          <p:spPr>
            <a:xfrm>
              <a:off x="5800298" y="38213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10</a:t>
              </a:r>
            </a:p>
          </p:txBody>
        </p:sp>
        <p:sp>
          <p:nvSpPr>
            <p:cNvPr id="10" name="Curved Right Arrow 1256">
              <a:extLst>
                <a:ext uri="{FF2B5EF4-FFF2-40B4-BE49-F238E27FC236}">
                  <a16:creationId xmlns:a16="http://schemas.microsoft.com/office/drawing/2014/main" id="{E2A633E7-1198-BD10-8877-AC4254D1C32A}"/>
                </a:ext>
              </a:extLst>
            </p:cNvPr>
            <p:cNvSpPr/>
            <p:nvPr/>
          </p:nvSpPr>
          <p:spPr>
            <a:xfrm>
              <a:off x="5130445" y="539087"/>
              <a:ext cx="351790" cy="532300"/>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B812C37-5BC6-D932-0F31-27A8AB8BB2A5}"/>
                </a:ext>
              </a:extLst>
            </p:cNvPr>
            <p:cNvSpPr/>
            <p:nvPr/>
          </p:nvSpPr>
          <p:spPr>
            <a:xfrm>
              <a:off x="3499291" y="1233503"/>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36B8CFE8-925E-AA1B-158A-49BE3E9DB4E4}"/>
                </a:ext>
              </a:extLst>
            </p:cNvPr>
            <p:cNvCxnSpPr/>
            <p:nvPr/>
          </p:nvCxnSpPr>
          <p:spPr>
            <a:xfrm flipV="1">
              <a:off x="3840942" y="1319549"/>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1253">
              <a:extLst>
                <a:ext uri="{FF2B5EF4-FFF2-40B4-BE49-F238E27FC236}">
                  <a16:creationId xmlns:a16="http://schemas.microsoft.com/office/drawing/2014/main" id="{F0E24813-435C-A279-E015-A3BBB91F22A6}"/>
                </a:ext>
              </a:extLst>
            </p:cNvPr>
            <p:cNvSpPr txBox="1"/>
            <p:nvPr/>
          </p:nvSpPr>
          <p:spPr>
            <a:xfrm>
              <a:off x="4004137" y="120095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sp>
        <p:nvSpPr>
          <p:cNvPr id="2" name="TextBox 1">
            <a:extLst>
              <a:ext uri="{FF2B5EF4-FFF2-40B4-BE49-F238E27FC236}">
                <a16:creationId xmlns:a16="http://schemas.microsoft.com/office/drawing/2014/main" id="{FFA5618D-97A2-EE55-1706-BB4CF1BF9408}"/>
              </a:ext>
            </a:extLst>
          </p:cNvPr>
          <p:cNvSpPr txBox="1"/>
          <p:nvPr/>
        </p:nvSpPr>
        <p:spPr>
          <a:xfrm>
            <a:off x="166255" y="123167"/>
            <a:ext cx="4940652" cy="646331"/>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Receivable Setup</a:t>
            </a:r>
            <a:r>
              <a:rPr kumimoji="0" lang="en-US"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0FE4BDDE-5A46-CDB0-FF72-E14D31D6C03E}"/>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802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A17E0EC-DEBB-B66A-EC3F-55D12719DCE2}"/>
              </a:ext>
            </a:extLst>
          </p:cNvPr>
          <p:cNvPicPr>
            <a:picLocks noChangeAspect="1"/>
          </p:cNvPicPr>
          <p:nvPr/>
        </p:nvPicPr>
        <p:blipFill>
          <a:blip r:embed="rId2"/>
          <a:stretch>
            <a:fillRect/>
          </a:stretch>
        </p:blipFill>
        <p:spPr>
          <a:xfrm>
            <a:off x="5696788" y="3486119"/>
            <a:ext cx="5300757" cy="2681374"/>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279432"/>
            <a:ext cx="3887062"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Accounts Receivable Setup Transactions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55" name="TextBox 54">
            <a:extLst>
              <a:ext uri="{FF2B5EF4-FFF2-40B4-BE49-F238E27FC236}">
                <a16:creationId xmlns:a16="http://schemas.microsoft.com/office/drawing/2014/main" id="{438989E4-F23C-F4AC-684B-2BE81114D33A}"/>
              </a:ext>
            </a:extLst>
          </p:cNvPr>
          <p:cNvSpPr txBox="1"/>
          <p:nvPr/>
        </p:nvSpPr>
        <p:spPr>
          <a:xfrm>
            <a:off x="7144170" y="3178699"/>
            <a:ext cx="3115841"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Accounts Receivable Setup– Main Window</a:t>
            </a:r>
            <a:endPar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13" name="Text Box 1261">
            <a:extLst>
              <a:ext uri="{FF2B5EF4-FFF2-40B4-BE49-F238E27FC236}">
                <a16:creationId xmlns:a16="http://schemas.microsoft.com/office/drawing/2014/main" id="{57BDB169-5346-A438-EDAE-64BF685733FD}"/>
              </a:ext>
            </a:extLst>
          </p:cNvPr>
          <p:cNvSpPr txBox="1"/>
          <p:nvPr/>
        </p:nvSpPr>
        <p:spPr>
          <a:xfrm>
            <a:off x="674748" y="2015473"/>
            <a:ext cx="4045186" cy="168433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Accounts Receivable Setup – main window, search the journal entry you wish to edit its information in the search bar.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Accounts Receivable Setup – main form, click the lookup button and select the transaction you wish to edit its information by typing its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11" name="Group 10">
            <a:extLst>
              <a:ext uri="{FF2B5EF4-FFF2-40B4-BE49-F238E27FC236}">
                <a16:creationId xmlns:a16="http://schemas.microsoft.com/office/drawing/2014/main" id="{04819238-EBE0-6824-E774-E27EE3298144}"/>
              </a:ext>
            </a:extLst>
          </p:cNvPr>
          <p:cNvGrpSpPr/>
          <p:nvPr/>
        </p:nvGrpSpPr>
        <p:grpSpPr>
          <a:xfrm>
            <a:off x="5358688" y="712148"/>
            <a:ext cx="5654971" cy="2363991"/>
            <a:chOff x="5358688" y="712148"/>
            <a:chExt cx="5654971" cy="2363991"/>
          </a:xfrm>
        </p:grpSpPr>
        <p:pic>
          <p:nvPicPr>
            <p:cNvPr id="8" name="Picture 7">
              <a:extLst>
                <a:ext uri="{FF2B5EF4-FFF2-40B4-BE49-F238E27FC236}">
                  <a16:creationId xmlns:a16="http://schemas.microsoft.com/office/drawing/2014/main" id="{63425A02-0976-73A2-BCF9-4767D781C962}"/>
                </a:ext>
              </a:extLst>
            </p:cNvPr>
            <p:cNvPicPr>
              <a:picLocks noChangeAspect="1"/>
            </p:cNvPicPr>
            <p:nvPr/>
          </p:nvPicPr>
          <p:blipFill>
            <a:blip r:embed="rId4"/>
            <a:stretch>
              <a:fillRect/>
            </a:stretch>
          </p:blipFill>
          <p:spPr>
            <a:xfrm>
              <a:off x="5358688" y="712148"/>
              <a:ext cx="5654971" cy="2363991"/>
            </a:xfrm>
            <a:prstGeom prst="rect">
              <a:avLst/>
            </a:prstGeom>
          </p:spPr>
        </p:pic>
        <p:grpSp>
          <p:nvGrpSpPr>
            <p:cNvPr id="17" name="Group 16">
              <a:extLst>
                <a:ext uri="{FF2B5EF4-FFF2-40B4-BE49-F238E27FC236}">
                  <a16:creationId xmlns:a16="http://schemas.microsoft.com/office/drawing/2014/main" id="{FD66B454-555E-5DC8-A6EF-BA1D28D5E199}"/>
                </a:ext>
              </a:extLst>
            </p:cNvPr>
            <p:cNvGrpSpPr/>
            <p:nvPr/>
          </p:nvGrpSpPr>
          <p:grpSpPr>
            <a:xfrm>
              <a:off x="5432228" y="1406287"/>
              <a:ext cx="1530054" cy="257176"/>
              <a:chOff x="-53718" y="19049"/>
              <a:chExt cx="1530092" cy="257176"/>
            </a:xfrm>
          </p:grpSpPr>
          <p:sp>
            <p:nvSpPr>
              <p:cNvPr id="18" name="Rectangle 17">
                <a:extLst>
                  <a:ext uri="{FF2B5EF4-FFF2-40B4-BE49-F238E27FC236}">
                    <a16:creationId xmlns:a16="http://schemas.microsoft.com/office/drawing/2014/main" id="{A59F383A-27E2-D22B-2671-DD8F19659A25}"/>
                  </a:ext>
                </a:extLst>
              </p:cNvPr>
              <p:cNvSpPr/>
              <p:nvPr/>
            </p:nvSpPr>
            <p:spPr>
              <a:xfrm>
                <a:off x="-53718" y="19049"/>
                <a:ext cx="853818" cy="22860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D4555ECA-E25B-7B7D-02A3-74F5A839ED68}"/>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1265">
                <a:extLst>
                  <a:ext uri="{FF2B5EF4-FFF2-40B4-BE49-F238E27FC236}">
                    <a16:creationId xmlns:a16="http://schemas.microsoft.com/office/drawing/2014/main" id="{5B96C055-43AC-EE8C-5F9B-0524D6C75795}"/>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sp>
        <p:nvSpPr>
          <p:cNvPr id="30" name="TextBox 29">
            <a:extLst>
              <a:ext uri="{FF2B5EF4-FFF2-40B4-BE49-F238E27FC236}">
                <a16:creationId xmlns:a16="http://schemas.microsoft.com/office/drawing/2014/main" id="{E383EAE0-85DE-1024-7883-A0C8C1416A8B}"/>
              </a:ext>
            </a:extLst>
          </p:cNvPr>
          <p:cNvSpPr txBox="1"/>
          <p:nvPr/>
        </p:nvSpPr>
        <p:spPr>
          <a:xfrm>
            <a:off x="7421090" y="6277686"/>
            <a:ext cx="2932874"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Accounts Receivable Setup– Main Form</a:t>
            </a:r>
            <a:endPar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p:grpSp>
        <p:nvGrpSpPr>
          <p:cNvPr id="31" name="Group 30">
            <a:extLst>
              <a:ext uri="{FF2B5EF4-FFF2-40B4-BE49-F238E27FC236}">
                <a16:creationId xmlns:a16="http://schemas.microsoft.com/office/drawing/2014/main" id="{EF091414-AAE9-DF66-3669-15DADD1D4274}"/>
              </a:ext>
            </a:extLst>
          </p:cNvPr>
          <p:cNvGrpSpPr/>
          <p:nvPr/>
        </p:nvGrpSpPr>
        <p:grpSpPr>
          <a:xfrm>
            <a:off x="4997995" y="3574282"/>
            <a:ext cx="5575253" cy="1476259"/>
            <a:chOff x="291" y="276393"/>
            <a:chExt cx="5575497" cy="1476539"/>
          </a:xfrm>
        </p:grpSpPr>
        <p:grpSp>
          <p:nvGrpSpPr>
            <p:cNvPr id="33" name="Group 32">
              <a:extLst>
                <a:ext uri="{FF2B5EF4-FFF2-40B4-BE49-F238E27FC236}">
                  <a16:creationId xmlns:a16="http://schemas.microsoft.com/office/drawing/2014/main" id="{6BBFA037-8290-BE59-9A2C-7A3FB05AA3DC}"/>
                </a:ext>
              </a:extLst>
            </p:cNvPr>
            <p:cNvGrpSpPr/>
            <p:nvPr/>
          </p:nvGrpSpPr>
          <p:grpSpPr>
            <a:xfrm>
              <a:off x="1810328" y="568906"/>
              <a:ext cx="952499" cy="306842"/>
              <a:chOff x="505402" y="-105379"/>
              <a:chExt cx="952499" cy="306842"/>
            </a:xfrm>
          </p:grpSpPr>
          <p:sp>
            <p:nvSpPr>
              <p:cNvPr id="42" name="Rectangle 41">
                <a:extLst>
                  <a:ext uri="{FF2B5EF4-FFF2-40B4-BE49-F238E27FC236}">
                    <a16:creationId xmlns:a16="http://schemas.microsoft.com/office/drawing/2014/main" id="{B163EE3B-1C1C-0775-A07B-A8881985053E}"/>
                  </a:ext>
                </a:extLst>
              </p:cNvPr>
              <p:cNvSpPr/>
              <p:nvPr/>
            </p:nvSpPr>
            <p:spPr>
              <a:xfrm>
                <a:off x="505402" y="-17614"/>
                <a:ext cx="285406" cy="21907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3" name="Straight Arrow Connector 42">
                <a:extLst>
                  <a:ext uri="{FF2B5EF4-FFF2-40B4-BE49-F238E27FC236}">
                    <a16:creationId xmlns:a16="http://schemas.microsoft.com/office/drawing/2014/main" id="{B0E621B0-3786-1207-9AB1-B7C57CE3B02F}"/>
                  </a:ext>
                </a:extLst>
              </p:cNvPr>
              <p:cNvCxnSpPr/>
              <p:nvPr/>
            </p:nvCxnSpPr>
            <p:spPr>
              <a:xfrm>
                <a:off x="791150" y="2074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 Box 1272">
                <a:extLst>
                  <a:ext uri="{FF2B5EF4-FFF2-40B4-BE49-F238E27FC236}">
                    <a16:creationId xmlns:a16="http://schemas.microsoft.com/office/drawing/2014/main" id="{0B87673A-5C68-82C8-AB8D-B0EE624F2B7F}"/>
                  </a:ext>
                </a:extLst>
              </p:cNvPr>
              <p:cNvSpPr txBox="1"/>
              <p:nvPr/>
            </p:nvSpPr>
            <p:spPr>
              <a:xfrm>
                <a:off x="991176" y="-105379"/>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34" name="Group 33">
              <a:extLst>
                <a:ext uri="{FF2B5EF4-FFF2-40B4-BE49-F238E27FC236}">
                  <a16:creationId xmlns:a16="http://schemas.microsoft.com/office/drawing/2014/main" id="{5DF5C4C3-59ED-ACCF-B20B-B674099270CB}"/>
                </a:ext>
              </a:extLst>
            </p:cNvPr>
            <p:cNvGrpSpPr/>
            <p:nvPr/>
          </p:nvGrpSpPr>
          <p:grpSpPr>
            <a:xfrm>
              <a:off x="4586264" y="459833"/>
              <a:ext cx="989524" cy="272407"/>
              <a:chOff x="-416637" y="58503"/>
              <a:chExt cx="989524" cy="272407"/>
            </a:xfrm>
          </p:grpSpPr>
          <p:sp>
            <p:nvSpPr>
              <p:cNvPr id="39" name="Rectangle 38">
                <a:extLst>
                  <a:ext uri="{FF2B5EF4-FFF2-40B4-BE49-F238E27FC236}">
                    <a16:creationId xmlns:a16="http://schemas.microsoft.com/office/drawing/2014/main" id="{AB8E0592-FE2E-B501-553F-18FFD8AAF694}"/>
                  </a:ext>
                </a:extLst>
              </p:cNvPr>
              <p:cNvSpPr/>
              <p:nvPr/>
            </p:nvSpPr>
            <p:spPr>
              <a:xfrm>
                <a:off x="-416637" y="62070"/>
                <a:ext cx="363813" cy="2286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EFFD8D99-A63B-4370-943A-70F70250C274}"/>
                  </a:ext>
                </a:extLst>
              </p:cNvPr>
              <p:cNvCxnSpPr>
                <a:cxnSpLocks/>
              </p:cNvCxnSpPr>
              <p:nvPr/>
            </p:nvCxnSpPr>
            <p:spPr>
              <a:xfrm>
                <a:off x="50089" y="147820"/>
                <a:ext cx="156035" cy="5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1276">
                <a:extLst>
                  <a:ext uri="{FF2B5EF4-FFF2-40B4-BE49-F238E27FC236}">
                    <a16:creationId xmlns:a16="http://schemas.microsoft.com/office/drawing/2014/main" id="{863F296A-55F5-6726-5CFC-C0D219DA48F3}"/>
                  </a:ext>
                </a:extLst>
              </p:cNvPr>
              <p:cNvSpPr txBox="1"/>
              <p:nvPr/>
            </p:nvSpPr>
            <p:spPr>
              <a:xfrm>
                <a:off x="259638" y="58503"/>
                <a:ext cx="313249" cy="27240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35" name="Group 34">
              <a:extLst>
                <a:ext uri="{FF2B5EF4-FFF2-40B4-BE49-F238E27FC236}">
                  <a16:creationId xmlns:a16="http://schemas.microsoft.com/office/drawing/2014/main" id="{C71836A3-A874-DBFB-0B49-16545D2B87A0}"/>
                </a:ext>
              </a:extLst>
            </p:cNvPr>
            <p:cNvGrpSpPr>
              <a:grpSpLocks/>
            </p:cNvGrpSpPr>
            <p:nvPr/>
          </p:nvGrpSpPr>
          <p:grpSpPr bwMode="auto">
            <a:xfrm>
              <a:off x="2851747" y="873457"/>
              <a:ext cx="2552700" cy="879475"/>
              <a:chOff x="6116" y="177"/>
              <a:chExt cx="4020" cy="1385"/>
            </a:xfrm>
          </p:grpSpPr>
          <p:pic>
            <p:nvPicPr>
              <p:cNvPr id="37" name="Picture 36">
                <a:extLst>
                  <a:ext uri="{FF2B5EF4-FFF2-40B4-BE49-F238E27FC236}">
                    <a16:creationId xmlns:a16="http://schemas.microsoft.com/office/drawing/2014/main" id="{C4D96E71-4866-D52F-482A-12030EF9AD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 Box 241">
                <a:extLst>
                  <a:ext uri="{FF2B5EF4-FFF2-40B4-BE49-F238E27FC236}">
                    <a16:creationId xmlns:a16="http://schemas.microsoft.com/office/drawing/2014/main" id="{FE1B6FF4-C3CB-9BA3-D982-69414551156D}"/>
                  </a:ext>
                </a:extLst>
              </p:cNvPr>
              <p:cNvSpPr txBox="1">
                <a:spLocks noChangeArrowheads="1"/>
              </p:cNvSpPr>
              <p:nvPr/>
            </p:nvSpPr>
            <p:spPr bwMode="auto">
              <a:xfrm>
                <a:off x="6116" y="177"/>
                <a:ext cx="4020"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36" name="Text Box 1277">
              <a:extLst>
                <a:ext uri="{FF2B5EF4-FFF2-40B4-BE49-F238E27FC236}">
                  <a16:creationId xmlns:a16="http://schemas.microsoft.com/office/drawing/2014/main" id="{97169DC1-BAE7-7028-17D8-9B6678036058}"/>
                </a:ext>
              </a:extLst>
            </p:cNvPr>
            <p:cNvSpPr txBox="1"/>
            <p:nvPr/>
          </p:nvSpPr>
          <p:spPr>
            <a:xfrm>
              <a:off x="291" y="276393"/>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46" name="Text Box 1278">
            <a:extLst>
              <a:ext uri="{FF2B5EF4-FFF2-40B4-BE49-F238E27FC236}">
                <a16:creationId xmlns:a16="http://schemas.microsoft.com/office/drawing/2014/main" id="{5B0F9908-3F77-090B-1A90-6FC94BC2FB28}"/>
              </a:ext>
            </a:extLst>
          </p:cNvPr>
          <p:cNvSpPr txBox="1"/>
          <p:nvPr/>
        </p:nvSpPr>
        <p:spPr>
          <a:xfrm>
            <a:off x="713266" y="4030636"/>
            <a:ext cx="3978906" cy="136454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AR transaction, if you wish to edit the header of the transaction click edit button.</a:t>
            </a: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are done editing the AR header, click save button in the upper side of the header.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E9CEC29-868E-2DAE-3B2C-C243E415592E}"/>
              </a:ext>
            </a:extLst>
          </p:cNvPr>
          <p:cNvSpPr txBox="1"/>
          <p:nvPr/>
        </p:nvSpPr>
        <p:spPr>
          <a:xfrm>
            <a:off x="93607" y="123167"/>
            <a:ext cx="4921737" cy="646331"/>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Receivable Setup</a:t>
            </a:r>
            <a:r>
              <a:rPr kumimoji="0" lang="en-US"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264ACE0E-82AF-3951-EDC4-8AF424152E30}"/>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857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1219845" y="642052"/>
            <a:ext cx="3887062"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Accounts Receivable Setup Transactions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6" name="Text Box 1279">
            <a:extLst>
              <a:ext uri="{FF2B5EF4-FFF2-40B4-BE49-F238E27FC236}">
                <a16:creationId xmlns:a16="http://schemas.microsoft.com/office/drawing/2014/main" id="{55A993B9-9630-8338-3B96-3F2938EAF706}"/>
              </a:ext>
            </a:extLst>
          </p:cNvPr>
          <p:cNvSpPr txBox="1"/>
          <p:nvPr/>
        </p:nvSpPr>
        <p:spPr>
          <a:xfrm>
            <a:off x="583013" y="2374537"/>
            <a:ext cx="3978906" cy="313849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entry in the detail, edit right away the details you want to change and you will notice that after you change the details, the account you edited will be highlighted into blue.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you’re done editing, click save account button to save the changes you made in the entry.</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accounts in the entry, click delete account button.</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line on the table, click the delete icon next to the account to delete it.</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EA685925-62D7-A373-5A5A-500AC5D1A48E}"/>
              </a:ext>
            </a:extLst>
          </p:cNvPr>
          <p:cNvSpPr txBox="1"/>
          <p:nvPr/>
        </p:nvSpPr>
        <p:spPr>
          <a:xfrm>
            <a:off x="93608" y="101465"/>
            <a:ext cx="4940210" cy="646331"/>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Receivable Setup</a:t>
            </a:r>
            <a:r>
              <a:rPr kumimoji="0" lang="en-US"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AE5ED70C-DFAC-CEE1-38AC-BA4F07B0CA4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693AC1B8-AA9C-EFD9-F1E3-87551B0BF4B7}"/>
              </a:ext>
            </a:extLst>
          </p:cNvPr>
          <p:cNvGrpSpPr/>
          <p:nvPr/>
        </p:nvGrpSpPr>
        <p:grpSpPr>
          <a:xfrm>
            <a:off x="5126663" y="2158545"/>
            <a:ext cx="6260227" cy="2277457"/>
            <a:chOff x="5126663" y="2158545"/>
            <a:chExt cx="6260227" cy="2277457"/>
          </a:xfrm>
        </p:grpSpPr>
        <p:grpSp>
          <p:nvGrpSpPr>
            <p:cNvPr id="16" name="Group 15">
              <a:extLst>
                <a:ext uri="{FF2B5EF4-FFF2-40B4-BE49-F238E27FC236}">
                  <a16:creationId xmlns:a16="http://schemas.microsoft.com/office/drawing/2014/main" id="{F49199C4-AC69-88A0-FE0D-487881BA63F4}"/>
                </a:ext>
              </a:extLst>
            </p:cNvPr>
            <p:cNvGrpSpPr/>
            <p:nvPr/>
          </p:nvGrpSpPr>
          <p:grpSpPr>
            <a:xfrm>
              <a:off x="5126663" y="2158545"/>
              <a:ext cx="6260227" cy="2277457"/>
              <a:chOff x="5126663" y="887465"/>
              <a:chExt cx="6260227" cy="2277457"/>
            </a:xfrm>
          </p:grpSpPr>
          <p:grpSp>
            <p:nvGrpSpPr>
              <p:cNvPr id="29" name="Group 28">
                <a:extLst>
                  <a:ext uri="{FF2B5EF4-FFF2-40B4-BE49-F238E27FC236}">
                    <a16:creationId xmlns:a16="http://schemas.microsoft.com/office/drawing/2014/main" id="{06BC1C2C-EE88-40C0-8BD9-723D3CC09295}"/>
                  </a:ext>
                </a:extLst>
              </p:cNvPr>
              <p:cNvGrpSpPr/>
              <p:nvPr/>
            </p:nvGrpSpPr>
            <p:grpSpPr>
              <a:xfrm>
                <a:off x="5197545" y="1053550"/>
                <a:ext cx="6189345" cy="2111372"/>
                <a:chOff x="0" y="3"/>
                <a:chExt cx="6189345" cy="2111372"/>
              </a:xfrm>
            </p:grpSpPr>
            <p:grpSp>
              <p:nvGrpSpPr>
                <p:cNvPr id="34" name="Group 33">
                  <a:extLst>
                    <a:ext uri="{FF2B5EF4-FFF2-40B4-BE49-F238E27FC236}">
                      <a16:creationId xmlns:a16="http://schemas.microsoft.com/office/drawing/2014/main" id="{E4745E7E-6AC0-BCC2-30DD-0805A4A420D1}"/>
                    </a:ext>
                  </a:extLst>
                </p:cNvPr>
                <p:cNvGrpSpPr/>
                <p:nvPr/>
              </p:nvGrpSpPr>
              <p:grpSpPr>
                <a:xfrm>
                  <a:off x="444500" y="3"/>
                  <a:ext cx="5457854" cy="1534468"/>
                  <a:chOff x="365745" y="340675"/>
                  <a:chExt cx="5457854" cy="1534615"/>
                </a:xfrm>
              </p:grpSpPr>
              <p:pic>
                <p:nvPicPr>
                  <p:cNvPr id="36" name="Picture 35">
                    <a:extLst>
                      <a:ext uri="{FF2B5EF4-FFF2-40B4-BE49-F238E27FC236}">
                        <a16:creationId xmlns:a16="http://schemas.microsoft.com/office/drawing/2014/main" id="{6D316FF9-F77D-43C4-2BD8-2D8C0F15BB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45" y="345037"/>
                    <a:ext cx="5457854" cy="1530253"/>
                  </a:xfrm>
                  <a:prstGeom prst="rect">
                    <a:avLst/>
                  </a:prstGeom>
                </p:spPr>
              </p:pic>
              <p:sp>
                <p:nvSpPr>
                  <p:cNvPr id="37" name="Rectangle 36">
                    <a:extLst>
                      <a:ext uri="{FF2B5EF4-FFF2-40B4-BE49-F238E27FC236}">
                        <a16:creationId xmlns:a16="http://schemas.microsoft.com/office/drawing/2014/main" id="{33BE00EC-12B8-FE15-3C86-66A2EC71939B}"/>
                      </a:ext>
                    </a:extLst>
                  </p:cNvPr>
                  <p:cNvSpPr/>
                  <p:nvPr/>
                </p:nvSpPr>
                <p:spPr>
                  <a:xfrm>
                    <a:off x="424790" y="975708"/>
                    <a:ext cx="2836555" cy="7366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2E968127-AAAB-E086-8D12-70056556B056}"/>
                      </a:ext>
                    </a:extLst>
                  </p:cNvPr>
                  <p:cNvGrpSpPr/>
                  <p:nvPr/>
                </p:nvGrpSpPr>
                <p:grpSpPr>
                  <a:xfrm>
                    <a:off x="3765617" y="340675"/>
                    <a:ext cx="647700" cy="709532"/>
                    <a:chOff x="-854008" y="-154625"/>
                    <a:chExt cx="647700" cy="709532"/>
                  </a:xfrm>
                </p:grpSpPr>
                <p:sp>
                  <p:nvSpPr>
                    <p:cNvPr id="39" name="Rectangle 38">
                      <a:extLst>
                        <a:ext uri="{FF2B5EF4-FFF2-40B4-BE49-F238E27FC236}">
                          <a16:creationId xmlns:a16="http://schemas.microsoft.com/office/drawing/2014/main" id="{3352BE86-2392-3CA9-9BC6-3655CAD000C8}"/>
                        </a:ext>
                      </a:extLst>
                    </p:cNvPr>
                    <p:cNvSpPr/>
                    <p:nvPr/>
                  </p:nvSpPr>
                  <p:spPr>
                    <a:xfrm>
                      <a:off x="-854008" y="-154625"/>
                      <a:ext cx="647700" cy="2476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88BC1A8B-4CE2-8838-876A-2BD0C572745A}"/>
                        </a:ext>
                      </a:extLst>
                    </p:cNvPr>
                    <p:cNvCxnSpPr>
                      <a:cxnSpLocks/>
                    </p:cNvCxnSpPr>
                    <p:nvPr/>
                  </p:nvCxnSpPr>
                  <p:spPr>
                    <a:xfrm>
                      <a:off x="-558370" y="86730"/>
                      <a:ext cx="0" cy="2205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62">
                      <a:extLst>
                        <a:ext uri="{FF2B5EF4-FFF2-40B4-BE49-F238E27FC236}">
                          <a16:creationId xmlns:a16="http://schemas.microsoft.com/office/drawing/2014/main" id="{A5CB6656-274D-E916-EC24-8AF5E77FAADC}"/>
                        </a:ext>
                      </a:extLst>
                    </p:cNvPr>
                    <p:cNvSpPr txBox="1"/>
                    <p:nvPr/>
                  </p:nvSpPr>
                  <p:spPr>
                    <a:xfrm>
                      <a:off x="-658383" y="307257"/>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pic>
              <p:nvPicPr>
                <p:cNvPr id="35" name="Picture 34">
                  <a:extLst>
                    <a:ext uri="{FF2B5EF4-FFF2-40B4-BE49-F238E27FC236}">
                      <a16:creationId xmlns:a16="http://schemas.microsoft.com/office/drawing/2014/main" id="{69952D66-2009-494E-74C3-AC854F2DC6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93850"/>
                  <a:ext cx="6189345" cy="517525"/>
                </a:xfrm>
                <a:prstGeom prst="rect">
                  <a:avLst/>
                </a:prstGeom>
                <a:ln>
                  <a:noFill/>
                </a:ln>
                <a:effectLst>
                  <a:outerShdw blurRad="292100" dist="139700" dir="2700000" algn="tl" rotWithShape="0">
                    <a:srgbClr val="333333">
                      <a:alpha val="65000"/>
                    </a:srgbClr>
                  </a:outerShdw>
                </a:effectLst>
              </p:spPr>
            </p:pic>
          </p:grpSp>
          <p:grpSp>
            <p:nvGrpSpPr>
              <p:cNvPr id="30" name="Group 29">
                <a:extLst>
                  <a:ext uri="{FF2B5EF4-FFF2-40B4-BE49-F238E27FC236}">
                    <a16:creationId xmlns:a16="http://schemas.microsoft.com/office/drawing/2014/main" id="{214DE05F-5C06-68FD-1ED0-9F9036E2DEBC}"/>
                  </a:ext>
                </a:extLst>
              </p:cNvPr>
              <p:cNvGrpSpPr/>
              <p:nvPr/>
            </p:nvGrpSpPr>
            <p:grpSpPr>
              <a:xfrm>
                <a:off x="5126663" y="887465"/>
                <a:ext cx="3176904" cy="2008507"/>
                <a:chOff x="0" y="0"/>
                <a:chExt cx="3177391" cy="2008909"/>
              </a:xfrm>
            </p:grpSpPr>
            <p:sp>
              <p:nvSpPr>
                <p:cNvPr id="31" name="Text Box 81">
                  <a:extLst>
                    <a:ext uri="{FF2B5EF4-FFF2-40B4-BE49-F238E27FC236}">
                      <a16:creationId xmlns:a16="http://schemas.microsoft.com/office/drawing/2014/main" id="{0FDA70B6-EB2E-C974-6BD2-B9224AC44D5F}"/>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32" name="Curved Left Arrow 95">
                  <a:extLst>
                    <a:ext uri="{FF2B5EF4-FFF2-40B4-BE49-F238E27FC236}">
                      <a16:creationId xmlns:a16="http://schemas.microsoft.com/office/drawing/2014/main" id="{5EBC5219-B3DB-2011-E117-E587B3D6DE65}"/>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Text Box 98">
                  <a:extLst>
                    <a:ext uri="{FF2B5EF4-FFF2-40B4-BE49-F238E27FC236}">
                      <a16:creationId xmlns:a16="http://schemas.microsoft.com/office/drawing/2014/main" id="{AB0398E7-7140-3E2F-8A34-A88BB92A5E05}"/>
                    </a:ext>
                  </a:extLst>
                </p:cNvPr>
                <p:cNvSpPr txBox="1"/>
                <p:nvPr/>
              </p:nvSpPr>
              <p:spPr>
                <a:xfrm>
                  <a:off x="0" y="1589315"/>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7" name="Rectangle 16">
              <a:extLst>
                <a:ext uri="{FF2B5EF4-FFF2-40B4-BE49-F238E27FC236}">
                  <a16:creationId xmlns:a16="http://schemas.microsoft.com/office/drawing/2014/main" id="{FEF8D5DC-FD37-6D9A-C18C-3C177069D711}"/>
                </a:ext>
              </a:extLst>
            </p:cNvPr>
            <p:cNvSpPr/>
            <p:nvPr/>
          </p:nvSpPr>
          <p:spPr>
            <a:xfrm>
              <a:off x="9707809" y="2324630"/>
              <a:ext cx="647700"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5EB48428-DBE6-82A9-84F0-9551D695110B}"/>
                </a:ext>
              </a:extLst>
            </p:cNvPr>
            <p:cNvCxnSpPr>
              <a:cxnSpLocks/>
            </p:cNvCxnSpPr>
            <p:nvPr/>
          </p:nvCxnSpPr>
          <p:spPr>
            <a:xfrm>
              <a:off x="10003447" y="2565962"/>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62">
              <a:extLst>
                <a:ext uri="{FF2B5EF4-FFF2-40B4-BE49-F238E27FC236}">
                  <a16:creationId xmlns:a16="http://schemas.microsoft.com/office/drawing/2014/main" id="{3D965E54-A64A-E6B7-CEA2-34CE5D54AE58}"/>
                </a:ext>
              </a:extLst>
            </p:cNvPr>
            <p:cNvSpPr txBox="1"/>
            <p:nvPr/>
          </p:nvSpPr>
          <p:spPr>
            <a:xfrm>
              <a:off x="9903434" y="2786468"/>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22" name="Rectangle 21">
              <a:extLst>
                <a:ext uri="{FF2B5EF4-FFF2-40B4-BE49-F238E27FC236}">
                  <a16:creationId xmlns:a16="http://schemas.microsoft.com/office/drawing/2014/main" id="{5DC4494B-CAD7-99AC-7D49-141FE9271445}"/>
                </a:ext>
              </a:extLst>
            </p:cNvPr>
            <p:cNvSpPr/>
            <p:nvPr/>
          </p:nvSpPr>
          <p:spPr>
            <a:xfrm>
              <a:off x="5986923" y="3175308"/>
              <a:ext cx="130187"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2CCFA6C6-2EC3-31A9-17A5-06090D22BD94}"/>
                </a:ext>
              </a:extLst>
            </p:cNvPr>
            <p:cNvCxnSpPr>
              <a:cxnSpLocks/>
            </p:cNvCxnSpPr>
            <p:nvPr/>
          </p:nvCxnSpPr>
          <p:spPr>
            <a:xfrm>
              <a:off x="6046239" y="3416640"/>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62">
              <a:extLst>
                <a:ext uri="{FF2B5EF4-FFF2-40B4-BE49-F238E27FC236}">
                  <a16:creationId xmlns:a16="http://schemas.microsoft.com/office/drawing/2014/main" id="{3FCA4F5D-A962-9FEA-7C27-99B2C954EE32}"/>
                </a:ext>
              </a:extLst>
            </p:cNvPr>
            <p:cNvSpPr txBox="1"/>
            <p:nvPr/>
          </p:nvSpPr>
          <p:spPr>
            <a:xfrm>
              <a:off x="5955102" y="3650203"/>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2776358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A6A11717-82FF-279E-95ED-AD6C7B211C51}"/>
              </a:ext>
            </a:extLst>
          </p:cNvPr>
          <p:cNvPicPr>
            <a:picLocks noChangeAspect="1"/>
          </p:cNvPicPr>
          <p:nvPr/>
        </p:nvPicPr>
        <p:blipFill>
          <a:blip r:embed="rId2"/>
          <a:stretch>
            <a:fillRect/>
          </a:stretch>
        </p:blipFill>
        <p:spPr>
          <a:xfrm>
            <a:off x="5076565" y="3855409"/>
            <a:ext cx="6691682" cy="1482515"/>
          </a:xfrm>
          <a:prstGeom prst="rect">
            <a:avLst/>
          </a:prstGeom>
        </p:spPr>
      </p:pic>
      <p:grpSp>
        <p:nvGrpSpPr>
          <p:cNvPr id="8" name="Group 7">
            <a:extLst>
              <a:ext uri="{FF2B5EF4-FFF2-40B4-BE49-F238E27FC236}">
                <a16:creationId xmlns:a16="http://schemas.microsoft.com/office/drawing/2014/main" id="{1A9389F3-069B-2FA4-ABF9-4980097C030B}"/>
              </a:ext>
            </a:extLst>
          </p:cNvPr>
          <p:cNvGrpSpPr/>
          <p:nvPr/>
        </p:nvGrpSpPr>
        <p:grpSpPr>
          <a:xfrm>
            <a:off x="5358688" y="712148"/>
            <a:ext cx="5654971" cy="2363991"/>
            <a:chOff x="5358688" y="712148"/>
            <a:chExt cx="5654971" cy="2363991"/>
          </a:xfrm>
        </p:grpSpPr>
        <p:pic>
          <p:nvPicPr>
            <p:cNvPr id="10" name="Picture 9">
              <a:extLst>
                <a:ext uri="{FF2B5EF4-FFF2-40B4-BE49-F238E27FC236}">
                  <a16:creationId xmlns:a16="http://schemas.microsoft.com/office/drawing/2014/main" id="{005B4471-9E12-D345-DE38-694F0CA9FB51}"/>
                </a:ext>
              </a:extLst>
            </p:cNvPr>
            <p:cNvPicPr>
              <a:picLocks noChangeAspect="1"/>
            </p:cNvPicPr>
            <p:nvPr/>
          </p:nvPicPr>
          <p:blipFill>
            <a:blip r:embed="rId3"/>
            <a:stretch>
              <a:fillRect/>
            </a:stretch>
          </p:blipFill>
          <p:spPr>
            <a:xfrm>
              <a:off x="5358688" y="712148"/>
              <a:ext cx="5654971" cy="2363991"/>
            </a:xfrm>
            <a:prstGeom prst="rect">
              <a:avLst/>
            </a:prstGeom>
          </p:spPr>
        </p:pic>
        <p:grpSp>
          <p:nvGrpSpPr>
            <p:cNvPr id="22" name="Group 21">
              <a:extLst>
                <a:ext uri="{FF2B5EF4-FFF2-40B4-BE49-F238E27FC236}">
                  <a16:creationId xmlns:a16="http://schemas.microsoft.com/office/drawing/2014/main" id="{77E6D442-5221-E0E4-3271-997861F97A40}"/>
                </a:ext>
              </a:extLst>
            </p:cNvPr>
            <p:cNvGrpSpPr/>
            <p:nvPr/>
          </p:nvGrpSpPr>
          <p:grpSpPr>
            <a:xfrm>
              <a:off x="5432228" y="1406287"/>
              <a:ext cx="1530054" cy="257176"/>
              <a:chOff x="-53718" y="19049"/>
              <a:chExt cx="1530092" cy="257176"/>
            </a:xfrm>
          </p:grpSpPr>
          <p:sp>
            <p:nvSpPr>
              <p:cNvPr id="31" name="Rectangle 30">
                <a:extLst>
                  <a:ext uri="{FF2B5EF4-FFF2-40B4-BE49-F238E27FC236}">
                    <a16:creationId xmlns:a16="http://schemas.microsoft.com/office/drawing/2014/main" id="{5AFDE4DE-6D24-299E-CAD6-C434B76DD620}"/>
                  </a:ext>
                </a:extLst>
              </p:cNvPr>
              <p:cNvSpPr/>
              <p:nvPr/>
            </p:nvSpPr>
            <p:spPr>
              <a:xfrm>
                <a:off x="-53718" y="19049"/>
                <a:ext cx="853818" cy="22860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2" name="Straight Arrow Connector 31">
                <a:extLst>
                  <a:ext uri="{FF2B5EF4-FFF2-40B4-BE49-F238E27FC236}">
                    <a16:creationId xmlns:a16="http://schemas.microsoft.com/office/drawing/2014/main" id="{28E88883-27CC-5140-829F-A48A597C505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Text Box 1265">
                <a:extLst>
                  <a:ext uri="{FF2B5EF4-FFF2-40B4-BE49-F238E27FC236}">
                    <a16:creationId xmlns:a16="http://schemas.microsoft.com/office/drawing/2014/main" id="{BDEB64F7-D829-2C7E-BAE1-B3023635F16E}"/>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045738"/>
            <a:ext cx="3887062"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Delete Accounts Receivable Setup Transactions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55" name="TextBox 54">
            <a:extLst>
              <a:ext uri="{FF2B5EF4-FFF2-40B4-BE49-F238E27FC236}">
                <a16:creationId xmlns:a16="http://schemas.microsoft.com/office/drawing/2014/main" id="{438989E4-F23C-F4AC-684B-2BE81114D33A}"/>
              </a:ext>
            </a:extLst>
          </p:cNvPr>
          <p:cNvSpPr txBox="1"/>
          <p:nvPr/>
        </p:nvSpPr>
        <p:spPr>
          <a:xfrm>
            <a:off x="7015965" y="3078969"/>
            <a:ext cx="3113955"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Accounts Receivable Setup–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E383EAE0-85DE-1024-7883-A0C8C1416A8B}"/>
              </a:ext>
            </a:extLst>
          </p:cNvPr>
          <p:cNvSpPr txBox="1"/>
          <p:nvPr/>
        </p:nvSpPr>
        <p:spPr>
          <a:xfrm>
            <a:off x="7146056" y="5501076"/>
            <a:ext cx="2983864"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Accounts Receivable Setup–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 Box 1291">
            <a:extLst>
              <a:ext uri="{FF2B5EF4-FFF2-40B4-BE49-F238E27FC236}">
                <a16:creationId xmlns:a16="http://schemas.microsoft.com/office/drawing/2014/main" id="{5EF25984-919D-6FB8-EBD4-F65FF2F2742D}"/>
              </a:ext>
            </a:extLst>
          </p:cNvPr>
          <p:cNvSpPr txBox="1"/>
          <p:nvPr/>
        </p:nvSpPr>
        <p:spPr>
          <a:xfrm>
            <a:off x="646986" y="1744842"/>
            <a:ext cx="4045186" cy="198888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Accounts Receivable Setup – main window, search the journal entry you wish to edit its information in the search bar.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Accounts Receivable Setup – main form, click the lookup button and select the transaction you wish to edit its information by typing its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 Box 1292">
            <a:extLst>
              <a:ext uri="{FF2B5EF4-FFF2-40B4-BE49-F238E27FC236}">
                <a16:creationId xmlns:a16="http://schemas.microsoft.com/office/drawing/2014/main" id="{48AD7BD0-05B9-15E4-FAAF-94BC0AA481E8}"/>
              </a:ext>
            </a:extLst>
          </p:cNvPr>
          <p:cNvSpPr txBox="1"/>
          <p:nvPr/>
        </p:nvSpPr>
        <p:spPr>
          <a:xfrm>
            <a:off x="646986" y="3845035"/>
            <a:ext cx="4038836" cy="49847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80340" marR="0" lvl="0" indent="0" algn="just"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delete button.</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9" name="Group 8">
            <a:extLst>
              <a:ext uri="{FF2B5EF4-FFF2-40B4-BE49-F238E27FC236}">
                <a16:creationId xmlns:a16="http://schemas.microsoft.com/office/drawing/2014/main" id="{71FBC940-599C-B40C-7251-E11F5363235C}"/>
              </a:ext>
            </a:extLst>
          </p:cNvPr>
          <p:cNvGrpSpPr/>
          <p:nvPr/>
        </p:nvGrpSpPr>
        <p:grpSpPr>
          <a:xfrm>
            <a:off x="4685822" y="3692257"/>
            <a:ext cx="5288915" cy="1501775"/>
            <a:chOff x="0" y="241300"/>
            <a:chExt cx="5288915" cy="1501775"/>
          </a:xfrm>
        </p:grpSpPr>
        <p:grpSp>
          <p:nvGrpSpPr>
            <p:cNvPr id="11" name="Group 10">
              <a:extLst>
                <a:ext uri="{FF2B5EF4-FFF2-40B4-BE49-F238E27FC236}">
                  <a16:creationId xmlns:a16="http://schemas.microsoft.com/office/drawing/2014/main" id="{19B126DB-46D9-4C49-0015-AF9E3A9A56FE}"/>
                </a:ext>
              </a:extLst>
            </p:cNvPr>
            <p:cNvGrpSpPr/>
            <p:nvPr/>
          </p:nvGrpSpPr>
          <p:grpSpPr>
            <a:xfrm>
              <a:off x="1828800" y="698500"/>
              <a:ext cx="952500" cy="247650"/>
              <a:chOff x="523874" y="28575"/>
              <a:chExt cx="952500" cy="247650"/>
            </a:xfrm>
          </p:grpSpPr>
          <p:sp>
            <p:nvSpPr>
              <p:cNvPr id="29" name="Rectangle 28">
                <a:extLst>
                  <a:ext uri="{FF2B5EF4-FFF2-40B4-BE49-F238E27FC236}">
                    <a16:creationId xmlns:a16="http://schemas.microsoft.com/office/drawing/2014/main" id="{F61B4315-4FAE-B627-4862-6A35201ED512}"/>
                  </a:ext>
                </a:extLst>
              </p:cNvPr>
              <p:cNvSpPr/>
              <p:nvPr/>
            </p:nvSpPr>
            <p:spPr>
              <a:xfrm>
                <a:off x="523874" y="28575"/>
                <a:ext cx="264921" cy="19405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45" name="Straight Arrow Connector 44">
                <a:extLst>
                  <a:ext uri="{FF2B5EF4-FFF2-40B4-BE49-F238E27FC236}">
                    <a16:creationId xmlns:a16="http://schemas.microsoft.com/office/drawing/2014/main" id="{D334A409-3BAF-0D04-12BF-A1552870670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 Box 1346">
                <a:extLst>
                  <a:ext uri="{FF2B5EF4-FFF2-40B4-BE49-F238E27FC236}">
                    <a16:creationId xmlns:a16="http://schemas.microsoft.com/office/drawing/2014/main" id="{AD08F02B-7857-62FD-B9C2-A211FA605037}"/>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12" name="Group 11">
              <a:extLst>
                <a:ext uri="{FF2B5EF4-FFF2-40B4-BE49-F238E27FC236}">
                  <a16:creationId xmlns:a16="http://schemas.microsoft.com/office/drawing/2014/main" id="{72AC10CF-B983-05CF-68D5-13DF9D91C68E}"/>
                </a:ext>
              </a:extLst>
            </p:cNvPr>
            <p:cNvGrpSpPr/>
            <p:nvPr/>
          </p:nvGrpSpPr>
          <p:grpSpPr>
            <a:xfrm>
              <a:off x="3141869" y="434690"/>
              <a:ext cx="955709" cy="263810"/>
              <a:chOff x="458993" y="88615"/>
              <a:chExt cx="955709" cy="263810"/>
            </a:xfrm>
          </p:grpSpPr>
          <p:sp>
            <p:nvSpPr>
              <p:cNvPr id="25" name="Rectangle 24">
                <a:extLst>
                  <a:ext uri="{FF2B5EF4-FFF2-40B4-BE49-F238E27FC236}">
                    <a16:creationId xmlns:a16="http://schemas.microsoft.com/office/drawing/2014/main" id="{15117BC3-D547-52F8-410D-B18561FED533}"/>
                  </a:ext>
                </a:extLst>
              </p:cNvPr>
              <p:cNvSpPr/>
              <p:nvPr/>
            </p:nvSpPr>
            <p:spPr>
              <a:xfrm>
                <a:off x="458993" y="88615"/>
                <a:ext cx="447192" cy="2190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F6B838E4-76C6-3D22-1684-B4CC0F86263E}"/>
                  </a:ext>
                </a:extLst>
              </p:cNvPr>
              <p:cNvCxnSpPr/>
              <p:nvPr/>
            </p:nvCxnSpPr>
            <p:spPr>
              <a:xfrm>
                <a:off x="900352" y="2095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1350">
                <a:extLst>
                  <a:ext uri="{FF2B5EF4-FFF2-40B4-BE49-F238E27FC236}">
                    <a16:creationId xmlns:a16="http://schemas.microsoft.com/office/drawing/2014/main" id="{473C8C95-71AC-738C-CF3D-0D6ABD90D2A4}"/>
                  </a:ext>
                </a:extLst>
              </p:cNvPr>
              <p:cNvSpPr txBox="1"/>
              <p:nvPr/>
            </p:nvSpPr>
            <p:spPr>
              <a:xfrm>
                <a:off x="1109902" y="1047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14" name="Group 13">
              <a:extLst>
                <a:ext uri="{FF2B5EF4-FFF2-40B4-BE49-F238E27FC236}">
                  <a16:creationId xmlns:a16="http://schemas.microsoft.com/office/drawing/2014/main" id="{544B1BAD-E69C-8D3A-E96B-B7E4963C87E2}"/>
                </a:ext>
              </a:extLst>
            </p:cNvPr>
            <p:cNvGrpSpPr>
              <a:grpSpLocks/>
            </p:cNvGrpSpPr>
            <p:nvPr/>
          </p:nvGrpSpPr>
          <p:grpSpPr bwMode="auto">
            <a:xfrm>
              <a:off x="2850515" y="863600"/>
              <a:ext cx="2438400" cy="879475"/>
              <a:chOff x="6116" y="177"/>
              <a:chExt cx="3840" cy="1385"/>
            </a:xfrm>
          </p:grpSpPr>
          <p:pic>
            <p:nvPicPr>
              <p:cNvPr id="23" name="Picture 22">
                <a:extLst>
                  <a:ext uri="{FF2B5EF4-FFF2-40B4-BE49-F238E27FC236}">
                    <a16:creationId xmlns:a16="http://schemas.microsoft.com/office/drawing/2014/main" id="{E0054877-F332-BECD-9C59-24D232A6CD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 Box 241">
                <a:extLst>
                  <a:ext uri="{FF2B5EF4-FFF2-40B4-BE49-F238E27FC236}">
                    <a16:creationId xmlns:a16="http://schemas.microsoft.com/office/drawing/2014/main" id="{A20640F8-5021-998C-19BD-DF55B6C7BEBB}"/>
                  </a:ext>
                </a:extLst>
              </p:cNvPr>
              <p:cNvSpPr txBox="1">
                <a:spLocks noChangeArrowheads="1"/>
              </p:cNvSpPr>
              <p:nvPr/>
            </p:nvSpPr>
            <p:spPr bwMode="auto">
              <a:xfrm>
                <a:off x="6116" y="177"/>
                <a:ext cx="3840"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20" name="Text Box 1351">
              <a:extLst>
                <a:ext uri="{FF2B5EF4-FFF2-40B4-BE49-F238E27FC236}">
                  <a16:creationId xmlns:a16="http://schemas.microsoft.com/office/drawing/2014/main" id="{1E425344-A3EE-43D9-EC90-FB47C2FF8BFD}"/>
                </a:ext>
              </a:extLst>
            </p:cNvPr>
            <p:cNvSpPr txBox="1"/>
            <p:nvPr/>
          </p:nvSpPr>
          <p:spPr>
            <a:xfrm>
              <a:off x="0" y="241300"/>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2" name="TextBox 1">
            <a:extLst>
              <a:ext uri="{FF2B5EF4-FFF2-40B4-BE49-F238E27FC236}">
                <a16:creationId xmlns:a16="http://schemas.microsoft.com/office/drawing/2014/main" id="{E2458751-11A8-96A3-D626-32A004BF5893}"/>
              </a:ext>
            </a:extLst>
          </p:cNvPr>
          <p:cNvSpPr txBox="1"/>
          <p:nvPr/>
        </p:nvSpPr>
        <p:spPr>
          <a:xfrm>
            <a:off x="193963" y="123167"/>
            <a:ext cx="4912943" cy="646331"/>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Receivable Setup</a:t>
            </a:r>
            <a:r>
              <a:rPr kumimoji="0" lang="en-US"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4E8E3A37-310A-9E48-94C2-72B1CA0CB887}"/>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798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18" name="TextBox 17">
            <a:extLst>
              <a:ext uri="{FF2B5EF4-FFF2-40B4-BE49-F238E27FC236}">
                <a16:creationId xmlns:a16="http://schemas.microsoft.com/office/drawing/2014/main" id="{22B4859C-C8DC-7A01-B785-DE22D1AFC5EE}"/>
              </a:ext>
            </a:extLst>
          </p:cNvPr>
          <p:cNvSpPr txBox="1"/>
          <p:nvPr/>
        </p:nvSpPr>
        <p:spPr>
          <a:xfrm>
            <a:off x="980600" y="1394250"/>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2" name="TextBox 1">
            <a:extLst>
              <a:ext uri="{FF2B5EF4-FFF2-40B4-BE49-F238E27FC236}">
                <a16:creationId xmlns:a16="http://schemas.microsoft.com/office/drawing/2014/main" id="{A80F8A8F-41EE-08D3-5188-D2453A268D69}"/>
              </a:ext>
            </a:extLst>
          </p:cNvPr>
          <p:cNvSpPr txBox="1"/>
          <p:nvPr/>
        </p:nvSpPr>
        <p:spPr>
          <a:xfrm>
            <a:off x="240145" y="123167"/>
            <a:ext cx="4866762" cy="646331"/>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Receivable Setup</a:t>
            </a:r>
            <a:r>
              <a:rPr kumimoji="0" lang="en-US"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44896A8F-EB21-52B9-2BBE-E0C04BFEDE3D}"/>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E3BDA422-F157-C970-B159-C0F8CD204217}"/>
              </a:ext>
            </a:extLst>
          </p:cNvPr>
          <p:cNvPicPr>
            <a:picLocks noChangeAspect="1"/>
          </p:cNvPicPr>
          <p:nvPr/>
        </p:nvPicPr>
        <p:blipFill>
          <a:blip r:embed="rId3"/>
          <a:stretch>
            <a:fillRect/>
          </a:stretch>
        </p:blipFill>
        <p:spPr>
          <a:xfrm>
            <a:off x="3101923" y="2022823"/>
            <a:ext cx="6408334" cy="2812353"/>
          </a:xfrm>
          <a:prstGeom prst="rect">
            <a:avLst/>
          </a:prstGeom>
        </p:spPr>
      </p:pic>
    </p:spTree>
    <p:extLst>
      <p:ext uri="{BB962C8B-B14F-4D97-AF65-F5344CB8AC3E}">
        <p14:creationId xmlns:p14="http://schemas.microsoft.com/office/powerpoint/2010/main" val="268847682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TotalTime>
  <Words>1068</Words>
  <Application>Microsoft Office PowerPoint</Application>
  <PresentationFormat>Widescreen</PresentationFormat>
  <Paragraphs>146</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Animosa Extra Bold</vt:lpstr>
      <vt:lpstr>Arial</vt:lpstr>
      <vt:lpstr>Bahnschrift Condensed</vt:lpstr>
      <vt:lpstr>Bodoni MT Condensed</vt:lpstr>
      <vt:lpstr>Calibri</vt:lpstr>
      <vt:lpstr>Calibri Light</vt:lpstr>
      <vt:lpstr>Century Gothic</vt:lpstr>
      <vt:lpstr>Chivo Light</vt:lpstr>
      <vt:lpstr>Verdana</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5</cp:revision>
  <dcterms:created xsi:type="dcterms:W3CDTF">2023-01-12T07:15:20Z</dcterms:created>
  <dcterms:modified xsi:type="dcterms:W3CDTF">2023-01-12T09:41:41Z</dcterms:modified>
</cp:coreProperties>
</file>