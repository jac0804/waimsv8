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67" r:id="rId2"/>
    <p:sldId id="368" r:id="rId3"/>
    <p:sldId id="369" r:id="rId4"/>
    <p:sldId id="370" r:id="rId5"/>
    <p:sldId id="378" r:id="rId6"/>
    <p:sldId id="379" r:id="rId7"/>
    <p:sldId id="380" r:id="rId8"/>
    <p:sldId id="401" r:id="rId9"/>
    <p:sldId id="381" r:id="rId10"/>
    <p:sldId id="402" r:id="rId11"/>
    <p:sldId id="38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1" d="100"/>
          <a:sy n="111" d="100"/>
        </p:scale>
        <p:origin x="456" y="1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5T07:03:13.387"/>
    </inkml:context>
    <inkml:brush xml:id="br0">
      <inkml:brushProperty name="width" value="0.05" units="cm"/>
      <inkml:brushProperty name="height" value="0.05" units="cm"/>
    </inkml:brush>
  </inkml:definitions>
  <inkml:trace contextRef="#ctx0" brushRef="#br0">32 29 32767,'0'0'0,"0"7"0,-31-43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5T07:03:13.387"/>
    </inkml:context>
    <inkml:brush xml:id="br0">
      <inkml:brushProperty name="width" value="0.05" units="cm"/>
      <inkml:brushProperty name="height" value="0.05" units="cm"/>
    </inkml:brush>
  </inkml:definitions>
  <inkml:trace contextRef="#ctx0" brushRef="#br0">32 29 32767,'0'0'0,"0"7"0,-31-43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2C6C0FA6-4BE5-4630-BD3F-BA92F18B1BA2}" type="datetimeFigureOut">
              <a:rPr lang="en-US" smtClean="0"/>
              <a:t>1/13/2023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227150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2C6C0FA6-4BE5-4630-BD3F-BA92F18B1BA2}" type="datetimeFigureOut">
              <a:rPr lang="en-US" smtClean="0"/>
              <a:t>1/13/2023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164191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2C6C0FA6-4BE5-4630-BD3F-BA92F18B1BA2}" type="datetimeFigureOut">
              <a:rPr lang="en-US" smtClean="0"/>
              <a:t>1/13/2023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726421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2C6C0FA6-4BE5-4630-BD3F-BA92F18B1BA2}" type="datetimeFigureOut">
              <a:rPr lang="en-US" smtClean="0"/>
              <a:t>1/13/2023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657531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2C6C0FA6-4BE5-4630-BD3F-BA92F18B1BA2}" type="datetimeFigureOut">
              <a:rPr lang="en-US" smtClean="0"/>
              <a:t>1/13/2023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809968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2C6C0FA6-4BE5-4630-BD3F-BA92F18B1BA2}" type="datetimeFigureOut">
              <a:rPr lang="en-US" smtClean="0"/>
              <a:t>1/13/2023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55387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C6C0FA6-4BE5-4630-BD3F-BA92F18B1BA2}" type="datetimeFigureOut">
              <a:rPr lang="en-US" smtClean="0"/>
              <a:t>1/13/2023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589462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2C6C0FA6-4BE5-4630-BD3F-BA92F18B1BA2}" type="datetimeFigureOut">
              <a:rPr lang="en-US" smtClean="0"/>
              <a:t>1/13/2023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828443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2C6C0FA6-4BE5-4630-BD3F-BA92F18B1BA2}" type="datetimeFigureOut">
              <a:rPr lang="en-US" smtClean="0"/>
              <a:t>1/13/2023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962424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2C6C0FA6-4BE5-4630-BD3F-BA92F18B1BA2}" type="datetimeFigureOut">
              <a:rPr lang="en-US" smtClean="0"/>
              <a:t>1/13/2023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217425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2C6C0FA6-4BE5-4630-BD3F-BA92F18B1BA2}" type="datetimeFigureOut">
              <a:rPr lang="en-US" smtClean="0"/>
              <a:t>1/13/2023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8404943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6C0FA6-4BE5-4630-BD3F-BA92F18B1BA2}" type="datetimeFigureOut">
              <a:rPr lang="en-US" smtClean="0"/>
              <a:t>1/13/2023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32840796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7" Type="http://schemas.openxmlformats.org/officeDocument/2006/relationships/image" Target="../media/image5.png"/><Relationship Id="rId2" Type="http://schemas.openxmlformats.org/officeDocument/2006/relationships/customXml" Target="../ink/ink1.xml"/><Relationship Id="rId1" Type="http://schemas.openxmlformats.org/officeDocument/2006/relationships/slideLayout" Target="../slideLayouts/slideLayout6.xml"/><Relationship Id="rId6" Type="http://schemas.openxmlformats.org/officeDocument/2006/relationships/image" Target="../media/image40.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5" Type="http://schemas.openxmlformats.org/officeDocument/2006/relationships/image" Target="../media/image9.emf"/><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customXml" Target="../ink/ink2.xml"/><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17.emf"/><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2539407" y="2055283"/>
            <a:ext cx="7113183" cy="1569660"/>
          </a:xfrm>
          <a:prstGeom prst="rect">
            <a:avLst/>
          </a:prstGeom>
          <a:noFill/>
          <a:effectLst/>
        </p:spPr>
        <p:txBody>
          <a:bodyPr wrap="square" rtlCol="0">
            <a:spAutoFit/>
          </a:bodyPr>
          <a:lstStyle/>
          <a:p>
            <a:pPr algn="ctr"/>
            <a:r>
              <a:rPr lang="en-US" sz="9600" b="1" dirty="0">
                <a:solidFill>
                  <a:srgbClr val="00B050"/>
                </a:solidFill>
                <a:latin typeface="Bodoni MT Condensed" panose="02070606080606020203" pitchFamily="18" charset="0"/>
              </a:rPr>
              <a:t>Credit Memo</a:t>
            </a:r>
            <a:endParaRPr lang="en-US" sz="9600" dirty="0">
              <a:solidFill>
                <a:srgbClr val="00B050"/>
              </a:solidFill>
              <a:latin typeface="Bodoni MT Condensed" panose="02070606080606020203" pitchFamily="18" charset="0"/>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chemeClr val="bg1"/>
              </a:solidFill>
              <a:ea typeface="Open Sans" panose="020B0606030504020204" pitchFamily="34" charset="0"/>
              <a:cs typeface="Times New Roman" panose="02020603050405020304" pitchFamily="18" charset="0"/>
            </a:endParaRPr>
          </a:p>
          <a:p>
            <a:pPr marL="0" marR="0" algn="ctr">
              <a:lnSpc>
                <a:spcPct val="107000"/>
              </a:lnSpc>
              <a:spcBef>
                <a:spcPts val="0"/>
              </a:spcBef>
              <a:spcAft>
                <a:spcPts val="800"/>
              </a:spcAft>
            </a:pPr>
            <a:r>
              <a:rPr lang="en-US" sz="1400" dirty="0">
                <a:solidFill>
                  <a:schemeClr val="bg1"/>
                </a:solidFill>
                <a:ea typeface="Open Sans" panose="020B0606030504020204" pitchFamily="34" charset="0"/>
                <a:cs typeface="Times New Roman" panose="02020603050405020304" pitchFamily="18" charset="0"/>
              </a:rPr>
              <a:t>Credit memo is a module where adjustments to decrease receivables is recorded.</a:t>
            </a:r>
            <a:endParaRPr lang="en-US" sz="1400" dirty="0">
              <a:solidFill>
                <a:srgbClr val="007434"/>
              </a:solidFill>
              <a:effectLst/>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1141077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Credit Memo</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106925"/>
            <a:ext cx="3887062" cy="338554"/>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Main Window</a:t>
            </a:r>
            <a:endParaRPr lang="en-US" sz="2000" dirty="0">
              <a:solidFill>
                <a:srgbClr val="007434"/>
              </a:solidFill>
              <a:latin typeface="Calibri Light" panose="020F0302020204030204" pitchFamily="34" charset="0"/>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579626"/>
            <a:ext cx="3887062" cy="1271768"/>
          </a:xfrm>
          <a:prstGeom prst="rect">
            <a:avLst/>
          </a:prstGeom>
          <a:noFill/>
          <a:ln w="6350">
            <a:solidFill>
              <a:schemeClr val="bg2"/>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a:lnSpc>
                <a:spcPct val="107000"/>
              </a:lnSpc>
              <a:spcBef>
                <a:spcPts val="190"/>
              </a:spcBef>
              <a:spcAft>
                <a:spcPts val="80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When you click the Credit Memo module under Accounting, Credit Memo transactions list will display based on filtered date and status in the credit memo - main window.</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119936" y="4161900"/>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latin typeface="Calibri" panose="020F0502020204030204" pitchFamily="34" charset="0"/>
                <a:ea typeface="Calibri" panose="020F0502020204030204" pitchFamily="34" charset="0"/>
                <a:cs typeface="Calibri" panose="020F0502020204030204" pitchFamily="34" charset="0"/>
              </a:rPr>
              <a:t>Credit Memo </a:t>
            </a:r>
            <a:r>
              <a:rPr lang="en-PH" sz="1200" b="1" dirty="0">
                <a:effectLst/>
                <a:latin typeface="Calibri" panose="020F0502020204030204" pitchFamily="34" charset="0"/>
                <a:ea typeface="Calibri" panose="020F0502020204030204" pitchFamily="34" charset="0"/>
                <a:cs typeface="Calibri" panose="020F0502020204030204" pitchFamily="34" charset="0"/>
              </a:rPr>
              <a:t>–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12" name="Slide Number Placeholder 9">
            <a:extLst>
              <a:ext uri="{FF2B5EF4-FFF2-40B4-BE49-F238E27FC236}">
                <a16:creationId xmlns:a16="http://schemas.microsoft.com/office/drawing/2014/main" id="{5604AD2D-C9EF-A4FB-EAE8-D0079B2FE9DB}"/>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pic>
        <p:nvPicPr>
          <p:cNvPr id="2" name="Picture 1">
            <a:extLst>
              <a:ext uri="{FF2B5EF4-FFF2-40B4-BE49-F238E27FC236}">
                <a16:creationId xmlns:a16="http://schemas.microsoft.com/office/drawing/2014/main" id="{415C00ED-8F47-E749-C0FE-08599F4DB5F5}"/>
              </a:ext>
            </a:extLst>
          </p:cNvPr>
          <p:cNvPicPr>
            <a:picLocks noChangeAspect="1"/>
          </p:cNvPicPr>
          <p:nvPr/>
        </p:nvPicPr>
        <p:blipFill>
          <a:blip r:embed="rId3"/>
          <a:stretch>
            <a:fillRect/>
          </a:stretch>
        </p:blipFill>
        <p:spPr bwMode="auto">
          <a:xfrm>
            <a:off x="5197545" y="2106925"/>
            <a:ext cx="6189345" cy="1890395"/>
          </a:xfrm>
          <a:prstGeom prst="rect">
            <a:avLst/>
          </a:prstGeom>
          <a:noFill/>
          <a:ln w="9525">
            <a:noFill/>
            <a:miter lim="800000"/>
            <a:headEnd/>
            <a:tailEnd/>
          </a:ln>
        </p:spPr>
      </p:pic>
      <p:sp>
        <p:nvSpPr>
          <p:cNvPr id="5" name="Rectangle 4">
            <a:extLst>
              <a:ext uri="{FF2B5EF4-FFF2-40B4-BE49-F238E27FC236}">
                <a16:creationId xmlns:a16="http://schemas.microsoft.com/office/drawing/2014/main" id="{7B84BE14-0578-363B-C00C-7930F161CB17}"/>
              </a:ext>
            </a:extLst>
          </p:cNvPr>
          <p:cNvSpPr>
            <a:spLocks noChangeArrowheads="1"/>
          </p:cNvSpPr>
          <p:nvPr/>
        </p:nvSpPr>
        <p:spPr bwMode="auto">
          <a:xfrm>
            <a:off x="5197545" y="3595543"/>
            <a:ext cx="965200" cy="16827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cxnSp>
        <p:nvCxnSpPr>
          <p:cNvPr id="9221" name="AutoShape 5">
            <a:extLst>
              <a:ext uri="{FF2B5EF4-FFF2-40B4-BE49-F238E27FC236}">
                <a16:creationId xmlns:a16="http://schemas.microsoft.com/office/drawing/2014/main" id="{D783C15F-D778-037A-E2E4-AAFFC6DD4CE9}"/>
              </a:ext>
            </a:extLst>
          </p:cNvPr>
          <p:cNvCxnSpPr>
            <a:cxnSpLocks noChangeShapeType="1"/>
          </p:cNvCxnSpPr>
          <p:nvPr/>
        </p:nvCxnSpPr>
        <p:spPr bwMode="auto">
          <a:xfrm flipV="1">
            <a:off x="6165920" y="3633643"/>
            <a:ext cx="152400" cy="42862"/>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7" name="Rectangle 6">
            <a:extLst>
              <a:ext uri="{FF2B5EF4-FFF2-40B4-BE49-F238E27FC236}">
                <a16:creationId xmlns:a16="http://schemas.microsoft.com/office/drawing/2014/main" id="{CF89A758-D51C-0A46-1E81-070F3F0AA4B6}"/>
              </a:ext>
            </a:extLst>
          </p:cNvPr>
          <p:cNvSpPr>
            <a:spLocks noChangeArrowheads="1"/>
          </p:cNvSpPr>
          <p:nvPr/>
        </p:nvSpPr>
        <p:spPr bwMode="auto">
          <a:xfrm>
            <a:off x="6337998" y="3144438"/>
            <a:ext cx="4946650" cy="56356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Tree>
    <p:extLst>
      <p:ext uri="{BB962C8B-B14F-4D97-AF65-F5344CB8AC3E}">
        <p14:creationId xmlns:p14="http://schemas.microsoft.com/office/powerpoint/2010/main" val="3046524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867115" y="1222309"/>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Create Credit Notes?</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805110" y="1817822"/>
            <a:ext cx="3914824" cy="199848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0" algn="just">
              <a:lnSpc>
                <a:spcPct val="115000"/>
              </a:lnSpc>
              <a:spcBef>
                <a:spcPts val="0"/>
              </a:spcBef>
              <a:spcAft>
                <a:spcPts val="0"/>
              </a:spcAft>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In Credit Memo – Main Window, you will notice a create button in the upper left of the window. Click the create button and you will be redirect in credit memo – main form.</a:t>
            </a:r>
          </a:p>
          <a:p>
            <a:pPr marR="0" lvl="0" algn="just">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buSzPts val="1200"/>
            </a:pPr>
            <a:r>
              <a:rPr lang="en-US" sz="11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2</a:t>
            </a:r>
            <a:r>
              <a:rPr lang="en-US" sz="11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a:t>
            </a:r>
            <a:r>
              <a:rPr lang="en-US" sz="1100" b="1"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click the create button a dialog box will pop out with a list of customer. Search and select a customer.</a:t>
            </a:r>
            <a:endParaRPr lang="en-US" sz="11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buSzPts val="1200"/>
            </a:pPr>
            <a:endParaRPr lang="en-US" sz="1100" dirty="0">
              <a:latin typeface="Chivo Light" panose="020B0303030202020804" pitchFamily="34" charset="0"/>
              <a:ea typeface="Calibri" panose="020F0502020204030204" pitchFamily="34" charset="0"/>
              <a:cs typeface="Times New Roman" panose="02020603050405020304" pitchFamily="18" charset="0"/>
            </a:endParaRPr>
          </a:p>
          <a:p>
            <a:pPr marR="0" lvl="0" algn="just">
              <a:lnSpc>
                <a:spcPct val="115000"/>
              </a:lnSpc>
              <a:spcBef>
                <a:spcPts val="0"/>
              </a:spcBef>
              <a:spcAft>
                <a:spcPts val="0"/>
              </a:spcAft>
              <a:buSzPts val="1200"/>
            </a:pP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228600">
              <a:lnSpc>
                <a:spcPct val="115000"/>
              </a:lnSpc>
              <a:spcBef>
                <a:spcPts val="0"/>
              </a:spcBef>
              <a:spcAft>
                <a:spcPts val="0"/>
              </a:spcAft>
              <a:buAutoNum type="arabicPeriod"/>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5" name="Text Box 1197">
            <a:extLst>
              <a:ext uri="{FF2B5EF4-FFF2-40B4-BE49-F238E27FC236}">
                <a16:creationId xmlns:a16="http://schemas.microsoft.com/office/drawing/2014/main" id="{43122292-BD35-48F3-6B03-509A04780B35}"/>
              </a:ext>
            </a:extLst>
          </p:cNvPr>
          <p:cNvSpPr txBox="1"/>
          <p:nvPr/>
        </p:nvSpPr>
        <p:spPr>
          <a:xfrm>
            <a:off x="805110" y="3944974"/>
            <a:ext cx="3914825" cy="126313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3.</a:t>
            </a:r>
            <a:r>
              <a:rPr lang="en-US" sz="1200" b="1"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select a customer, you will be redirect in credit memo – main form where you will encode other necessary information of the transaction and record the adjustment entry</a:t>
            </a: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Slide Number Placeholder 9">
            <a:extLst>
              <a:ext uri="{FF2B5EF4-FFF2-40B4-BE49-F238E27FC236}">
                <a16:creationId xmlns:a16="http://schemas.microsoft.com/office/drawing/2014/main" id="{8C775271-D51F-AE1E-A7FB-210C633F293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2" name="TextBox 1">
            <a:extLst>
              <a:ext uri="{FF2B5EF4-FFF2-40B4-BE49-F238E27FC236}">
                <a16:creationId xmlns:a16="http://schemas.microsoft.com/office/drawing/2014/main" id="{06093C44-07AA-FAAC-EC2A-D64D46FC1792}"/>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Credit Memo</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grpSp>
        <p:nvGrpSpPr>
          <p:cNvPr id="16" name="Group 15">
            <a:extLst>
              <a:ext uri="{FF2B5EF4-FFF2-40B4-BE49-F238E27FC236}">
                <a16:creationId xmlns:a16="http://schemas.microsoft.com/office/drawing/2014/main" id="{FF0AADDF-0ED8-394A-5751-36AA6B787D8F}"/>
              </a:ext>
            </a:extLst>
          </p:cNvPr>
          <p:cNvGrpSpPr/>
          <p:nvPr/>
        </p:nvGrpSpPr>
        <p:grpSpPr>
          <a:xfrm>
            <a:off x="5332396" y="539069"/>
            <a:ext cx="12192000" cy="1589088"/>
            <a:chOff x="0" y="0"/>
            <a:chExt cx="12192000" cy="1589088"/>
          </a:xfrm>
        </p:grpSpPr>
        <p:pic>
          <p:nvPicPr>
            <p:cNvPr id="7173" name="Picture 1297">
              <a:extLst>
                <a:ext uri="{FF2B5EF4-FFF2-40B4-BE49-F238E27FC236}">
                  <a16:creationId xmlns:a16="http://schemas.microsoft.com/office/drawing/2014/main" id="{73D390FA-EC5F-13DC-5956-E2DCB10F5D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350" y="663575"/>
              <a:ext cx="5680075" cy="925513"/>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1">
              <a:extLst>
                <a:ext uri="{FF2B5EF4-FFF2-40B4-BE49-F238E27FC236}">
                  <a16:creationId xmlns:a16="http://schemas.microsoft.com/office/drawing/2014/main" id="{49B8CCA6-9595-9610-D9A0-A38B20970F27}"/>
                </a:ext>
              </a:extLst>
            </p:cNvPr>
            <p:cNvGrpSpPr>
              <a:grpSpLocks/>
            </p:cNvGrpSpPr>
            <p:nvPr/>
          </p:nvGrpSpPr>
          <p:grpSpPr bwMode="auto">
            <a:xfrm>
              <a:off x="176213" y="904875"/>
              <a:ext cx="1209675" cy="276225"/>
              <a:chOff x="0" y="0"/>
              <a:chExt cx="12096" cy="2762"/>
            </a:xfrm>
          </p:grpSpPr>
          <p:sp>
            <p:nvSpPr>
              <p:cNvPr id="6" name="Rectangle 1194">
                <a:extLst>
                  <a:ext uri="{FF2B5EF4-FFF2-40B4-BE49-F238E27FC236}">
                    <a16:creationId xmlns:a16="http://schemas.microsoft.com/office/drawing/2014/main" id="{E1715CB4-700E-C77B-44ED-424B0A722DAB}"/>
                  </a:ext>
                </a:extLst>
              </p:cNvPr>
              <p:cNvSpPr>
                <a:spLocks noChangeArrowheads="1"/>
              </p:cNvSpPr>
              <p:nvPr/>
            </p:nvSpPr>
            <p:spPr bwMode="auto">
              <a:xfrm>
                <a:off x="0" y="0"/>
                <a:ext cx="8001" cy="2256"/>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8" name="Straight Arrow Connector 1195">
                <a:extLst>
                  <a:ext uri="{FF2B5EF4-FFF2-40B4-BE49-F238E27FC236}">
                    <a16:creationId xmlns:a16="http://schemas.microsoft.com/office/drawing/2014/main" id="{21B1C278-F2AA-433A-46CB-C701B22BAD74}"/>
                  </a:ext>
                </a:extLst>
              </p:cNvPr>
              <p:cNvSpPr>
                <a:spLocks noChangeShapeType="1"/>
              </p:cNvSpPr>
              <p:nvPr/>
            </p:nvSpPr>
            <p:spPr bwMode="auto">
              <a:xfrm>
                <a:off x="8001" y="1333"/>
                <a:ext cx="2000" cy="9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Text Box 1196">
                <a:extLst>
                  <a:ext uri="{FF2B5EF4-FFF2-40B4-BE49-F238E27FC236}">
                    <a16:creationId xmlns:a16="http://schemas.microsoft.com/office/drawing/2014/main" id="{44946C0C-DDE2-5B6D-B84C-019C65630725}"/>
                  </a:ext>
                </a:extLst>
              </p:cNvPr>
              <p:cNvSpPr txBox="1">
                <a:spLocks noChangeArrowheads="1"/>
              </p:cNvSpPr>
              <p:nvPr/>
            </p:nvSpPr>
            <p:spPr bwMode="auto">
              <a:xfrm>
                <a:off x="10096" y="285"/>
                <a:ext cx="2000" cy="2477"/>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10" name="Rectangle 6">
              <a:extLst>
                <a:ext uri="{FF2B5EF4-FFF2-40B4-BE49-F238E27FC236}">
                  <a16:creationId xmlns:a16="http://schemas.microsoft.com/office/drawing/2014/main" id="{B8A22CA7-37F1-1367-E51B-484036FF7ED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Rectangle 8">
              <a:extLst>
                <a:ext uri="{FF2B5EF4-FFF2-40B4-BE49-F238E27FC236}">
                  <a16:creationId xmlns:a16="http://schemas.microsoft.com/office/drawing/2014/main" id="{931101CA-4D19-A12A-464F-8C4EC440F158}"/>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grpSp>
        <p:nvGrpSpPr>
          <p:cNvPr id="29" name="Group 28">
            <a:extLst>
              <a:ext uri="{FF2B5EF4-FFF2-40B4-BE49-F238E27FC236}">
                <a16:creationId xmlns:a16="http://schemas.microsoft.com/office/drawing/2014/main" id="{E5C2248F-F705-6753-4B7E-1918A08C874F}"/>
              </a:ext>
            </a:extLst>
          </p:cNvPr>
          <p:cNvGrpSpPr/>
          <p:nvPr/>
        </p:nvGrpSpPr>
        <p:grpSpPr>
          <a:xfrm>
            <a:off x="5208206" y="2334531"/>
            <a:ext cx="12192000" cy="3090863"/>
            <a:chOff x="0" y="0"/>
            <a:chExt cx="12192000" cy="3090863"/>
          </a:xfrm>
        </p:grpSpPr>
        <p:pic>
          <p:nvPicPr>
            <p:cNvPr id="7183" name="Picture 7">
              <a:extLst>
                <a:ext uri="{FF2B5EF4-FFF2-40B4-BE49-F238E27FC236}">
                  <a16:creationId xmlns:a16="http://schemas.microsoft.com/office/drawing/2014/main" id="{51D8EEDF-E502-C71D-95A5-1ADE734934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 y="582613"/>
              <a:ext cx="5889625" cy="2508250"/>
            </a:xfrm>
            <a:prstGeom prst="rect">
              <a:avLst/>
            </a:prstGeom>
            <a:noFill/>
            <a:extLst>
              <a:ext uri="{909E8E84-426E-40DD-AFC4-6F175D3DCCD1}">
                <a14:hiddenFill xmlns:a14="http://schemas.microsoft.com/office/drawing/2010/main">
                  <a:solidFill>
                    <a:srgbClr val="FFFFFF"/>
                  </a:solidFill>
                </a14:hiddenFill>
              </a:ext>
            </a:extLst>
          </p:spPr>
        </p:pic>
        <p:sp>
          <p:nvSpPr>
            <p:cNvPr id="18" name="Text Box 9">
              <a:extLst>
                <a:ext uri="{FF2B5EF4-FFF2-40B4-BE49-F238E27FC236}">
                  <a16:creationId xmlns:a16="http://schemas.microsoft.com/office/drawing/2014/main" id="{90576618-B125-AFFF-456A-2579CC15A1DD}"/>
                </a:ext>
              </a:extLst>
            </p:cNvPr>
            <p:cNvSpPr txBox="1">
              <a:spLocks noChangeArrowheads="1"/>
            </p:cNvSpPr>
            <p:nvPr/>
          </p:nvSpPr>
          <p:spPr bwMode="auto">
            <a:xfrm>
              <a:off x="862013" y="1616076"/>
              <a:ext cx="2828684" cy="668528"/>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lvl1pPr eaLnBrk="0" fontAlgn="base" hangingPunct="0">
                <a:spcBef>
                  <a:spcPct val="0"/>
                </a:spcBef>
                <a:spcAft>
                  <a:spcPct val="0"/>
                </a:spcAft>
                <a:tabLst>
                  <a:tab pos="203200" algn="l"/>
                </a:tabLst>
                <a:defRPr>
                  <a:solidFill>
                    <a:schemeClr val="tx1"/>
                  </a:solidFill>
                  <a:latin typeface="Arial" panose="020B0604020202020204" pitchFamily="34" charset="0"/>
                </a:defRPr>
              </a:lvl1pPr>
              <a:lvl2pPr eaLnBrk="0" fontAlgn="base" hangingPunct="0">
                <a:spcBef>
                  <a:spcPct val="0"/>
                </a:spcBef>
                <a:spcAft>
                  <a:spcPct val="0"/>
                </a:spcAft>
                <a:tabLst>
                  <a:tab pos="203200" algn="l"/>
                </a:tabLst>
                <a:defRPr>
                  <a:solidFill>
                    <a:schemeClr val="tx1"/>
                  </a:solidFill>
                  <a:latin typeface="Arial" panose="020B0604020202020204" pitchFamily="34" charset="0"/>
                </a:defRPr>
              </a:lvl2pPr>
              <a:lvl3pPr eaLnBrk="0" fontAlgn="base" hangingPunct="0">
                <a:spcBef>
                  <a:spcPct val="0"/>
                </a:spcBef>
                <a:spcAft>
                  <a:spcPct val="0"/>
                </a:spcAft>
                <a:tabLst>
                  <a:tab pos="203200" algn="l"/>
                </a:tabLst>
                <a:defRPr>
                  <a:solidFill>
                    <a:schemeClr val="tx1"/>
                  </a:solidFill>
                  <a:latin typeface="Arial" panose="020B0604020202020204" pitchFamily="34" charset="0"/>
                </a:defRPr>
              </a:lvl3pPr>
              <a:lvl4pPr eaLnBrk="0" fontAlgn="base" hangingPunct="0">
                <a:spcBef>
                  <a:spcPct val="0"/>
                </a:spcBef>
                <a:spcAft>
                  <a:spcPct val="0"/>
                </a:spcAft>
                <a:tabLst>
                  <a:tab pos="203200" algn="l"/>
                </a:tabLst>
                <a:defRPr>
                  <a:solidFill>
                    <a:schemeClr val="tx1"/>
                  </a:solidFill>
                  <a:latin typeface="Arial" panose="020B0604020202020204" pitchFamily="34" charset="0"/>
                </a:defRPr>
              </a:lvl4pPr>
              <a:lvl5pPr eaLnBrk="0" fontAlgn="base" hangingPunct="0">
                <a:spcBef>
                  <a:spcPct val="0"/>
                </a:spcBef>
                <a:spcAft>
                  <a:spcPct val="0"/>
                </a:spcAft>
                <a:tabLst>
                  <a:tab pos="203200" algn="l"/>
                </a:tabLst>
                <a:defRPr>
                  <a:solidFill>
                    <a:schemeClr val="tx1"/>
                  </a:solidFill>
                  <a:latin typeface="Arial" panose="020B0604020202020204" pitchFamily="34" charset="0"/>
                </a:defRPr>
              </a:lvl5pPr>
              <a:lvl6pPr eaLnBrk="0" fontAlgn="base" hangingPunct="0">
                <a:spcBef>
                  <a:spcPct val="0"/>
                </a:spcBef>
                <a:spcAft>
                  <a:spcPct val="0"/>
                </a:spcAft>
                <a:tabLst>
                  <a:tab pos="203200" algn="l"/>
                </a:tabLst>
                <a:defRPr>
                  <a:solidFill>
                    <a:schemeClr val="tx1"/>
                  </a:solidFill>
                  <a:latin typeface="Arial" panose="020B0604020202020204" pitchFamily="34" charset="0"/>
                </a:defRPr>
              </a:lvl6pPr>
              <a:lvl7pPr eaLnBrk="0" fontAlgn="base" hangingPunct="0">
                <a:spcBef>
                  <a:spcPct val="0"/>
                </a:spcBef>
                <a:spcAft>
                  <a:spcPct val="0"/>
                </a:spcAft>
                <a:tabLst>
                  <a:tab pos="203200" algn="l"/>
                </a:tabLst>
                <a:defRPr>
                  <a:solidFill>
                    <a:schemeClr val="tx1"/>
                  </a:solidFill>
                  <a:latin typeface="Arial" panose="020B0604020202020204" pitchFamily="34" charset="0"/>
                </a:defRPr>
              </a:lvl7pPr>
              <a:lvl8pPr eaLnBrk="0" fontAlgn="base" hangingPunct="0">
                <a:spcBef>
                  <a:spcPct val="0"/>
                </a:spcBef>
                <a:spcAft>
                  <a:spcPct val="0"/>
                </a:spcAft>
                <a:tabLst>
                  <a:tab pos="203200" algn="l"/>
                </a:tabLst>
                <a:defRPr>
                  <a:solidFill>
                    <a:schemeClr val="tx1"/>
                  </a:solidFill>
                  <a:latin typeface="Arial" panose="020B0604020202020204" pitchFamily="34" charset="0"/>
                </a:defRPr>
              </a:lvl8pPr>
              <a:lvl9pPr eaLnBrk="0" fontAlgn="base" hangingPunct="0">
                <a:spcBef>
                  <a:spcPct val="0"/>
                </a:spcBef>
                <a:spcAft>
                  <a:spcPct val="0"/>
                </a:spcAft>
                <a:tabLst>
                  <a:tab pos="203200" algn="l"/>
                </a:tabLst>
                <a:defRPr>
                  <a:solidFill>
                    <a:schemeClr val="tx1"/>
                  </a:solidFill>
                  <a:latin typeface="Arial" panose="020B0604020202020204" pitchFamily="34" charset="0"/>
                </a:defRPr>
              </a:lvl9pPr>
            </a:lstStyle>
            <a:p>
              <a:pPr marL="179388" marR="0" lvl="0" algn="l" defTabSz="914400" rtl="0" eaLnBrk="0" fontAlgn="base" latinLnBrk="0" hangingPunct="0">
                <a:lnSpc>
                  <a:spcPct val="100000"/>
                </a:lnSpc>
                <a:spcBef>
                  <a:spcPct val="0"/>
                </a:spcBef>
                <a:spcAft>
                  <a:spcPct val="0"/>
                </a:spcAft>
                <a:buClrTx/>
                <a:buSzTx/>
                <a:buFontTx/>
                <a:buNone/>
                <a:tabLst>
                  <a:tab pos="203200" algn="l"/>
                </a:tabLst>
              </a:pPr>
              <a:r>
                <a:rPr kumimoji="0" lang="en-PH" altLang="en-US" sz="1000" b="0" i="1" u="none" strike="noStrike" cap="none" normalizeH="0" baseline="0" dirty="0">
                  <a:ln>
                    <a:noFill/>
                  </a:ln>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search customer?</a:t>
              </a:r>
              <a:endParaRPr kumimoji="0" lang="en-PH" altLang="en-US" sz="400" b="0" i="0" u="none" strike="noStrike" cap="none" normalizeH="0" baseline="0" dirty="0">
                <a:ln>
                  <a:noFill/>
                </a:ln>
                <a:solidFill>
                  <a:schemeClr val="tx1"/>
                </a:solidFill>
                <a:effectLst/>
              </a:endParaRPr>
            </a:p>
            <a:p>
              <a:pPr marL="442913" marR="0" lvl="0" indent="-179388" algn="l" defTabSz="914400" rtl="0" eaLnBrk="0" fontAlgn="base" latinLnBrk="0" hangingPunct="0">
                <a:lnSpc>
                  <a:spcPct val="100000"/>
                </a:lnSpc>
                <a:spcBef>
                  <a:spcPct val="0"/>
                </a:spcBef>
                <a:spcAft>
                  <a:spcPct val="0"/>
                </a:spcAft>
                <a:buClrTx/>
                <a:buSzTx/>
                <a:buFont typeface="+mj-lt"/>
                <a:buAutoNum type="arabicPeriod"/>
                <a:tabLst/>
              </a:pPr>
              <a:r>
                <a:rPr kumimoji="0" lang="en-PH" altLang="en-US" sz="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Type the customer name in the search bar.</a:t>
              </a:r>
              <a:endParaRPr kumimoji="0" lang="en-PH" altLang="en-US" sz="400" b="0" i="0" u="none" strike="noStrike" cap="none" normalizeH="0" baseline="0" dirty="0">
                <a:ln>
                  <a:noFill/>
                </a:ln>
                <a:solidFill>
                  <a:schemeClr val="tx1"/>
                </a:solidFill>
                <a:effectLst/>
              </a:endParaRPr>
            </a:p>
            <a:p>
              <a:pPr marL="442913" marR="0" lvl="0" indent="-179388" algn="l" defTabSz="914400" rtl="0" eaLnBrk="0" fontAlgn="base" latinLnBrk="0" hangingPunct="0">
                <a:lnSpc>
                  <a:spcPct val="100000"/>
                </a:lnSpc>
                <a:spcBef>
                  <a:spcPct val="0"/>
                </a:spcBef>
                <a:spcAft>
                  <a:spcPct val="0"/>
                </a:spcAft>
                <a:buClrTx/>
                <a:buSzTx/>
                <a:buFont typeface="+mj-lt"/>
                <a:buAutoNum type="arabicPeriod"/>
                <a:tabLst/>
              </a:pPr>
              <a:r>
                <a:rPr kumimoji="0" lang="en-PH" altLang="en-US" sz="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And it will automatically sort out.</a:t>
              </a:r>
              <a:endParaRPr kumimoji="0" lang="en-PH" altLang="en-US" sz="400" b="0" i="0" u="none" strike="noStrike" cap="none" normalizeH="0" baseline="0" dirty="0">
                <a:ln>
                  <a:noFill/>
                </a:ln>
                <a:solidFill>
                  <a:schemeClr val="tx1"/>
                </a:solidFill>
                <a:effectLst/>
              </a:endParaRPr>
            </a:p>
            <a:p>
              <a:pPr marL="442913" marR="0" lvl="0" indent="-179388" algn="l" defTabSz="914400" rtl="0" eaLnBrk="0" fontAlgn="base" latinLnBrk="0" hangingPunct="0">
                <a:lnSpc>
                  <a:spcPct val="100000"/>
                </a:lnSpc>
                <a:spcBef>
                  <a:spcPct val="0"/>
                </a:spcBef>
                <a:spcAft>
                  <a:spcPct val="0"/>
                </a:spcAft>
                <a:buClrTx/>
                <a:buSzTx/>
                <a:buFont typeface="+mj-lt"/>
                <a:buAutoNum type="arabicPeriod"/>
                <a:tabLst/>
              </a:pPr>
              <a:r>
                <a:rPr kumimoji="0" lang="en-PH" altLang="en-US" sz="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Then click the selected customer.</a:t>
              </a:r>
              <a:endParaRPr kumimoji="0" lang="en-PH" altLang="en-US" sz="1800" b="0" i="0" u="none" strike="noStrike" cap="none" normalizeH="0" baseline="0" dirty="0">
                <a:ln>
                  <a:noFill/>
                </a:ln>
                <a:solidFill>
                  <a:schemeClr val="tx1"/>
                </a:solidFill>
                <a:effectLst/>
                <a:latin typeface="Arial" panose="020B0604020202020204" pitchFamily="34" charset="0"/>
              </a:endParaRPr>
            </a:p>
          </p:txBody>
        </p:sp>
        <p:grpSp>
          <p:nvGrpSpPr>
            <p:cNvPr id="19" name="Group 10">
              <a:extLst>
                <a:ext uri="{FF2B5EF4-FFF2-40B4-BE49-F238E27FC236}">
                  <a16:creationId xmlns:a16="http://schemas.microsoft.com/office/drawing/2014/main" id="{3BA67023-EC85-F195-7974-3397BCD674B2}"/>
                </a:ext>
              </a:extLst>
            </p:cNvPr>
            <p:cNvGrpSpPr>
              <a:grpSpLocks/>
            </p:cNvGrpSpPr>
            <p:nvPr/>
          </p:nvGrpSpPr>
          <p:grpSpPr bwMode="auto">
            <a:xfrm>
              <a:off x="688975" y="1004888"/>
              <a:ext cx="5572125" cy="487362"/>
              <a:chOff x="-40224" y="1834"/>
              <a:chExt cx="56044" cy="5663"/>
            </a:xfrm>
          </p:grpSpPr>
          <p:sp>
            <p:nvSpPr>
              <p:cNvPr id="22" name="Rectangle 29">
                <a:extLst>
                  <a:ext uri="{FF2B5EF4-FFF2-40B4-BE49-F238E27FC236}">
                    <a16:creationId xmlns:a16="http://schemas.microsoft.com/office/drawing/2014/main" id="{582BA202-A84B-0228-D5E8-239BDE2F8AD7}"/>
                  </a:ext>
                </a:extLst>
              </p:cNvPr>
              <p:cNvSpPr>
                <a:spLocks noChangeArrowheads="1"/>
              </p:cNvSpPr>
              <p:nvPr/>
            </p:nvSpPr>
            <p:spPr bwMode="auto">
              <a:xfrm>
                <a:off x="-40224" y="3840"/>
                <a:ext cx="51455" cy="365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24" name="Straight Arrow Connector 30">
                <a:extLst>
                  <a:ext uri="{FF2B5EF4-FFF2-40B4-BE49-F238E27FC236}">
                    <a16:creationId xmlns:a16="http://schemas.microsoft.com/office/drawing/2014/main" id="{20422DAF-511B-E7F4-80DB-CB3BEFDFFCE0}"/>
                  </a:ext>
                </a:extLst>
              </p:cNvPr>
              <p:cNvSpPr>
                <a:spLocks noChangeShapeType="1"/>
              </p:cNvSpPr>
              <p:nvPr/>
            </p:nvSpPr>
            <p:spPr bwMode="auto">
              <a:xfrm>
                <a:off x="11354" y="3232"/>
                <a:ext cx="2000" cy="96"/>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Text Box 31">
                <a:extLst>
                  <a:ext uri="{FF2B5EF4-FFF2-40B4-BE49-F238E27FC236}">
                    <a16:creationId xmlns:a16="http://schemas.microsoft.com/office/drawing/2014/main" id="{CD475E34-5634-E8CE-C83A-E241488D8D76}"/>
                  </a:ext>
                </a:extLst>
              </p:cNvPr>
              <p:cNvSpPr txBox="1">
                <a:spLocks noChangeArrowheads="1"/>
              </p:cNvSpPr>
              <p:nvPr/>
            </p:nvSpPr>
            <p:spPr bwMode="auto">
              <a:xfrm>
                <a:off x="13436" y="1834"/>
                <a:ext cx="2384" cy="3339"/>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26" name="Rectangle 16">
              <a:extLst>
                <a:ext uri="{FF2B5EF4-FFF2-40B4-BE49-F238E27FC236}">
                  <a16:creationId xmlns:a16="http://schemas.microsoft.com/office/drawing/2014/main" id="{AB87A584-E490-C233-3E2E-12EEF83612E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7" name="Rectangle 20">
              <a:extLst>
                <a:ext uri="{FF2B5EF4-FFF2-40B4-BE49-F238E27FC236}">
                  <a16:creationId xmlns:a16="http://schemas.microsoft.com/office/drawing/2014/main" id="{17C8C2DD-9576-5708-99DE-3A7A3D73CF0E}"/>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spTree>
    <p:extLst>
      <p:ext uri="{BB962C8B-B14F-4D97-AF65-F5344CB8AC3E}">
        <p14:creationId xmlns:p14="http://schemas.microsoft.com/office/powerpoint/2010/main" val="922828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5" name="Text Box 1209">
            <a:extLst>
              <a:ext uri="{FF2B5EF4-FFF2-40B4-BE49-F238E27FC236}">
                <a16:creationId xmlns:a16="http://schemas.microsoft.com/office/drawing/2014/main" id="{4F5C4C4B-FEE4-25C5-466D-F7C19DFEE41D}"/>
              </a:ext>
            </a:extLst>
          </p:cNvPr>
          <p:cNvSpPr txBox="1"/>
          <p:nvPr/>
        </p:nvSpPr>
        <p:spPr>
          <a:xfrm>
            <a:off x="532008" y="1242212"/>
            <a:ext cx="3914825" cy="232764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90170" marR="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4.</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1</a:t>
            </a:r>
            <a:r>
              <a:rPr lang="en-US" sz="1200" b="1"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select the customer, current date is plotted automatically but if you wish to change the date – click the date picker and select its respective date. </a:t>
            </a:r>
          </a:p>
          <a:p>
            <a:pPr marL="90170" marR="0" algn="just">
              <a:lnSpc>
                <a:spcPct val="115000"/>
              </a:lnSpc>
              <a:spcBef>
                <a:spcPts val="0"/>
              </a:spcBef>
              <a:spcAft>
                <a:spcPts val="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4.2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header, add the necessary information if there’s any. </a:t>
            </a:r>
          </a:p>
          <a:p>
            <a:pPr marL="90170" marR="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90170" marR="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4.3</a:t>
            </a:r>
            <a:r>
              <a:rPr lang="en-US" sz="1200" b="1"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done in header, click save button.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1210">
            <a:extLst>
              <a:ext uri="{FF2B5EF4-FFF2-40B4-BE49-F238E27FC236}">
                <a16:creationId xmlns:a16="http://schemas.microsoft.com/office/drawing/2014/main" id="{1CFF90FA-1377-7FA9-BD4C-5BD9C78BFC6F}"/>
              </a:ext>
            </a:extLst>
          </p:cNvPr>
          <p:cNvSpPr txBox="1"/>
          <p:nvPr/>
        </p:nvSpPr>
        <p:spPr>
          <a:xfrm>
            <a:off x="174929" y="3959263"/>
            <a:ext cx="4271904" cy="130074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1" algn="just">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5.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saving the header, you may now record the adjusting entry.</a:t>
            </a:r>
          </a:p>
          <a:p>
            <a:pPr marR="0" lvl="1" algn="just">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R="0" lvl="1" algn="just">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6.1 </a:t>
            </a:r>
            <a:r>
              <a:rPr lang="en-US" sz="1200" b="1" i="1" dirty="0">
                <a:effectLst/>
                <a:latin typeface="Chivo Light" panose="020B0303030202020804" pitchFamily="34" charset="0"/>
                <a:ea typeface="Times New Roman" panose="02020603050405020304" pitchFamily="18" charset="0"/>
                <a:cs typeface="Times New Roman" panose="02020603050405020304" pitchFamily="18" charset="0"/>
              </a:rPr>
              <a:t>Unpaid</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 This is where unpaid receivables are floated.</a:t>
            </a:r>
          </a:p>
          <a:p>
            <a:pPr marR="0" lvl="1"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1" algn="just">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03BC2A07-47A0-1365-7C1B-3F52494D221A}"/>
                  </a:ext>
                </a:extLst>
              </p14:cNvPr>
              <p14:cNvContentPartPr/>
              <p14:nvPr/>
            </p14:nvContentPartPr>
            <p14:xfrm>
              <a:off x="13443243" y="3058422"/>
              <a:ext cx="11880" cy="13320"/>
            </p14:xfrm>
          </p:contentPart>
        </mc:Choice>
        <mc:Fallback xmlns="">
          <p:pic>
            <p:nvPicPr>
              <p:cNvPr id="2" name="Ink 1">
                <a:extLst>
                  <a:ext uri="{FF2B5EF4-FFF2-40B4-BE49-F238E27FC236}">
                    <a16:creationId xmlns:a16="http://schemas.microsoft.com/office/drawing/2014/main" id="{03BC2A07-47A0-1365-7C1B-3F52494D221A}"/>
                  </a:ext>
                </a:extLst>
              </p:cNvPr>
              <p:cNvPicPr/>
              <p:nvPr/>
            </p:nvPicPr>
            <p:blipFill>
              <a:blip r:embed="rId6"/>
              <a:stretch>
                <a:fillRect/>
              </a:stretch>
            </p:blipFill>
            <p:spPr>
              <a:xfrm>
                <a:off x="13434603" y="3049422"/>
                <a:ext cx="29520" cy="30960"/>
              </a:xfrm>
              <a:prstGeom prst="rect">
                <a:avLst/>
              </a:prstGeom>
            </p:spPr>
          </p:pic>
        </mc:Fallback>
      </mc:AlternateContent>
      <p:sp>
        <p:nvSpPr>
          <p:cNvPr id="4" name="Slide Number Placeholder 9">
            <a:extLst>
              <a:ext uri="{FF2B5EF4-FFF2-40B4-BE49-F238E27FC236}">
                <a16:creationId xmlns:a16="http://schemas.microsoft.com/office/drawing/2014/main" id="{E4E2A4D2-E43C-008E-B31E-42862381E4BC}"/>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6" name="TextBox 5">
            <a:extLst>
              <a:ext uri="{FF2B5EF4-FFF2-40B4-BE49-F238E27FC236}">
                <a16:creationId xmlns:a16="http://schemas.microsoft.com/office/drawing/2014/main" id="{9DAE3077-D607-9074-D4D6-6E626891A345}"/>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Credit Memo</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7" name="TextBox 6">
            <a:extLst>
              <a:ext uri="{FF2B5EF4-FFF2-40B4-BE49-F238E27FC236}">
                <a16:creationId xmlns:a16="http://schemas.microsoft.com/office/drawing/2014/main" id="{C5BAB3E3-5F72-907D-2CF2-B27DBBDFD292}"/>
              </a:ext>
            </a:extLst>
          </p:cNvPr>
          <p:cNvSpPr txBox="1"/>
          <p:nvPr/>
        </p:nvSpPr>
        <p:spPr>
          <a:xfrm>
            <a:off x="1254088" y="638690"/>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Create Credit Notes?</a:t>
            </a:r>
            <a:endParaRPr lang="en-US" sz="2000" dirty="0">
              <a:solidFill>
                <a:srgbClr val="007434"/>
              </a:solidFill>
              <a:latin typeface="Calibri Light" panose="020F0302020204030204" pitchFamily="34" charset="0"/>
              <a:cs typeface="Calibri Light" panose="020F0302020204030204" pitchFamily="34" charset="0"/>
            </a:endParaRPr>
          </a:p>
        </p:txBody>
      </p:sp>
      <p:grpSp>
        <p:nvGrpSpPr>
          <p:cNvPr id="55" name="Group 54">
            <a:extLst>
              <a:ext uri="{FF2B5EF4-FFF2-40B4-BE49-F238E27FC236}">
                <a16:creationId xmlns:a16="http://schemas.microsoft.com/office/drawing/2014/main" id="{71466045-25DB-A418-BBE6-C5F405097237}"/>
              </a:ext>
            </a:extLst>
          </p:cNvPr>
          <p:cNvGrpSpPr/>
          <p:nvPr/>
        </p:nvGrpSpPr>
        <p:grpSpPr>
          <a:xfrm>
            <a:off x="4850296" y="1485256"/>
            <a:ext cx="6702815" cy="3419474"/>
            <a:chOff x="4850296" y="1485256"/>
            <a:chExt cx="6702815" cy="3419474"/>
          </a:xfrm>
        </p:grpSpPr>
        <p:pic>
          <p:nvPicPr>
            <p:cNvPr id="17" name="Picture 10">
              <a:extLst>
                <a:ext uri="{FF2B5EF4-FFF2-40B4-BE49-F238E27FC236}">
                  <a16:creationId xmlns:a16="http://schemas.microsoft.com/office/drawing/2014/main" id="{70A477B0-2B2D-2A39-F0CE-00120C31967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03136" y="1491605"/>
              <a:ext cx="6149975" cy="3413125"/>
            </a:xfrm>
            <a:prstGeom prst="rect">
              <a:avLst/>
            </a:prstGeom>
            <a:noFill/>
            <a:extLst>
              <a:ext uri="{909E8E84-426E-40DD-AFC4-6F175D3DCCD1}">
                <a14:hiddenFill xmlns:a14="http://schemas.microsoft.com/office/drawing/2010/main">
                  <a:solidFill>
                    <a:srgbClr val="FFFFFF"/>
                  </a:solidFill>
                </a14:hiddenFill>
              </a:ext>
            </a:extLst>
          </p:spPr>
        </p:pic>
        <p:sp>
          <p:nvSpPr>
            <p:cNvPr id="28" name="Rectangle 2">
              <a:extLst>
                <a:ext uri="{FF2B5EF4-FFF2-40B4-BE49-F238E27FC236}">
                  <a16:creationId xmlns:a16="http://schemas.microsoft.com/office/drawing/2014/main" id="{D9D55222-E22B-8C3C-395F-CAC2E3988329}"/>
                </a:ext>
              </a:extLst>
            </p:cNvPr>
            <p:cNvSpPr>
              <a:spLocks noChangeArrowheads="1"/>
            </p:cNvSpPr>
            <p:nvPr/>
          </p:nvSpPr>
          <p:spPr bwMode="auto">
            <a:xfrm>
              <a:off x="5414249" y="2310755"/>
              <a:ext cx="6126162" cy="1179513"/>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36" name="Rectangle 20">
              <a:extLst>
                <a:ext uri="{FF2B5EF4-FFF2-40B4-BE49-F238E27FC236}">
                  <a16:creationId xmlns:a16="http://schemas.microsoft.com/office/drawing/2014/main" id="{E6EC90DB-E415-2CB9-4C01-E8FB38451E2D}"/>
                </a:ext>
              </a:extLst>
            </p:cNvPr>
            <p:cNvSpPr>
              <a:spLocks noChangeArrowheads="1"/>
            </p:cNvSpPr>
            <p:nvPr/>
          </p:nvSpPr>
          <p:spPr bwMode="auto">
            <a:xfrm>
              <a:off x="5519024" y="3809355"/>
              <a:ext cx="6021387" cy="990600"/>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37" name="Text Box 9">
              <a:extLst>
                <a:ext uri="{FF2B5EF4-FFF2-40B4-BE49-F238E27FC236}">
                  <a16:creationId xmlns:a16="http://schemas.microsoft.com/office/drawing/2014/main" id="{BAA929AA-2FCA-E9DC-C306-85259DE3E522}"/>
                </a:ext>
              </a:extLst>
            </p:cNvPr>
            <p:cNvSpPr txBox="1">
              <a:spLocks noChangeArrowheads="1"/>
            </p:cNvSpPr>
            <p:nvPr/>
          </p:nvSpPr>
          <p:spPr bwMode="auto">
            <a:xfrm>
              <a:off x="4850296" y="3409306"/>
              <a:ext cx="787400"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Detail</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8" name="Text Box 21">
              <a:extLst>
                <a:ext uri="{FF2B5EF4-FFF2-40B4-BE49-F238E27FC236}">
                  <a16:creationId xmlns:a16="http://schemas.microsoft.com/office/drawing/2014/main" id="{B2FF2DDE-35BE-891C-C5A5-9CAF4972F8D2}"/>
                </a:ext>
              </a:extLst>
            </p:cNvPr>
            <p:cNvSpPr txBox="1">
              <a:spLocks noChangeArrowheads="1"/>
            </p:cNvSpPr>
            <p:nvPr/>
          </p:nvSpPr>
          <p:spPr bwMode="auto">
            <a:xfrm>
              <a:off x="4970946" y="1485256"/>
              <a:ext cx="787400"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Header</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9" name="Text Box 6">
              <a:extLst>
                <a:ext uri="{FF2B5EF4-FFF2-40B4-BE49-F238E27FC236}">
                  <a16:creationId xmlns:a16="http://schemas.microsoft.com/office/drawing/2014/main" id="{0103218F-C1FF-B634-F77F-A0C87904B094}"/>
                </a:ext>
              </a:extLst>
            </p:cNvPr>
            <p:cNvSpPr txBox="1">
              <a:spLocks noChangeArrowheads="1"/>
            </p:cNvSpPr>
            <p:nvPr/>
          </p:nvSpPr>
          <p:spPr bwMode="auto">
            <a:xfrm>
              <a:off x="10467261" y="2439343"/>
              <a:ext cx="962025"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4.1 to 4.2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 name="Rectangle 5">
              <a:extLst>
                <a:ext uri="{FF2B5EF4-FFF2-40B4-BE49-F238E27FC236}">
                  <a16:creationId xmlns:a16="http://schemas.microsoft.com/office/drawing/2014/main" id="{607349A9-8A67-F971-CF5A-A64D9182C50F}"/>
                </a:ext>
              </a:extLst>
            </p:cNvPr>
            <p:cNvSpPr>
              <a:spLocks noChangeArrowheads="1"/>
            </p:cNvSpPr>
            <p:nvPr/>
          </p:nvSpPr>
          <p:spPr bwMode="auto">
            <a:xfrm>
              <a:off x="10003711" y="2051993"/>
              <a:ext cx="414338" cy="16668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41" name="AutoShape 4">
              <a:extLst>
                <a:ext uri="{FF2B5EF4-FFF2-40B4-BE49-F238E27FC236}">
                  <a16:creationId xmlns:a16="http://schemas.microsoft.com/office/drawing/2014/main" id="{D4C8D08E-8F3D-BBF5-31D0-84B69C894FCA}"/>
                </a:ext>
              </a:extLst>
            </p:cNvPr>
            <p:cNvSpPr>
              <a:spLocks noChangeShapeType="1"/>
            </p:cNvSpPr>
            <p:nvPr/>
          </p:nvSpPr>
          <p:spPr bwMode="auto">
            <a:xfrm>
              <a:off x="10394236" y="2056755"/>
              <a:ext cx="193675" cy="793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2" name="Text Box 3">
              <a:extLst>
                <a:ext uri="{FF2B5EF4-FFF2-40B4-BE49-F238E27FC236}">
                  <a16:creationId xmlns:a16="http://schemas.microsoft.com/office/drawing/2014/main" id="{8BC2552D-9C52-E3F5-785A-FD0A722EF24C}"/>
                </a:ext>
              </a:extLst>
            </p:cNvPr>
            <p:cNvSpPr txBox="1">
              <a:spLocks noChangeArrowheads="1"/>
            </p:cNvSpPr>
            <p:nvPr/>
          </p:nvSpPr>
          <p:spPr bwMode="auto">
            <a:xfrm>
              <a:off x="10597436" y="1939280"/>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 name="Rectangle 16">
              <a:extLst>
                <a:ext uri="{FF2B5EF4-FFF2-40B4-BE49-F238E27FC236}">
                  <a16:creationId xmlns:a16="http://schemas.microsoft.com/office/drawing/2014/main" id="{C0CFD4C0-98DE-09CD-EFF9-6F5B61594C3D}"/>
                </a:ext>
              </a:extLst>
            </p:cNvPr>
            <p:cNvSpPr>
              <a:spLocks noChangeArrowheads="1"/>
            </p:cNvSpPr>
            <p:nvPr/>
          </p:nvSpPr>
          <p:spPr bwMode="auto">
            <a:xfrm>
              <a:off x="9781461" y="3544820"/>
              <a:ext cx="815975" cy="23379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44" name="AutoShape 17">
              <a:extLst>
                <a:ext uri="{FF2B5EF4-FFF2-40B4-BE49-F238E27FC236}">
                  <a16:creationId xmlns:a16="http://schemas.microsoft.com/office/drawing/2014/main" id="{F783F765-B14D-8451-0BB6-D2C52A4EB349}"/>
                </a:ext>
              </a:extLst>
            </p:cNvPr>
            <p:cNvSpPr>
              <a:spLocks noChangeShapeType="1"/>
            </p:cNvSpPr>
            <p:nvPr/>
          </p:nvSpPr>
          <p:spPr bwMode="auto">
            <a:xfrm>
              <a:off x="10003711" y="3809355"/>
              <a:ext cx="95250" cy="119063"/>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Text Box 18">
              <a:extLst>
                <a:ext uri="{FF2B5EF4-FFF2-40B4-BE49-F238E27FC236}">
                  <a16:creationId xmlns:a16="http://schemas.microsoft.com/office/drawing/2014/main" id="{1E836679-7CB8-EA02-D205-21AFA53F7B69}"/>
                </a:ext>
              </a:extLst>
            </p:cNvPr>
            <p:cNvSpPr txBox="1">
              <a:spLocks noChangeArrowheads="1"/>
            </p:cNvSpPr>
            <p:nvPr/>
          </p:nvSpPr>
          <p:spPr bwMode="auto">
            <a:xfrm>
              <a:off x="9919574" y="3928418"/>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6" name="Rectangle 10">
              <a:extLst>
                <a:ext uri="{FF2B5EF4-FFF2-40B4-BE49-F238E27FC236}">
                  <a16:creationId xmlns:a16="http://schemas.microsoft.com/office/drawing/2014/main" id="{144335FF-F506-DA3C-3A01-24D3A9515B65}"/>
                </a:ext>
              </a:extLst>
            </p:cNvPr>
            <p:cNvSpPr>
              <a:spLocks noChangeArrowheads="1"/>
            </p:cNvSpPr>
            <p:nvPr/>
          </p:nvSpPr>
          <p:spPr bwMode="auto">
            <a:xfrm>
              <a:off x="8379699" y="3544603"/>
              <a:ext cx="581025" cy="229466"/>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47" name="Text Box 12">
              <a:extLst>
                <a:ext uri="{FF2B5EF4-FFF2-40B4-BE49-F238E27FC236}">
                  <a16:creationId xmlns:a16="http://schemas.microsoft.com/office/drawing/2014/main" id="{4956846C-BFE8-9869-8BD7-E775F29B7EE4}"/>
                </a:ext>
              </a:extLst>
            </p:cNvPr>
            <p:cNvSpPr txBox="1">
              <a:spLocks noChangeArrowheads="1"/>
            </p:cNvSpPr>
            <p:nvPr/>
          </p:nvSpPr>
          <p:spPr bwMode="auto">
            <a:xfrm>
              <a:off x="8484474" y="3898255"/>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6.1.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8" name="AutoShape 11">
              <a:extLst>
                <a:ext uri="{FF2B5EF4-FFF2-40B4-BE49-F238E27FC236}">
                  <a16:creationId xmlns:a16="http://schemas.microsoft.com/office/drawing/2014/main" id="{06432E8C-D51A-A1A8-92E2-18DBD4F29497}"/>
                </a:ext>
              </a:extLst>
            </p:cNvPr>
            <p:cNvSpPr>
              <a:spLocks noChangeShapeType="1"/>
            </p:cNvSpPr>
            <p:nvPr/>
          </p:nvSpPr>
          <p:spPr bwMode="auto">
            <a:xfrm>
              <a:off x="8540036" y="3787130"/>
              <a:ext cx="95250" cy="119063"/>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Rectangle 19">
              <a:extLst>
                <a:ext uri="{FF2B5EF4-FFF2-40B4-BE49-F238E27FC236}">
                  <a16:creationId xmlns:a16="http://schemas.microsoft.com/office/drawing/2014/main" id="{D33F8C9B-E8A5-9142-1705-028CF1B4E2B5}"/>
                </a:ext>
              </a:extLst>
            </p:cNvPr>
            <p:cNvSpPr>
              <a:spLocks noChangeArrowheads="1"/>
            </p:cNvSpPr>
            <p:nvPr/>
          </p:nvSpPr>
          <p:spPr bwMode="auto">
            <a:xfrm>
              <a:off x="10672147" y="3552635"/>
              <a:ext cx="860425" cy="23484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53" name="AutoShape 7">
              <a:extLst>
                <a:ext uri="{FF2B5EF4-FFF2-40B4-BE49-F238E27FC236}">
                  <a16:creationId xmlns:a16="http://schemas.microsoft.com/office/drawing/2014/main" id="{28400580-5E48-E26D-3B70-D4EA7DAB5E53}"/>
                </a:ext>
              </a:extLst>
            </p:cNvPr>
            <p:cNvSpPr>
              <a:spLocks noChangeShapeType="1"/>
            </p:cNvSpPr>
            <p:nvPr/>
          </p:nvSpPr>
          <p:spPr bwMode="auto">
            <a:xfrm>
              <a:off x="10833974" y="3779193"/>
              <a:ext cx="95250" cy="119062"/>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4" name="Text Box 8">
              <a:extLst>
                <a:ext uri="{FF2B5EF4-FFF2-40B4-BE49-F238E27FC236}">
                  <a16:creationId xmlns:a16="http://schemas.microsoft.com/office/drawing/2014/main" id="{46E01E3F-A752-93F8-00F4-0EBE84D5DE1B}"/>
                </a:ext>
              </a:extLst>
            </p:cNvPr>
            <p:cNvSpPr txBox="1">
              <a:spLocks noChangeArrowheads="1"/>
            </p:cNvSpPr>
            <p:nvPr/>
          </p:nvSpPr>
          <p:spPr bwMode="auto">
            <a:xfrm>
              <a:off x="10781586" y="3917305"/>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1829095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210">
            <a:extLst>
              <a:ext uri="{FF2B5EF4-FFF2-40B4-BE49-F238E27FC236}">
                <a16:creationId xmlns:a16="http://schemas.microsoft.com/office/drawing/2014/main" id="{52BC7928-40D9-4925-29EC-080323884757}"/>
              </a:ext>
            </a:extLst>
          </p:cNvPr>
          <p:cNvSpPr txBox="1"/>
          <p:nvPr/>
        </p:nvSpPr>
        <p:spPr>
          <a:xfrm>
            <a:off x="246444" y="2387705"/>
            <a:ext cx="4271904" cy="257295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1" algn="just">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R="0" lvl="1" algn="just">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6.2 </a:t>
            </a:r>
            <a:r>
              <a:rPr lang="en-US" sz="1200" b="1" i="1" dirty="0">
                <a:effectLst/>
                <a:latin typeface="Chivo Light" panose="020B0303030202020804" pitchFamily="34" charset="0"/>
                <a:ea typeface="Times New Roman" panose="02020603050405020304" pitchFamily="18" charset="0"/>
                <a:cs typeface="Times New Roman" panose="02020603050405020304" pitchFamily="18" charset="0"/>
              </a:rPr>
              <a:t>Add Account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Click this to select other account. By clicking add new account, add the necessary details by following the instructions below.</a:t>
            </a:r>
          </a:p>
          <a:p>
            <a:pPr marR="0" lvl="1" algn="just">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lvl="1" algn="just">
              <a:lnSpc>
                <a:spcPct val="115000"/>
              </a:lnSpc>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select an account, a dialog box will prompt. Enter the details of the account.</a:t>
            </a:r>
          </a:p>
          <a:p>
            <a:pPr marR="0" lvl="1"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lvl="1" algn="just">
              <a:lnSpc>
                <a:spcPct val="115000"/>
              </a:lnSpc>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lvl="1" algn="just">
              <a:lnSpc>
                <a:spcPct val="115000"/>
              </a:lnSpc>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lvl="1" algn="just">
              <a:lnSpc>
                <a:spcPct val="115000"/>
              </a:lnSpc>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1"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1"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1" algn="just">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Text Box 6">
            <a:extLst>
              <a:ext uri="{FF2B5EF4-FFF2-40B4-BE49-F238E27FC236}">
                <a16:creationId xmlns:a16="http://schemas.microsoft.com/office/drawing/2014/main" id="{C08A4E45-1FA0-75A1-37A4-463974DDCBC7}"/>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id="{463CB33E-4DA0-01B8-E8F5-902BEB855B58}"/>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Credit Memo</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16" name="TextBox 15">
            <a:extLst>
              <a:ext uri="{FF2B5EF4-FFF2-40B4-BE49-F238E27FC236}">
                <a16:creationId xmlns:a16="http://schemas.microsoft.com/office/drawing/2014/main" id="{024D5CA4-0066-46EF-11F6-459062638E09}"/>
              </a:ext>
            </a:extLst>
          </p:cNvPr>
          <p:cNvSpPr txBox="1"/>
          <p:nvPr/>
        </p:nvSpPr>
        <p:spPr>
          <a:xfrm>
            <a:off x="1254088" y="638690"/>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Create Credit Notes?</a:t>
            </a:r>
            <a:endParaRPr lang="en-US" sz="2000" dirty="0">
              <a:solidFill>
                <a:srgbClr val="007434"/>
              </a:solidFill>
              <a:latin typeface="Calibri Light" panose="020F0302020204030204" pitchFamily="34" charset="0"/>
              <a:cs typeface="Calibri Light" panose="020F0302020204030204" pitchFamily="34" charset="0"/>
            </a:endParaRPr>
          </a:p>
        </p:txBody>
      </p:sp>
      <p:grpSp>
        <p:nvGrpSpPr>
          <p:cNvPr id="32" name="Group 31">
            <a:extLst>
              <a:ext uri="{FF2B5EF4-FFF2-40B4-BE49-F238E27FC236}">
                <a16:creationId xmlns:a16="http://schemas.microsoft.com/office/drawing/2014/main" id="{6D121AA9-96BB-B8D1-98BB-26B3515C3400}"/>
              </a:ext>
            </a:extLst>
          </p:cNvPr>
          <p:cNvGrpSpPr/>
          <p:nvPr/>
        </p:nvGrpSpPr>
        <p:grpSpPr>
          <a:xfrm>
            <a:off x="5261732" y="532317"/>
            <a:ext cx="5813094" cy="2888572"/>
            <a:chOff x="5299320" y="2027561"/>
            <a:chExt cx="6305550" cy="3133277"/>
          </a:xfrm>
        </p:grpSpPr>
        <p:pic>
          <p:nvPicPr>
            <p:cNvPr id="19" name="Picture 1300">
              <a:extLst>
                <a:ext uri="{FF2B5EF4-FFF2-40B4-BE49-F238E27FC236}">
                  <a16:creationId xmlns:a16="http://schemas.microsoft.com/office/drawing/2014/main" id="{D6372FCB-6953-6591-A9C5-D984B03825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9320" y="2027561"/>
              <a:ext cx="6305550" cy="20193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337A2BF9-272C-8407-E387-2042579563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183448"/>
              <a:ext cx="3716655" cy="1977390"/>
            </a:xfrm>
            <a:prstGeom prst="rect">
              <a:avLst/>
            </a:prstGeom>
            <a:ln>
              <a:noFill/>
            </a:ln>
            <a:effectLst>
              <a:outerShdw blurRad="292100" dist="139700" dir="2700000" algn="tl" rotWithShape="0">
                <a:srgbClr val="333333">
                  <a:alpha val="65000"/>
                </a:srgbClr>
              </a:outerShdw>
            </a:effectLst>
          </p:spPr>
        </p:pic>
        <p:sp>
          <p:nvSpPr>
            <p:cNvPr id="20" name="Rectangle 7">
              <a:extLst>
                <a:ext uri="{FF2B5EF4-FFF2-40B4-BE49-F238E27FC236}">
                  <a16:creationId xmlns:a16="http://schemas.microsoft.com/office/drawing/2014/main" id="{58C8E8CB-4195-7D63-9A2D-BAA6F0CDDB36}"/>
                </a:ext>
              </a:extLst>
            </p:cNvPr>
            <p:cNvSpPr>
              <a:spLocks noChangeArrowheads="1"/>
            </p:cNvSpPr>
            <p:nvPr/>
          </p:nvSpPr>
          <p:spPr bwMode="auto">
            <a:xfrm>
              <a:off x="9090270" y="2921324"/>
              <a:ext cx="590550" cy="2254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b="1"/>
            </a:p>
          </p:txBody>
        </p:sp>
        <p:sp>
          <p:nvSpPr>
            <p:cNvPr id="21" name="AutoShape 6">
              <a:extLst>
                <a:ext uri="{FF2B5EF4-FFF2-40B4-BE49-F238E27FC236}">
                  <a16:creationId xmlns:a16="http://schemas.microsoft.com/office/drawing/2014/main" id="{DFDD7460-0E9B-13B4-0806-C0CBB39EA2A0}"/>
                </a:ext>
              </a:extLst>
            </p:cNvPr>
            <p:cNvSpPr>
              <a:spLocks noChangeShapeType="1"/>
            </p:cNvSpPr>
            <p:nvPr/>
          </p:nvSpPr>
          <p:spPr bwMode="auto">
            <a:xfrm flipV="1">
              <a:off x="9696695" y="2995936"/>
              <a:ext cx="142875" cy="7143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b="1"/>
            </a:p>
          </p:txBody>
        </p:sp>
        <p:sp>
          <p:nvSpPr>
            <p:cNvPr id="22" name="Text Box 5">
              <a:extLst>
                <a:ext uri="{FF2B5EF4-FFF2-40B4-BE49-F238E27FC236}">
                  <a16:creationId xmlns:a16="http://schemas.microsoft.com/office/drawing/2014/main" id="{EA64F37B-35B7-AC89-3FE9-A9B48E31CF78}"/>
                </a:ext>
              </a:extLst>
            </p:cNvPr>
            <p:cNvSpPr txBox="1">
              <a:spLocks noChangeArrowheads="1"/>
            </p:cNvSpPr>
            <p:nvPr/>
          </p:nvSpPr>
          <p:spPr bwMode="auto">
            <a:xfrm>
              <a:off x="9834808" y="2908624"/>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6.2.</a:t>
              </a: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
          <p:nvSpPr>
            <p:cNvPr id="23" name="Text Box 2">
              <a:extLst>
                <a:ext uri="{FF2B5EF4-FFF2-40B4-BE49-F238E27FC236}">
                  <a16:creationId xmlns:a16="http://schemas.microsoft.com/office/drawing/2014/main" id="{611D1690-E905-A803-0A6E-045768479C80}"/>
                </a:ext>
              </a:extLst>
            </p:cNvPr>
            <p:cNvSpPr txBox="1">
              <a:spLocks noChangeArrowheads="1"/>
            </p:cNvSpPr>
            <p:nvPr/>
          </p:nvSpPr>
          <p:spPr bwMode="auto">
            <a:xfrm>
              <a:off x="6583521" y="3886966"/>
              <a:ext cx="2475822" cy="812287"/>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lvl1pPr eaLnBrk="0" fontAlgn="base" hangingPunct="0">
                <a:spcBef>
                  <a:spcPct val="0"/>
                </a:spcBef>
                <a:spcAft>
                  <a:spcPct val="0"/>
                </a:spcAft>
                <a:tabLst>
                  <a:tab pos="203200" algn="l"/>
                </a:tabLst>
                <a:defRPr>
                  <a:solidFill>
                    <a:schemeClr val="tx1"/>
                  </a:solidFill>
                  <a:latin typeface="Arial" panose="020B0604020202020204" pitchFamily="34" charset="0"/>
                </a:defRPr>
              </a:lvl1pPr>
              <a:lvl2pPr eaLnBrk="0" fontAlgn="base" hangingPunct="0">
                <a:spcBef>
                  <a:spcPct val="0"/>
                </a:spcBef>
                <a:spcAft>
                  <a:spcPct val="0"/>
                </a:spcAft>
                <a:tabLst>
                  <a:tab pos="203200" algn="l"/>
                </a:tabLst>
                <a:defRPr>
                  <a:solidFill>
                    <a:schemeClr val="tx1"/>
                  </a:solidFill>
                  <a:latin typeface="Arial" panose="020B0604020202020204" pitchFamily="34" charset="0"/>
                </a:defRPr>
              </a:lvl2pPr>
              <a:lvl3pPr eaLnBrk="0" fontAlgn="base" hangingPunct="0">
                <a:spcBef>
                  <a:spcPct val="0"/>
                </a:spcBef>
                <a:spcAft>
                  <a:spcPct val="0"/>
                </a:spcAft>
                <a:tabLst>
                  <a:tab pos="203200" algn="l"/>
                </a:tabLst>
                <a:defRPr>
                  <a:solidFill>
                    <a:schemeClr val="tx1"/>
                  </a:solidFill>
                  <a:latin typeface="Arial" panose="020B0604020202020204" pitchFamily="34" charset="0"/>
                </a:defRPr>
              </a:lvl3pPr>
              <a:lvl4pPr eaLnBrk="0" fontAlgn="base" hangingPunct="0">
                <a:spcBef>
                  <a:spcPct val="0"/>
                </a:spcBef>
                <a:spcAft>
                  <a:spcPct val="0"/>
                </a:spcAft>
                <a:tabLst>
                  <a:tab pos="203200" algn="l"/>
                </a:tabLst>
                <a:defRPr>
                  <a:solidFill>
                    <a:schemeClr val="tx1"/>
                  </a:solidFill>
                  <a:latin typeface="Arial" panose="020B0604020202020204" pitchFamily="34" charset="0"/>
                </a:defRPr>
              </a:lvl4pPr>
              <a:lvl5pPr eaLnBrk="0" fontAlgn="base" hangingPunct="0">
                <a:spcBef>
                  <a:spcPct val="0"/>
                </a:spcBef>
                <a:spcAft>
                  <a:spcPct val="0"/>
                </a:spcAft>
                <a:tabLst>
                  <a:tab pos="203200" algn="l"/>
                </a:tabLst>
                <a:defRPr>
                  <a:solidFill>
                    <a:schemeClr val="tx1"/>
                  </a:solidFill>
                  <a:latin typeface="Arial" panose="020B0604020202020204" pitchFamily="34" charset="0"/>
                </a:defRPr>
              </a:lvl5pPr>
              <a:lvl6pPr eaLnBrk="0" fontAlgn="base" hangingPunct="0">
                <a:spcBef>
                  <a:spcPct val="0"/>
                </a:spcBef>
                <a:spcAft>
                  <a:spcPct val="0"/>
                </a:spcAft>
                <a:tabLst>
                  <a:tab pos="203200" algn="l"/>
                </a:tabLst>
                <a:defRPr>
                  <a:solidFill>
                    <a:schemeClr val="tx1"/>
                  </a:solidFill>
                  <a:latin typeface="Arial" panose="020B0604020202020204" pitchFamily="34" charset="0"/>
                </a:defRPr>
              </a:lvl6pPr>
              <a:lvl7pPr eaLnBrk="0" fontAlgn="base" hangingPunct="0">
                <a:spcBef>
                  <a:spcPct val="0"/>
                </a:spcBef>
                <a:spcAft>
                  <a:spcPct val="0"/>
                </a:spcAft>
                <a:tabLst>
                  <a:tab pos="203200" algn="l"/>
                </a:tabLst>
                <a:defRPr>
                  <a:solidFill>
                    <a:schemeClr val="tx1"/>
                  </a:solidFill>
                  <a:latin typeface="Arial" panose="020B0604020202020204" pitchFamily="34" charset="0"/>
                </a:defRPr>
              </a:lvl7pPr>
              <a:lvl8pPr eaLnBrk="0" fontAlgn="base" hangingPunct="0">
                <a:spcBef>
                  <a:spcPct val="0"/>
                </a:spcBef>
                <a:spcAft>
                  <a:spcPct val="0"/>
                </a:spcAft>
                <a:tabLst>
                  <a:tab pos="203200" algn="l"/>
                </a:tabLst>
                <a:defRPr>
                  <a:solidFill>
                    <a:schemeClr val="tx1"/>
                  </a:solidFill>
                  <a:latin typeface="Arial" panose="020B0604020202020204" pitchFamily="34" charset="0"/>
                </a:defRPr>
              </a:lvl8pPr>
              <a:lvl9pPr eaLnBrk="0" fontAlgn="base" hangingPunct="0">
                <a:spcBef>
                  <a:spcPct val="0"/>
                </a:spcBef>
                <a:spcAft>
                  <a:spcPct val="0"/>
                </a:spcAft>
                <a:tabLst>
                  <a:tab pos="203200" algn="l"/>
                </a:tabLst>
                <a:defRPr>
                  <a:solidFill>
                    <a:schemeClr val="tx1"/>
                  </a:solidFill>
                  <a:latin typeface="Arial" panose="020B0604020202020204" pitchFamily="34" charset="0"/>
                </a:defRPr>
              </a:lvl9pPr>
            </a:lstStyle>
            <a:p>
              <a:pPr lvl="1"/>
              <a:r>
                <a:rPr kumimoji="0" lang="en-PH" altLang="en-US" sz="1000" b="1" i="1" u="none" strike="noStrike" cap="none" normalizeH="0" baseline="0" dirty="0">
                  <a:ln>
                    <a:noFill/>
                  </a:ln>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search an account?		</a:t>
              </a:r>
              <a:endParaRPr kumimoji="0" lang="en-PH" altLang="en-US" sz="400" b="1" i="0" u="none" strike="noStrike" cap="none" normalizeH="0" baseline="0" dirty="0">
                <a:ln>
                  <a:noFill/>
                </a:ln>
                <a:solidFill>
                  <a:schemeClr val="tx1"/>
                </a:solidFill>
                <a:effectLst/>
              </a:endParaRPr>
            </a:p>
            <a:p>
              <a:pPr marL="534988" lvl="1" indent="-92075">
                <a:buFont typeface="+mj-lt"/>
                <a:buAutoNum type="arabicPeriod"/>
                <a:tabLst/>
              </a:pPr>
              <a:r>
                <a:rPr kumimoji="0" lang="en-PH" altLang="en-US" sz="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Type the account name in the search bar.</a:t>
              </a:r>
              <a:endParaRPr kumimoji="0" lang="en-PH" altLang="en-US" sz="400" i="0" u="none" strike="noStrike" cap="none" normalizeH="0" baseline="0" dirty="0">
                <a:ln>
                  <a:noFill/>
                </a:ln>
                <a:solidFill>
                  <a:schemeClr val="tx1"/>
                </a:solidFill>
                <a:effectLst/>
              </a:endParaRPr>
            </a:p>
            <a:p>
              <a:pPr marL="534988" lvl="1" indent="-92075">
                <a:buFont typeface="+mj-lt"/>
                <a:buAutoNum type="arabicPeriod"/>
                <a:tabLst/>
              </a:pPr>
              <a:r>
                <a:rPr kumimoji="0" lang="en-PH" altLang="en-US" sz="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And it will automatically sort out.</a:t>
              </a:r>
              <a:endParaRPr kumimoji="0" lang="en-PH" altLang="en-US" sz="400" i="0" u="none" strike="noStrike" cap="none" normalizeH="0" baseline="0" dirty="0">
                <a:ln>
                  <a:noFill/>
                </a:ln>
                <a:solidFill>
                  <a:schemeClr val="tx1"/>
                </a:solidFill>
                <a:effectLst/>
              </a:endParaRPr>
            </a:p>
            <a:p>
              <a:pPr marL="534988" lvl="1" indent="-92075">
                <a:buFont typeface="+mj-lt"/>
                <a:buAutoNum type="arabicPeriod"/>
                <a:tabLst/>
              </a:pPr>
              <a:r>
                <a:rPr kumimoji="0" lang="en-PH" altLang="en-US" sz="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Then click the selected account.</a:t>
              </a:r>
              <a:endParaRPr kumimoji="0" lang="en-PH" altLang="en-US" sz="400" i="0" u="none" strike="noStrike" cap="none" normalizeH="0" baseline="0" dirty="0">
                <a:ln>
                  <a:noFill/>
                </a:ln>
                <a:solidFill>
                  <a:schemeClr val="tx1"/>
                </a:solidFill>
                <a:effectLst/>
              </a:endParaRPr>
            </a:p>
          </p:txBody>
        </p:sp>
        <p:sp>
          <p:nvSpPr>
            <p:cNvPr id="24" name="Rectangle 1">
              <a:extLst>
                <a:ext uri="{FF2B5EF4-FFF2-40B4-BE49-F238E27FC236}">
                  <a16:creationId xmlns:a16="http://schemas.microsoft.com/office/drawing/2014/main" id="{7ED805B7-213D-E7C9-BA2A-0F7A6B97F550}"/>
                </a:ext>
              </a:extLst>
            </p:cNvPr>
            <p:cNvSpPr>
              <a:spLocks noChangeArrowheads="1"/>
            </p:cNvSpPr>
            <p:nvPr/>
          </p:nvSpPr>
          <p:spPr bwMode="auto">
            <a:xfrm>
              <a:off x="6166702" y="3397059"/>
              <a:ext cx="3529993" cy="332489"/>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b="1"/>
            </a:p>
          </p:txBody>
        </p:sp>
        <p:sp>
          <p:nvSpPr>
            <p:cNvPr id="25" name="AutoShape 3">
              <a:extLst>
                <a:ext uri="{FF2B5EF4-FFF2-40B4-BE49-F238E27FC236}">
                  <a16:creationId xmlns:a16="http://schemas.microsoft.com/office/drawing/2014/main" id="{836A8DE1-CC39-9B7C-E3FA-783B2DF8B1BE}"/>
                </a:ext>
              </a:extLst>
            </p:cNvPr>
            <p:cNvSpPr>
              <a:spLocks noChangeArrowheads="1"/>
            </p:cNvSpPr>
            <p:nvPr/>
          </p:nvSpPr>
          <p:spPr bwMode="auto">
            <a:xfrm>
              <a:off x="8539408" y="2937199"/>
              <a:ext cx="533400" cy="491801"/>
            </a:xfrm>
            <a:prstGeom prst="curvedRightArrow">
              <a:avLst>
                <a:gd name="adj1" fmla="val 25000"/>
                <a:gd name="adj2" fmla="val 50000"/>
                <a:gd name="adj3" fmla="val 250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en-US" b="1"/>
            </a:p>
          </p:txBody>
        </p:sp>
      </p:grpSp>
      <p:grpSp>
        <p:nvGrpSpPr>
          <p:cNvPr id="33" name="Group 32">
            <a:extLst>
              <a:ext uri="{FF2B5EF4-FFF2-40B4-BE49-F238E27FC236}">
                <a16:creationId xmlns:a16="http://schemas.microsoft.com/office/drawing/2014/main" id="{364C40E4-1471-7581-3470-D252465C7DD7}"/>
              </a:ext>
            </a:extLst>
          </p:cNvPr>
          <p:cNvGrpSpPr/>
          <p:nvPr/>
        </p:nvGrpSpPr>
        <p:grpSpPr>
          <a:xfrm>
            <a:off x="5478521" y="3730532"/>
            <a:ext cx="5379515" cy="2721347"/>
            <a:chOff x="5527358" y="509588"/>
            <a:chExt cx="6420644" cy="3248025"/>
          </a:xfrm>
        </p:grpSpPr>
        <p:pic>
          <p:nvPicPr>
            <p:cNvPr id="34" name="Picture 1302">
              <a:extLst>
                <a:ext uri="{FF2B5EF4-FFF2-40B4-BE49-F238E27FC236}">
                  <a16:creationId xmlns:a16="http://schemas.microsoft.com/office/drawing/2014/main" id="{F7E7E4CD-2825-B18B-B3F6-4D880A7238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27358" y="509588"/>
              <a:ext cx="6315075" cy="3219450"/>
            </a:xfrm>
            <a:prstGeom prst="rect">
              <a:avLst/>
            </a:prstGeom>
            <a:noFill/>
            <a:extLst>
              <a:ext uri="{909E8E84-426E-40DD-AFC4-6F175D3DCCD1}">
                <a14:hiddenFill xmlns:a14="http://schemas.microsoft.com/office/drawing/2010/main">
                  <a:solidFill>
                    <a:srgbClr val="FFFFFF"/>
                  </a:solidFill>
                </a14:hiddenFill>
              </a:ext>
            </a:extLst>
          </p:spPr>
        </p:pic>
        <p:sp>
          <p:nvSpPr>
            <p:cNvPr id="35" name="AutoShape 20">
              <a:extLst>
                <a:ext uri="{FF2B5EF4-FFF2-40B4-BE49-F238E27FC236}">
                  <a16:creationId xmlns:a16="http://schemas.microsoft.com/office/drawing/2014/main" id="{8E1269E9-0939-E2AA-6116-7D607E426904}"/>
                </a:ext>
              </a:extLst>
            </p:cNvPr>
            <p:cNvSpPr>
              <a:spLocks noChangeShapeType="1"/>
            </p:cNvSpPr>
            <p:nvPr/>
          </p:nvSpPr>
          <p:spPr bwMode="auto">
            <a:xfrm>
              <a:off x="8907146" y="3011488"/>
              <a:ext cx="193675" cy="7937"/>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 name="Rectangle 18">
              <a:extLst>
                <a:ext uri="{FF2B5EF4-FFF2-40B4-BE49-F238E27FC236}">
                  <a16:creationId xmlns:a16="http://schemas.microsoft.com/office/drawing/2014/main" id="{90FD0B87-536F-5D0A-2661-CE1A97FF3972}"/>
                </a:ext>
              </a:extLst>
            </p:cNvPr>
            <p:cNvSpPr>
              <a:spLocks noChangeArrowheads="1"/>
            </p:cNvSpPr>
            <p:nvPr/>
          </p:nvSpPr>
          <p:spPr bwMode="auto">
            <a:xfrm>
              <a:off x="7127558" y="1703388"/>
              <a:ext cx="1816100" cy="2381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37" name="Text Box 17">
              <a:extLst>
                <a:ext uri="{FF2B5EF4-FFF2-40B4-BE49-F238E27FC236}">
                  <a16:creationId xmlns:a16="http://schemas.microsoft.com/office/drawing/2014/main" id="{FEF826CE-D2B0-BB1C-73BF-5FE33862A020}"/>
                </a:ext>
              </a:extLst>
            </p:cNvPr>
            <p:cNvSpPr txBox="1">
              <a:spLocks noChangeArrowheads="1"/>
            </p:cNvSpPr>
            <p:nvPr/>
          </p:nvSpPr>
          <p:spPr bwMode="auto">
            <a:xfrm>
              <a:off x="9154796" y="1654175"/>
              <a:ext cx="474662" cy="285750"/>
            </a:xfrm>
            <a:prstGeom prst="rect">
              <a:avLst/>
            </a:prstGeom>
            <a:solidFill>
              <a:schemeClr val="accent4">
                <a:lumMod val="20000"/>
                <a:lumOff val="80000"/>
              </a:schemeClr>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8" name="Rectangle 16">
              <a:extLst>
                <a:ext uri="{FF2B5EF4-FFF2-40B4-BE49-F238E27FC236}">
                  <a16:creationId xmlns:a16="http://schemas.microsoft.com/office/drawing/2014/main" id="{D1C38867-3B57-9905-FCC4-96D58D79F7FC}"/>
                </a:ext>
              </a:extLst>
            </p:cNvPr>
            <p:cNvSpPr>
              <a:spLocks noChangeArrowheads="1"/>
            </p:cNvSpPr>
            <p:nvPr/>
          </p:nvSpPr>
          <p:spPr bwMode="auto">
            <a:xfrm>
              <a:off x="7508558" y="3209925"/>
              <a:ext cx="495300" cy="1905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39" name="AutoShape 15">
              <a:extLst>
                <a:ext uri="{FF2B5EF4-FFF2-40B4-BE49-F238E27FC236}">
                  <a16:creationId xmlns:a16="http://schemas.microsoft.com/office/drawing/2014/main" id="{E87F67B6-CED6-EE27-2104-6475DFEBC459}"/>
                </a:ext>
              </a:extLst>
            </p:cNvPr>
            <p:cNvSpPr>
              <a:spLocks noChangeShapeType="1"/>
            </p:cNvSpPr>
            <p:nvPr/>
          </p:nvSpPr>
          <p:spPr bwMode="auto">
            <a:xfrm rot="5400000">
              <a:off x="7865746" y="3441700"/>
              <a:ext cx="57150" cy="0"/>
            </a:xfrm>
            <a:prstGeom prst="bentConnector3">
              <a:avLst>
                <a:gd name="adj1" fmla="val 49449"/>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 name="Text Box 14">
              <a:extLst>
                <a:ext uri="{FF2B5EF4-FFF2-40B4-BE49-F238E27FC236}">
                  <a16:creationId xmlns:a16="http://schemas.microsoft.com/office/drawing/2014/main" id="{EF0ACB2F-CBF0-602C-9BEB-56760410F24D}"/>
                </a:ext>
              </a:extLst>
            </p:cNvPr>
            <p:cNvSpPr txBox="1">
              <a:spLocks noChangeArrowheads="1"/>
            </p:cNvSpPr>
            <p:nvPr/>
          </p:nvSpPr>
          <p:spPr bwMode="auto">
            <a:xfrm>
              <a:off x="7529196" y="3471863"/>
              <a:ext cx="474662" cy="285750"/>
            </a:xfrm>
            <a:prstGeom prst="rect">
              <a:avLst/>
            </a:prstGeom>
            <a:solidFill>
              <a:schemeClr val="accent4">
                <a:lumMod val="20000"/>
                <a:lumOff val="80000"/>
              </a:schemeClr>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 name="Rectangle 13">
              <a:extLst>
                <a:ext uri="{FF2B5EF4-FFF2-40B4-BE49-F238E27FC236}">
                  <a16:creationId xmlns:a16="http://schemas.microsoft.com/office/drawing/2014/main" id="{9AB65025-C6BB-C9FA-75D2-0335082E7E2E}"/>
                </a:ext>
              </a:extLst>
            </p:cNvPr>
            <p:cNvSpPr>
              <a:spLocks noChangeArrowheads="1"/>
            </p:cNvSpPr>
            <p:nvPr/>
          </p:nvSpPr>
          <p:spPr bwMode="auto">
            <a:xfrm>
              <a:off x="7137083" y="2852738"/>
              <a:ext cx="1806575" cy="20637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42" name="AutoShape 12">
              <a:extLst>
                <a:ext uri="{FF2B5EF4-FFF2-40B4-BE49-F238E27FC236}">
                  <a16:creationId xmlns:a16="http://schemas.microsoft.com/office/drawing/2014/main" id="{CA7C81C0-1841-A735-91A1-FF160F65FA54}"/>
                </a:ext>
              </a:extLst>
            </p:cNvPr>
            <p:cNvSpPr>
              <a:spLocks noChangeShapeType="1"/>
            </p:cNvSpPr>
            <p:nvPr/>
          </p:nvSpPr>
          <p:spPr bwMode="auto">
            <a:xfrm>
              <a:off x="8915083" y="2582863"/>
              <a:ext cx="193675" cy="7937"/>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Text Box 11">
              <a:extLst>
                <a:ext uri="{FF2B5EF4-FFF2-40B4-BE49-F238E27FC236}">
                  <a16:creationId xmlns:a16="http://schemas.microsoft.com/office/drawing/2014/main" id="{D3DC1A4D-465F-2ABF-F1CD-C638FF176C2B}"/>
                </a:ext>
              </a:extLst>
            </p:cNvPr>
            <p:cNvSpPr txBox="1">
              <a:spLocks noChangeArrowheads="1"/>
            </p:cNvSpPr>
            <p:nvPr/>
          </p:nvSpPr>
          <p:spPr bwMode="auto">
            <a:xfrm>
              <a:off x="9108758" y="2425700"/>
              <a:ext cx="474663" cy="285750"/>
            </a:xfrm>
            <a:prstGeom prst="rect">
              <a:avLst/>
            </a:prstGeom>
            <a:solidFill>
              <a:schemeClr val="accent4">
                <a:lumMod val="20000"/>
                <a:lumOff val="80000"/>
              </a:schemeClr>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 name="Rectangle 10">
              <a:extLst>
                <a:ext uri="{FF2B5EF4-FFF2-40B4-BE49-F238E27FC236}">
                  <a16:creationId xmlns:a16="http://schemas.microsoft.com/office/drawing/2014/main" id="{5E07205F-BBFA-B15D-03CC-37EC4505B7BF}"/>
                </a:ext>
              </a:extLst>
            </p:cNvPr>
            <p:cNvSpPr>
              <a:spLocks noChangeArrowheads="1"/>
            </p:cNvSpPr>
            <p:nvPr/>
          </p:nvSpPr>
          <p:spPr bwMode="auto">
            <a:xfrm>
              <a:off x="7127558" y="2406650"/>
              <a:ext cx="1816100" cy="39687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45" name="AutoShape 9">
              <a:extLst>
                <a:ext uri="{FF2B5EF4-FFF2-40B4-BE49-F238E27FC236}">
                  <a16:creationId xmlns:a16="http://schemas.microsoft.com/office/drawing/2014/main" id="{14BFE17F-E712-B092-8CC1-902728A4CDD8}"/>
                </a:ext>
              </a:extLst>
            </p:cNvPr>
            <p:cNvSpPr>
              <a:spLocks noChangeShapeType="1"/>
            </p:cNvSpPr>
            <p:nvPr/>
          </p:nvSpPr>
          <p:spPr bwMode="auto">
            <a:xfrm>
              <a:off x="8969058" y="1835150"/>
              <a:ext cx="193675" cy="793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Text Box 8">
              <a:extLst>
                <a:ext uri="{FF2B5EF4-FFF2-40B4-BE49-F238E27FC236}">
                  <a16:creationId xmlns:a16="http://schemas.microsoft.com/office/drawing/2014/main" id="{462295C7-83E8-6872-373C-F0535814EB59}"/>
                </a:ext>
              </a:extLst>
            </p:cNvPr>
            <p:cNvSpPr txBox="1">
              <a:spLocks noChangeArrowheads="1"/>
            </p:cNvSpPr>
            <p:nvPr/>
          </p:nvSpPr>
          <p:spPr bwMode="auto">
            <a:xfrm>
              <a:off x="9092883" y="2917825"/>
              <a:ext cx="474663" cy="285750"/>
            </a:xfrm>
            <a:prstGeom prst="rect">
              <a:avLst/>
            </a:prstGeom>
            <a:solidFill>
              <a:schemeClr val="accent4">
                <a:lumMod val="20000"/>
                <a:lumOff val="80000"/>
              </a:schemeClr>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7" name="Rectangle 7">
              <a:extLst>
                <a:ext uri="{FF2B5EF4-FFF2-40B4-BE49-F238E27FC236}">
                  <a16:creationId xmlns:a16="http://schemas.microsoft.com/office/drawing/2014/main" id="{5805C3CC-160C-A6B0-0E5F-A5E10C106B65}"/>
                </a:ext>
              </a:extLst>
            </p:cNvPr>
            <p:cNvSpPr>
              <a:spLocks noChangeArrowheads="1"/>
            </p:cNvSpPr>
            <p:nvPr/>
          </p:nvSpPr>
          <p:spPr bwMode="auto">
            <a:xfrm>
              <a:off x="8000683" y="3209925"/>
              <a:ext cx="495300" cy="1905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48" name="AutoShape 6">
              <a:extLst>
                <a:ext uri="{FF2B5EF4-FFF2-40B4-BE49-F238E27FC236}">
                  <a16:creationId xmlns:a16="http://schemas.microsoft.com/office/drawing/2014/main" id="{84A2E27E-8269-829B-4180-D3222480AEC8}"/>
                </a:ext>
              </a:extLst>
            </p:cNvPr>
            <p:cNvSpPr>
              <a:spLocks noChangeShapeType="1"/>
            </p:cNvSpPr>
            <p:nvPr/>
          </p:nvSpPr>
          <p:spPr bwMode="auto">
            <a:xfrm rot="5400000">
              <a:off x="8356283" y="3443288"/>
              <a:ext cx="57150" cy="0"/>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Text Box 5">
              <a:extLst>
                <a:ext uri="{FF2B5EF4-FFF2-40B4-BE49-F238E27FC236}">
                  <a16:creationId xmlns:a16="http://schemas.microsoft.com/office/drawing/2014/main" id="{58E46371-C603-E093-57ED-4324489A51D0}"/>
                </a:ext>
              </a:extLst>
            </p:cNvPr>
            <p:cNvSpPr txBox="1">
              <a:spLocks noChangeArrowheads="1"/>
            </p:cNvSpPr>
            <p:nvPr/>
          </p:nvSpPr>
          <p:spPr bwMode="auto">
            <a:xfrm>
              <a:off x="8021321" y="3471863"/>
              <a:ext cx="474662" cy="285750"/>
            </a:xfrm>
            <a:prstGeom prst="rect">
              <a:avLst/>
            </a:prstGeom>
            <a:solidFill>
              <a:schemeClr val="accent4">
                <a:lumMod val="20000"/>
                <a:lumOff val="80000"/>
              </a:schemeClr>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0" name="Rectangle 4">
              <a:extLst>
                <a:ext uri="{FF2B5EF4-FFF2-40B4-BE49-F238E27FC236}">
                  <a16:creationId xmlns:a16="http://schemas.microsoft.com/office/drawing/2014/main" id="{CD628158-8D79-7366-070E-BF5DFEF3B167}"/>
                </a:ext>
              </a:extLst>
            </p:cNvPr>
            <p:cNvSpPr>
              <a:spLocks noChangeArrowheads="1"/>
            </p:cNvSpPr>
            <p:nvPr/>
          </p:nvSpPr>
          <p:spPr bwMode="auto">
            <a:xfrm>
              <a:off x="8515033" y="3209925"/>
              <a:ext cx="495300" cy="1905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51" name="AutoShape 3">
              <a:extLst>
                <a:ext uri="{FF2B5EF4-FFF2-40B4-BE49-F238E27FC236}">
                  <a16:creationId xmlns:a16="http://schemas.microsoft.com/office/drawing/2014/main" id="{509050EF-49CC-04DC-89C9-415F9D21BE76}"/>
                </a:ext>
              </a:extLst>
            </p:cNvPr>
            <p:cNvSpPr>
              <a:spLocks noChangeShapeType="1"/>
            </p:cNvSpPr>
            <p:nvPr/>
          </p:nvSpPr>
          <p:spPr bwMode="auto">
            <a:xfrm rot="5400000">
              <a:off x="8872221" y="3443288"/>
              <a:ext cx="57150" cy="0"/>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Text Box 2">
              <a:extLst>
                <a:ext uri="{FF2B5EF4-FFF2-40B4-BE49-F238E27FC236}">
                  <a16:creationId xmlns:a16="http://schemas.microsoft.com/office/drawing/2014/main" id="{8E97C9BC-4DF6-8256-573E-C816EB119136}"/>
                </a:ext>
              </a:extLst>
            </p:cNvPr>
            <p:cNvSpPr txBox="1">
              <a:spLocks noChangeArrowheads="1"/>
            </p:cNvSpPr>
            <p:nvPr/>
          </p:nvSpPr>
          <p:spPr bwMode="auto">
            <a:xfrm>
              <a:off x="8537258" y="3471863"/>
              <a:ext cx="474663" cy="285750"/>
            </a:xfrm>
            <a:prstGeom prst="rect">
              <a:avLst/>
            </a:prstGeom>
            <a:solidFill>
              <a:schemeClr val="accent4">
                <a:lumMod val="20000"/>
                <a:lumOff val="80000"/>
              </a:schemeClr>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53" name="Picture 52">
              <a:extLst>
                <a:ext uri="{FF2B5EF4-FFF2-40B4-BE49-F238E27FC236}">
                  <a16:creationId xmlns:a16="http://schemas.microsoft.com/office/drawing/2014/main" id="{F171FD27-302F-54EB-E241-F4931B4BA6E1}"/>
                </a:ext>
              </a:extLst>
            </p:cNvPr>
            <p:cNvPicPr>
              <a:picLocks noChangeAspect="1"/>
            </p:cNvPicPr>
            <p:nvPr/>
          </p:nvPicPr>
          <p:blipFill>
            <a:blip r:embed="rId5"/>
            <a:stretch>
              <a:fillRect/>
            </a:stretch>
          </p:blipFill>
          <p:spPr>
            <a:xfrm>
              <a:off x="9604090" y="1509657"/>
              <a:ext cx="2343912" cy="1938528"/>
            </a:xfrm>
            <a:prstGeom prst="rect">
              <a:avLst/>
            </a:prstGeom>
          </p:spPr>
        </p:pic>
      </p:grpSp>
    </p:spTree>
    <p:extLst>
      <p:ext uri="{BB962C8B-B14F-4D97-AF65-F5344CB8AC3E}">
        <p14:creationId xmlns:p14="http://schemas.microsoft.com/office/powerpoint/2010/main" val="4219057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210">
            <a:extLst>
              <a:ext uri="{FF2B5EF4-FFF2-40B4-BE49-F238E27FC236}">
                <a16:creationId xmlns:a16="http://schemas.microsoft.com/office/drawing/2014/main" id="{52BC7928-40D9-4925-29EC-080323884757}"/>
              </a:ext>
            </a:extLst>
          </p:cNvPr>
          <p:cNvSpPr txBox="1"/>
          <p:nvPr/>
        </p:nvSpPr>
        <p:spPr>
          <a:xfrm>
            <a:off x="602910" y="2313154"/>
            <a:ext cx="3852819" cy="152780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1" algn="just">
              <a:lnSpc>
                <a:spcPct val="150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7.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done, click save account button. </a:t>
            </a:r>
          </a:p>
          <a:p>
            <a:pPr marR="0" lvl="1" algn="just">
              <a:lnSpc>
                <a:spcPct val="150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8.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Click the arrow maximize the header.</a:t>
            </a:r>
          </a:p>
          <a:p>
            <a:pPr marR="0" lvl="1" algn="just">
              <a:lnSpc>
                <a:spcPct val="150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9.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finalize, click post button.</a:t>
            </a:r>
          </a:p>
          <a:p>
            <a:pPr marR="0" lvl="1"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lvl="1" algn="just">
              <a:lnSpc>
                <a:spcPct val="115000"/>
              </a:lnSpc>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lvl="1" algn="just">
              <a:lnSpc>
                <a:spcPct val="115000"/>
              </a:lnSpc>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lvl="1" algn="just">
              <a:lnSpc>
                <a:spcPct val="115000"/>
              </a:lnSpc>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1"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1"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1" algn="just">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Text Box 6">
            <a:extLst>
              <a:ext uri="{FF2B5EF4-FFF2-40B4-BE49-F238E27FC236}">
                <a16:creationId xmlns:a16="http://schemas.microsoft.com/office/drawing/2014/main" id="{C08A4E45-1FA0-75A1-37A4-463974DDCBC7}"/>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id="{463CB33E-4DA0-01B8-E8F5-902BEB855B58}"/>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Credit Memo</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16" name="TextBox 15">
            <a:extLst>
              <a:ext uri="{FF2B5EF4-FFF2-40B4-BE49-F238E27FC236}">
                <a16:creationId xmlns:a16="http://schemas.microsoft.com/office/drawing/2014/main" id="{024D5CA4-0066-46EF-11F6-459062638E09}"/>
              </a:ext>
            </a:extLst>
          </p:cNvPr>
          <p:cNvSpPr txBox="1"/>
          <p:nvPr/>
        </p:nvSpPr>
        <p:spPr>
          <a:xfrm>
            <a:off x="1254088" y="638690"/>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Create Credit Notes?</a:t>
            </a:r>
            <a:endParaRPr lang="en-US" sz="2000" dirty="0">
              <a:solidFill>
                <a:srgbClr val="007434"/>
              </a:solidFill>
              <a:latin typeface="Calibri Light" panose="020F0302020204030204" pitchFamily="34" charset="0"/>
              <a:cs typeface="Calibri Light" panose="020F0302020204030204" pitchFamily="34" charset="0"/>
            </a:endParaRPr>
          </a:p>
        </p:txBody>
      </p:sp>
      <p:pic>
        <p:nvPicPr>
          <p:cNvPr id="15381" name="Picture 1305">
            <a:extLst>
              <a:ext uri="{FF2B5EF4-FFF2-40B4-BE49-F238E27FC236}">
                <a16:creationId xmlns:a16="http://schemas.microsoft.com/office/drawing/2014/main" id="{80A2BB3E-F1F6-B5DC-AD4A-F338D9132F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6907" y="2083279"/>
            <a:ext cx="6221413" cy="2308225"/>
          </a:xfrm>
          <a:prstGeom prst="rect">
            <a:avLst/>
          </a:prstGeom>
          <a:noFill/>
          <a:extLst>
            <a:ext uri="{909E8E84-426E-40DD-AFC4-6F175D3DCCD1}">
              <a14:hiddenFill xmlns:a14="http://schemas.microsoft.com/office/drawing/2010/main">
                <a:solidFill>
                  <a:srgbClr val="FFFFFF"/>
                </a:solidFill>
              </a14:hiddenFill>
            </a:ext>
          </a:extLst>
        </p:spPr>
      </p:pic>
      <p:sp>
        <p:nvSpPr>
          <p:cNvPr id="15382" name="Rectangle 37">
            <a:extLst>
              <a:ext uri="{FF2B5EF4-FFF2-40B4-BE49-F238E27FC236}">
                <a16:creationId xmlns:a16="http://schemas.microsoft.com/office/drawing/2014/main" id="{19A81304-E0BF-1D75-CCC8-99E6CC5D91E7}"/>
              </a:ext>
            </a:extLst>
          </p:cNvPr>
          <p:cNvSpPr>
            <a:spLocks noChangeArrowheads="1"/>
          </p:cNvSpPr>
          <p:nvPr/>
        </p:nvSpPr>
        <p:spPr bwMode="auto">
          <a:xfrm>
            <a:off x="10579020" y="2601896"/>
            <a:ext cx="207962" cy="215439"/>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15383" name="AutoShape 33">
            <a:extLst>
              <a:ext uri="{FF2B5EF4-FFF2-40B4-BE49-F238E27FC236}">
                <a16:creationId xmlns:a16="http://schemas.microsoft.com/office/drawing/2014/main" id="{22313790-5D94-D9E6-E52B-17E2E65DDD3A}"/>
              </a:ext>
            </a:extLst>
          </p:cNvPr>
          <p:cNvSpPr>
            <a:spLocks noChangeShapeType="1"/>
          </p:cNvSpPr>
          <p:nvPr/>
        </p:nvSpPr>
        <p:spPr bwMode="auto">
          <a:xfrm flipV="1">
            <a:off x="10786982" y="2645551"/>
            <a:ext cx="142875" cy="71437"/>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384" name="Text Box 32">
            <a:extLst>
              <a:ext uri="{FF2B5EF4-FFF2-40B4-BE49-F238E27FC236}">
                <a16:creationId xmlns:a16="http://schemas.microsoft.com/office/drawing/2014/main" id="{F945E2D8-5B98-52E0-60A8-10638291EDCC}"/>
              </a:ext>
            </a:extLst>
          </p:cNvPr>
          <p:cNvSpPr txBox="1">
            <a:spLocks noChangeArrowheads="1"/>
          </p:cNvSpPr>
          <p:nvPr/>
        </p:nvSpPr>
        <p:spPr bwMode="auto">
          <a:xfrm>
            <a:off x="10913982" y="2469042"/>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5385" name="Picture 15384">
            <a:extLst>
              <a:ext uri="{FF2B5EF4-FFF2-40B4-BE49-F238E27FC236}">
                <a16:creationId xmlns:a16="http://schemas.microsoft.com/office/drawing/2014/main" id="{1CDCB64C-254C-7783-D96D-C685E1950679}"/>
              </a:ext>
            </a:extLst>
          </p:cNvPr>
          <p:cNvPicPr>
            <a:picLocks noChangeAspect="1"/>
          </p:cNvPicPr>
          <p:nvPr/>
        </p:nvPicPr>
        <p:blipFill>
          <a:blip r:embed="rId3"/>
          <a:stretch>
            <a:fillRect/>
          </a:stretch>
        </p:blipFill>
        <p:spPr>
          <a:xfrm>
            <a:off x="6333727" y="2841643"/>
            <a:ext cx="4453255" cy="1433830"/>
          </a:xfrm>
          <a:prstGeom prst="rect">
            <a:avLst/>
          </a:prstGeom>
          <a:ln>
            <a:noFill/>
          </a:ln>
          <a:effectLst>
            <a:outerShdw blurRad="292100" dist="139700" dir="2700000" algn="tl" rotWithShape="0">
              <a:srgbClr val="333333">
                <a:alpha val="65000"/>
              </a:srgbClr>
            </a:outerShdw>
          </a:effectLst>
        </p:spPr>
      </p:pic>
      <p:sp>
        <p:nvSpPr>
          <p:cNvPr id="15386" name="AutoShape 38">
            <a:extLst>
              <a:ext uri="{FF2B5EF4-FFF2-40B4-BE49-F238E27FC236}">
                <a16:creationId xmlns:a16="http://schemas.microsoft.com/office/drawing/2014/main" id="{6303DA23-F270-A434-61B4-499A027A4A90}"/>
              </a:ext>
            </a:extLst>
          </p:cNvPr>
          <p:cNvSpPr>
            <a:spLocks noChangeArrowheads="1"/>
          </p:cNvSpPr>
          <p:nvPr/>
        </p:nvSpPr>
        <p:spPr bwMode="auto">
          <a:xfrm>
            <a:off x="10153570" y="2626204"/>
            <a:ext cx="439737" cy="450850"/>
          </a:xfrm>
          <a:prstGeom prst="curvedRightArrow">
            <a:avLst>
              <a:gd name="adj1" fmla="val 24958"/>
              <a:gd name="adj2" fmla="val 49916"/>
              <a:gd name="adj3" fmla="val 250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en-US"/>
          </a:p>
        </p:txBody>
      </p:sp>
      <p:sp>
        <p:nvSpPr>
          <p:cNvPr id="15387" name="Rectangle 34">
            <a:extLst>
              <a:ext uri="{FF2B5EF4-FFF2-40B4-BE49-F238E27FC236}">
                <a16:creationId xmlns:a16="http://schemas.microsoft.com/office/drawing/2014/main" id="{C0BB0FE5-F9A9-6CED-D8FE-AC193B035C58}"/>
              </a:ext>
            </a:extLst>
          </p:cNvPr>
          <p:cNvSpPr>
            <a:spLocks noChangeArrowheads="1"/>
          </p:cNvSpPr>
          <p:nvPr/>
        </p:nvSpPr>
        <p:spPr bwMode="auto">
          <a:xfrm>
            <a:off x="8478906" y="3185003"/>
            <a:ext cx="455613" cy="21907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dirty="0"/>
          </a:p>
        </p:txBody>
      </p:sp>
      <p:sp>
        <p:nvSpPr>
          <p:cNvPr id="15388" name="AutoShape 35">
            <a:extLst>
              <a:ext uri="{FF2B5EF4-FFF2-40B4-BE49-F238E27FC236}">
                <a16:creationId xmlns:a16="http://schemas.microsoft.com/office/drawing/2014/main" id="{C1EF582D-389A-3D94-0D06-9C87D7D2F77F}"/>
              </a:ext>
            </a:extLst>
          </p:cNvPr>
          <p:cNvSpPr>
            <a:spLocks noChangeShapeType="1"/>
          </p:cNvSpPr>
          <p:nvPr/>
        </p:nvSpPr>
        <p:spPr bwMode="auto">
          <a:xfrm flipV="1">
            <a:off x="8975320" y="3226308"/>
            <a:ext cx="142875" cy="71438"/>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389" name="Text Box 36">
            <a:extLst>
              <a:ext uri="{FF2B5EF4-FFF2-40B4-BE49-F238E27FC236}">
                <a16:creationId xmlns:a16="http://schemas.microsoft.com/office/drawing/2014/main" id="{7B0716B8-119E-2648-661B-30523BDD168E}"/>
              </a:ext>
            </a:extLst>
          </p:cNvPr>
          <p:cNvSpPr txBox="1">
            <a:spLocks noChangeArrowheads="1"/>
          </p:cNvSpPr>
          <p:nvPr/>
        </p:nvSpPr>
        <p:spPr bwMode="auto">
          <a:xfrm>
            <a:off x="9118195" y="3077054"/>
            <a:ext cx="474663"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52415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867115" y="1222309"/>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Edit Credit Notes?</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903669" y="1721950"/>
            <a:ext cx="3914824" cy="199848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0" algn="just">
              <a:lnSpc>
                <a:spcPct val="115000"/>
              </a:lnSpc>
              <a:spcBef>
                <a:spcPts val="0"/>
              </a:spcBef>
              <a:spcAft>
                <a:spcPts val="0"/>
              </a:spcAft>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1.1</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In the credit memo – main window, search the credit memo you wish to edit its information in the search bar. Or,</a:t>
            </a:r>
          </a:p>
          <a:p>
            <a:pPr marR="0" lvl="0" algn="just">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buSzPts val="1200"/>
            </a:pPr>
            <a:r>
              <a:rPr lang="en-US" sz="11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1.2</a:t>
            </a:r>
            <a:r>
              <a:rPr lang="en-US" sz="1100" b="1"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credit memo – main form, click the lookup button and select the transaction you wish to edit its information by typing its transaction number in the search bar.</a:t>
            </a:r>
            <a:endParaRPr lang="en-US" sz="11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buSzPts val="1200"/>
            </a:pPr>
            <a:endParaRPr lang="en-US" sz="1100" dirty="0">
              <a:latin typeface="Chivo Light" panose="020B0303030202020804" pitchFamily="34" charset="0"/>
              <a:ea typeface="Calibri" panose="020F0502020204030204" pitchFamily="34" charset="0"/>
              <a:cs typeface="Times New Roman" panose="02020603050405020304" pitchFamily="18" charset="0"/>
            </a:endParaRPr>
          </a:p>
          <a:p>
            <a:pPr marR="0" lvl="0" algn="just">
              <a:lnSpc>
                <a:spcPct val="115000"/>
              </a:lnSpc>
              <a:spcBef>
                <a:spcPts val="0"/>
              </a:spcBef>
              <a:spcAft>
                <a:spcPts val="0"/>
              </a:spcAft>
              <a:buSzPts val="1200"/>
            </a:pP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228600">
              <a:lnSpc>
                <a:spcPct val="115000"/>
              </a:lnSpc>
              <a:spcBef>
                <a:spcPts val="0"/>
              </a:spcBef>
              <a:spcAft>
                <a:spcPts val="0"/>
              </a:spcAft>
              <a:buAutoNum type="arabicPeriod"/>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5" name="Text Box 1197">
            <a:extLst>
              <a:ext uri="{FF2B5EF4-FFF2-40B4-BE49-F238E27FC236}">
                <a16:creationId xmlns:a16="http://schemas.microsoft.com/office/drawing/2014/main" id="{43122292-BD35-48F3-6B03-509A04780B35}"/>
              </a:ext>
            </a:extLst>
          </p:cNvPr>
          <p:cNvSpPr txBox="1"/>
          <p:nvPr/>
        </p:nvSpPr>
        <p:spPr>
          <a:xfrm>
            <a:off x="903669" y="3724137"/>
            <a:ext cx="3816266" cy="154570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0" algn="just">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2</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a:t>
            </a:r>
            <a:r>
              <a:rPr lang="en-US" sz="1200" b="1"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select the credit memo transaction, click edit button and change the information you want to alter. </a:t>
            </a: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3. </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 are done editing the credit memo header, click save button in the upper side of the header.</a:t>
            </a: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Slide Number Placeholder 9">
            <a:extLst>
              <a:ext uri="{FF2B5EF4-FFF2-40B4-BE49-F238E27FC236}">
                <a16:creationId xmlns:a16="http://schemas.microsoft.com/office/drawing/2014/main" id="{8C775271-D51F-AE1E-A7FB-210C633F293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2" name="TextBox 1">
            <a:extLst>
              <a:ext uri="{FF2B5EF4-FFF2-40B4-BE49-F238E27FC236}">
                <a16:creationId xmlns:a16="http://schemas.microsoft.com/office/drawing/2014/main" id="{06093C44-07AA-FAAC-EC2A-D64D46FC1792}"/>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Credit Memo</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49" name="TextBox 48">
            <a:extLst>
              <a:ext uri="{FF2B5EF4-FFF2-40B4-BE49-F238E27FC236}">
                <a16:creationId xmlns:a16="http://schemas.microsoft.com/office/drawing/2014/main" id="{B03CF80B-087B-C8F8-426B-5EF1BA82F457}"/>
              </a:ext>
            </a:extLst>
          </p:cNvPr>
          <p:cNvSpPr txBox="1"/>
          <p:nvPr/>
        </p:nvSpPr>
        <p:spPr>
          <a:xfrm>
            <a:off x="7433628" y="5192463"/>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latin typeface="Calibri" panose="020F0502020204030204" pitchFamily="34" charset="0"/>
                <a:ea typeface="Calibri" panose="020F0502020204030204" pitchFamily="34" charset="0"/>
                <a:cs typeface="Calibri" panose="020F0502020204030204" pitchFamily="34" charset="0"/>
              </a:rPr>
              <a:t>Credit Memo </a:t>
            </a:r>
            <a:r>
              <a:rPr lang="en-PH" sz="1200" b="1" dirty="0">
                <a:effectLst/>
                <a:latin typeface="Calibri" panose="020F0502020204030204" pitchFamily="34" charset="0"/>
                <a:ea typeface="Calibri" panose="020F0502020204030204" pitchFamily="34" charset="0"/>
                <a:cs typeface="Calibri" panose="020F0502020204030204" pitchFamily="34" charset="0"/>
              </a:rPr>
              <a:t>– Main </a:t>
            </a:r>
            <a:r>
              <a:rPr lang="en-PH" sz="1200" b="1" dirty="0">
                <a:latin typeface="Calibri" panose="020F0502020204030204" pitchFamily="34" charset="0"/>
                <a:ea typeface="Calibri" panose="020F0502020204030204" pitchFamily="34" charset="0"/>
                <a:cs typeface="Calibri" panose="020F0502020204030204" pitchFamily="34" charset="0"/>
              </a:rPr>
              <a:t>Form</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grpSp>
        <p:nvGrpSpPr>
          <p:cNvPr id="24" name="Group 23">
            <a:extLst>
              <a:ext uri="{FF2B5EF4-FFF2-40B4-BE49-F238E27FC236}">
                <a16:creationId xmlns:a16="http://schemas.microsoft.com/office/drawing/2014/main" id="{54C62FE3-3BEB-153B-4A83-94C466C9E805}"/>
              </a:ext>
            </a:extLst>
          </p:cNvPr>
          <p:cNvGrpSpPr/>
          <p:nvPr/>
        </p:nvGrpSpPr>
        <p:grpSpPr>
          <a:xfrm>
            <a:off x="5494020" y="3334317"/>
            <a:ext cx="5811520" cy="1855788"/>
            <a:chOff x="5459254" y="3414052"/>
            <a:chExt cx="5811520" cy="1855788"/>
          </a:xfrm>
        </p:grpSpPr>
        <p:pic>
          <p:nvPicPr>
            <p:cNvPr id="6" name="Picture 1307">
              <a:extLst>
                <a:ext uri="{FF2B5EF4-FFF2-40B4-BE49-F238E27FC236}">
                  <a16:creationId xmlns:a16="http://schemas.microsoft.com/office/drawing/2014/main" id="{D1A5BC5C-394B-43E9-CAFC-8BF29ECA68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8786" y="3414052"/>
              <a:ext cx="5741988" cy="1855788"/>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1270">
              <a:extLst>
                <a:ext uri="{FF2B5EF4-FFF2-40B4-BE49-F238E27FC236}">
                  <a16:creationId xmlns:a16="http://schemas.microsoft.com/office/drawing/2014/main" id="{AB2AE985-C87F-8288-FEAA-309B342A8113}"/>
                </a:ext>
              </a:extLst>
            </p:cNvPr>
            <p:cNvSpPr>
              <a:spLocks noChangeArrowheads="1"/>
            </p:cNvSpPr>
            <p:nvPr/>
          </p:nvSpPr>
          <p:spPr bwMode="auto">
            <a:xfrm>
              <a:off x="6668849" y="4154677"/>
              <a:ext cx="275900" cy="3048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9" name="Straight Arrow Connector 1271">
              <a:extLst>
                <a:ext uri="{FF2B5EF4-FFF2-40B4-BE49-F238E27FC236}">
                  <a16:creationId xmlns:a16="http://schemas.microsoft.com/office/drawing/2014/main" id="{261ABD31-2D3E-ABAE-B6E4-038A86A3969E}"/>
                </a:ext>
              </a:extLst>
            </p:cNvPr>
            <p:cNvSpPr>
              <a:spLocks noChangeShapeType="1"/>
            </p:cNvSpPr>
            <p:nvPr/>
          </p:nvSpPr>
          <p:spPr bwMode="auto">
            <a:xfrm>
              <a:off x="6945149" y="4259477"/>
              <a:ext cx="200000" cy="9500"/>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 Box 1272">
              <a:extLst>
                <a:ext uri="{FF2B5EF4-FFF2-40B4-BE49-F238E27FC236}">
                  <a16:creationId xmlns:a16="http://schemas.microsoft.com/office/drawing/2014/main" id="{05DAEDD1-ADB4-58B9-0D60-1FD4091F8071}"/>
                </a:ext>
              </a:extLst>
            </p:cNvPr>
            <p:cNvSpPr txBox="1">
              <a:spLocks noChangeArrowheads="1"/>
            </p:cNvSpPr>
            <p:nvPr/>
          </p:nvSpPr>
          <p:spPr bwMode="auto">
            <a:xfrm>
              <a:off x="7154649" y="4154677"/>
              <a:ext cx="466700" cy="24770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 name="Rectangle 1274">
              <a:extLst>
                <a:ext uri="{FF2B5EF4-FFF2-40B4-BE49-F238E27FC236}">
                  <a16:creationId xmlns:a16="http://schemas.microsoft.com/office/drawing/2014/main" id="{10F5C6F5-66E4-B530-2F22-7F44173823AD}"/>
                </a:ext>
              </a:extLst>
            </p:cNvPr>
            <p:cNvSpPr>
              <a:spLocks noChangeArrowheads="1"/>
            </p:cNvSpPr>
            <p:nvPr/>
          </p:nvSpPr>
          <p:spPr bwMode="auto">
            <a:xfrm>
              <a:off x="9804142" y="3849877"/>
              <a:ext cx="466436" cy="3048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16" name="Straight Arrow Connector 1275">
              <a:extLst>
                <a:ext uri="{FF2B5EF4-FFF2-40B4-BE49-F238E27FC236}">
                  <a16:creationId xmlns:a16="http://schemas.microsoft.com/office/drawing/2014/main" id="{2BCC6E38-332D-75CD-FF42-AE331EC574DB}"/>
                </a:ext>
              </a:extLst>
            </p:cNvPr>
            <p:cNvSpPr>
              <a:spLocks noChangeShapeType="1"/>
            </p:cNvSpPr>
            <p:nvPr/>
          </p:nvSpPr>
          <p:spPr bwMode="auto">
            <a:xfrm>
              <a:off x="10270978" y="3954677"/>
              <a:ext cx="200015" cy="9500"/>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Text Box 1276">
              <a:extLst>
                <a:ext uri="{FF2B5EF4-FFF2-40B4-BE49-F238E27FC236}">
                  <a16:creationId xmlns:a16="http://schemas.microsoft.com/office/drawing/2014/main" id="{6FBE7AFB-1F57-6BEA-7DF5-A3CF3FB92C6D}"/>
                </a:ext>
              </a:extLst>
            </p:cNvPr>
            <p:cNvSpPr txBox="1">
              <a:spLocks noChangeArrowheads="1"/>
            </p:cNvSpPr>
            <p:nvPr/>
          </p:nvSpPr>
          <p:spPr bwMode="auto">
            <a:xfrm>
              <a:off x="10480494" y="3849877"/>
              <a:ext cx="304823" cy="24770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 name="Text Box 17">
              <a:extLst>
                <a:ext uri="{FF2B5EF4-FFF2-40B4-BE49-F238E27FC236}">
                  <a16:creationId xmlns:a16="http://schemas.microsoft.com/office/drawing/2014/main" id="{6970BB74-9FA6-0DAF-582C-8F83BD65E534}"/>
                </a:ext>
              </a:extLst>
            </p:cNvPr>
            <p:cNvSpPr txBox="1">
              <a:spLocks noChangeArrowheads="1"/>
            </p:cNvSpPr>
            <p:nvPr/>
          </p:nvSpPr>
          <p:spPr bwMode="auto">
            <a:xfrm>
              <a:off x="7655042" y="4348829"/>
              <a:ext cx="2301875" cy="584275"/>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lvl1pPr eaLnBrk="0" fontAlgn="base" hangingPunct="0">
                <a:spcBef>
                  <a:spcPct val="0"/>
                </a:spcBef>
                <a:spcAft>
                  <a:spcPct val="0"/>
                </a:spcAft>
                <a:tabLst>
                  <a:tab pos="203200" algn="l"/>
                </a:tabLst>
                <a:defRPr>
                  <a:solidFill>
                    <a:schemeClr val="tx1"/>
                  </a:solidFill>
                  <a:latin typeface="Arial" panose="020B0604020202020204" pitchFamily="34" charset="0"/>
                </a:defRPr>
              </a:lvl1pPr>
              <a:lvl2pPr eaLnBrk="0" fontAlgn="base" hangingPunct="0">
                <a:spcBef>
                  <a:spcPct val="0"/>
                </a:spcBef>
                <a:spcAft>
                  <a:spcPct val="0"/>
                </a:spcAft>
                <a:tabLst>
                  <a:tab pos="203200" algn="l"/>
                </a:tabLst>
                <a:defRPr>
                  <a:solidFill>
                    <a:schemeClr val="tx1"/>
                  </a:solidFill>
                  <a:latin typeface="Arial" panose="020B0604020202020204" pitchFamily="34" charset="0"/>
                </a:defRPr>
              </a:lvl2pPr>
              <a:lvl3pPr eaLnBrk="0" fontAlgn="base" hangingPunct="0">
                <a:spcBef>
                  <a:spcPct val="0"/>
                </a:spcBef>
                <a:spcAft>
                  <a:spcPct val="0"/>
                </a:spcAft>
                <a:tabLst>
                  <a:tab pos="203200" algn="l"/>
                </a:tabLst>
                <a:defRPr>
                  <a:solidFill>
                    <a:schemeClr val="tx1"/>
                  </a:solidFill>
                  <a:latin typeface="Arial" panose="020B0604020202020204" pitchFamily="34" charset="0"/>
                </a:defRPr>
              </a:lvl3pPr>
              <a:lvl4pPr eaLnBrk="0" fontAlgn="base" hangingPunct="0">
                <a:spcBef>
                  <a:spcPct val="0"/>
                </a:spcBef>
                <a:spcAft>
                  <a:spcPct val="0"/>
                </a:spcAft>
                <a:tabLst>
                  <a:tab pos="203200" algn="l"/>
                </a:tabLst>
                <a:defRPr>
                  <a:solidFill>
                    <a:schemeClr val="tx1"/>
                  </a:solidFill>
                  <a:latin typeface="Arial" panose="020B0604020202020204" pitchFamily="34" charset="0"/>
                </a:defRPr>
              </a:lvl4pPr>
              <a:lvl5pPr eaLnBrk="0" fontAlgn="base" hangingPunct="0">
                <a:spcBef>
                  <a:spcPct val="0"/>
                </a:spcBef>
                <a:spcAft>
                  <a:spcPct val="0"/>
                </a:spcAft>
                <a:tabLst>
                  <a:tab pos="203200" algn="l"/>
                </a:tabLst>
                <a:defRPr>
                  <a:solidFill>
                    <a:schemeClr val="tx1"/>
                  </a:solidFill>
                  <a:latin typeface="Arial" panose="020B0604020202020204" pitchFamily="34" charset="0"/>
                </a:defRPr>
              </a:lvl5pPr>
              <a:lvl6pPr eaLnBrk="0" fontAlgn="base" hangingPunct="0">
                <a:spcBef>
                  <a:spcPct val="0"/>
                </a:spcBef>
                <a:spcAft>
                  <a:spcPct val="0"/>
                </a:spcAft>
                <a:tabLst>
                  <a:tab pos="203200" algn="l"/>
                </a:tabLst>
                <a:defRPr>
                  <a:solidFill>
                    <a:schemeClr val="tx1"/>
                  </a:solidFill>
                  <a:latin typeface="Arial" panose="020B0604020202020204" pitchFamily="34" charset="0"/>
                </a:defRPr>
              </a:lvl6pPr>
              <a:lvl7pPr eaLnBrk="0" fontAlgn="base" hangingPunct="0">
                <a:spcBef>
                  <a:spcPct val="0"/>
                </a:spcBef>
                <a:spcAft>
                  <a:spcPct val="0"/>
                </a:spcAft>
                <a:tabLst>
                  <a:tab pos="203200" algn="l"/>
                </a:tabLst>
                <a:defRPr>
                  <a:solidFill>
                    <a:schemeClr val="tx1"/>
                  </a:solidFill>
                  <a:latin typeface="Arial" panose="020B0604020202020204" pitchFamily="34" charset="0"/>
                </a:defRPr>
              </a:lvl7pPr>
              <a:lvl8pPr eaLnBrk="0" fontAlgn="base" hangingPunct="0">
                <a:spcBef>
                  <a:spcPct val="0"/>
                </a:spcBef>
                <a:spcAft>
                  <a:spcPct val="0"/>
                </a:spcAft>
                <a:tabLst>
                  <a:tab pos="203200" algn="l"/>
                </a:tabLst>
                <a:defRPr>
                  <a:solidFill>
                    <a:schemeClr val="tx1"/>
                  </a:solidFill>
                  <a:latin typeface="Arial" panose="020B0604020202020204" pitchFamily="34" charset="0"/>
                </a:defRPr>
              </a:lvl8pPr>
              <a:lvl9pPr eaLnBrk="0" fontAlgn="base" hangingPunct="0">
                <a:spcBef>
                  <a:spcPct val="0"/>
                </a:spcBef>
                <a:spcAft>
                  <a:spcPct val="0"/>
                </a:spcAft>
                <a:tabLst>
                  <a:tab pos="203200" algn="l"/>
                </a:tabLst>
                <a:defRPr>
                  <a:solidFill>
                    <a:schemeClr val="tx1"/>
                  </a:solidFill>
                  <a:latin typeface="Arial" panose="020B0604020202020204" pitchFamily="34" charset="0"/>
                </a:defRPr>
              </a:lvl9pPr>
            </a:lstStyle>
            <a:p>
              <a:pPr marL="84138" marR="0" lvl="0" algn="l" defTabSz="914400" rtl="0" eaLnBrk="0" fontAlgn="base" latinLnBrk="0" hangingPunct="0">
                <a:lnSpc>
                  <a:spcPct val="100000"/>
                </a:lnSpc>
                <a:spcBef>
                  <a:spcPct val="0"/>
                </a:spcBef>
                <a:spcAft>
                  <a:spcPct val="0"/>
                </a:spcAft>
                <a:buClrTx/>
                <a:buSzTx/>
                <a:buFontTx/>
                <a:buNone/>
              </a:pPr>
              <a:r>
                <a:rPr kumimoji="0" lang="en-PH" altLang="en-US" sz="1000" b="0" i="1" u="none" strike="noStrike" cap="none" normalizeH="0" baseline="0" dirty="0">
                  <a:ln>
                    <a:noFill/>
                  </a:ln>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search credit memo transaction?</a:t>
              </a:r>
              <a:endParaRPr kumimoji="0" lang="en-PH" altLang="en-US" sz="400" b="0" i="0" u="none" strike="noStrike" cap="none" normalizeH="0" baseline="0" dirty="0">
                <a:ln>
                  <a:noFill/>
                </a:ln>
                <a:solidFill>
                  <a:schemeClr val="tx1"/>
                </a:solidFill>
                <a:effectLst/>
              </a:endParaRPr>
            </a:p>
            <a:p>
              <a:pPr marL="228600" marR="0" lvl="0" indent="-49213" algn="l" defTabSz="914400" rtl="0" eaLnBrk="0" fontAlgn="base" latinLnBrk="0" hangingPunct="0">
                <a:lnSpc>
                  <a:spcPct val="100000"/>
                </a:lnSpc>
                <a:spcBef>
                  <a:spcPct val="0"/>
                </a:spcBef>
                <a:spcAft>
                  <a:spcPct val="0"/>
                </a:spcAft>
                <a:buClrTx/>
                <a:buSzTx/>
                <a:buFont typeface="+mj-lt"/>
                <a:buAutoNum type="arabicPeriod"/>
                <a:tabLst>
                  <a:tab pos="203200" algn="l"/>
                </a:tabLst>
              </a:pPr>
              <a:r>
                <a:rPr kumimoji="0" lang="en-PH" altLang="en-US" sz="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PH" altLang="en-US" sz="400" b="0" i="0" u="none" strike="noStrike" cap="none" normalizeH="0" baseline="0" dirty="0">
                <a:ln>
                  <a:noFill/>
                </a:ln>
                <a:solidFill>
                  <a:schemeClr val="tx1"/>
                </a:solidFill>
                <a:effectLst/>
              </a:endParaRPr>
            </a:p>
            <a:p>
              <a:pPr marL="228600" marR="0" lvl="0" indent="-49213" algn="l" defTabSz="914400" rtl="0" eaLnBrk="0" fontAlgn="base" latinLnBrk="0" hangingPunct="0">
                <a:lnSpc>
                  <a:spcPct val="100000"/>
                </a:lnSpc>
                <a:spcBef>
                  <a:spcPct val="0"/>
                </a:spcBef>
                <a:spcAft>
                  <a:spcPct val="0"/>
                </a:spcAft>
                <a:buClrTx/>
                <a:buSzTx/>
                <a:buFont typeface="+mj-lt"/>
                <a:buAutoNum type="arabicPeriod"/>
                <a:tabLst>
                  <a:tab pos="203200" algn="l"/>
                </a:tabLst>
              </a:pPr>
              <a:r>
                <a:rPr kumimoji="0" lang="en-PH" altLang="en-US" sz="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Click ‘enter’ in the keyboard to search.</a:t>
              </a:r>
              <a:endParaRPr kumimoji="0" lang="en-PH" altLang="en-US" sz="400" b="0" i="0" u="none" strike="noStrike" cap="none" normalizeH="0" baseline="0" dirty="0">
                <a:ln>
                  <a:noFill/>
                </a:ln>
                <a:solidFill>
                  <a:schemeClr val="tx1"/>
                </a:solidFill>
                <a:effectLst/>
              </a:endParaRPr>
            </a:p>
            <a:p>
              <a:pPr marL="228600" marR="0" lvl="0" indent="-49213" algn="l" defTabSz="914400" rtl="0" eaLnBrk="0" fontAlgn="base" latinLnBrk="0" hangingPunct="0">
                <a:lnSpc>
                  <a:spcPct val="100000"/>
                </a:lnSpc>
                <a:spcBef>
                  <a:spcPct val="0"/>
                </a:spcBef>
                <a:spcAft>
                  <a:spcPct val="0"/>
                </a:spcAft>
                <a:buClrTx/>
                <a:buSzTx/>
                <a:buFont typeface="+mj-lt"/>
                <a:buAutoNum type="arabicPeriod"/>
                <a:tabLst>
                  <a:tab pos="203200" algn="l"/>
                </a:tabLst>
              </a:pPr>
              <a:r>
                <a:rPr kumimoji="0" lang="en-PH" altLang="en-US" sz="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PH" altLang="en-US" sz="1800" b="0" i="0" u="none" strike="noStrike" cap="none" normalizeH="0" baseline="0" dirty="0">
                <a:ln>
                  <a:noFill/>
                </a:ln>
                <a:solidFill>
                  <a:schemeClr val="tx1"/>
                </a:solidFill>
                <a:effectLst/>
                <a:latin typeface="Arial" panose="020B0604020202020204" pitchFamily="34" charset="0"/>
              </a:endParaRPr>
            </a:p>
          </p:txBody>
        </p:sp>
        <p:sp>
          <p:nvSpPr>
            <p:cNvPr id="22" name="Text Box 11">
              <a:extLst>
                <a:ext uri="{FF2B5EF4-FFF2-40B4-BE49-F238E27FC236}">
                  <a16:creationId xmlns:a16="http://schemas.microsoft.com/office/drawing/2014/main" id="{282C97B2-5FD9-038A-2F51-44001E6E3201}"/>
                </a:ext>
              </a:extLst>
            </p:cNvPr>
            <p:cNvSpPr txBox="1">
              <a:spLocks noChangeArrowheads="1"/>
            </p:cNvSpPr>
            <p:nvPr/>
          </p:nvSpPr>
          <p:spPr bwMode="auto">
            <a:xfrm>
              <a:off x="5459254" y="3667331"/>
              <a:ext cx="1306512" cy="2730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HEADER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50" name="Group 49">
            <a:extLst>
              <a:ext uri="{FF2B5EF4-FFF2-40B4-BE49-F238E27FC236}">
                <a16:creationId xmlns:a16="http://schemas.microsoft.com/office/drawing/2014/main" id="{D9379848-4D58-2A72-B97A-38D5698B509A}"/>
              </a:ext>
            </a:extLst>
          </p:cNvPr>
          <p:cNvGrpSpPr/>
          <p:nvPr/>
        </p:nvGrpSpPr>
        <p:grpSpPr>
          <a:xfrm>
            <a:off x="5336927" y="693600"/>
            <a:ext cx="6049963" cy="2049463"/>
            <a:chOff x="5494020" y="624045"/>
            <a:chExt cx="6049963" cy="2049463"/>
          </a:xfrm>
        </p:grpSpPr>
        <p:pic>
          <p:nvPicPr>
            <p:cNvPr id="25" name="Picture 1306">
              <a:extLst>
                <a:ext uri="{FF2B5EF4-FFF2-40B4-BE49-F238E27FC236}">
                  <a16:creationId xmlns:a16="http://schemas.microsoft.com/office/drawing/2014/main" id="{FAD15DF0-CE95-A6AC-D99A-D4EC11A329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4020" y="624045"/>
              <a:ext cx="6049963" cy="2049463"/>
            </a:xfrm>
            <a:prstGeom prst="rect">
              <a:avLst/>
            </a:prstGeom>
            <a:noFill/>
            <a:extLst>
              <a:ext uri="{909E8E84-426E-40DD-AFC4-6F175D3DCCD1}">
                <a14:hiddenFill xmlns:a14="http://schemas.microsoft.com/office/drawing/2010/main">
                  <a:solidFill>
                    <a:srgbClr val="FFFFFF"/>
                  </a:solidFill>
                </a14:hiddenFill>
              </a:ext>
            </a:extLst>
          </p:spPr>
        </p:pic>
        <p:sp>
          <p:nvSpPr>
            <p:cNvPr id="26" name="Rectangle 1263">
              <a:extLst>
                <a:ext uri="{FF2B5EF4-FFF2-40B4-BE49-F238E27FC236}">
                  <a16:creationId xmlns:a16="http://schemas.microsoft.com/office/drawing/2014/main" id="{4C074D64-4EA3-E191-1B8E-3D908137D160}"/>
                </a:ext>
              </a:extLst>
            </p:cNvPr>
            <p:cNvSpPr>
              <a:spLocks noChangeArrowheads="1"/>
            </p:cNvSpPr>
            <p:nvPr/>
          </p:nvSpPr>
          <p:spPr bwMode="auto">
            <a:xfrm>
              <a:off x="5592588" y="1567717"/>
              <a:ext cx="800141" cy="247756"/>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27" name="Straight Arrow Connector 1264">
              <a:extLst>
                <a:ext uri="{FF2B5EF4-FFF2-40B4-BE49-F238E27FC236}">
                  <a16:creationId xmlns:a16="http://schemas.microsoft.com/office/drawing/2014/main" id="{444991D1-C0C5-EE90-FDDC-B5AC11DB0114}"/>
                </a:ext>
              </a:extLst>
            </p:cNvPr>
            <p:cNvSpPr>
              <a:spLocks noChangeShapeType="1"/>
            </p:cNvSpPr>
            <p:nvPr/>
          </p:nvSpPr>
          <p:spPr bwMode="auto">
            <a:xfrm>
              <a:off x="6392729" y="1615428"/>
              <a:ext cx="200010" cy="9502"/>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Text Box 1265">
              <a:extLst>
                <a:ext uri="{FF2B5EF4-FFF2-40B4-BE49-F238E27FC236}">
                  <a16:creationId xmlns:a16="http://schemas.microsoft.com/office/drawing/2014/main" id="{91F17104-D5B1-14D7-DF7A-7C0FFF70A51D}"/>
                </a:ext>
              </a:extLst>
            </p:cNvPr>
            <p:cNvSpPr txBox="1">
              <a:spLocks noChangeArrowheads="1"/>
            </p:cNvSpPr>
            <p:nvPr/>
          </p:nvSpPr>
          <p:spPr bwMode="auto">
            <a:xfrm>
              <a:off x="6602239" y="1510604"/>
              <a:ext cx="466724" cy="247756"/>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51" name="TextBox 50">
            <a:extLst>
              <a:ext uri="{FF2B5EF4-FFF2-40B4-BE49-F238E27FC236}">
                <a16:creationId xmlns:a16="http://schemas.microsoft.com/office/drawing/2014/main" id="{3564FE12-29C4-7BBB-D30E-5CE9B3B43105}"/>
              </a:ext>
            </a:extLst>
          </p:cNvPr>
          <p:cNvSpPr txBox="1"/>
          <p:nvPr/>
        </p:nvSpPr>
        <p:spPr>
          <a:xfrm>
            <a:off x="7210887" y="2856965"/>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latin typeface="Calibri" panose="020F0502020204030204" pitchFamily="34" charset="0"/>
                <a:ea typeface="Calibri" panose="020F0502020204030204" pitchFamily="34" charset="0"/>
                <a:cs typeface="Calibri" panose="020F0502020204030204" pitchFamily="34" charset="0"/>
              </a:rPr>
              <a:t>Credit Memo </a:t>
            </a:r>
            <a:r>
              <a:rPr lang="en-PH" sz="1200" b="1" dirty="0">
                <a:effectLst/>
                <a:latin typeface="Calibri" panose="020F0502020204030204" pitchFamily="34" charset="0"/>
                <a:ea typeface="Calibri" panose="020F0502020204030204" pitchFamily="34" charset="0"/>
                <a:cs typeface="Calibri" panose="020F0502020204030204" pitchFamily="34" charset="0"/>
              </a:rPr>
              <a:t>–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02456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5" name="Text Box 1209">
            <a:extLst>
              <a:ext uri="{FF2B5EF4-FFF2-40B4-BE49-F238E27FC236}">
                <a16:creationId xmlns:a16="http://schemas.microsoft.com/office/drawing/2014/main" id="{4F5C4C4B-FEE4-25C5-466D-F7C19DFEE41D}"/>
              </a:ext>
            </a:extLst>
          </p:cNvPr>
          <p:cNvSpPr txBox="1"/>
          <p:nvPr/>
        </p:nvSpPr>
        <p:spPr>
          <a:xfrm>
            <a:off x="634525" y="2505868"/>
            <a:ext cx="3914825" cy="1778219"/>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algn="just">
              <a:lnSpc>
                <a:spcPct val="115000"/>
              </a:lnSpc>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4</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 want to edit the entry in the detail, edit right away the details you want to change and you will notice that after you change the details, the account you edited will be highlighted into blue. </a:t>
            </a:r>
          </a:p>
          <a:p>
            <a:pPr marR="0" algn="just">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R="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 </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you’re done editing, click save account button to save the changes you made in the entry.</a:t>
            </a: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R="0" algn="just">
              <a:lnSpc>
                <a:spcPct val="115000"/>
              </a:lnSpc>
              <a:spcBef>
                <a:spcPts val="0"/>
              </a:spcBef>
              <a:spcAft>
                <a:spcPts val="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03BC2A07-47A0-1365-7C1B-3F52494D221A}"/>
                  </a:ext>
                </a:extLst>
              </p14:cNvPr>
              <p14:cNvContentPartPr/>
              <p14:nvPr/>
            </p14:nvContentPartPr>
            <p14:xfrm>
              <a:off x="13443243" y="3058422"/>
              <a:ext cx="11880" cy="13320"/>
            </p14:xfrm>
          </p:contentPart>
        </mc:Choice>
        <mc:Fallback xmlns="">
          <p:pic>
            <p:nvPicPr>
              <p:cNvPr id="2" name="Ink 1">
                <a:extLst>
                  <a:ext uri="{FF2B5EF4-FFF2-40B4-BE49-F238E27FC236}">
                    <a16:creationId xmlns:a16="http://schemas.microsoft.com/office/drawing/2014/main" id="{03BC2A07-47A0-1365-7C1B-3F52494D221A}"/>
                  </a:ext>
                </a:extLst>
              </p:cNvPr>
              <p:cNvPicPr/>
              <p:nvPr/>
            </p:nvPicPr>
            <p:blipFill>
              <a:blip r:embed="rId3"/>
              <a:stretch>
                <a:fillRect/>
              </a:stretch>
            </p:blipFill>
            <p:spPr>
              <a:xfrm>
                <a:off x="13433962" y="3049422"/>
                <a:ext cx="30071" cy="30960"/>
              </a:xfrm>
              <a:prstGeom prst="rect">
                <a:avLst/>
              </a:prstGeom>
            </p:spPr>
          </p:pic>
        </mc:Fallback>
      </mc:AlternateContent>
      <p:sp>
        <p:nvSpPr>
          <p:cNvPr id="4" name="Slide Number Placeholder 9">
            <a:extLst>
              <a:ext uri="{FF2B5EF4-FFF2-40B4-BE49-F238E27FC236}">
                <a16:creationId xmlns:a16="http://schemas.microsoft.com/office/drawing/2014/main" id="{E4E2A4D2-E43C-008E-B31E-42862381E4BC}"/>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3093" name="TextBox 3092">
            <a:extLst>
              <a:ext uri="{FF2B5EF4-FFF2-40B4-BE49-F238E27FC236}">
                <a16:creationId xmlns:a16="http://schemas.microsoft.com/office/drawing/2014/main" id="{1DA6BD19-3C83-4489-F7C3-5965479B808C}"/>
              </a:ext>
            </a:extLst>
          </p:cNvPr>
          <p:cNvSpPr txBox="1"/>
          <p:nvPr/>
        </p:nvSpPr>
        <p:spPr>
          <a:xfrm>
            <a:off x="1254088" y="635220"/>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Edit Credit Notes?</a:t>
            </a:r>
            <a:endParaRPr lang="en-US" sz="2000" dirty="0">
              <a:solidFill>
                <a:srgbClr val="007434"/>
              </a:solidFill>
              <a:latin typeface="Calibri Light" panose="020F0302020204030204" pitchFamily="34" charset="0"/>
              <a:cs typeface="Calibri Light" panose="020F0302020204030204" pitchFamily="34" charset="0"/>
            </a:endParaRPr>
          </a:p>
        </p:txBody>
      </p:sp>
      <p:grpSp>
        <p:nvGrpSpPr>
          <p:cNvPr id="13" name="Group 12">
            <a:extLst>
              <a:ext uri="{FF2B5EF4-FFF2-40B4-BE49-F238E27FC236}">
                <a16:creationId xmlns:a16="http://schemas.microsoft.com/office/drawing/2014/main" id="{ED90959D-946A-89CF-C239-4249F01259E5}"/>
              </a:ext>
            </a:extLst>
          </p:cNvPr>
          <p:cNvGrpSpPr/>
          <p:nvPr/>
        </p:nvGrpSpPr>
        <p:grpSpPr>
          <a:xfrm>
            <a:off x="5106907" y="2229622"/>
            <a:ext cx="6342063" cy="2041150"/>
            <a:chOff x="5299274" y="1804749"/>
            <a:chExt cx="6342063" cy="2041150"/>
          </a:xfrm>
        </p:grpSpPr>
        <p:pic>
          <p:nvPicPr>
            <p:cNvPr id="3" name="Picture 1">
              <a:extLst>
                <a:ext uri="{FF2B5EF4-FFF2-40B4-BE49-F238E27FC236}">
                  <a16:creationId xmlns:a16="http://schemas.microsoft.com/office/drawing/2014/main" id="{DB1BBE66-6DA6-DF0E-81C7-FBA55F617A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1674" y="1957149"/>
              <a:ext cx="6189663" cy="1544637"/>
            </a:xfrm>
            <a:prstGeom prst="rect">
              <a:avLst/>
            </a:prstGeom>
            <a:noFill/>
            <a:extLst>
              <a:ext uri="{909E8E84-426E-40DD-AFC4-6F175D3DCCD1}">
                <a14:hiddenFill xmlns:a14="http://schemas.microsoft.com/office/drawing/2010/main">
                  <a:solidFill>
                    <a:srgbClr val="FFFFFF"/>
                  </a:solidFill>
                </a14:hiddenFill>
              </a:ext>
            </a:extLst>
          </p:spPr>
        </p:pic>
        <p:sp>
          <p:nvSpPr>
            <p:cNvPr id="6" name="Text Box 77">
              <a:extLst>
                <a:ext uri="{FF2B5EF4-FFF2-40B4-BE49-F238E27FC236}">
                  <a16:creationId xmlns:a16="http://schemas.microsoft.com/office/drawing/2014/main" id="{BB186236-1F7F-EFC5-276E-2DC41FFB90EF}"/>
                </a:ext>
              </a:extLst>
            </p:cNvPr>
            <p:cNvSpPr txBox="1">
              <a:spLocks noChangeArrowheads="1"/>
            </p:cNvSpPr>
            <p:nvPr/>
          </p:nvSpPr>
          <p:spPr bwMode="auto">
            <a:xfrm>
              <a:off x="5299274" y="1804749"/>
              <a:ext cx="914401"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DETAIL</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76">
              <a:extLst>
                <a:ext uri="{FF2B5EF4-FFF2-40B4-BE49-F238E27FC236}">
                  <a16:creationId xmlns:a16="http://schemas.microsoft.com/office/drawing/2014/main" id="{47E04A9D-092E-F039-9B21-E116B31686AB}"/>
                </a:ext>
              </a:extLst>
            </p:cNvPr>
            <p:cNvSpPr>
              <a:spLocks noChangeArrowheads="1"/>
            </p:cNvSpPr>
            <p:nvPr/>
          </p:nvSpPr>
          <p:spPr bwMode="auto">
            <a:xfrm>
              <a:off x="5588200" y="3055699"/>
              <a:ext cx="6000750" cy="59848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8" name="Rectangle 1285">
              <a:extLst>
                <a:ext uri="{FF2B5EF4-FFF2-40B4-BE49-F238E27FC236}">
                  <a16:creationId xmlns:a16="http://schemas.microsoft.com/office/drawing/2014/main" id="{05077D8F-945A-E261-9122-99CDB52A94FF}"/>
                </a:ext>
              </a:extLst>
            </p:cNvPr>
            <p:cNvSpPr>
              <a:spLocks noChangeArrowheads="1"/>
            </p:cNvSpPr>
            <p:nvPr/>
          </p:nvSpPr>
          <p:spPr bwMode="auto">
            <a:xfrm>
              <a:off x="9907382" y="1957174"/>
              <a:ext cx="730958" cy="28575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9" name="Straight Arrow Connector 1286">
              <a:extLst>
                <a:ext uri="{FF2B5EF4-FFF2-40B4-BE49-F238E27FC236}">
                  <a16:creationId xmlns:a16="http://schemas.microsoft.com/office/drawing/2014/main" id="{43F318EF-ADA3-56F4-66C3-C153B7217823}"/>
                </a:ext>
              </a:extLst>
            </p:cNvPr>
            <p:cNvSpPr>
              <a:spLocks noChangeShapeType="1"/>
            </p:cNvSpPr>
            <p:nvPr/>
          </p:nvSpPr>
          <p:spPr bwMode="auto">
            <a:xfrm>
              <a:off x="10714545" y="2128604"/>
              <a:ext cx="200016" cy="9502"/>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 Box 1287">
              <a:extLst>
                <a:ext uri="{FF2B5EF4-FFF2-40B4-BE49-F238E27FC236}">
                  <a16:creationId xmlns:a16="http://schemas.microsoft.com/office/drawing/2014/main" id="{60FC2823-A0E3-C638-5AA8-8554F6EC3C36}"/>
                </a:ext>
              </a:extLst>
            </p:cNvPr>
            <p:cNvSpPr txBox="1">
              <a:spLocks noChangeArrowheads="1"/>
            </p:cNvSpPr>
            <p:nvPr/>
          </p:nvSpPr>
          <p:spPr bwMode="auto">
            <a:xfrm>
              <a:off x="10924062" y="1957174"/>
              <a:ext cx="200016" cy="247643"/>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cs typeface="Times New Roman" panose="02020603050405020304" pitchFamily="18" charset="0"/>
                </a:rPr>
                <a:t>5</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1" name="Picture 10">
              <a:extLst>
                <a:ext uri="{FF2B5EF4-FFF2-40B4-BE49-F238E27FC236}">
                  <a16:creationId xmlns:a16="http://schemas.microsoft.com/office/drawing/2014/main" id="{93E52300-6ABD-282A-76A3-A4656D523C44}"/>
                </a:ext>
              </a:extLst>
            </p:cNvPr>
            <p:cNvPicPr>
              <a:picLocks noChangeAspect="1"/>
            </p:cNvPicPr>
            <p:nvPr/>
          </p:nvPicPr>
          <p:blipFill>
            <a:blip r:embed="rId5"/>
            <a:srcRect/>
            <a:stretch>
              <a:fillRect/>
            </a:stretch>
          </p:blipFill>
          <p:spPr bwMode="auto">
            <a:xfrm>
              <a:off x="5588200" y="3363299"/>
              <a:ext cx="4000500" cy="482600"/>
            </a:xfrm>
            <a:prstGeom prst="rect">
              <a:avLst/>
            </a:prstGeom>
            <a:ln>
              <a:noFill/>
            </a:ln>
            <a:effectLst>
              <a:outerShdw blurRad="292100" dist="139700" dir="2700000" algn="tl" rotWithShape="0">
                <a:srgbClr val="333333">
                  <a:alpha val="65000"/>
                </a:srgbClr>
              </a:outerShdw>
            </a:effectLst>
          </p:spPr>
        </p:pic>
        <p:sp>
          <p:nvSpPr>
            <p:cNvPr id="12" name="AutoShape 74">
              <a:extLst>
                <a:ext uri="{FF2B5EF4-FFF2-40B4-BE49-F238E27FC236}">
                  <a16:creationId xmlns:a16="http://schemas.microsoft.com/office/drawing/2014/main" id="{D5F0F452-F348-F0AA-BFDB-E61F9E45D4E2}"/>
                </a:ext>
              </a:extLst>
            </p:cNvPr>
            <p:cNvSpPr>
              <a:spLocks noChangeArrowheads="1"/>
            </p:cNvSpPr>
            <p:nvPr/>
          </p:nvSpPr>
          <p:spPr bwMode="auto">
            <a:xfrm>
              <a:off x="9344225" y="3147399"/>
              <a:ext cx="396875" cy="457200"/>
            </a:xfrm>
            <a:prstGeom prst="curvedLeftArrow">
              <a:avLst>
                <a:gd name="adj1" fmla="val 23040"/>
                <a:gd name="adj2" fmla="val 46080"/>
                <a:gd name="adj3" fmla="val 33333"/>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grpSp>
      <p:sp>
        <p:nvSpPr>
          <p:cNvPr id="14" name="TextBox 13">
            <a:extLst>
              <a:ext uri="{FF2B5EF4-FFF2-40B4-BE49-F238E27FC236}">
                <a16:creationId xmlns:a16="http://schemas.microsoft.com/office/drawing/2014/main" id="{858977BA-C5A0-35AE-B599-406858A4A396}"/>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Credit Memo</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Tree>
    <p:extLst>
      <p:ext uri="{BB962C8B-B14F-4D97-AF65-F5344CB8AC3E}">
        <p14:creationId xmlns:p14="http://schemas.microsoft.com/office/powerpoint/2010/main" val="2847396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867115" y="1222309"/>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Delete Credit Notes?</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903669" y="1721950"/>
            <a:ext cx="3914824" cy="82313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0" algn="just">
              <a:lnSpc>
                <a:spcPct val="115000"/>
              </a:lnSpc>
              <a:spcBef>
                <a:spcPts val="0"/>
              </a:spcBef>
              <a:spcAft>
                <a:spcPts val="0"/>
              </a:spcAft>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1.1</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In the credit memo – main window, search the entry you wish to edit its information in the search bar. Or,</a:t>
            </a:r>
          </a:p>
          <a:p>
            <a:pPr marR="0" lvl="0" algn="just">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buSzPts val="1200"/>
            </a:pPr>
            <a:r>
              <a:rPr lang="en-US" sz="11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1.2</a:t>
            </a:r>
            <a:r>
              <a:rPr lang="en-US" sz="1100" b="1"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credit memo – main form, click the lookup button and select the transaction you wish to edit its information by typing its transaction number in the search bar.</a:t>
            </a:r>
          </a:p>
          <a:p>
            <a:pPr marR="0" lvl="0" algn="just">
              <a:lnSpc>
                <a:spcPct val="115000"/>
              </a:lnSpc>
              <a:spcBef>
                <a:spcPts val="0"/>
              </a:spcBef>
              <a:spcAft>
                <a:spcPts val="0"/>
              </a:spcAft>
              <a:buSzPts val="1200"/>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buSzPts val="1200"/>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buSzPts val="1200"/>
            </a:pPr>
            <a:endParaRPr lang="en-US" sz="1100" dirty="0">
              <a:latin typeface="Chivo Light" panose="020B0303030202020804" pitchFamily="34" charset="0"/>
              <a:ea typeface="Calibri" panose="020F0502020204030204" pitchFamily="34" charset="0"/>
              <a:cs typeface="Times New Roman" panose="02020603050405020304" pitchFamily="18" charset="0"/>
            </a:endParaRPr>
          </a:p>
          <a:p>
            <a:pPr marR="0" lvl="0" algn="just">
              <a:lnSpc>
                <a:spcPct val="115000"/>
              </a:lnSpc>
              <a:spcBef>
                <a:spcPts val="0"/>
              </a:spcBef>
              <a:spcAft>
                <a:spcPts val="0"/>
              </a:spcAft>
              <a:buSzPts val="1200"/>
            </a:pP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228600">
              <a:lnSpc>
                <a:spcPct val="115000"/>
              </a:lnSpc>
              <a:spcBef>
                <a:spcPts val="0"/>
              </a:spcBef>
              <a:spcAft>
                <a:spcPts val="0"/>
              </a:spcAft>
              <a:buAutoNum type="arabicPeriod"/>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5" name="Text Box 1197">
            <a:extLst>
              <a:ext uri="{FF2B5EF4-FFF2-40B4-BE49-F238E27FC236}">
                <a16:creationId xmlns:a16="http://schemas.microsoft.com/office/drawing/2014/main" id="{43122292-BD35-48F3-6B03-509A04780B35}"/>
              </a:ext>
            </a:extLst>
          </p:cNvPr>
          <p:cNvSpPr txBox="1"/>
          <p:nvPr/>
        </p:nvSpPr>
        <p:spPr>
          <a:xfrm>
            <a:off x="903669" y="4060476"/>
            <a:ext cx="3816266" cy="58878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0" algn="just">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2</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a:t>
            </a:r>
            <a:r>
              <a:rPr lang="en-US" sz="1200" b="1"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done, click delete button.</a:t>
            </a: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Slide Number Placeholder 9">
            <a:extLst>
              <a:ext uri="{FF2B5EF4-FFF2-40B4-BE49-F238E27FC236}">
                <a16:creationId xmlns:a16="http://schemas.microsoft.com/office/drawing/2014/main" id="{8C775271-D51F-AE1E-A7FB-210C633F293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2" name="TextBox 1">
            <a:extLst>
              <a:ext uri="{FF2B5EF4-FFF2-40B4-BE49-F238E27FC236}">
                <a16:creationId xmlns:a16="http://schemas.microsoft.com/office/drawing/2014/main" id="{06093C44-07AA-FAAC-EC2A-D64D46FC1792}"/>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Credit Memo</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49" name="TextBox 48">
            <a:extLst>
              <a:ext uri="{FF2B5EF4-FFF2-40B4-BE49-F238E27FC236}">
                <a16:creationId xmlns:a16="http://schemas.microsoft.com/office/drawing/2014/main" id="{B03CF80B-087B-C8F8-426B-5EF1BA82F457}"/>
              </a:ext>
            </a:extLst>
          </p:cNvPr>
          <p:cNvSpPr txBox="1"/>
          <p:nvPr/>
        </p:nvSpPr>
        <p:spPr>
          <a:xfrm>
            <a:off x="7433946" y="5482628"/>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latin typeface="Calibri" panose="020F0502020204030204" pitchFamily="34" charset="0"/>
                <a:ea typeface="Calibri" panose="020F0502020204030204" pitchFamily="34" charset="0"/>
                <a:cs typeface="Calibri" panose="020F0502020204030204" pitchFamily="34" charset="0"/>
              </a:rPr>
              <a:t>Credit Memo </a:t>
            </a:r>
            <a:r>
              <a:rPr lang="en-PH" sz="1200" b="1" dirty="0">
                <a:effectLst/>
                <a:latin typeface="Calibri" panose="020F0502020204030204" pitchFamily="34" charset="0"/>
                <a:ea typeface="Calibri" panose="020F0502020204030204" pitchFamily="34" charset="0"/>
                <a:cs typeface="Calibri" panose="020F0502020204030204" pitchFamily="34" charset="0"/>
              </a:rPr>
              <a:t>– Main </a:t>
            </a:r>
            <a:r>
              <a:rPr lang="en-PH" sz="1200" b="1" dirty="0">
                <a:latin typeface="Calibri" panose="020F0502020204030204" pitchFamily="34" charset="0"/>
                <a:ea typeface="Calibri" panose="020F0502020204030204" pitchFamily="34" charset="0"/>
                <a:cs typeface="Calibri" panose="020F0502020204030204" pitchFamily="34" charset="0"/>
              </a:rPr>
              <a:t>Form</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DFE39B00-C95D-7D39-7D64-38CD3E9BF167}"/>
              </a:ext>
            </a:extLst>
          </p:cNvPr>
          <p:cNvSpPr txBox="1"/>
          <p:nvPr/>
        </p:nvSpPr>
        <p:spPr>
          <a:xfrm>
            <a:off x="7433628" y="2849814"/>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latin typeface="Calibri" panose="020F0502020204030204" pitchFamily="34" charset="0"/>
                <a:ea typeface="Calibri" panose="020F0502020204030204" pitchFamily="34" charset="0"/>
                <a:cs typeface="Calibri" panose="020F0502020204030204" pitchFamily="34" charset="0"/>
              </a:rPr>
              <a:t>Credit Memo </a:t>
            </a:r>
            <a:r>
              <a:rPr lang="en-PH" sz="1200" b="1" dirty="0">
                <a:effectLst/>
                <a:latin typeface="Calibri" panose="020F0502020204030204" pitchFamily="34" charset="0"/>
                <a:ea typeface="Calibri" panose="020F0502020204030204" pitchFamily="34" charset="0"/>
                <a:cs typeface="Calibri" panose="020F0502020204030204" pitchFamily="34" charset="0"/>
              </a:rPr>
              <a:t>–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grpSp>
        <p:nvGrpSpPr>
          <p:cNvPr id="52" name="Group 51">
            <a:extLst>
              <a:ext uri="{FF2B5EF4-FFF2-40B4-BE49-F238E27FC236}">
                <a16:creationId xmlns:a16="http://schemas.microsoft.com/office/drawing/2014/main" id="{82307E0D-B14D-F209-E010-15CA4BC1BE8A}"/>
              </a:ext>
            </a:extLst>
          </p:cNvPr>
          <p:cNvGrpSpPr/>
          <p:nvPr/>
        </p:nvGrpSpPr>
        <p:grpSpPr>
          <a:xfrm>
            <a:off x="5731933" y="2735580"/>
            <a:ext cx="12192000" cy="3249613"/>
            <a:chOff x="0" y="0"/>
            <a:chExt cx="12192000" cy="3249613"/>
          </a:xfrm>
        </p:grpSpPr>
        <p:sp>
          <p:nvSpPr>
            <p:cNvPr id="27" name="Rectangle 14">
              <a:extLst>
                <a:ext uri="{FF2B5EF4-FFF2-40B4-BE49-F238E27FC236}">
                  <a16:creationId xmlns:a16="http://schemas.microsoft.com/office/drawing/2014/main" id="{A07823DA-0A85-088A-A868-AB5BDFB4598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9" name="Rectangle 16">
              <a:extLst>
                <a:ext uri="{FF2B5EF4-FFF2-40B4-BE49-F238E27FC236}">
                  <a16:creationId xmlns:a16="http://schemas.microsoft.com/office/drawing/2014/main" id="{F9F924FF-5B7D-4467-730B-C615AF20AD8F}"/>
                </a:ext>
              </a:extLst>
            </p:cNvPr>
            <p:cNvSpPr>
              <a:spLocks noChangeArrowheads="1"/>
            </p:cNvSpPr>
            <p:nvPr/>
          </p:nvSpPr>
          <p:spPr bwMode="auto">
            <a:xfrm>
              <a:off x="0" y="4572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0" name="Rectangle 20">
              <a:extLst>
                <a:ext uri="{FF2B5EF4-FFF2-40B4-BE49-F238E27FC236}">
                  <a16:creationId xmlns:a16="http://schemas.microsoft.com/office/drawing/2014/main" id="{9E421FCD-FAA7-A6FB-A55C-490CB2099FBF}"/>
                </a:ext>
              </a:extLst>
            </p:cNvPr>
            <p:cNvSpPr>
              <a:spLocks noChangeArrowheads="1"/>
            </p:cNvSpPr>
            <p:nvPr/>
          </p:nvSpPr>
          <p:spPr bwMode="auto">
            <a:xfrm>
              <a:off x="0" y="914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1" name="Rectangle 21">
              <a:extLst>
                <a:ext uri="{FF2B5EF4-FFF2-40B4-BE49-F238E27FC236}">
                  <a16:creationId xmlns:a16="http://schemas.microsoft.com/office/drawing/2014/main" id="{D6CDC4BC-25CF-0939-EAAF-B8CA13054B1A}"/>
                </a:ext>
              </a:extLst>
            </p:cNvPr>
            <p:cNvSpPr>
              <a:spLocks noChangeArrowheads="1"/>
            </p:cNvSpPr>
            <p:nvPr/>
          </p:nvSpPr>
          <p:spPr bwMode="auto">
            <a:xfrm>
              <a:off x="0" y="27924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4" name="Group 3">
            <a:extLst>
              <a:ext uri="{FF2B5EF4-FFF2-40B4-BE49-F238E27FC236}">
                <a16:creationId xmlns:a16="http://schemas.microsoft.com/office/drawing/2014/main" id="{52C935CE-50C5-B0D4-91D2-DAF4508C0E5E}"/>
              </a:ext>
            </a:extLst>
          </p:cNvPr>
          <p:cNvGrpSpPr/>
          <p:nvPr/>
        </p:nvGrpSpPr>
        <p:grpSpPr>
          <a:xfrm>
            <a:off x="5390576" y="769483"/>
            <a:ext cx="6049963" cy="2049463"/>
            <a:chOff x="5494020" y="624045"/>
            <a:chExt cx="6049963" cy="2049463"/>
          </a:xfrm>
        </p:grpSpPr>
        <p:pic>
          <p:nvPicPr>
            <p:cNvPr id="7" name="Picture 1306">
              <a:extLst>
                <a:ext uri="{FF2B5EF4-FFF2-40B4-BE49-F238E27FC236}">
                  <a16:creationId xmlns:a16="http://schemas.microsoft.com/office/drawing/2014/main" id="{F57FEC17-BDA0-EE00-93C6-165839B1D9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4020" y="624045"/>
              <a:ext cx="6049963" cy="20494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263">
              <a:extLst>
                <a:ext uri="{FF2B5EF4-FFF2-40B4-BE49-F238E27FC236}">
                  <a16:creationId xmlns:a16="http://schemas.microsoft.com/office/drawing/2014/main" id="{E7C77284-0390-EB65-69FA-BFBCDD855DB7}"/>
                </a:ext>
              </a:extLst>
            </p:cNvPr>
            <p:cNvSpPr>
              <a:spLocks noChangeArrowheads="1"/>
            </p:cNvSpPr>
            <p:nvPr/>
          </p:nvSpPr>
          <p:spPr bwMode="auto">
            <a:xfrm>
              <a:off x="5592588" y="1567717"/>
              <a:ext cx="800141" cy="247756"/>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12" name="Straight Arrow Connector 1264">
              <a:extLst>
                <a:ext uri="{FF2B5EF4-FFF2-40B4-BE49-F238E27FC236}">
                  <a16:creationId xmlns:a16="http://schemas.microsoft.com/office/drawing/2014/main" id="{81D7DD09-B53A-19C1-EC58-57C3A80CB0AB}"/>
                </a:ext>
              </a:extLst>
            </p:cNvPr>
            <p:cNvSpPr>
              <a:spLocks noChangeShapeType="1"/>
            </p:cNvSpPr>
            <p:nvPr/>
          </p:nvSpPr>
          <p:spPr bwMode="auto">
            <a:xfrm>
              <a:off x="6392729" y="1615428"/>
              <a:ext cx="200010" cy="9502"/>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Text Box 1265">
              <a:extLst>
                <a:ext uri="{FF2B5EF4-FFF2-40B4-BE49-F238E27FC236}">
                  <a16:creationId xmlns:a16="http://schemas.microsoft.com/office/drawing/2014/main" id="{ECCC2CC8-7276-75BB-3534-993D604318B5}"/>
                </a:ext>
              </a:extLst>
            </p:cNvPr>
            <p:cNvSpPr txBox="1">
              <a:spLocks noChangeArrowheads="1"/>
            </p:cNvSpPr>
            <p:nvPr/>
          </p:nvSpPr>
          <p:spPr bwMode="auto">
            <a:xfrm>
              <a:off x="6602239" y="1510604"/>
              <a:ext cx="466724" cy="247756"/>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34" name="Group 33">
            <a:extLst>
              <a:ext uri="{FF2B5EF4-FFF2-40B4-BE49-F238E27FC236}">
                <a16:creationId xmlns:a16="http://schemas.microsoft.com/office/drawing/2014/main" id="{A2F03A5D-C8E4-C94B-25DF-B56D7F6CD807}"/>
              </a:ext>
            </a:extLst>
          </p:cNvPr>
          <p:cNvGrpSpPr/>
          <p:nvPr/>
        </p:nvGrpSpPr>
        <p:grpSpPr>
          <a:xfrm>
            <a:off x="5519164" y="3376929"/>
            <a:ext cx="5921375" cy="2151063"/>
            <a:chOff x="5731933" y="3376930"/>
            <a:chExt cx="5921375" cy="2151063"/>
          </a:xfrm>
        </p:grpSpPr>
        <p:pic>
          <p:nvPicPr>
            <p:cNvPr id="14" name="Picture 1353">
              <a:extLst>
                <a:ext uri="{FF2B5EF4-FFF2-40B4-BE49-F238E27FC236}">
                  <a16:creationId xmlns:a16="http://schemas.microsoft.com/office/drawing/2014/main" id="{A9E8C4F7-875C-0DC7-445B-CDAB022702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31933" y="3649980"/>
              <a:ext cx="5921375" cy="1878013"/>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344">
              <a:extLst>
                <a:ext uri="{FF2B5EF4-FFF2-40B4-BE49-F238E27FC236}">
                  <a16:creationId xmlns:a16="http://schemas.microsoft.com/office/drawing/2014/main" id="{5B820E1E-EC10-0E3D-560C-F9B4A3927A6F}"/>
                </a:ext>
              </a:extLst>
            </p:cNvPr>
            <p:cNvSpPr>
              <a:spLocks noChangeArrowheads="1"/>
            </p:cNvSpPr>
            <p:nvPr/>
          </p:nvSpPr>
          <p:spPr bwMode="auto">
            <a:xfrm>
              <a:off x="6870846" y="4411968"/>
              <a:ext cx="275900" cy="3048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20" name="Straight Arrow Connector 1345">
              <a:extLst>
                <a:ext uri="{FF2B5EF4-FFF2-40B4-BE49-F238E27FC236}">
                  <a16:creationId xmlns:a16="http://schemas.microsoft.com/office/drawing/2014/main" id="{CABAA0A4-453A-A91F-F12F-F2932A6A3DE2}"/>
                </a:ext>
              </a:extLst>
            </p:cNvPr>
            <p:cNvSpPr>
              <a:spLocks noChangeShapeType="1"/>
            </p:cNvSpPr>
            <p:nvPr/>
          </p:nvSpPr>
          <p:spPr bwMode="auto">
            <a:xfrm>
              <a:off x="7147146" y="4516768"/>
              <a:ext cx="200000" cy="9500"/>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Text Box 1346">
              <a:extLst>
                <a:ext uri="{FF2B5EF4-FFF2-40B4-BE49-F238E27FC236}">
                  <a16:creationId xmlns:a16="http://schemas.microsoft.com/office/drawing/2014/main" id="{32D11AF1-762C-7639-02D8-1C2758DC0922}"/>
                </a:ext>
              </a:extLst>
            </p:cNvPr>
            <p:cNvSpPr txBox="1">
              <a:spLocks noChangeArrowheads="1"/>
            </p:cNvSpPr>
            <p:nvPr/>
          </p:nvSpPr>
          <p:spPr bwMode="auto">
            <a:xfrm>
              <a:off x="7356646" y="4411968"/>
              <a:ext cx="466700" cy="24770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 name="Rectangle 1348">
              <a:extLst>
                <a:ext uri="{FF2B5EF4-FFF2-40B4-BE49-F238E27FC236}">
                  <a16:creationId xmlns:a16="http://schemas.microsoft.com/office/drawing/2014/main" id="{53C50746-D624-8F75-BA4C-56BFD6271AA6}"/>
                </a:ext>
              </a:extLst>
            </p:cNvPr>
            <p:cNvSpPr>
              <a:spLocks noChangeArrowheads="1"/>
            </p:cNvSpPr>
            <p:nvPr/>
          </p:nvSpPr>
          <p:spPr bwMode="auto">
            <a:xfrm>
              <a:off x="7624399" y="4107168"/>
              <a:ext cx="466435" cy="3048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30" name="Straight Arrow Connector 1349">
              <a:extLst>
                <a:ext uri="{FF2B5EF4-FFF2-40B4-BE49-F238E27FC236}">
                  <a16:creationId xmlns:a16="http://schemas.microsoft.com/office/drawing/2014/main" id="{E1951C47-622F-EF74-54F8-25168F8D26B1}"/>
                </a:ext>
              </a:extLst>
            </p:cNvPr>
            <p:cNvSpPr>
              <a:spLocks noChangeShapeType="1"/>
            </p:cNvSpPr>
            <p:nvPr/>
          </p:nvSpPr>
          <p:spPr bwMode="auto">
            <a:xfrm>
              <a:off x="8091234" y="4211968"/>
              <a:ext cx="200015" cy="9500"/>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Text Box 1350">
              <a:extLst>
                <a:ext uri="{FF2B5EF4-FFF2-40B4-BE49-F238E27FC236}">
                  <a16:creationId xmlns:a16="http://schemas.microsoft.com/office/drawing/2014/main" id="{E8D08CDC-22A0-3D08-9CA0-8D7E22412536}"/>
                </a:ext>
              </a:extLst>
            </p:cNvPr>
            <p:cNvSpPr txBox="1">
              <a:spLocks noChangeArrowheads="1"/>
            </p:cNvSpPr>
            <p:nvPr/>
          </p:nvSpPr>
          <p:spPr bwMode="auto">
            <a:xfrm>
              <a:off x="8300750" y="4107168"/>
              <a:ext cx="304823" cy="24770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 name="Text Box 13">
              <a:extLst>
                <a:ext uri="{FF2B5EF4-FFF2-40B4-BE49-F238E27FC236}">
                  <a16:creationId xmlns:a16="http://schemas.microsoft.com/office/drawing/2014/main" id="{715D679C-F484-C774-72A1-CDC865ADBF6C}"/>
                </a:ext>
              </a:extLst>
            </p:cNvPr>
            <p:cNvSpPr txBox="1">
              <a:spLocks noChangeArrowheads="1"/>
            </p:cNvSpPr>
            <p:nvPr/>
          </p:nvSpPr>
          <p:spPr bwMode="auto">
            <a:xfrm>
              <a:off x="5898621" y="3376930"/>
              <a:ext cx="1306512" cy="2730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HEADER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33" name="Picture 32">
              <a:extLst>
                <a:ext uri="{FF2B5EF4-FFF2-40B4-BE49-F238E27FC236}">
                  <a16:creationId xmlns:a16="http://schemas.microsoft.com/office/drawing/2014/main" id="{9E9E7A5E-8D37-2638-F49C-2BED771305EB}"/>
                </a:ext>
              </a:extLst>
            </p:cNvPr>
            <p:cNvPicPr>
              <a:picLocks noChangeAspect="1"/>
            </p:cNvPicPr>
            <p:nvPr/>
          </p:nvPicPr>
          <p:blipFill>
            <a:blip r:embed="rId5"/>
            <a:stretch>
              <a:fillRect/>
            </a:stretch>
          </p:blipFill>
          <p:spPr>
            <a:xfrm>
              <a:off x="7931237" y="4495292"/>
              <a:ext cx="2314956" cy="888492"/>
            </a:xfrm>
            <a:prstGeom prst="rect">
              <a:avLst/>
            </a:prstGeom>
          </p:spPr>
        </p:pic>
      </p:grpSp>
    </p:spTree>
    <p:extLst>
      <p:ext uri="{BB962C8B-B14F-4D97-AF65-F5344CB8AC3E}">
        <p14:creationId xmlns:p14="http://schemas.microsoft.com/office/powerpoint/2010/main" val="1705203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1053690"/>
            <a:ext cx="3887062" cy="338554"/>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Other Information</a:t>
            </a:r>
            <a:endParaRPr lang="en-US" sz="2000" dirty="0">
              <a:solidFill>
                <a:srgbClr val="007434"/>
              </a:solidFill>
              <a:latin typeface="Calibri Light" panose="020F0302020204030204" pitchFamily="34" charset="0"/>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13" name="Text Box 1294">
            <a:extLst>
              <a:ext uri="{FF2B5EF4-FFF2-40B4-BE49-F238E27FC236}">
                <a16:creationId xmlns:a16="http://schemas.microsoft.com/office/drawing/2014/main" id="{DDD4D16F-99A7-A220-B785-6EEF1E7FA204}"/>
              </a:ext>
            </a:extLst>
          </p:cNvPr>
          <p:cNvSpPr txBox="1"/>
          <p:nvPr/>
        </p:nvSpPr>
        <p:spPr>
          <a:xfrm>
            <a:off x="805110" y="1611682"/>
            <a:ext cx="3887062" cy="4610003"/>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227330">
              <a:lnSpc>
                <a:spcPct val="107000"/>
              </a:lnSpc>
              <a:spcBef>
                <a:spcPts val="19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When you click the arrow icon parallel in the main form on the upper right, the credit memo – main form will be minimize and the other tabs will be visible.</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0" marR="227330">
              <a:lnSpc>
                <a:spcPct val="107000"/>
              </a:lnSpc>
              <a:spcBef>
                <a:spcPts val="190"/>
              </a:spcBef>
              <a:spcAft>
                <a:spcPts val="800"/>
              </a:spcAft>
            </a:pPr>
            <a:r>
              <a:rPr lang="en-US" sz="1100" b="1" dirty="0">
                <a:effectLst/>
                <a:ea typeface="Times New Roman" panose="02020603050405020304" pitchFamily="18" charset="0"/>
                <a:cs typeface="Times New Roman" panose="02020603050405020304" pitchFamily="18" charset="0"/>
              </a:rPr>
              <a:t>Particular tab</a:t>
            </a:r>
            <a:endParaRPr lang="en-PH" sz="1100" dirty="0">
              <a:effectLst/>
              <a:ea typeface="Calibri" panose="020F0502020204030204" pitchFamily="34" charset="0"/>
              <a:cs typeface="Times New Roman" panose="02020603050405020304" pitchFamily="18" charset="0"/>
            </a:endParaRPr>
          </a:p>
          <a:p>
            <a:pPr marL="342900" lvl="0" indent="-342900" algn="just">
              <a:lnSpc>
                <a:spcPct val="115000"/>
              </a:lnSpc>
              <a:buFont typeface="+mj-lt"/>
              <a:buAutoNum type="arabicPeriod"/>
            </a:pPr>
            <a:r>
              <a:rPr lang="en-US" sz="1100" dirty="0">
                <a:effectLst/>
                <a:ea typeface="Times New Roman" panose="02020603050405020304" pitchFamily="18" charset="0"/>
                <a:cs typeface="Times New Roman" panose="02020603050405020304" pitchFamily="18" charset="0"/>
              </a:rPr>
              <a:t>Click maximize arrow to view the Particular tab</a:t>
            </a:r>
            <a:endParaRPr lang="en-PH" sz="1100" dirty="0">
              <a:effectLst/>
              <a:ea typeface="Calibri" panose="020F0502020204030204" pitchFamily="34" charset="0"/>
              <a:cs typeface="Times New Roman" panose="02020603050405020304" pitchFamily="18" charset="0"/>
            </a:endParaRPr>
          </a:p>
          <a:p>
            <a:pPr marL="342900" lvl="0" indent="-342900" algn="just">
              <a:lnSpc>
                <a:spcPct val="115000"/>
              </a:lnSpc>
              <a:buFont typeface="+mj-lt"/>
              <a:buAutoNum type="arabicPeriod"/>
            </a:pPr>
            <a:r>
              <a:rPr lang="en-US" sz="1100" dirty="0">
                <a:effectLst/>
                <a:ea typeface="Times New Roman" panose="02020603050405020304" pitchFamily="18" charset="0"/>
                <a:cs typeface="Times New Roman" panose="02020603050405020304" pitchFamily="18" charset="0"/>
              </a:rPr>
              <a:t>Provide the necessary details in their fields</a:t>
            </a:r>
            <a:endParaRPr lang="en-PH" sz="1100" dirty="0">
              <a:effectLst/>
              <a:ea typeface="Calibri" panose="020F0502020204030204" pitchFamily="34" charset="0"/>
              <a:cs typeface="Times New Roman" panose="02020603050405020304" pitchFamily="18" charset="0"/>
            </a:endParaRPr>
          </a:p>
          <a:p>
            <a:pPr lvl="1" algn="just">
              <a:lnSpc>
                <a:spcPct val="115000"/>
              </a:lnSpc>
            </a:pPr>
            <a:r>
              <a:rPr lang="en-US" sz="1100" dirty="0">
                <a:effectLst/>
                <a:ea typeface="Times New Roman" panose="02020603050405020304" pitchFamily="18" charset="0"/>
                <a:cs typeface="Times New Roman" panose="02020603050405020304" pitchFamily="18" charset="0"/>
              </a:rPr>
              <a:t>2.1. Click Add button to add new row</a:t>
            </a:r>
          </a:p>
          <a:p>
            <a:pPr lvl="1" algn="just">
              <a:lnSpc>
                <a:spcPct val="115000"/>
              </a:lnSpc>
            </a:pPr>
            <a:r>
              <a:rPr lang="en-US" sz="1100" dirty="0">
                <a:ea typeface="Times New Roman" panose="02020603050405020304" pitchFamily="18" charset="0"/>
                <a:cs typeface="Times New Roman" panose="02020603050405020304" pitchFamily="18" charset="0"/>
              </a:rPr>
              <a:t>2.2. </a:t>
            </a:r>
            <a:r>
              <a:rPr lang="en-US" sz="1100" dirty="0">
                <a:effectLst/>
                <a:ea typeface="Times New Roman" panose="02020603050405020304" pitchFamily="18" charset="0"/>
                <a:cs typeface="Times New Roman" panose="02020603050405020304" pitchFamily="18" charset="0"/>
              </a:rPr>
              <a:t>Type particular and amount if there’s any</a:t>
            </a:r>
            <a:endParaRPr lang="en-PH" sz="1100" dirty="0">
              <a:effectLst/>
              <a:ea typeface="Calibri" panose="020F0502020204030204" pitchFamily="34" charset="0"/>
              <a:cs typeface="Times New Roman" panose="02020603050405020304" pitchFamily="18" charset="0"/>
            </a:endParaRPr>
          </a:p>
          <a:p>
            <a:pPr lvl="1" algn="just">
              <a:lnSpc>
                <a:spcPct val="115000"/>
              </a:lnSpc>
            </a:pPr>
            <a:r>
              <a:rPr lang="en-US" sz="1100" dirty="0">
                <a:effectLst/>
                <a:ea typeface="Times New Roman" panose="02020603050405020304" pitchFamily="18" charset="0"/>
                <a:cs typeface="Times New Roman" panose="02020603050405020304" pitchFamily="18" charset="0"/>
              </a:rPr>
              <a:t>2.3. If done, click save all button</a:t>
            </a:r>
            <a:endParaRPr lang="en-PH" sz="1100" dirty="0">
              <a:effectLst/>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mj-lt"/>
              <a:buAutoNum type="arabicPeriod"/>
            </a:pPr>
            <a:r>
              <a:rPr lang="en-US" sz="1100" dirty="0">
                <a:effectLst/>
                <a:ea typeface="Times New Roman" panose="02020603050405020304" pitchFamily="18" charset="0"/>
                <a:cs typeface="Times New Roman" panose="02020603050405020304" pitchFamily="18" charset="0"/>
              </a:rPr>
              <a:t>Click save button once done</a:t>
            </a:r>
          </a:p>
          <a:p>
            <a:pPr lvl="0" algn="just">
              <a:lnSpc>
                <a:spcPct val="115000"/>
              </a:lnSpc>
              <a:spcAft>
                <a:spcPts val="100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Attachment tab</a:t>
            </a:r>
          </a:p>
          <a:p>
            <a:pPr lvl="0" algn="just"/>
            <a:r>
              <a:rPr lang="en-US" sz="1100" dirty="0">
                <a:effectLst/>
                <a:latin typeface="Calibri" panose="020F0502020204030204" pitchFamily="34" charset="0"/>
                <a:ea typeface="Calibri" panose="020F0502020204030204" pitchFamily="34" charset="0"/>
                <a:cs typeface="Times New Roman" panose="02020603050405020304" pitchFamily="18" charset="0"/>
              </a:rPr>
              <a:t>1. Click maximize arrow to view the attachment tab</a:t>
            </a:r>
          </a:p>
          <a:p>
            <a:pPr lvl="0" algn="just"/>
            <a:r>
              <a:rPr lang="en-US" sz="1100" dirty="0">
                <a:effectLst/>
                <a:latin typeface="Calibri" panose="020F0502020204030204" pitchFamily="34" charset="0"/>
                <a:ea typeface="Calibri" panose="020F0502020204030204" pitchFamily="34" charset="0"/>
                <a:cs typeface="Times New Roman" panose="02020603050405020304" pitchFamily="18" charset="0"/>
              </a:rPr>
              <a:t>2. Click add document button</a:t>
            </a:r>
          </a:p>
          <a:p>
            <a:pPr lvl="0" algn="just"/>
            <a:r>
              <a:rPr lang="en-US" sz="1100" dirty="0">
                <a:effectLst/>
                <a:latin typeface="Calibri" panose="020F0502020204030204" pitchFamily="34" charset="0"/>
                <a:ea typeface="Calibri" panose="020F0502020204030204" pitchFamily="34" charset="0"/>
                <a:cs typeface="Times New Roman" panose="02020603050405020304" pitchFamily="18" charset="0"/>
              </a:rPr>
              <a:t>3. Once you click the add document button, a dialog box of upload documents will pop out.</a:t>
            </a:r>
          </a:p>
          <a:p>
            <a:pPr lvl="0" algn="just"/>
            <a:r>
              <a:rPr lang="en-US" sz="1100" dirty="0">
                <a:effectLst/>
                <a:latin typeface="Calibri" panose="020F0502020204030204" pitchFamily="34" charset="0"/>
                <a:ea typeface="Calibri" panose="020F0502020204030204" pitchFamily="34" charset="0"/>
                <a:cs typeface="Times New Roman" panose="02020603050405020304" pitchFamily="18" charset="0"/>
              </a:rPr>
              <a:t>4. To upload files, follow ‘how to upload document”</a:t>
            </a:r>
          </a:p>
          <a:p>
            <a:pPr>
              <a:lnSpc>
                <a:spcPct val="107000"/>
              </a:lnSpc>
              <a:spcAft>
                <a:spcPts val="80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Slide Number Placeholder 9">
            <a:extLst>
              <a:ext uri="{FF2B5EF4-FFF2-40B4-BE49-F238E27FC236}">
                <a16:creationId xmlns:a16="http://schemas.microsoft.com/office/drawing/2014/main" id="{44896A8F-EB21-52B9-2BBE-E0C04BFEDE3D}"/>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grpSp>
        <p:nvGrpSpPr>
          <p:cNvPr id="4" name="Group 3">
            <a:extLst>
              <a:ext uri="{FF2B5EF4-FFF2-40B4-BE49-F238E27FC236}">
                <a16:creationId xmlns:a16="http://schemas.microsoft.com/office/drawing/2014/main" id="{BCF9C0CA-615F-37C0-2164-AC4FADC24F73}"/>
              </a:ext>
            </a:extLst>
          </p:cNvPr>
          <p:cNvGrpSpPr/>
          <p:nvPr/>
        </p:nvGrpSpPr>
        <p:grpSpPr>
          <a:xfrm>
            <a:off x="5635104" y="1506654"/>
            <a:ext cx="5470901" cy="1430421"/>
            <a:chOff x="6430729" y="1985714"/>
            <a:chExt cx="4349750" cy="1137285"/>
          </a:xfrm>
        </p:grpSpPr>
        <p:pic>
          <p:nvPicPr>
            <p:cNvPr id="7" name="Picture 6">
              <a:extLst>
                <a:ext uri="{FF2B5EF4-FFF2-40B4-BE49-F238E27FC236}">
                  <a16:creationId xmlns:a16="http://schemas.microsoft.com/office/drawing/2014/main" id="{4ADBDCBA-996C-1B94-5970-AA485424CBA1}"/>
                </a:ext>
              </a:extLst>
            </p:cNvPr>
            <p:cNvPicPr>
              <a:picLocks noChangeAspect="1"/>
            </p:cNvPicPr>
            <p:nvPr/>
          </p:nvPicPr>
          <p:blipFill>
            <a:blip r:embed="rId3"/>
            <a:stretch>
              <a:fillRect/>
            </a:stretch>
          </p:blipFill>
          <p:spPr bwMode="auto">
            <a:xfrm>
              <a:off x="6430729" y="1985714"/>
              <a:ext cx="4349750" cy="1137285"/>
            </a:xfrm>
            <a:prstGeom prst="rect">
              <a:avLst/>
            </a:prstGeom>
            <a:ln>
              <a:noFill/>
            </a:ln>
            <a:effectLst>
              <a:outerShdw blurRad="292100" dist="139700" dir="2700000" algn="tl" rotWithShape="0">
                <a:srgbClr val="333333">
                  <a:alpha val="65000"/>
                </a:srgbClr>
              </a:outerShdw>
            </a:effectLst>
          </p:spPr>
        </p:pic>
        <p:sp>
          <p:nvSpPr>
            <p:cNvPr id="8" name="Rectangle 898">
              <a:extLst>
                <a:ext uri="{FF2B5EF4-FFF2-40B4-BE49-F238E27FC236}">
                  <a16:creationId xmlns:a16="http://schemas.microsoft.com/office/drawing/2014/main" id="{3DF39ACF-7130-F2D8-06C8-29F696378BD2}"/>
                </a:ext>
              </a:extLst>
            </p:cNvPr>
            <p:cNvSpPr>
              <a:spLocks noChangeArrowheads="1"/>
            </p:cNvSpPr>
            <p:nvPr/>
          </p:nvSpPr>
          <p:spPr bwMode="auto">
            <a:xfrm>
              <a:off x="9682055" y="2490260"/>
              <a:ext cx="378936"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PH"/>
            </a:p>
          </p:txBody>
        </p:sp>
        <p:sp>
          <p:nvSpPr>
            <p:cNvPr id="9" name="Text Box 900">
              <a:extLst>
                <a:ext uri="{FF2B5EF4-FFF2-40B4-BE49-F238E27FC236}">
                  <a16:creationId xmlns:a16="http://schemas.microsoft.com/office/drawing/2014/main" id="{DF4F2F18-AD0E-C86E-C270-9B07C1EDA3DA}"/>
                </a:ext>
              </a:extLst>
            </p:cNvPr>
            <p:cNvSpPr txBox="1">
              <a:spLocks noChangeArrowheads="1"/>
            </p:cNvSpPr>
            <p:nvPr/>
          </p:nvSpPr>
          <p:spPr bwMode="auto">
            <a:xfrm>
              <a:off x="9464632" y="2105381"/>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rPr>
                <a:t>2.1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4">
              <a:extLst>
                <a:ext uri="{FF2B5EF4-FFF2-40B4-BE49-F238E27FC236}">
                  <a16:creationId xmlns:a16="http://schemas.microsoft.com/office/drawing/2014/main" id="{31D23A27-35E3-A674-1DFD-8B43803178BA}"/>
                </a:ext>
              </a:extLst>
            </p:cNvPr>
            <p:cNvSpPr>
              <a:spLocks noChangeArrowheads="1"/>
            </p:cNvSpPr>
            <p:nvPr/>
          </p:nvSpPr>
          <p:spPr bwMode="auto">
            <a:xfrm>
              <a:off x="10140019" y="2493987"/>
              <a:ext cx="506689"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PH"/>
            </a:p>
          </p:txBody>
        </p:sp>
        <p:pic>
          <p:nvPicPr>
            <p:cNvPr id="11" name="Picture 10">
              <a:extLst>
                <a:ext uri="{FF2B5EF4-FFF2-40B4-BE49-F238E27FC236}">
                  <a16:creationId xmlns:a16="http://schemas.microsoft.com/office/drawing/2014/main" id="{E0463A98-9E3C-2BBC-F908-D1942939B2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93339" y="2110567"/>
              <a:ext cx="504762" cy="314286"/>
            </a:xfrm>
            <a:prstGeom prst="rect">
              <a:avLst/>
            </a:prstGeom>
          </p:spPr>
        </p:pic>
        <p:cxnSp>
          <p:nvCxnSpPr>
            <p:cNvPr id="12" name="AutoShape 6">
              <a:extLst>
                <a:ext uri="{FF2B5EF4-FFF2-40B4-BE49-F238E27FC236}">
                  <a16:creationId xmlns:a16="http://schemas.microsoft.com/office/drawing/2014/main" id="{EB586A74-50E6-599D-09BE-85FC0B0F331D}"/>
                </a:ext>
              </a:extLst>
            </p:cNvPr>
            <p:cNvCxnSpPr>
              <a:cxnSpLocks noChangeShapeType="1"/>
            </p:cNvCxnSpPr>
            <p:nvPr/>
          </p:nvCxnSpPr>
          <p:spPr bwMode="auto">
            <a:xfrm flipH="1" flipV="1">
              <a:off x="9767424" y="2359447"/>
              <a:ext cx="203658" cy="130813"/>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14" name="AutoShape 6">
              <a:extLst>
                <a:ext uri="{FF2B5EF4-FFF2-40B4-BE49-F238E27FC236}">
                  <a16:creationId xmlns:a16="http://schemas.microsoft.com/office/drawing/2014/main" id="{EDD93AF8-DBA5-7E97-5255-C9AC2484A94B}"/>
                </a:ext>
              </a:extLst>
            </p:cNvPr>
            <p:cNvCxnSpPr>
              <a:cxnSpLocks noChangeShapeType="1"/>
            </p:cNvCxnSpPr>
            <p:nvPr/>
          </p:nvCxnSpPr>
          <p:spPr bwMode="auto">
            <a:xfrm flipH="1" flipV="1">
              <a:off x="10343891" y="2339565"/>
              <a:ext cx="203658" cy="130813"/>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grpSp>
      <p:grpSp>
        <p:nvGrpSpPr>
          <p:cNvPr id="15" name="Group 14">
            <a:extLst>
              <a:ext uri="{FF2B5EF4-FFF2-40B4-BE49-F238E27FC236}">
                <a16:creationId xmlns:a16="http://schemas.microsoft.com/office/drawing/2014/main" id="{8884DA69-9510-BF39-F362-20146A4555F6}"/>
              </a:ext>
            </a:extLst>
          </p:cNvPr>
          <p:cNvGrpSpPr/>
          <p:nvPr/>
        </p:nvGrpSpPr>
        <p:grpSpPr>
          <a:xfrm>
            <a:off x="5551969" y="4122292"/>
            <a:ext cx="5662254" cy="1853632"/>
            <a:chOff x="6261610" y="3735002"/>
            <a:chExt cx="5138532" cy="1682183"/>
          </a:xfrm>
        </p:grpSpPr>
        <p:pic>
          <p:nvPicPr>
            <p:cNvPr id="16" name="Picture 15">
              <a:extLst>
                <a:ext uri="{FF2B5EF4-FFF2-40B4-BE49-F238E27FC236}">
                  <a16:creationId xmlns:a16="http://schemas.microsoft.com/office/drawing/2014/main" id="{C2814103-F1D3-BF1C-6D09-DE17B8889449}"/>
                </a:ext>
              </a:extLst>
            </p:cNvPr>
            <p:cNvPicPr>
              <a:picLocks noChangeAspect="1"/>
            </p:cNvPicPr>
            <p:nvPr/>
          </p:nvPicPr>
          <p:blipFill>
            <a:blip r:embed="rId5"/>
            <a:srcRect/>
            <a:stretch>
              <a:fillRect/>
            </a:stretch>
          </p:blipFill>
          <p:spPr bwMode="auto">
            <a:xfrm>
              <a:off x="6261610" y="3735002"/>
              <a:ext cx="4890135" cy="1358900"/>
            </a:xfrm>
            <a:prstGeom prst="rect">
              <a:avLst/>
            </a:prstGeom>
            <a:ln>
              <a:noFill/>
            </a:ln>
            <a:effectLst>
              <a:outerShdw blurRad="292100" dist="139700" dir="2700000" algn="tl" rotWithShape="0">
                <a:srgbClr val="333333">
                  <a:alpha val="65000"/>
                </a:srgbClr>
              </a:outerShdw>
            </a:effectLst>
          </p:spPr>
        </p:pic>
        <p:sp>
          <p:nvSpPr>
            <p:cNvPr id="17" name="Text Box 7">
              <a:extLst>
                <a:ext uri="{FF2B5EF4-FFF2-40B4-BE49-F238E27FC236}">
                  <a16:creationId xmlns:a16="http://schemas.microsoft.com/office/drawing/2014/main" id="{9F404228-AA3D-C6E2-CE05-903902455C12}"/>
                </a:ext>
              </a:extLst>
            </p:cNvPr>
            <p:cNvSpPr txBox="1">
              <a:spLocks noChangeArrowheads="1"/>
            </p:cNvSpPr>
            <p:nvPr/>
          </p:nvSpPr>
          <p:spPr bwMode="auto">
            <a:xfrm>
              <a:off x="6261610" y="4158615"/>
              <a:ext cx="2241146" cy="1013749"/>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92075" marR="0" lvl="0" algn="l" defTabSz="914400" rtl="0" eaLnBrk="0" fontAlgn="base" latinLnBrk="0" hangingPunct="0">
                <a:lnSpc>
                  <a:spcPct val="100000"/>
                </a:lnSpc>
                <a:spcBef>
                  <a:spcPts val="438"/>
                </a:spcBef>
                <a:spcAft>
                  <a:spcPts val="800"/>
                </a:spcAft>
                <a:buClrTx/>
                <a:buSzTx/>
                <a:buFontTx/>
                <a:buNone/>
                <a:tabLst/>
              </a:pPr>
              <a:r>
                <a:rPr kumimoji="0" lang="en-PH" altLang="en-US" sz="1000" b="0" i="1" u="none" strike="noStrike" cap="none" normalizeH="0" baseline="0" dirty="0">
                  <a:ln>
                    <a:noFill/>
                  </a:ln>
                  <a:solidFill>
                    <a:srgbClr val="4F6128"/>
                  </a:solidFill>
                  <a:effectLst/>
                  <a:latin typeface="Calibri" panose="020F0502020204030204" pitchFamily="34" charset="0"/>
                </a:rPr>
                <a:t>How to upload document?</a:t>
              </a:r>
              <a:endParaRPr kumimoji="0" lang="en-PH" altLang="en-US" sz="1000" b="0" i="1" u="none" strike="noStrike" cap="none" normalizeH="0" baseline="0" dirty="0">
                <a:ln>
                  <a:noFill/>
                </a:ln>
                <a:solidFill>
                  <a:schemeClr val="tx1"/>
                </a:solidFill>
                <a:effectLst/>
                <a:latin typeface="Times New Roman" panose="02020603050405020304" pitchFamily="18" charset="0"/>
              </a:endParaRPr>
            </a:p>
            <a:p>
              <a:pPr marL="268288" marR="0" lvl="1" indent="-92075"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800" b="0" i="0" u="none" strike="noStrike" cap="none" normalizeH="0" baseline="0" dirty="0">
                  <a:ln>
                    <a:noFill/>
                  </a:ln>
                  <a:solidFill>
                    <a:schemeClr val="tx1"/>
                  </a:solidFill>
                  <a:effectLst/>
                </a:rPr>
                <a:t>Type the title of the document.</a:t>
              </a:r>
              <a:endParaRPr kumimoji="0" lang="en-US" altLang="en-US" sz="1000" b="0" i="0" u="none" strike="noStrike" cap="none" normalizeH="0" baseline="0" dirty="0">
                <a:ln>
                  <a:noFill/>
                </a:ln>
                <a:solidFill>
                  <a:schemeClr val="tx1"/>
                </a:solidFill>
                <a:effectLst/>
              </a:endParaRPr>
            </a:p>
            <a:p>
              <a:pPr marL="268288" marR="0" lvl="1" indent="-92075" algn="l" defTabSz="914400" rtl="0" eaLnBrk="0" fontAlgn="base" latinLnBrk="0" hangingPunct="0">
                <a:lnSpc>
                  <a:spcPct val="78000"/>
                </a:lnSpc>
                <a:spcBef>
                  <a:spcPct val="0"/>
                </a:spcBef>
                <a:spcAft>
                  <a:spcPct val="0"/>
                </a:spcAft>
                <a:buClrTx/>
                <a:buSzTx/>
                <a:buFont typeface="+mj-lt"/>
                <a:buAutoNum type="arabicPeriod"/>
                <a:tabLst/>
              </a:pPr>
              <a:r>
                <a:rPr kumimoji="0" lang="en-US" altLang="en-US" sz="800" b="0" i="0" u="none" strike="noStrike" cap="none" normalizeH="0" baseline="0" dirty="0">
                  <a:ln>
                    <a:noFill/>
                  </a:ln>
                  <a:solidFill>
                    <a:schemeClr val="tx1"/>
                  </a:solidFill>
                  <a:effectLst/>
                </a:rPr>
                <a:t>Click add button to add the chosen document to upload</a:t>
              </a:r>
            </a:p>
            <a:p>
              <a:pPr marL="268288" marR="0" lvl="1" indent="-92075" algn="l" defTabSz="914400" rtl="0" eaLnBrk="0" fontAlgn="base" latinLnBrk="0" hangingPunct="0">
                <a:lnSpc>
                  <a:spcPct val="78000"/>
                </a:lnSpc>
                <a:spcBef>
                  <a:spcPct val="0"/>
                </a:spcBef>
                <a:spcAft>
                  <a:spcPct val="0"/>
                </a:spcAft>
                <a:buClrTx/>
                <a:buSzTx/>
                <a:buFont typeface="+mj-lt"/>
                <a:buAutoNum type="arabicPeriod"/>
                <a:tabLst/>
              </a:pPr>
              <a:r>
                <a:rPr kumimoji="0" lang="en-US" altLang="en-US" sz="800" b="0" i="0" u="none" strike="noStrike" cap="none" normalizeH="0" baseline="0" dirty="0">
                  <a:ln>
                    <a:noFill/>
                  </a:ln>
                  <a:solidFill>
                    <a:schemeClr val="tx1"/>
                  </a:solidFill>
                  <a:effectLst/>
                </a:rPr>
                <a:t>Then click upload button.</a:t>
              </a:r>
            </a:p>
            <a:p>
              <a:pPr marL="268288" marR="0" lvl="1" indent="-92075" algn="l" defTabSz="914400" rtl="0" eaLnBrk="0" fontAlgn="base" latinLnBrk="0" hangingPunct="0">
                <a:lnSpc>
                  <a:spcPct val="78000"/>
                </a:lnSpc>
                <a:spcBef>
                  <a:spcPct val="0"/>
                </a:spcBef>
                <a:spcAft>
                  <a:spcPct val="0"/>
                </a:spcAft>
                <a:buClrTx/>
                <a:buSzTx/>
                <a:buFont typeface="+mj-lt"/>
                <a:buAutoNum type="arabicPeriod"/>
                <a:tabLst/>
              </a:pPr>
              <a:r>
                <a:rPr kumimoji="0" lang="en-US" altLang="en-US" sz="800" b="0" i="0" u="none" strike="noStrike" cap="none" normalizeH="0" baseline="0" dirty="0">
                  <a:ln>
                    <a:noFill/>
                  </a:ln>
                  <a:solidFill>
                    <a:schemeClr val="tx1"/>
                  </a:solidFill>
                  <a:effectLst/>
                </a:rPr>
                <a:t>If you want to add more document, click add document button and repeat steps 1 to #3</a:t>
              </a:r>
              <a:endParaRPr kumimoji="0" lang="en-US" altLang="en-US" sz="1800" b="0" i="0" u="none" strike="noStrike" cap="none" normalizeH="0" baseline="0" dirty="0">
                <a:ln>
                  <a:noFill/>
                </a:ln>
                <a:solidFill>
                  <a:schemeClr val="tx1"/>
                </a:solidFill>
                <a:effectLst/>
              </a:endParaRPr>
            </a:p>
          </p:txBody>
        </p:sp>
        <p:pic>
          <p:nvPicPr>
            <p:cNvPr id="18" name="Picture 17">
              <a:extLst>
                <a:ext uri="{FF2B5EF4-FFF2-40B4-BE49-F238E27FC236}">
                  <a16:creationId xmlns:a16="http://schemas.microsoft.com/office/drawing/2014/main" id="{A5526959-2A1E-F26F-209E-8F58AB6C1EF6}"/>
                </a:ext>
              </a:extLst>
            </p:cNvPr>
            <p:cNvPicPr>
              <a:picLocks noChangeAspect="1"/>
            </p:cNvPicPr>
            <p:nvPr/>
          </p:nvPicPr>
          <p:blipFill>
            <a:blip r:embed="rId6"/>
            <a:srcRect/>
            <a:stretch>
              <a:fillRect/>
            </a:stretch>
          </p:blipFill>
          <p:spPr bwMode="auto">
            <a:xfrm>
              <a:off x="8565789" y="4158615"/>
              <a:ext cx="1797685" cy="1258570"/>
            </a:xfrm>
            <a:prstGeom prst="rect">
              <a:avLst/>
            </a:prstGeom>
            <a:noFill/>
            <a:ln w="9525">
              <a:noFill/>
              <a:miter lim="800000"/>
              <a:headEnd/>
              <a:tailEnd/>
            </a:ln>
          </p:spPr>
        </p:pic>
        <p:sp>
          <p:nvSpPr>
            <p:cNvPr id="19" name="Rectangle 8">
              <a:extLst>
                <a:ext uri="{FF2B5EF4-FFF2-40B4-BE49-F238E27FC236}">
                  <a16:creationId xmlns:a16="http://schemas.microsoft.com/office/drawing/2014/main" id="{07DD7FED-85AD-4F9A-4B7C-D315AA8787FA}"/>
                </a:ext>
              </a:extLst>
            </p:cNvPr>
            <p:cNvSpPr>
              <a:spLocks noChangeArrowheads="1"/>
            </p:cNvSpPr>
            <p:nvPr/>
          </p:nvSpPr>
          <p:spPr bwMode="auto">
            <a:xfrm>
              <a:off x="10426507" y="4163850"/>
              <a:ext cx="714216" cy="176372"/>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PH"/>
            </a:p>
          </p:txBody>
        </p:sp>
        <p:sp>
          <p:nvSpPr>
            <p:cNvPr id="20" name="AutoShape 9">
              <a:extLst>
                <a:ext uri="{FF2B5EF4-FFF2-40B4-BE49-F238E27FC236}">
                  <a16:creationId xmlns:a16="http://schemas.microsoft.com/office/drawing/2014/main" id="{542FBC19-F9B2-4EF5-96E3-429A4FD5D299}"/>
                </a:ext>
              </a:extLst>
            </p:cNvPr>
            <p:cNvSpPr>
              <a:spLocks noChangeArrowheads="1"/>
            </p:cNvSpPr>
            <p:nvPr/>
          </p:nvSpPr>
          <p:spPr bwMode="auto">
            <a:xfrm rot="832617" flipH="1">
              <a:off x="10252303" y="4359558"/>
              <a:ext cx="233363" cy="92075"/>
            </a:xfrm>
            <a:prstGeom prst="curvedUpArrow">
              <a:avLst>
                <a:gd name="adj1" fmla="val 29827"/>
                <a:gd name="adj2" fmla="val 59631"/>
                <a:gd name="adj3" fmla="val 175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en-PH"/>
            </a:p>
          </p:txBody>
        </p:sp>
        <p:sp>
          <p:nvSpPr>
            <p:cNvPr id="22" name="Text Box 10">
              <a:extLst>
                <a:ext uri="{FF2B5EF4-FFF2-40B4-BE49-F238E27FC236}">
                  <a16:creationId xmlns:a16="http://schemas.microsoft.com/office/drawing/2014/main" id="{C1A3378C-DDD1-1BEC-514B-66F4C2188F42}"/>
                </a:ext>
              </a:extLst>
            </p:cNvPr>
            <p:cNvSpPr txBox="1">
              <a:spLocks noChangeArrowheads="1"/>
            </p:cNvSpPr>
            <p:nvPr/>
          </p:nvSpPr>
          <p:spPr bwMode="auto">
            <a:xfrm>
              <a:off x="10925480" y="3848814"/>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24" name="TextBox 23">
            <a:extLst>
              <a:ext uri="{FF2B5EF4-FFF2-40B4-BE49-F238E27FC236}">
                <a16:creationId xmlns:a16="http://schemas.microsoft.com/office/drawing/2014/main" id="{6384DA11-C5A8-2601-CC7F-AC523E2916D4}"/>
              </a:ext>
            </a:extLst>
          </p:cNvPr>
          <p:cNvSpPr txBox="1"/>
          <p:nvPr/>
        </p:nvSpPr>
        <p:spPr>
          <a:xfrm>
            <a:off x="5559040" y="1161001"/>
            <a:ext cx="2552700" cy="281231"/>
          </a:xfrm>
          <a:prstGeom prst="rect">
            <a:avLst/>
          </a:prstGeom>
          <a:noFill/>
        </p:spPr>
        <p:txBody>
          <a:bodyPr wrap="square">
            <a:spAutoFit/>
          </a:bodyPr>
          <a:lstStyle/>
          <a:p>
            <a:pPr marL="0" marR="0">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Particular Tab</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11A16B3F-9581-4CDF-D706-A19EBB7F3FA1}"/>
              </a:ext>
            </a:extLst>
          </p:cNvPr>
          <p:cNvSpPr txBox="1"/>
          <p:nvPr/>
        </p:nvSpPr>
        <p:spPr>
          <a:xfrm>
            <a:off x="5468834" y="3780310"/>
            <a:ext cx="2552700" cy="281231"/>
          </a:xfrm>
          <a:prstGeom prst="rect">
            <a:avLst/>
          </a:prstGeom>
          <a:noFill/>
        </p:spPr>
        <p:txBody>
          <a:bodyPr wrap="square">
            <a:spAutoFit/>
          </a:bodyPr>
          <a:lstStyle/>
          <a:p>
            <a:pPr marL="0" marR="0">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Attachment Tab</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3059AB44-EC5A-F682-3B7A-7A9B391D95EB}"/>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Credit Memo</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Tree>
    <p:extLst>
      <p:ext uri="{BB962C8B-B14F-4D97-AF65-F5344CB8AC3E}">
        <p14:creationId xmlns:p14="http://schemas.microsoft.com/office/powerpoint/2010/main" val="446646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C13FD5-5EA9-094F-0EB1-BD7D4E3ADBBE}"/>
              </a:ext>
            </a:extLst>
          </p:cNvPr>
          <p:cNvSpPr txBox="1"/>
          <p:nvPr/>
        </p:nvSpPr>
        <p:spPr>
          <a:xfrm>
            <a:off x="2243179" y="1195135"/>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Other Buttons</a:t>
            </a:r>
            <a:endParaRPr lang="en-US" sz="2000" dirty="0">
              <a:solidFill>
                <a:srgbClr val="007434"/>
              </a:solidFill>
              <a:latin typeface="Calibri Light" panose="020F0302020204030204" pitchFamily="34" charset="0"/>
              <a:cs typeface="Calibri Light" panose="020F0302020204030204" pitchFamily="34" charset="0"/>
            </a:endParaRPr>
          </a:p>
        </p:txBody>
      </p:sp>
      <p:pic>
        <p:nvPicPr>
          <p:cNvPr id="9" name="Picture 8">
            <a:extLst>
              <a:ext uri="{FF2B5EF4-FFF2-40B4-BE49-F238E27FC236}">
                <a16:creationId xmlns:a16="http://schemas.microsoft.com/office/drawing/2014/main" id="{31BFD152-AD51-8BB3-58D1-FCF4C9880D56}"/>
              </a:ext>
            </a:extLst>
          </p:cNvPr>
          <p:cNvPicPr>
            <a:picLocks noChangeAspect="1"/>
          </p:cNvPicPr>
          <p:nvPr/>
        </p:nvPicPr>
        <p:blipFill>
          <a:blip r:embed="rId2"/>
          <a:stretch>
            <a:fillRect/>
          </a:stretch>
        </p:blipFill>
        <p:spPr>
          <a:xfrm>
            <a:off x="2869823" y="1699260"/>
            <a:ext cx="6452351" cy="2864087"/>
          </a:xfrm>
          <a:prstGeom prst="rect">
            <a:avLst/>
          </a:prstGeom>
        </p:spPr>
      </p:pic>
      <p:sp>
        <p:nvSpPr>
          <p:cNvPr id="2" name="Text Box 6">
            <a:extLst>
              <a:ext uri="{FF2B5EF4-FFF2-40B4-BE49-F238E27FC236}">
                <a16:creationId xmlns:a16="http://schemas.microsoft.com/office/drawing/2014/main" id="{3616793D-D97F-3147-0778-EC2F9387CF6E}"/>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508EA094-85E0-233C-188B-AC3DAA094588}"/>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Credit Memo</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Tree>
    <p:extLst>
      <p:ext uri="{BB962C8B-B14F-4D97-AF65-F5344CB8AC3E}">
        <p14:creationId xmlns:p14="http://schemas.microsoft.com/office/powerpoint/2010/main" val="1422574155"/>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994</Words>
  <Application>Microsoft Office PowerPoint</Application>
  <PresentationFormat>Widescreen</PresentationFormat>
  <Paragraphs>175</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Animosa Extra Bold</vt:lpstr>
      <vt:lpstr>Arial</vt:lpstr>
      <vt:lpstr>Bodoni MT Condensed</vt:lpstr>
      <vt:lpstr>Calibri</vt:lpstr>
      <vt:lpstr>Calibri Light</vt:lpstr>
      <vt:lpstr>Century Gothic</vt:lpstr>
      <vt:lpstr>Chivo Light</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4</cp:revision>
  <dcterms:created xsi:type="dcterms:W3CDTF">2023-01-12T11:31:24Z</dcterms:created>
  <dcterms:modified xsi:type="dcterms:W3CDTF">2023-01-13T01:48:27Z</dcterms:modified>
</cp:coreProperties>
</file>