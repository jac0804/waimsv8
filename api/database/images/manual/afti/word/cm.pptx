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404" r:id="rId2"/>
    <p:sldId id="405" r:id="rId3"/>
    <p:sldId id="406" r:id="rId4"/>
    <p:sldId id="415" r:id="rId5"/>
    <p:sldId id="416" r:id="rId6"/>
    <p:sldId id="417" r:id="rId7"/>
    <p:sldId id="418" r:id="rId8"/>
    <p:sldId id="411" r:id="rId9"/>
    <p:sldId id="419" r:id="rId10"/>
    <p:sldId id="413" r:id="rId11"/>
    <p:sldId id="414"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11" d="100"/>
          <a:sy n="111" d="100"/>
        </p:scale>
        <p:origin x="456"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91EB4A-3408-1B97-1B34-05AE5640F81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24CE41D-ED3A-FB15-B2CB-48AE9AE258A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472DF44-2CFE-99D1-62FB-C419C3595772}"/>
              </a:ext>
            </a:extLst>
          </p:cNvPr>
          <p:cNvSpPr>
            <a:spLocks noGrp="1"/>
          </p:cNvSpPr>
          <p:nvPr>
            <p:ph type="dt" sz="half" idx="10"/>
          </p:nvPr>
        </p:nvSpPr>
        <p:spPr/>
        <p:txBody>
          <a:bodyPr/>
          <a:lstStyle/>
          <a:p>
            <a:fld id="{F8F5D17A-142B-4705-ADE1-A3098ECE97EC}" type="datetime1">
              <a:rPr lang="en-US" smtClean="0"/>
              <a:t>1/10/2023</a:t>
            </a:fld>
            <a:endParaRPr lang="en-US"/>
          </a:p>
        </p:txBody>
      </p:sp>
      <p:sp>
        <p:nvSpPr>
          <p:cNvPr id="5" name="Footer Placeholder 4">
            <a:extLst>
              <a:ext uri="{FF2B5EF4-FFF2-40B4-BE49-F238E27FC236}">
                <a16:creationId xmlns:a16="http://schemas.microsoft.com/office/drawing/2014/main" id="{BC42A000-96DA-5E5F-9A77-6569656A315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4EFD326-4FC0-72EB-DF56-0FD78B9EE4C3}"/>
              </a:ext>
            </a:extLst>
          </p:cNvPr>
          <p:cNvSpPr>
            <a:spLocks noGrp="1"/>
          </p:cNvSpPr>
          <p:nvPr>
            <p:ph type="sldNum" sz="quarter" idx="12"/>
          </p:nvPr>
        </p:nvSpPr>
        <p:spPr/>
        <p:txBody>
          <a:bodyPr/>
          <a:lstStyle/>
          <a:p>
            <a:fld id="{116086AB-602C-49A8-AF1B-7C398AACFC06}" type="slidenum">
              <a:rPr lang="en-US" smtClean="0"/>
              <a:t>‹#›</a:t>
            </a:fld>
            <a:endParaRPr lang="en-US" dirty="0"/>
          </a:p>
        </p:txBody>
      </p:sp>
    </p:spTree>
    <p:extLst>
      <p:ext uri="{BB962C8B-B14F-4D97-AF65-F5344CB8AC3E}">
        <p14:creationId xmlns:p14="http://schemas.microsoft.com/office/powerpoint/2010/main" val="8932349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EF9D75-E04D-B634-D919-617757394C0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D56432A-85F7-6833-67C8-01C4E721644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FC57A2C-3294-4947-A3DE-F536E8B16E5E}"/>
              </a:ext>
            </a:extLst>
          </p:cNvPr>
          <p:cNvSpPr>
            <a:spLocks noGrp="1"/>
          </p:cNvSpPr>
          <p:nvPr>
            <p:ph type="dt" sz="half" idx="10"/>
          </p:nvPr>
        </p:nvSpPr>
        <p:spPr/>
        <p:txBody>
          <a:bodyPr/>
          <a:lstStyle/>
          <a:p>
            <a:fld id="{F94770F1-593C-41E5-9DDC-A7DDE7DA3A0C}" type="datetime1">
              <a:rPr lang="en-US" smtClean="0"/>
              <a:t>1/10/2023</a:t>
            </a:fld>
            <a:endParaRPr lang="en-US"/>
          </a:p>
        </p:txBody>
      </p:sp>
      <p:sp>
        <p:nvSpPr>
          <p:cNvPr id="5" name="Footer Placeholder 4">
            <a:extLst>
              <a:ext uri="{FF2B5EF4-FFF2-40B4-BE49-F238E27FC236}">
                <a16:creationId xmlns:a16="http://schemas.microsoft.com/office/drawing/2014/main" id="{A2215DCA-9125-891E-96C8-87AF8FF5A0C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AF9F385-A188-DB80-34AE-99BFE377262E}"/>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35681525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9F34D8-AC3A-C1B6-226A-B0342CC953D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40A1E8B-24DF-615A-8729-9497B6EA1ED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7F1F83F-6442-4F8D-A89C-5E43D4324093}"/>
              </a:ext>
            </a:extLst>
          </p:cNvPr>
          <p:cNvSpPr>
            <a:spLocks noGrp="1"/>
          </p:cNvSpPr>
          <p:nvPr>
            <p:ph type="dt" sz="half" idx="10"/>
          </p:nvPr>
        </p:nvSpPr>
        <p:spPr/>
        <p:txBody>
          <a:bodyPr/>
          <a:lstStyle/>
          <a:p>
            <a:fld id="{8EBBA4C9-61EB-4E89-89EA-F649D387A885}" type="datetime1">
              <a:rPr lang="en-US" smtClean="0"/>
              <a:t>1/10/2023</a:t>
            </a:fld>
            <a:endParaRPr lang="en-US"/>
          </a:p>
        </p:txBody>
      </p:sp>
      <p:sp>
        <p:nvSpPr>
          <p:cNvPr id="5" name="Footer Placeholder 4">
            <a:extLst>
              <a:ext uri="{FF2B5EF4-FFF2-40B4-BE49-F238E27FC236}">
                <a16:creationId xmlns:a16="http://schemas.microsoft.com/office/drawing/2014/main" id="{1E5243A9-4120-4241-6DD2-BB67522C9E4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AC42F45-390E-7F61-65CB-09F84E0C7E2B}"/>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35463242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16E399-2560-08C2-7560-8CDD4F0BE6B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7AC3219-FB0A-90C1-5347-5D8D63A15A9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616AE50-4292-C9EB-8B25-09DE0EA0284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0B747A3-5AAE-74E5-58AC-112C24B4D162}"/>
              </a:ext>
            </a:extLst>
          </p:cNvPr>
          <p:cNvSpPr>
            <a:spLocks noGrp="1"/>
          </p:cNvSpPr>
          <p:nvPr>
            <p:ph type="dt" sz="half" idx="10"/>
          </p:nvPr>
        </p:nvSpPr>
        <p:spPr/>
        <p:txBody>
          <a:bodyPr/>
          <a:lstStyle/>
          <a:p>
            <a:fld id="{1DA50626-E323-4146-837D-79DA438855EF}" type="datetime1">
              <a:rPr lang="en-US" smtClean="0"/>
              <a:t>1/10/2023</a:t>
            </a:fld>
            <a:endParaRPr lang="en-US"/>
          </a:p>
        </p:txBody>
      </p:sp>
      <p:sp>
        <p:nvSpPr>
          <p:cNvPr id="6" name="Footer Placeholder 5">
            <a:extLst>
              <a:ext uri="{FF2B5EF4-FFF2-40B4-BE49-F238E27FC236}">
                <a16:creationId xmlns:a16="http://schemas.microsoft.com/office/drawing/2014/main" id="{17245C81-CA6F-521E-53EF-EEB98F96FDD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D2839E4-86AD-5375-DD4F-F846EF925060}"/>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42794896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7C6130-117C-998F-E56B-57FCF1096B7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C6E80B8-EA33-707F-EC6C-EBC7B135276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8F28F7F-ECE8-BAAD-7338-2D78A59EE1E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ADAF716-F429-44D0-6E93-815FF3C4FDF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82A37D0-605C-BB9A-385B-6A85770C865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E3F5C74-EA7F-FDB3-FB93-77C9E914F0FA}"/>
              </a:ext>
            </a:extLst>
          </p:cNvPr>
          <p:cNvSpPr>
            <a:spLocks noGrp="1"/>
          </p:cNvSpPr>
          <p:nvPr>
            <p:ph type="dt" sz="half" idx="10"/>
          </p:nvPr>
        </p:nvSpPr>
        <p:spPr/>
        <p:txBody>
          <a:bodyPr/>
          <a:lstStyle/>
          <a:p>
            <a:fld id="{AC2F3B27-06CD-4A16-84A3-AF5F748FC93B}" type="datetime1">
              <a:rPr lang="en-US" smtClean="0"/>
              <a:t>1/10/2023</a:t>
            </a:fld>
            <a:endParaRPr lang="en-US"/>
          </a:p>
        </p:txBody>
      </p:sp>
      <p:sp>
        <p:nvSpPr>
          <p:cNvPr id="8" name="Footer Placeholder 7">
            <a:extLst>
              <a:ext uri="{FF2B5EF4-FFF2-40B4-BE49-F238E27FC236}">
                <a16:creationId xmlns:a16="http://schemas.microsoft.com/office/drawing/2014/main" id="{F4E1775E-89CF-943A-9CDA-597023CE8F5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5E9C5D8-2060-0E24-EC81-3C64B264C76B}"/>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27876731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4B700E-1F64-71E3-B8E2-5003EE14F25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D92E4C6-4425-4600-DADA-0FAA915F0C36}"/>
              </a:ext>
            </a:extLst>
          </p:cNvPr>
          <p:cNvSpPr>
            <a:spLocks noGrp="1"/>
          </p:cNvSpPr>
          <p:nvPr>
            <p:ph type="dt" sz="half" idx="10"/>
          </p:nvPr>
        </p:nvSpPr>
        <p:spPr/>
        <p:txBody>
          <a:bodyPr/>
          <a:lstStyle/>
          <a:p>
            <a:fld id="{FB68157D-198D-4A55-A6AF-F9A96DD09084}" type="datetime1">
              <a:rPr lang="en-US" smtClean="0"/>
              <a:t>1/10/2023</a:t>
            </a:fld>
            <a:endParaRPr lang="en-US"/>
          </a:p>
        </p:txBody>
      </p:sp>
      <p:sp>
        <p:nvSpPr>
          <p:cNvPr id="4" name="Footer Placeholder 3">
            <a:extLst>
              <a:ext uri="{FF2B5EF4-FFF2-40B4-BE49-F238E27FC236}">
                <a16:creationId xmlns:a16="http://schemas.microsoft.com/office/drawing/2014/main" id="{19525CC1-1CF0-5FE6-B23F-FC064081510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4A12A78-3142-4A2A-6A14-2861FE0556F0}"/>
              </a:ext>
            </a:extLst>
          </p:cNvPr>
          <p:cNvSpPr>
            <a:spLocks noGrp="1"/>
          </p:cNvSpPr>
          <p:nvPr>
            <p:ph type="sldNum" sz="quarter" idx="12"/>
          </p:nvPr>
        </p:nvSpPr>
        <p:spPr>
          <a:xfrm>
            <a:off x="113787" y="6361105"/>
            <a:ext cx="495813"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600" b="0" i="0" u="none" strike="noStrike" kern="1200" cap="none" spc="0" normalizeH="0" baseline="0" noProof="0" dirty="0">
              <a:ln>
                <a:noFill/>
              </a:ln>
              <a:solidFill>
                <a:srgbClr val="00863D"/>
              </a:solidFill>
              <a:effectLst/>
              <a:uLnTx/>
              <a:uFillTx/>
              <a:latin typeface="Animosa Extra Bold" panose="00000900000000000000" pitchFamily="50" charset="0"/>
              <a:ea typeface="+mn-ea"/>
              <a:cs typeface="+mn-cs"/>
            </a:endParaRPr>
          </a:p>
          <a:p>
            <a:endParaRPr lang="en-US" dirty="0"/>
          </a:p>
        </p:txBody>
      </p:sp>
    </p:spTree>
    <p:extLst>
      <p:ext uri="{BB962C8B-B14F-4D97-AF65-F5344CB8AC3E}">
        <p14:creationId xmlns:p14="http://schemas.microsoft.com/office/powerpoint/2010/main" val="16693935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018CDC6-AE80-3C7C-7A54-83C4F8A35515}"/>
              </a:ext>
            </a:extLst>
          </p:cNvPr>
          <p:cNvSpPr>
            <a:spLocks noGrp="1"/>
          </p:cNvSpPr>
          <p:nvPr>
            <p:ph type="dt" sz="half" idx="10"/>
          </p:nvPr>
        </p:nvSpPr>
        <p:spPr/>
        <p:txBody>
          <a:bodyPr/>
          <a:lstStyle/>
          <a:p>
            <a:fld id="{2F1FA7D0-D9E5-4981-8E91-F86A007EC8E4}" type="datetime1">
              <a:rPr lang="en-US" smtClean="0"/>
              <a:t>1/10/2023</a:t>
            </a:fld>
            <a:endParaRPr lang="en-US"/>
          </a:p>
        </p:txBody>
      </p:sp>
      <p:sp>
        <p:nvSpPr>
          <p:cNvPr id="3" name="Footer Placeholder 2">
            <a:extLst>
              <a:ext uri="{FF2B5EF4-FFF2-40B4-BE49-F238E27FC236}">
                <a16:creationId xmlns:a16="http://schemas.microsoft.com/office/drawing/2014/main" id="{E3C87A10-784A-0882-62A6-ACF915286A8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95B3EFA-8AAD-4032-2084-C183504C0548}"/>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26208652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606DDE-4887-BBF0-A054-1795A60261F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EAA9F60-2E86-61FF-D6C4-8EEFEF4FBBB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B7C98BF-6198-66C9-1808-3E0DE1D9B58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FA3C433-2EF0-6879-AA30-D7F23FA1DE7E}"/>
              </a:ext>
            </a:extLst>
          </p:cNvPr>
          <p:cNvSpPr>
            <a:spLocks noGrp="1"/>
          </p:cNvSpPr>
          <p:nvPr>
            <p:ph type="dt" sz="half" idx="10"/>
          </p:nvPr>
        </p:nvSpPr>
        <p:spPr/>
        <p:txBody>
          <a:bodyPr/>
          <a:lstStyle/>
          <a:p>
            <a:fld id="{9A855C73-8B4C-45CE-9F74-EC399096C6A5}" type="datetime1">
              <a:rPr lang="en-US" smtClean="0"/>
              <a:t>1/10/2023</a:t>
            </a:fld>
            <a:endParaRPr lang="en-US"/>
          </a:p>
        </p:txBody>
      </p:sp>
      <p:sp>
        <p:nvSpPr>
          <p:cNvPr id="6" name="Footer Placeholder 5">
            <a:extLst>
              <a:ext uri="{FF2B5EF4-FFF2-40B4-BE49-F238E27FC236}">
                <a16:creationId xmlns:a16="http://schemas.microsoft.com/office/drawing/2014/main" id="{E5DB4456-36C8-9DCF-5C14-8BA06584B5B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0CFA8EE-1367-107D-033E-8A0158C5E42D}"/>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16781006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9698BA-7366-CA58-0AE4-D2030C175DB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A964958-D645-44EB-2EDC-93CCA39A19E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02D1894-31E7-5B16-FAA4-8794FE10393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ACEEAB6-A5F9-0B9E-BFB9-37D999F612AF}"/>
              </a:ext>
            </a:extLst>
          </p:cNvPr>
          <p:cNvSpPr>
            <a:spLocks noGrp="1"/>
          </p:cNvSpPr>
          <p:nvPr>
            <p:ph type="dt" sz="half" idx="10"/>
          </p:nvPr>
        </p:nvSpPr>
        <p:spPr/>
        <p:txBody>
          <a:bodyPr/>
          <a:lstStyle/>
          <a:p>
            <a:fld id="{58469AC3-3FEF-4BD8-8E00-675B95488D0A}" type="datetime1">
              <a:rPr lang="en-US" smtClean="0"/>
              <a:t>1/10/2023</a:t>
            </a:fld>
            <a:endParaRPr lang="en-US"/>
          </a:p>
        </p:txBody>
      </p:sp>
      <p:sp>
        <p:nvSpPr>
          <p:cNvPr id="6" name="Footer Placeholder 5">
            <a:extLst>
              <a:ext uri="{FF2B5EF4-FFF2-40B4-BE49-F238E27FC236}">
                <a16:creationId xmlns:a16="http://schemas.microsoft.com/office/drawing/2014/main" id="{07F57A55-6F18-17DA-8716-BC16F3F9CC1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9847226-21F6-2D27-6044-9FC188E6705B}"/>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16043908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426E2-26EB-63EF-501D-68A4434E77B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DC8B2B9-8CC9-2B50-B062-946D7E785A4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442974C-952F-86C3-A75E-105A3A2EFC9B}"/>
              </a:ext>
            </a:extLst>
          </p:cNvPr>
          <p:cNvSpPr>
            <a:spLocks noGrp="1"/>
          </p:cNvSpPr>
          <p:nvPr>
            <p:ph type="dt" sz="half" idx="10"/>
          </p:nvPr>
        </p:nvSpPr>
        <p:spPr/>
        <p:txBody>
          <a:bodyPr/>
          <a:lstStyle/>
          <a:p>
            <a:fld id="{4712B63B-3CDB-4958-B2A2-640C52D819C0}" type="datetime1">
              <a:rPr lang="en-US" smtClean="0"/>
              <a:t>1/10/2023</a:t>
            </a:fld>
            <a:endParaRPr lang="en-US"/>
          </a:p>
        </p:txBody>
      </p:sp>
      <p:sp>
        <p:nvSpPr>
          <p:cNvPr id="5" name="Footer Placeholder 4">
            <a:extLst>
              <a:ext uri="{FF2B5EF4-FFF2-40B4-BE49-F238E27FC236}">
                <a16:creationId xmlns:a16="http://schemas.microsoft.com/office/drawing/2014/main" id="{787495DF-D0C7-812E-EDA8-AEA85D87573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64DC9A3-8AF0-8B35-01FB-6FDA728B4F0C}"/>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28059484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759C450-90ED-272A-E463-AAA21A2E5F6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75DA328-475F-1FE7-6643-FADC6BE1FD4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FE27D1A-7BFF-DDEC-3AEE-1846C4553D33}"/>
              </a:ext>
            </a:extLst>
          </p:cNvPr>
          <p:cNvSpPr>
            <a:spLocks noGrp="1"/>
          </p:cNvSpPr>
          <p:nvPr>
            <p:ph type="dt" sz="half" idx="10"/>
          </p:nvPr>
        </p:nvSpPr>
        <p:spPr/>
        <p:txBody>
          <a:bodyPr/>
          <a:lstStyle/>
          <a:p>
            <a:fld id="{5397D481-5643-4F4C-B901-C5733B76A666}" type="datetime1">
              <a:rPr lang="en-US" smtClean="0"/>
              <a:t>1/10/2023</a:t>
            </a:fld>
            <a:endParaRPr lang="en-US"/>
          </a:p>
        </p:txBody>
      </p:sp>
      <p:sp>
        <p:nvSpPr>
          <p:cNvPr id="5" name="Footer Placeholder 4">
            <a:extLst>
              <a:ext uri="{FF2B5EF4-FFF2-40B4-BE49-F238E27FC236}">
                <a16:creationId xmlns:a16="http://schemas.microsoft.com/office/drawing/2014/main" id="{AC9493FD-135D-1E5D-ED17-848900B6511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BAE65E1-7A80-1403-F41E-7FDEAAED11C4}"/>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8331094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BDF1DB1-AAB5-C0D6-F8F5-5C3D1F05CD2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DE64012-DD5E-82B0-E0A6-F22247B5BC9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41C52C1-D777-85DB-34DD-7DB776F29AE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FD46D66-831C-4C42-918D-32B4B0271D98}" type="datetime1">
              <a:rPr lang="en-US" smtClean="0"/>
              <a:t>1/10/2023</a:t>
            </a:fld>
            <a:endParaRPr lang="en-US"/>
          </a:p>
        </p:txBody>
      </p:sp>
      <p:sp>
        <p:nvSpPr>
          <p:cNvPr id="5" name="Footer Placeholder 4">
            <a:extLst>
              <a:ext uri="{FF2B5EF4-FFF2-40B4-BE49-F238E27FC236}">
                <a16:creationId xmlns:a16="http://schemas.microsoft.com/office/drawing/2014/main" id="{D2BBF4A8-E610-C555-2196-67DC47368D2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AE477A19-A289-6A34-54CB-69755ED1436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16086AB-602C-49A8-AF1B-7C398AACFC06}" type="slidenum">
              <a:rPr lang="en-US" smtClean="0"/>
              <a:t>‹#›</a:t>
            </a:fld>
            <a:endParaRPr lang="en-US"/>
          </a:p>
        </p:txBody>
      </p:sp>
    </p:spTree>
    <p:extLst>
      <p:ext uri="{BB962C8B-B14F-4D97-AF65-F5344CB8AC3E}">
        <p14:creationId xmlns:p14="http://schemas.microsoft.com/office/powerpoint/2010/main" val="265064379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6.xml"/><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6.xml"/><Relationship Id="rId5" Type="http://schemas.openxmlformats.org/officeDocument/2006/relationships/image" Target="../media/image10.pn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1.png"/><Relationship Id="rId1" Type="http://schemas.openxmlformats.org/officeDocument/2006/relationships/slideLayout" Target="../slideLayouts/slideLayout6.xml"/><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6.xml"/><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png"/><Relationship Id="rId1" Type="http://schemas.openxmlformats.org/officeDocument/2006/relationships/slideLayout" Target="../slideLayouts/slideLayout6.xml"/><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png"/><Relationship Id="rId1" Type="http://schemas.openxmlformats.org/officeDocument/2006/relationships/slideLayout" Target="../slideLayouts/slideLayout6.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png"/><Relationship Id="rId1" Type="http://schemas.openxmlformats.org/officeDocument/2006/relationships/slideLayout" Target="../slideLayouts/slideLayout6.xml"/><Relationship Id="rId5" Type="http://schemas.openxmlformats.org/officeDocument/2006/relationships/image" Target="../media/image23.png"/><Relationship Id="rId4" Type="http://schemas.openxmlformats.org/officeDocument/2006/relationships/image" Target="../media/image2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C7E240B-5C00-D259-7CC9-8482319B9C8B}"/>
              </a:ext>
            </a:extLst>
          </p:cNvPr>
          <p:cNvSpPr txBox="1"/>
          <p:nvPr/>
        </p:nvSpPr>
        <p:spPr>
          <a:xfrm>
            <a:off x="1017646" y="2105561"/>
            <a:ext cx="10289512" cy="1323439"/>
          </a:xfrm>
          <a:prstGeom prst="rect">
            <a:avLst/>
          </a:prstGeom>
          <a:noFill/>
          <a:effectLst/>
        </p:spPr>
        <p:txBody>
          <a:bodyPr wrap="square" rtlCol="0">
            <a:spAutoFit/>
          </a:bodyPr>
          <a:lstStyle/>
          <a:p>
            <a:pPr algn="ctr"/>
            <a:r>
              <a:rPr lang="en-US" sz="8000" b="1" dirty="0">
                <a:solidFill>
                  <a:srgbClr val="00B050"/>
                </a:solidFill>
                <a:latin typeface="Bodoni MT Condensed" panose="02070606080606020203" pitchFamily="18" charset="0"/>
              </a:rPr>
              <a:t>Sales Return</a:t>
            </a:r>
            <a:endParaRPr lang="en-US" sz="8000" dirty="0">
              <a:solidFill>
                <a:srgbClr val="00B050"/>
              </a:solidFill>
              <a:latin typeface="Bodoni MT Condensed" panose="02070606080606020203" pitchFamily="18" charset="0"/>
            </a:endParaRPr>
          </a:p>
        </p:txBody>
      </p:sp>
      <p:sp>
        <p:nvSpPr>
          <p:cNvPr id="8" name="Text Box 6">
            <a:extLst>
              <a:ext uri="{FF2B5EF4-FFF2-40B4-BE49-F238E27FC236}">
                <a16:creationId xmlns:a16="http://schemas.microsoft.com/office/drawing/2014/main" id="{F98AB504-F121-820A-CAC3-1E72B851128C}"/>
              </a:ext>
            </a:extLst>
          </p:cNvPr>
          <p:cNvSpPr txBox="1"/>
          <p:nvPr/>
        </p:nvSpPr>
        <p:spPr>
          <a:xfrm>
            <a:off x="0" y="5769429"/>
            <a:ext cx="12191999" cy="1088572"/>
          </a:xfrm>
          <a:prstGeom prst="rect">
            <a:avLst/>
          </a:prstGeom>
          <a:solidFill>
            <a:srgbClr val="00863D"/>
          </a:solid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algn="ctr">
              <a:spcBef>
                <a:spcPts val="0"/>
              </a:spcBef>
            </a:pPr>
            <a:endParaRPr lang="en-PH" sz="1200" dirty="0">
              <a:solidFill>
                <a:schemeClr val="bg1"/>
              </a:solidFill>
              <a:ea typeface="Open Sans" panose="020B0606030504020204" pitchFamily="34" charset="0"/>
              <a:cs typeface="Times New Roman" panose="02020603050405020304" pitchFamily="18" charset="0"/>
            </a:endParaRPr>
          </a:p>
          <a:p>
            <a:pPr marL="0" marR="0" algn="ctr">
              <a:spcBef>
                <a:spcPts val="0"/>
              </a:spcBef>
            </a:pPr>
            <a:endParaRPr lang="en-US" sz="1200" dirty="0">
              <a:solidFill>
                <a:schemeClr val="bg1"/>
              </a:solidFill>
              <a:ea typeface="Open Sans" panose="020B0606030504020204" pitchFamily="34" charset="0"/>
              <a:cs typeface="Times New Roman" panose="02020603050405020304" pitchFamily="18" charset="0"/>
            </a:endParaRPr>
          </a:p>
          <a:p>
            <a:pPr marL="0" marR="0" algn="ctr">
              <a:spcBef>
                <a:spcPts val="0"/>
              </a:spcBef>
            </a:pPr>
            <a:r>
              <a:rPr lang="en-US" sz="1200" dirty="0">
                <a:solidFill>
                  <a:schemeClr val="bg1"/>
                </a:solidFill>
                <a:ea typeface="Open Sans" panose="020B0606030504020204" pitchFamily="34" charset="0"/>
                <a:cs typeface="Times New Roman" panose="02020603050405020304" pitchFamily="18" charset="0"/>
              </a:rPr>
              <a:t>Sales Return is where item returned that has been previously purchased by the customer are recorded.</a:t>
            </a:r>
            <a:r>
              <a:rPr lang="en-PH" sz="1200" dirty="0">
                <a:solidFill>
                  <a:schemeClr val="bg1"/>
                </a:solidFill>
                <a:ea typeface="Open Sans" panose="020B0606030504020204" pitchFamily="34" charset="0"/>
                <a:cs typeface="Times New Roman" panose="02020603050405020304" pitchFamily="18" charset="0"/>
              </a:rPr>
              <a:t> </a:t>
            </a:r>
            <a:endParaRPr lang="en-US" sz="1200" dirty="0">
              <a:solidFill>
                <a:srgbClr val="007434"/>
              </a:solidFill>
              <a:effectLst/>
              <a:ea typeface="Open Sans" panose="020B0606030504020204" pitchFamily="34" charset="0"/>
              <a:cs typeface="Times New Roman" panose="02020603050405020304" pitchFamily="18" charset="0"/>
            </a:endParaRPr>
          </a:p>
        </p:txBody>
      </p:sp>
      <p:sp>
        <p:nvSpPr>
          <p:cNvPr id="3" name="Slide Number Placeholder 2">
            <a:extLst>
              <a:ext uri="{FF2B5EF4-FFF2-40B4-BE49-F238E27FC236}">
                <a16:creationId xmlns:a16="http://schemas.microsoft.com/office/drawing/2014/main" id="{063A7496-1034-196F-6300-3534FAADFD83}"/>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600" b="0" i="0" u="none" strike="noStrike" kern="1200" cap="none" spc="0" normalizeH="0" baseline="0" noProof="0">
              <a:ln>
                <a:noFill/>
              </a:ln>
              <a:solidFill>
                <a:srgbClr val="00863D"/>
              </a:solidFill>
              <a:effectLst/>
              <a:uLnTx/>
              <a:uFillTx/>
              <a:latin typeface="Animosa Extra Bold" panose="00000900000000000000" pitchFamily="50" charset="0"/>
              <a:ea typeface="+mn-ea"/>
              <a:cs typeface="+mn-cs"/>
            </a:endParaRPr>
          </a:p>
          <a:p>
            <a:endParaRPr lang="en-US" dirty="0"/>
          </a:p>
        </p:txBody>
      </p:sp>
    </p:spTree>
    <p:extLst>
      <p:ext uri="{BB962C8B-B14F-4D97-AF65-F5344CB8AC3E}">
        <p14:creationId xmlns:p14="http://schemas.microsoft.com/office/powerpoint/2010/main" val="34149936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ext Box 6">
            <a:extLst>
              <a:ext uri="{FF2B5EF4-FFF2-40B4-BE49-F238E27FC236}">
                <a16:creationId xmlns:a16="http://schemas.microsoft.com/office/drawing/2014/main" id="{54861942-378E-F979-6642-00E02D67C1A4}"/>
              </a:ext>
            </a:extLst>
          </p:cNvPr>
          <p:cNvSpPr txBox="1"/>
          <p:nvPr/>
        </p:nvSpPr>
        <p:spPr>
          <a:xfrm>
            <a:off x="0" y="-11307"/>
            <a:ext cx="5374888"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endParaRPr lang="en-US" sz="1400" dirty="0">
              <a:solidFill>
                <a:srgbClr val="007434"/>
              </a:solidFill>
              <a:effectLst/>
              <a:ea typeface="Open Sans" panose="020B0606030504020204" pitchFamily="34" charset="0"/>
              <a:cs typeface="Times New Roman" panose="02020603050405020304" pitchFamily="18" charset="0"/>
            </a:endParaRPr>
          </a:p>
        </p:txBody>
      </p:sp>
      <p:sp>
        <p:nvSpPr>
          <p:cNvPr id="6" name="TextBox 5">
            <a:extLst>
              <a:ext uri="{FF2B5EF4-FFF2-40B4-BE49-F238E27FC236}">
                <a16:creationId xmlns:a16="http://schemas.microsoft.com/office/drawing/2014/main" id="{56801940-C472-2128-749A-74F3CCB5F124}"/>
              </a:ext>
            </a:extLst>
          </p:cNvPr>
          <p:cNvSpPr txBox="1"/>
          <p:nvPr/>
        </p:nvSpPr>
        <p:spPr>
          <a:xfrm>
            <a:off x="805110" y="2375033"/>
            <a:ext cx="3887062" cy="338554"/>
          </a:xfrm>
          <a:prstGeom prst="rect">
            <a:avLst/>
          </a:prstGeom>
          <a:solidFill>
            <a:srgbClr val="00B050"/>
          </a:solidFill>
          <a:effectLst/>
        </p:spPr>
        <p:txBody>
          <a:bodyPr wrap="square" rtlCol="0">
            <a:spAutoFit/>
          </a:bodyPr>
          <a:lstStyle/>
          <a:p>
            <a:pPr algn="ctr"/>
            <a:r>
              <a:rPr lang="en-US" sz="1600" dirty="0">
                <a:solidFill>
                  <a:schemeClr val="bg1"/>
                </a:solidFill>
                <a:latin typeface="+mj-lt"/>
              </a:rPr>
              <a:t>Main Window</a:t>
            </a:r>
            <a:endParaRPr lang="en-US" sz="2000" dirty="0">
              <a:solidFill>
                <a:srgbClr val="007434"/>
              </a:solidFill>
              <a:latin typeface="+mj-lt"/>
            </a:endParaRPr>
          </a:p>
        </p:txBody>
      </p:sp>
      <p:pic>
        <p:nvPicPr>
          <p:cNvPr id="28" name="Picture 27">
            <a:extLst>
              <a:ext uri="{FF2B5EF4-FFF2-40B4-BE49-F238E27FC236}">
                <a16:creationId xmlns:a16="http://schemas.microsoft.com/office/drawing/2014/main" id="{CB5C160F-C04C-EA95-C39F-2B967C6BCB56}"/>
              </a:ext>
            </a:extLst>
          </p:cNvPr>
          <p:cNvPicPr>
            <a:picLocks noChangeAspect="1"/>
          </p:cNvPicPr>
          <p:nvPr/>
        </p:nvPicPr>
        <p:blipFill>
          <a:blip r:embed="rId2"/>
          <a:stretch>
            <a:fillRect/>
          </a:stretch>
        </p:blipFill>
        <p:spPr>
          <a:xfrm>
            <a:off x="10780479" y="6391410"/>
            <a:ext cx="1047454" cy="267619"/>
          </a:xfrm>
          <a:prstGeom prst="rect">
            <a:avLst/>
          </a:prstGeom>
          <a:effectLst/>
        </p:spPr>
      </p:pic>
      <p:sp>
        <p:nvSpPr>
          <p:cNvPr id="20" name="Text Box 15">
            <a:extLst>
              <a:ext uri="{FF2B5EF4-FFF2-40B4-BE49-F238E27FC236}">
                <a16:creationId xmlns:a16="http://schemas.microsoft.com/office/drawing/2014/main" id="{E1DF78E5-41B8-4843-8426-68AD1D115D04}"/>
              </a:ext>
            </a:extLst>
          </p:cNvPr>
          <p:cNvSpPr txBox="1"/>
          <p:nvPr/>
        </p:nvSpPr>
        <p:spPr>
          <a:xfrm>
            <a:off x="832872" y="2847734"/>
            <a:ext cx="3887062" cy="1271768"/>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227330" lvl="2">
              <a:lnSpc>
                <a:spcPct val="107000"/>
              </a:lnSpc>
              <a:spcBef>
                <a:spcPts val="190"/>
              </a:spcBef>
              <a:spcAft>
                <a:spcPts val="800"/>
              </a:spcAft>
            </a:pPr>
            <a:r>
              <a:rPr lang="en-US" sz="1400" dirty="0">
                <a:effectLst/>
                <a:latin typeface="Calibri" panose="020F0502020204030204" pitchFamily="34" charset="0"/>
                <a:ea typeface="Calibri" panose="020F0502020204030204" pitchFamily="34" charset="0"/>
                <a:cs typeface="Times New Roman" panose="02020603050405020304" pitchFamily="18" charset="0"/>
              </a:rPr>
              <a:t>When you click the Sales Return module under Sales, Sales Return transactions list will display based on filtered date and status in the sales return main window.</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0" lvl="2">
              <a:lnSpc>
                <a:spcPct val="107000"/>
              </a:lnSpc>
              <a:spcAft>
                <a:spcPts val="800"/>
              </a:spcAft>
            </a:pPr>
            <a:r>
              <a:rPr lang="en-PH" sz="1300" cap="all" dirty="0">
                <a:solidFill>
                  <a:srgbClr val="4472C4"/>
                </a:solidFill>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55" name="TextBox 54">
            <a:extLst>
              <a:ext uri="{FF2B5EF4-FFF2-40B4-BE49-F238E27FC236}">
                <a16:creationId xmlns:a16="http://schemas.microsoft.com/office/drawing/2014/main" id="{438989E4-F23C-F4AC-684B-2BE81114D33A}"/>
              </a:ext>
            </a:extLst>
          </p:cNvPr>
          <p:cNvSpPr txBox="1"/>
          <p:nvPr/>
        </p:nvSpPr>
        <p:spPr>
          <a:xfrm>
            <a:off x="7284343" y="4577453"/>
            <a:ext cx="2552700" cy="272319"/>
          </a:xfrm>
          <a:prstGeom prst="rect">
            <a:avLst/>
          </a:prstGeom>
          <a:noFill/>
        </p:spPr>
        <p:txBody>
          <a:bodyPr wrap="square">
            <a:spAutoFit/>
          </a:bodyPr>
          <a:lstStyle/>
          <a:p>
            <a:pPr marL="0" marR="0" algn="ctr">
              <a:lnSpc>
                <a:spcPct val="107000"/>
              </a:lnSpc>
              <a:spcBef>
                <a:spcPts val="0"/>
              </a:spcBef>
              <a:spcAft>
                <a:spcPts val="800"/>
              </a:spcAft>
            </a:pPr>
            <a:r>
              <a:rPr lang="en-PH" sz="1200" dirty="0">
                <a:effectLst/>
                <a:latin typeface="Bahnschrift Condensed" panose="020B0502040204020203" pitchFamily="34" charset="0"/>
                <a:ea typeface="Calibri" panose="020F0502020204030204" pitchFamily="34" charset="0"/>
                <a:cs typeface="Times New Roman" panose="02020603050405020304" pitchFamily="18" charset="0"/>
              </a:rPr>
              <a:t>Sales Return – Main </a:t>
            </a:r>
            <a:r>
              <a:rPr lang="en-PH" sz="1200" dirty="0">
                <a:latin typeface="Bahnschrift Condensed" panose="020B0502040204020203" pitchFamily="34" charset="0"/>
                <a:ea typeface="Calibri" panose="020F0502020204030204" pitchFamily="34" charset="0"/>
                <a:cs typeface="Times New Roman" panose="02020603050405020304" pitchFamily="18" charset="0"/>
              </a:rPr>
              <a:t>Window</a:t>
            </a:r>
            <a:endParaRPr lang="en-US" sz="1200" dirty="0">
              <a:effectLst/>
              <a:latin typeface="Bahnschrift Condensed" panose="020B0502040204020203" pitchFamily="34" charset="0"/>
              <a:ea typeface="Calibri" panose="020F0502020204030204" pitchFamily="34" charset="0"/>
              <a:cs typeface="Times New Roman" panose="02020603050405020304" pitchFamily="18" charset="0"/>
            </a:endParaRPr>
          </a:p>
        </p:txBody>
      </p:sp>
      <p:sp>
        <p:nvSpPr>
          <p:cNvPr id="13" name="TextBox 12">
            <a:extLst>
              <a:ext uri="{FF2B5EF4-FFF2-40B4-BE49-F238E27FC236}">
                <a16:creationId xmlns:a16="http://schemas.microsoft.com/office/drawing/2014/main" id="{7B3AF19C-814C-4975-A22C-FCF6AC461B65}"/>
              </a:ext>
            </a:extLst>
          </p:cNvPr>
          <p:cNvSpPr txBox="1"/>
          <p:nvPr/>
        </p:nvSpPr>
        <p:spPr>
          <a:xfrm>
            <a:off x="585809" y="123167"/>
            <a:ext cx="4824617"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r>
              <a:rPr lang="en-US" sz="2000" dirty="0">
                <a:solidFill>
                  <a:schemeClr val="accent6">
                    <a:lumMod val="20000"/>
                    <a:lumOff val="80000"/>
                  </a:schemeClr>
                </a:solidFill>
                <a:latin typeface="+mj-lt"/>
              </a:rPr>
              <a:t>Sales/ Sales Return </a:t>
            </a:r>
            <a:r>
              <a:rPr lang="en-US" sz="1900" dirty="0">
                <a:solidFill>
                  <a:schemeClr val="accent6">
                    <a:lumMod val="20000"/>
                    <a:lumOff val="80000"/>
                  </a:schemeClr>
                </a:solidFill>
                <a:latin typeface="+mj-lt"/>
              </a:rPr>
              <a:t>- Module</a:t>
            </a:r>
          </a:p>
          <a:p>
            <a:endParaRPr lang="en-US" sz="2000" dirty="0">
              <a:solidFill>
                <a:srgbClr val="007434"/>
              </a:solidFill>
              <a:latin typeface="+mj-lt"/>
            </a:endParaRPr>
          </a:p>
        </p:txBody>
      </p:sp>
      <p:pic>
        <p:nvPicPr>
          <p:cNvPr id="2" name="Picture 1">
            <a:extLst>
              <a:ext uri="{FF2B5EF4-FFF2-40B4-BE49-F238E27FC236}">
                <a16:creationId xmlns:a16="http://schemas.microsoft.com/office/drawing/2014/main" id="{C72FCBCF-0F55-FEEC-7EA4-F4A4F9264ED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19966" y="2280547"/>
            <a:ext cx="5984240" cy="1945005"/>
          </a:xfrm>
          <a:prstGeom prst="rect">
            <a:avLst/>
          </a:prstGeom>
        </p:spPr>
      </p:pic>
      <p:grpSp>
        <p:nvGrpSpPr>
          <p:cNvPr id="7" name="Group 6">
            <a:extLst>
              <a:ext uri="{FF2B5EF4-FFF2-40B4-BE49-F238E27FC236}">
                <a16:creationId xmlns:a16="http://schemas.microsoft.com/office/drawing/2014/main" id="{016A7AF6-B102-F292-C031-FABB4E7A70E3}"/>
              </a:ext>
            </a:extLst>
          </p:cNvPr>
          <p:cNvGrpSpPr/>
          <p:nvPr/>
        </p:nvGrpSpPr>
        <p:grpSpPr>
          <a:xfrm>
            <a:off x="5319966" y="2996911"/>
            <a:ext cx="5855970" cy="1223010"/>
            <a:chOff x="3168015" y="2817495"/>
            <a:chExt cx="5855970" cy="1223010"/>
          </a:xfrm>
        </p:grpSpPr>
        <p:sp>
          <p:nvSpPr>
            <p:cNvPr id="3" name="Rectangle 2">
              <a:extLst>
                <a:ext uri="{FF2B5EF4-FFF2-40B4-BE49-F238E27FC236}">
                  <a16:creationId xmlns:a16="http://schemas.microsoft.com/office/drawing/2014/main" id="{59516E8B-AB88-76DE-22D2-3389FF462045}"/>
                </a:ext>
              </a:extLst>
            </p:cNvPr>
            <p:cNvSpPr/>
            <p:nvPr/>
          </p:nvSpPr>
          <p:spPr>
            <a:xfrm>
              <a:off x="3168015" y="3840480"/>
              <a:ext cx="885825" cy="161925"/>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4" name="Rectangle 3">
              <a:extLst>
                <a:ext uri="{FF2B5EF4-FFF2-40B4-BE49-F238E27FC236}">
                  <a16:creationId xmlns:a16="http://schemas.microsoft.com/office/drawing/2014/main" id="{BC607CD2-9407-F708-7C85-CBAFE69D26C7}"/>
                </a:ext>
              </a:extLst>
            </p:cNvPr>
            <p:cNvSpPr/>
            <p:nvPr/>
          </p:nvSpPr>
          <p:spPr>
            <a:xfrm>
              <a:off x="4215765" y="2817495"/>
              <a:ext cx="4808220" cy="122301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cxnSp>
          <p:nvCxnSpPr>
            <p:cNvPr id="5" name="Straight Arrow Connector 4">
              <a:extLst>
                <a:ext uri="{FF2B5EF4-FFF2-40B4-BE49-F238E27FC236}">
                  <a16:creationId xmlns:a16="http://schemas.microsoft.com/office/drawing/2014/main" id="{403925DD-2462-DADF-ADC1-5D51025DA9D2}"/>
                </a:ext>
              </a:extLst>
            </p:cNvPr>
            <p:cNvCxnSpPr/>
            <p:nvPr/>
          </p:nvCxnSpPr>
          <p:spPr>
            <a:xfrm>
              <a:off x="4082415" y="3931285"/>
              <a:ext cx="142875" cy="4508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sp>
        <p:nvSpPr>
          <p:cNvPr id="9" name="Slide Number Placeholder 8">
            <a:extLst>
              <a:ext uri="{FF2B5EF4-FFF2-40B4-BE49-F238E27FC236}">
                <a16:creationId xmlns:a16="http://schemas.microsoft.com/office/drawing/2014/main" id="{3D372DE2-59DB-B986-5463-F32324D2B938}"/>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600" b="0" i="0" u="none" strike="noStrike" kern="1200" cap="none" spc="0" normalizeH="0" baseline="0" noProof="0">
              <a:ln>
                <a:noFill/>
              </a:ln>
              <a:solidFill>
                <a:srgbClr val="00863D"/>
              </a:solidFill>
              <a:effectLst/>
              <a:uLnTx/>
              <a:uFillTx/>
              <a:latin typeface="Animosa Extra Bold" panose="00000900000000000000" pitchFamily="50" charset="0"/>
              <a:ea typeface="+mn-ea"/>
              <a:cs typeface="+mn-cs"/>
            </a:endParaRPr>
          </a:p>
          <a:p>
            <a:endParaRPr lang="en-US" dirty="0"/>
          </a:p>
        </p:txBody>
      </p:sp>
    </p:spTree>
    <p:extLst>
      <p:ext uri="{BB962C8B-B14F-4D97-AF65-F5344CB8AC3E}">
        <p14:creationId xmlns:p14="http://schemas.microsoft.com/office/powerpoint/2010/main" val="18939149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extBox 22">
            <a:extLst>
              <a:ext uri="{FF2B5EF4-FFF2-40B4-BE49-F238E27FC236}">
                <a16:creationId xmlns:a16="http://schemas.microsoft.com/office/drawing/2014/main" id="{2384804B-EE2E-A346-8D83-E2034F24A0DC}"/>
              </a:ext>
            </a:extLst>
          </p:cNvPr>
          <p:cNvSpPr txBox="1"/>
          <p:nvPr/>
        </p:nvSpPr>
        <p:spPr>
          <a:xfrm>
            <a:off x="805110" y="965527"/>
            <a:ext cx="3852819" cy="337392"/>
          </a:xfrm>
          <a:prstGeom prst="rect">
            <a:avLst/>
          </a:prstGeom>
          <a:solidFill>
            <a:srgbClr val="00B050"/>
          </a:solidFill>
          <a:effectLst/>
        </p:spPr>
        <p:txBody>
          <a:bodyPr wrap="square" rtlCol="0">
            <a:spAutoFit/>
          </a:bodyPr>
          <a:lstStyle/>
          <a:p>
            <a:pPr algn="ctr"/>
            <a:r>
              <a:rPr lang="en-US" sz="1600" dirty="0">
                <a:solidFill>
                  <a:schemeClr val="bg1"/>
                </a:solidFill>
                <a:latin typeface="+mj-lt"/>
              </a:rPr>
              <a:t>How To Create Sales Return Transaction?</a:t>
            </a:r>
            <a:endParaRPr lang="en-US" sz="2000" dirty="0">
              <a:solidFill>
                <a:srgbClr val="007434"/>
              </a:solidFill>
              <a:latin typeface="+mj-lt"/>
            </a:endParaRPr>
          </a:p>
        </p:txBody>
      </p:sp>
      <p:sp>
        <p:nvSpPr>
          <p:cNvPr id="12" name="Text Box 18">
            <a:extLst>
              <a:ext uri="{FF2B5EF4-FFF2-40B4-BE49-F238E27FC236}">
                <a16:creationId xmlns:a16="http://schemas.microsoft.com/office/drawing/2014/main" id="{9A8214E9-BA24-C1CD-FE2E-59471D8D7178}"/>
              </a:ext>
            </a:extLst>
          </p:cNvPr>
          <p:cNvSpPr txBox="1"/>
          <p:nvPr/>
        </p:nvSpPr>
        <p:spPr>
          <a:xfrm>
            <a:off x="540588" y="1771321"/>
            <a:ext cx="4179346" cy="1942256"/>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228600" marR="0">
              <a:lnSpc>
                <a:spcPct val="115000"/>
              </a:lnSpc>
              <a:spcBef>
                <a:spcPts val="0"/>
              </a:spcBef>
              <a:spcAft>
                <a:spcPts val="0"/>
              </a:spcAft>
            </a:pPr>
            <a:r>
              <a:rPr lang="en-PH" sz="1200" b="1"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1</a:t>
            </a:r>
            <a:r>
              <a:rPr lang="en-PH" sz="1200" dirty="0">
                <a:effectLst/>
                <a:latin typeface="Chivo Light" panose="020B0303030202020804" pitchFamily="34" charset="0"/>
                <a:ea typeface="Times New Roman" panose="02020603050405020304" pitchFamily="18" charset="0"/>
                <a:cs typeface="Times New Roman" panose="02020603050405020304" pitchFamily="18" charset="0"/>
              </a:rPr>
              <a:t>. </a:t>
            </a:r>
            <a:r>
              <a:rPr lang="en-US" sz="1200" dirty="0">
                <a:effectLst/>
                <a:latin typeface="Chivo Light" panose="020B0303030202020804" pitchFamily="34" charset="0"/>
                <a:ea typeface="Times New Roman" panose="02020603050405020304" pitchFamily="18" charset="0"/>
                <a:cs typeface="Times New Roman" panose="02020603050405020304" pitchFamily="18" charset="0"/>
              </a:rPr>
              <a:t>In Sales Return – Main Window, you will notice a create button in the upper left of the window. Click the create button and you will be redirect in sales return – main form.</a:t>
            </a:r>
          </a:p>
          <a:p>
            <a:pPr marL="228600" marR="0">
              <a:lnSpc>
                <a:spcPct val="115000"/>
              </a:lnSpc>
              <a:spcBef>
                <a:spcPts val="0"/>
              </a:spcBef>
              <a:spcAft>
                <a:spcPts val="0"/>
              </a:spcAft>
            </a:pPr>
            <a:endParaRPr lang="en-PH"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L="228600" marR="0">
              <a:lnSpc>
                <a:spcPct val="115000"/>
              </a:lnSpc>
              <a:spcBef>
                <a:spcPts val="0"/>
              </a:spcBef>
              <a:spcAft>
                <a:spcPts val="0"/>
              </a:spcAft>
            </a:pPr>
            <a:r>
              <a:rPr lang="en-US" sz="1200" b="1"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2.  </a:t>
            </a:r>
            <a:r>
              <a:rPr lang="en-US" sz="1200" dirty="0">
                <a:effectLst/>
                <a:latin typeface="Chivo Light" panose="020B0303030202020804" pitchFamily="34" charset="0"/>
                <a:ea typeface="Times New Roman" panose="02020603050405020304" pitchFamily="18" charset="0"/>
                <a:cs typeface="Times New Roman" panose="02020603050405020304" pitchFamily="18" charset="0"/>
              </a:rPr>
              <a:t>After you click the create button a dialog box will pop out with list of customer. Search and select a customer.</a:t>
            </a:r>
            <a:endParaRPr lang="en-US" sz="105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PH" sz="1300" cap="all" dirty="0">
                <a:solidFill>
                  <a:srgbClr val="4472C4"/>
                </a:solidFill>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PH" sz="1300" cap="all" dirty="0">
                <a:solidFill>
                  <a:srgbClr val="4472C4"/>
                </a:solidFill>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79" name="Text Box 27">
            <a:extLst>
              <a:ext uri="{FF2B5EF4-FFF2-40B4-BE49-F238E27FC236}">
                <a16:creationId xmlns:a16="http://schemas.microsoft.com/office/drawing/2014/main" id="{C0041F90-1A0F-8769-2E1A-BA60672B2ED3}"/>
              </a:ext>
            </a:extLst>
          </p:cNvPr>
          <p:cNvSpPr txBox="1"/>
          <p:nvPr/>
        </p:nvSpPr>
        <p:spPr>
          <a:xfrm>
            <a:off x="678873" y="4067395"/>
            <a:ext cx="3902776" cy="1172899"/>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114300" marR="0" algn="just">
              <a:lnSpc>
                <a:spcPct val="115000"/>
              </a:lnSpc>
              <a:spcBef>
                <a:spcPts val="0"/>
              </a:spcBef>
              <a:spcAft>
                <a:spcPts val="0"/>
              </a:spcAft>
            </a:pPr>
            <a:r>
              <a:rPr lang="en-US" sz="1200" b="1"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3. </a:t>
            </a:r>
            <a:r>
              <a:rPr lang="en-US" sz="1200" dirty="0">
                <a:effectLst/>
                <a:latin typeface="Chivo Light" panose="020B0303030202020804" pitchFamily="34" charset="0"/>
                <a:ea typeface="Times New Roman" panose="02020603050405020304" pitchFamily="18" charset="0"/>
                <a:cs typeface="Times New Roman" panose="02020603050405020304" pitchFamily="18" charset="0"/>
              </a:rPr>
              <a:t>After you select a customer, you will be redirected in sales return – main form where you will encode the other necessary information of the transaction and record the items’ returned by the customer</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 name="Text Box 6">
            <a:extLst>
              <a:ext uri="{FF2B5EF4-FFF2-40B4-BE49-F238E27FC236}">
                <a16:creationId xmlns:a16="http://schemas.microsoft.com/office/drawing/2014/main" id="{388AC9D8-E4B5-58A0-4094-8A9CB20669C4}"/>
              </a:ext>
            </a:extLst>
          </p:cNvPr>
          <p:cNvSpPr txBox="1"/>
          <p:nvPr/>
        </p:nvSpPr>
        <p:spPr>
          <a:xfrm>
            <a:off x="0" y="-11307"/>
            <a:ext cx="5374888"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endParaRPr lang="en-US" sz="1400" dirty="0">
              <a:solidFill>
                <a:srgbClr val="007434"/>
              </a:solidFill>
              <a:effectLst/>
              <a:ea typeface="Open Sans" panose="020B0606030504020204" pitchFamily="34" charset="0"/>
              <a:cs typeface="Times New Roman" panose="02020603050405020304" pitchFamily="18" charset="0"/>
            </a:endParaRPr>
          </a:p>
        </p:txBody>
      </p:sp>
      <p:pic>
        <p:nvPicPr>
          <p:cNvPr id="49" name="Picture 48">
            <a:extLst>
              <a:ext uri="{FF2B5EF4-FFF2-40B4-BE49-F238E27FC236}">
                <a16:creationId xmlns:a16="http://schemas.microsoft.com/office/drawing/2014/main" id="{693359DA-0E35-C2AE-7680-F17A03960CEF}"/>
              </a:ext>
            </a:extLst>
          </p:cNvPr>
          <p:cNvPicPr>
            <a:picLocks noChangeAspect="1"/>
          </p:cNvPicPr>
          <p:nvPr/>
        </p:nvPicPr>
        <p:blipFill>
          <a:blip r:embed="rId2"/>
          <a:stretch>
            <a:fillRect/>
          </a:stretch>
        </p:blipFill>
        <p:spPr>
          <a:xfrm>
            <a:off x="10780479" y="6391410"/>
            <a:ext cx="1047454" cy="267619"/>
          </a:xfrm>
          <a:prstGeom prst="rect">
            <a:avLst/>
          </a:prstGeom>
          <a:effectLst/>
        </p:spPr>
      </p:pic>
      <p:sp>
        <p:nvSpPr>
          <p:cNvPr id="2" name="TextBox 1">
            <a:extLst>
              <a:ext uri="{FF2B5EF4-FFF2-40B4-BE49-F238E27FC236}">
                <a16:creationId xmlns:a16="http://schemas.microsoft.com/office/drawing/2014/main" id="{09B8998E-F87B-8644-765B-F34F79480AA9}"/>
              </a:ext>
            </a:extLst>
          </p:cNvPr>
          <p:cNvSpPr txBox="1"/>
          <p:nvPr/>
        </p:nvSpPr>
        <p:spPr>
          <a:xfrm>
            <a:off x="585809" y="123167"/>
            <a:ext cx="4824617"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r>
              <a:rPr lang="en-US" sz="2000" dirty="0">
                <a:solidFill>
                  <a:schemeClr val="accent6">
                    <a:lumMod val="20000"/>
                    <a:lumOff val="80000"/>
                  </a:schemeClr>
                </a:solidFill>
                <a:latin typeface="+mj-lt"/>
              </a:rPr>
              <a:t>Sales/ Sales Return </a:t>
            </a:r>
            <a:r>
              <a:rPr lang="en-US" sz="1900" dirty="0">
                <a:solidFill>
                  <a:schemeClr val="accent6">
                    <a:lumMod val="20000"/>
                    <a:lumOff val="80000"/>
                  </a:schemeClr>
                </a:solidFill>
                <a:latin typeface="+mj-lt"/>
              </a:rPr>
              <a:t>- Module</a:t>
            </a:r>
          </a:p>
          <a:p>
            <a:endParaRPr lang="en-US" sz="2000" dirty="0">
              <a:solidFill>
                <a:srgbClr val="007434"/>
              </a:solidFill>
              <a:latin typeface="+mj-lt"/>
            </a:endParaRPr>
          </a:p>
        </p:txBody>
      </p:sp>
      <p:grpSp>
        <p:nvGrpSpPr>
          <p:cNvPr id="13" name="Group 12">
            <a:extLst>
              <a:ext uri="{FF2B5EF4-FFF2-40B4-BE49-F238E27FC236}">
                <a16:creationId xmlns:a16="http://schemas.microsoft.com/office/drawing/2014/main" id="{8828B002-A689-9C4D-E3B6-769D5F3DF726}"/>
              </a:ext>
            </a:extLst>
          </p:cNvPr>
          <p:cNvGrpSpPr/>
          <p:nvPr/>
        </p:nvGrpSpPr>
        <p:grpSpPr>
          <a:xfrm>
            <a:off x="5403920" y="2742449"/>
            <a:ext cx="5982970" cy="2613025"/>
            <a:chOff x="0" y="0"/>
            <a:chExt cx="5983340" cy="2613546"/>
          </a:xfrm>
        </p:grpSpPr>
        <p:grpSp>
          <p:nvGrpSpPr>
            <p:cNvPr id="14" name="Group 13">
              <a:extLst>
                <a:ext uri="{FF2B5EF4-FFF2-40B4-BE49-F238E27FC236}">
                  <a16:creationId xmlns:a16="http://schemas.microsoft.com/office/drawing/2014/main" id="{09FDFBDC-5019-0554-D547-0A1ECFF212AC}"/>
                </a:ext>
              </a:extLst>
            </p:cNvPr>
            <p:cNvGrpSpPr/>
            <p:nvPr/>
          </p:nvGrpSpPr>
          <p:grpSpPr>
            <a:xfrm>
              <a:off x="0" y="0"/>
              <a:ext cx="5983340" cy="2613546"/>
              <a:chOff x="88710" y="8223"/>
              <a:chExt cx="6189345" cy="3053287"/>
            </a:xfrm>
          </p:grpSpPr>
          <p:pic>
            <p:nvPicPr>
              <p:cNvPr id="16" name="Picture 15">
                <a:extLst>
                  <a:ext uri="{FF2B5EF4-FFF2-40B4-BE49-F238E27FC236}">
                    <a16:creationId xmlns:a16="http://schemas.microsoft.com/office/drawing/2014/main" id="{75CB647C-D370-F1CD-F477-38F1F5DA546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8710" y="8223"/>
                <a:ext cx="6189345" cy="3053287"/>
              </a:xfrm>
              <a:prstGeom prst="rect">
                <a:avLst/>
              </a:prstGeom>
            </p:spPr>
          </p:pic>
          <p:grpSp>
            <p:nvGrpSpPr>
              <p:cNvPr id="17" name="Group 16">
                <a:extLst>
                  <a:ext uri="{FF2B5EF4-FFF2-40B4-BE49-F238E27FC236}">
                    <a16:creationId xmlns:a16="http://schemas.microsoft.com/office/drawing/2014/main" id="{586D3327-95E0-E4A2-4F83-BF3626A26FAD}"/>
                  </a:ext>
                </a:extLst>
              </p:cNvPr>
              <p:cNvGrpSpPr/>
              <p:nvPr/>
            </p:nvGrpSpPr>
            <p:grpSpPr>
              <a:xfrm>
                <a:off x="609458" y="672573"/>
                <a:ext cx="5592194" cy="365643"/>
                <a:chOff x="-4010167" y="177273"/>
                <a:chExt cx="5592194" cy="365643"/>
              </a:xfrm>
            </p:grpSpPr>
            <p:sp>
              <p:nvSpPr>
                <p:cNvPr id="18" name="Rectangle 17">
                  <a:extLst>
                    <a:ext uri="{FF2B5EF4-FFF2-40B4-BE49-F238E27FC236}">
                      <a16:creationId xmlns:a16="http://schemas.microsoft.com/office/drawing/2014/main" id="{FBD80F96-A53E-EF66-4336-6A49F602CF38}"/>
                    </a:ext>
                  </a:extLst>
                </p:cNvPr>
                <p:cNvSpPr/>
                <p:nvPr/>
              </p:nvSpPr>
              <p:spPr>
                <a:xfrm>
                  <a:off x="-4010167" y="177273"/>
                  <a:ext cx="5145632" cy="365643"/>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cxnSp>
              <p:nvCxnSpPr>
                <p:cNvPr id="19" name="Straight Arrow Connector 18">
                  <a:extLst>
                    <a:ext uri="{FF2B5EF4-FFF2-40B4-BE49-F238E27FC236}">
                      <a16:creationId xmlns:a16="http://schemas.microsoft.com/office/drawing/2014/main" id="{B5755497-151B-D3AB-BC35-C2C5884D9535}"/>
                    </a:ext>
                  </a:extLst>
                </p:cNvPr>
                <p:cNvCxnSpPr/>
                <p:nvPr/>
              </p:nvCxnSpPr>
              <p:spPr>
                <a:xfrm>
                  <a:off x="1135465" y="323282"/>
                  <a:ext cx="200025" cy="952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0" name="Text Box 104">
                  <a:extLst>
                    <a:ext uri="{FF2B5EF4-FFF2-40B4-BE49-F238E27FC236}">
                      <a16:creationId xmlns:a16="http://schemas.microsoft.com/office/drawing/2014/main" id="{A7422994-C35B-C870-38FD-52D8E79E3BD0}"/>
                    </a:ext>
                  </a:extLst>
                </p:cNvPr>
                <p:cNvSpPr txBox="1"/>
                <p:nvPr/>
              </p:nvSpPr>
              <p:spPr>
                <a:xfrm>
                  <a:off x="1343657" y="183411"/>
                  <a:ext cx="238370" cy="333987"/>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r>
                    <a:rPr lang="en-US" sz="1100">
                      <a:effectLst/>
                      <a:ea typeface="Calibri" panose="020F0502020204030204" pitchFamily="34" charset="0"/>
                      <a:cs typeface="Times New Roman" panose="02020603050405020304" pitchFamily="18" charset="0"/>
                    </a:rPr>
                    <a:t>2</a:t>
                  </a:r>
                </a:p>
              </p:txBody>
            </p:sp>
          </p:grpSp>
        </p:grpSp>
        <p:pic>
          <p:nvPicPr>
            <p:cNvPr id="15" name="Picture 14">
              <a:extLst>
                <a:ext uri="{FF2B5EF4-FFF2-40B4-BE49-F238E27FC236}">
                  <a16:creationId xmlns:a16="http://schemas.microsoft.com/office/drawing/2014/main" id="{B76FD168-18F5-8F9A-09A2-909DC72A1C9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43000" y="38100"/>
              <a:ext cx="1781175" cy="161925"/>
            </a:xfrm>
            <a:prstGeom prst="rect">
              <a:avLst/>
            </a:prstGeom>
          </p:spPr>
        </p:pic>
      </p:grpSp>
      <p:sp>
        <p:nvSpPr>
          <p:cNvPr id="6" name="Slide Number Placeholder 5">
            <a:extLst>
              <a:ext uri="{FF2B5EF4-FFF2-40B4-BE49-F238E27FC236}">
                <a16:creationId xmlns:a16="http://schemas.microsoft.com/office/drawing/2014/main" id="{F4F49DEC-339C-45EE-3FAD-E06A215F3E49}"/>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600" b="0" i="0" u="none" strike="noStrike" kern="1200" cap="none" spc="0" normalizeH="0" baseline="0" noProof="0">
              <a:ln>
                <a:noFill/>
              </a:ln>
              <a:solidFill>
                <a:srgbClr val="00863D"/>
              </a:solidFill>
              <a:effectLst/>
              <a:uLnTx/>
              <a:uFillTx/>
              <a:latin typeface="Animosa Extra Bold" panose="00000900000000000000" pitchFamily="50" charset="0"/>
              <a:ea typeface="+mn-ea"/>
              <a:cs typeface="+mn-cs"/>
            </a:endParaRPr>
          </a:p>
          <a:p>
            <a:endParaRPr lang="en-US" dirty="0"/>
          </a:p>
        </p:txBody>
      </p:sp>
      <p:grpSp>
        <p:nvGrpSpPr>
          <p:cNvPr id="4" name="Group 3">
            <a:extLst>
              <a:ext uri="{FF2B5EF4-FFF2-40B4-BE49-F238E27FC236}">
                <a16:creationId xmlns:a16="http://schemas.microsoft.com/office/drawing/2014/main" id="{E44A876E-D4E3-E812-473C-206518101277}"/>
              </a:ext>
            </a:extLst>
          </p:cNvPr>
          <p:cNvGrpSpPr/>
          <p:nvPr/>
        </p:nvGrpSpPr>
        <p:grpSpPr>
          <a:xfrm>
            <a:off x="5148121" y="1127100"/>
            <a:ext cx="6918665" cy="905009"/>
            <a:chOff x="5148121" y="1127100"/>
            <a:chExt cx="6918665" cy="905009"/>
          </a:xfrm>
        </p:grpSpPr>
        <p:pic>
          <p:nvPicPr>
            <p:cNvPr id="21" name="Picture 20">
              <a:extLst>
                <a:ext uri="{FF2B5EF4-FFF2-40B4-BE49-F238E27FC236}">
                  <a16:creationId xmlns:a16="http://schemas.microsoft.com/office/drawing/2014/main" id="{C4C8CE5D-F853-ED03-31B7-B89D4702A440}"/>
                </a:ext>
              </a:extLst>
            </p:cNvPr>
            <p:cNvPicPr>
              <a:picLocks noChangeAspect="1"/>
            </p:cNvPicPr>
            <p:nvPr/>
          </p:nvPicPr>
          <p:blipFill>
            <a:blip r:embed="rId5"/>
            <a:stretch>
              <a:fillRect/>
            </a:stretch>
          </p:blipFill>
          <p:spPr>
            <a:xfrm>
              <a:off x="5148121" y="1127100"/>
              <a:ext cx="6918665" cy="905009"/>
            </a:xfrm>
            <a:prstGeom prst="rect">
              <a:avLst/>
            </a:prstGeom>
          </p:spPr>
        </p:pic>
        <p:grpSp>
          <p:nvGrpSpPr>
            <p:cNvPr id="22" name="Group 21">
              <a:extLst>
                <a:ext uri="{FF2B5EF4-FFF2-40B4-BE49-F238E27FC236}">
                  <a16:creationId xmlns:a16="http://schemas.microsoft.com/office/drawing/2014/main" id="{F9E8EA5D-0C46-49C3-BF11-66FF33F88F45}"/>
                </a:ext>
              </a:extLst>
            </p:cNvPr>
            <p:cNvGrpSpPr/>
            <p:nvPr/>
          </p:nvGrpSpPr>
          <p:grpSpPr>
            <a:xfrm>
              <a:off x="5160852" y="1138184"/>
              <a:ext cx="1209675" cy="280959"/>
              <a:chOff x="0" y="-1055020"/>
              <a:chExt cx="1209675" cy="333375"/>
            </a:xfrm>
          </p:grpSpPr>
          <p:sp>
            <p:nvSpPr>
              <p:cNvPr id="24" name="Rectangle 23">
                <a:extLst>
                  <a:ext uri="{FF2B5EF4-FFF2-40B4-BE49-F238E27FC236}">
                    <a16:creationId xmlns:a16="http://schemas.microsoft.com/office/drawing/2014/main" id="{76566236-05E3-16F3-0DAA-46FFCB85E9AF}"/>
                  </a:ext>
                </a:extLst>
              </p:cNvPr>
              <p:cNvSpPr/>
              <p:nvPr/>
            </p:nvSpPr>
            <p:spPr>
              <a:xfrm>
                <a:off x="0" y="-1055020"/>
                <a:ext cx="800100" cy="333375"/>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cxnSp>
            <p:nvCxnSpPr>
              <p:cNvPr id="25" name="Straight Arrow Connector 24">
                <a:extLst>
                  <a:ext uri="{FF2B5EF4-FFF2-40B4-BE49-F238E27FC236}">
                    <a16:creationId xmlns:a16="http://schemas.microsoft.com/office/drawing/2014/main" id="{F04E96E7-A730-F252-3809-88CD55215B4B}"/>
                  </a:ext>
                </a:extLst>
              </p:cNvPr>
              <p:cNvCxnSpPr/>
              <p:nvPr/>
            </p:nvCxnSpPr>
            <p:spPr>
              <a:xfrm>
                <a:off x="800100" y="-921670"/>
                <a:ext cx="200025" cy="952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6" name="Text Box 355">
                <a:extLst>
                  <a:ext uri="{FF2B5EF4-FFF2-40B4-BE49-F238E27FC236}">
                    <a16:creationId xmlns:a16="http://schemas.microsoft.com/office/drawing/2014/main" id="{11B929EE-7EB1-7B7B-72D2-BCD29A68227B}"/>
                  </a:ext>
                </a:extLst>
              </p:cNvPr>
              <p:cNvSpPr txBox="1"/>
              <p:nvPr/>
            </p:nvSpPr>
            <p:spPr>
              <a:xfrm>
                <a:off x="1009650" y="-1026445"/>
                <a:ext cx="200025" cy="2476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r>
                  <a:rPr lang="en-US" sz="1100">
                    <a:effectLst/>
                    <a:ea typeface="Calibri" panose="020F0502020204030204" pitchFamily="34" charset="0"/>
                    <a:cs typeface="Times New Roman" panose="02020603050405020304" pitchFamily="18" charset="0"/>
                  </a:rPr>
                  <a:t>1</a:t>
                </a:r>
              </a:p>
            </p:txBody>
          </p:sp>
        </p:grpSp>
      </p:grpSp>
    </p:spTree>
    <p:extLst>
      <p:ext uri="{BB962C8B-B14F-4D97-AF65-F5344CB8AC3E}">
        <p14:creationId xmlns:p14="http://schemas.microsoft.com/office/powerpoint/2010/main" val="17861246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extBox 22">
            <a:extLst>
              <a:ext uri="{FF2B5EF4-FFF2-40B4-BE49-F238E27FC236}">
                <a16:creationId xmlns:a16="http://schemas.microsoft.com/office/drawing/2014/main" id="{2384804B-EE2E-A346-8D83-E2034F24A0DC}"/>
              </a:ext>
            </a:extLst>
          </p:cNvPr>
          <p:cNvSpPr txBox="1"/>
          <p:nvPr/>
        </p:nvSpPr>
        <p:spPr>
          <a:xfrm>
            <a:off x="805110" y="965527"/>
            <a:ext cx="3852819" cy="337392"/>
          </a:xfrm>
          <a:prstGeom prst="rect">
            <a:avLst/>
          </a:prstGeom>
          <a:solidFill>
            <a:srgbClr val="00B050"/>
          </a:solidFill>
          <a:effectLst/>
        </p:spPr>
        <p:txBody>
          <a:bodyPr wrap="square" rtlCol="0">
            <a:spAutoFit/>
          </a:bodyPr>
          <a:lstStyle/>
          <a:p>
            <a:pPr algn="ctr"/>
            <a:r>
              <a:rPr lang="en-US" sz="1600" dirty="0">
                <a:solidFill>
                  <a:schemeClr val="bg1"/>
                </a:solidFill>
                <a:latin typeface="+mj-lt"/>
              </a:rPr>
              <a:t>How To Create Sales Return Transaction?</a:t>
            </a:r>
            <a:endParaRPr lang="en-US" sz="2000" dirty="0">
              <a:solidFill>
                <a:srgbClr val="007434"/>
              </a:solidFill>
              <a:latin typeface="+mj-lt"/>
            </a:endParaRPr>
          </a:p>
        </p:txBody>
      </p:sp>
      <p:sp>
        <p:nvSpPr>
          <p:cNvPr id="3" name="Text Box 6">
            <a:extLst>
              <a:ext uri="{FF2B5EF4-FFF2-40B4-BE49-F238E27FC236}">
                <a16:creationId xmlns:a16="http://schemas.microsoft.com/office/drawing/2014/main" id="{388AC9D8-E4B5-58A0-4094-8A9CB20669C4}"/>
              </a:ext>
            </a:extLst>
          </p:cNvPr>
          <p:cNvSpPr txBox="1"/>
          <p:nvPr/>
        </p:nvSpPr>
        <p:spPr>
          <a:xfrm>
            <a:off x="0" y="-11307"/>
            <a:ext cx="5374888"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endParaRPr lang="en-US" sz="1400" dirty="0">
              <a:solidFill>
                <a:srgbClr val="007434"/>
              </a:solidFill>
              <a:effectLst/>
              <a:ea typeface="Open Sans" panose="020B0606030504020204" pitchFamily="34" charset="0"/>
              <a:cs typeface="Times New Roman" panose="02020603050405020304" pitchFamily="18" charset="0"/>
            </a:endParaRPr>
          </a:p>
        </p:txBody>
      </p:sp>
      <p:pic>
        <p:nvPicPr>
          <p:cNvPr id="49" name="Picture 48">
            <a:extLst>
              <a:ext uri="{FF2B5EF4-FFF2-40B4-BE49-F238E27FC236}">
                <a16:creationId xmlns:a16="http://schemas.microsoft.com/office/drawing/2014/main" id="{693359DA-0E35-C2AE-7680-F17A03960CEF}"/>
              </a:ext>
            </a:extLst>
          </p:cNvPr>
          <p:cNvPicPr>
            <a:picLocks noChangeAspect="1"/>
          </p:cNvPicPr>
          <p:nvPr/>
        </p:nvPicPr>
        <p:blipFill>
          <a:blip r:embed="rId2"/>
          <a:stretch>
            <a:fillRect/>
          </a:stretch>
        </p:blipFill>
        <p:spPr>
          <a:xfrm>
            <a:off x="10780479" y="6391410"/>
            <a:ext cx="1047454" cy="267619"/>
          </a:xfrm>
          <a:prstGeom prst="rect">
            <a:avLst/>
          </a:prstGeom>
          <a:effectLst/>
        </p:spPr>
      </p:pic>
      <p:sp>
        <p:nvSpPr>
          <p:cNvPr id="2" name="TextBox 1">
            <a:extLst>
              <a:ext uri="{FF2B5EF4-FFF2-40B4-BE49-F238E27FC236}">
                <a16:creationId xmlns:a16="http://schemas.microsoft.com/office/drawing/2014/main" id="{09B8998E-F87B-8644-765B-F34F79480AA9}"/>
              </a:ext>
            </a:extLst>
          </p:cNvPr>
          <p:cNvSpPr txBox="1"/>
          <p:nvPr/>
        </p:nvSpPr>
        <p:spPr>
          <a:xfrm>
            <a:off x="585809" y="123167"/>
            <a:ext cx="4824617"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r>
              <a:rPr lang="en-US" sz="2000" dirty="0">
                <a:solidFill>
                  <a:schemeClr val="accent6">
                    <a:lumMod val="20000"/>
                    <a:lumOff val="80000"/>
                  </a:schemeClr>
                </a:solidFill>
                <a:latin typeface="+mj-lt"/>
              </a:rPr>
              <a:t>Sales/ Sales Return </a:t>
            </a:r>
            <a:r>
              <a:rPr lang="en-US" sz="1900" dirty="0">
                <a:solidFill>
                  <a:schemeClr val="accent6">
                    <a:lumMod val="20000"/>
                    <a:lumOff val="80000"/>
                  </a:schemeClr>
                </a:solidFill>
                <a:latin typeface="+mj-lt"/>
              </a:rPr>
              <a:t>- Module</a:t>
            </a:r>
          </a:p>
          <a:p>
            <a:endParaRPr lang="en-US" sz="2000" dirty="0">
              <a:solidFill>
                <a:srgbClr val="007434"/>
              </a:solidFill>
              <a:latin typeface="+mj-lt"/>
            </a:endParaRPr>
          </a:p>
        </p:txBody>
      </p:sp>
      <p:grpSp>
        <p:nvGrpSpPr>
          <p:cNvPr id="32" name="Group 31">
            <a:extLst>
              <a:ext uri="{FF2B5EF4-FFF2-40B4-BE49-F238E27FC236}">
                <a16:creationId xmlns:a16="http://schemas.microsoft.com/office/drawing/2014/main" id="{1EC5F702-F2CA-8C00-69DA-158CA0D1A622}"/>
              </a:ext>
            </a:extLst>
          </p:cNvPr>
          <p:cNvGrpSpPr/>
          <p:nvPr/>
        </p:nvGrpSpPr>
        <p:grpSpPr>
          <a:xfrm>
            <a:off x="4700340" y="1499464"/>
            <a:ext cx="6686550" cy="2977832"/>
            <a:chOff x="2752725" y="1681480"/>
            <a:chExt cx="6686550" cy="2977832"/>
          </a:xfrm>
        </p:grpSpPr>
        <p:pic>
          <p:nvPicPr>
            <p:cNvPr id="4" name="Picture 3">
              <a:extLst>
                <a:ext uri="{FF2B5EF4-FFF2-40B4-BE49-F238E27FC236}">
                  <a16:creationId xmlns:a16="http://schemas.microsoft.com/office/drawing/2014/main" id="{6ED0D095-A4A9-8EA2-7EB4-EF2F071FE90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38220" y="1681480"/>
              <a:ext cx="5901055" cy="2908935"/>
            </a:xfrm>
            <a:prstGeom prst="rect">
              <a:avLst/>
            </a:prstGeom>
          </p:spPr>
        </p:pic>
        <p:sp>
          <p:nvSpPr>
            <p:cNvPr id="6" name="Rectangle 5">
              <a:extLst>
                <a:ext uri="{FF2B5EF4-FFF2-40B4-BE49-F238E27FC236}">
                  <a16:creationId xmlns:a16="http://schemas.microsoft.com/office/drawing/2014/main" id="{F83A8102-EC46-9098-7F9D-C2A2E60A20D7}"/>
                </a:ext>
              </a:extLst>
            </p:cNvPr>
            <p:cNvSpPr/>
            <p:nvPr/>
          </p:nvSpPr>
          <p:spPr>
            <a:xfrm>
              <a:off x="3571875" y="2413000"/>
              <a:ext cx="5822950" cy="990600"/>
            </a:xfrm>
            <a:prstGeom prst="rect">
              <a:avLst/>
            </a:pr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1" name="Rectangle 20">
              <a:extLst>
                <a:ext uri="{FF2B5EF4-FFF2-40B4-BE49-F238E27FC236}">
                  <a16:creationId xmlns:a16="http://schemas.microsoft.com/office/drawing/2014/main" id="{7745F05A-82CD-42D3-E225-04A9DDCFC323}"/>
                </a:ext>
              </a:extLst>
            </p:cNvPr>
            <p:cNvSpPr/>
            <p:nvPr/>
          </p:nvSpPr>
          <p:spPr>
            <a:xfrm>
              <a:off x="3616325" y="3668712"/>
              <a:ext cx="5822950" cy="990600"/>
            </a:xfrm>
            <a:prstGeom prst="rect">
              <a:avLst/>
            </a:pr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2" name="Text Box 714">
              <a:extLst>
                <a:ext uri="{FF2B5EF4-FFF2-40B4-BE49-F238E27FC236}">
                  <a16:creationId xmlns:a16="http://schemas.microsoft.com/office/drawing/2014/main" id="{CCBA9C4A-6B8B-7C0B-BA1E-3E3C293F30F9}"/>
                </a:ext>
              </a:extLst>
            </p:cNvPr>
            <p:cNvSpPr txBox="1"/>
            <p:nvPr/>
          </p:nvSpPr>
          <p:spPr>
            <a:xfrm>
              <a:off x="2778125" y="4189730"/>
              <a:ext cx="78740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r>
                <a:rPr lang="en-US" sz="1100">
                  <a:effectLst/>
                  <a:ea typeface="Calibri" panose="020F0502020204030204" pitchFamily="34" charset="0"/>
                  <a:cs typeface="Times New Roman" panose="02020603050405020304" pitchFamily="18" charset="0"/>
                </a:rPr>
                <a:t>Stock</a:t>
              </a:r>
            </a:p>
          </p:txBody>
        </p:sp>
        <p:sp>
          <p:nvSpPr>
            <p:cNvPr id="24" name="Text Box 708">
              <a:extLst>
                <a:ext uri="{FF2B5EF4-FFF2-40B4-BE49-F238E27FC236}">
                  <a16:creationId xmlns:a16="http://schemas.microsoft.com/office/drawing/2014/main" id="{D241E1CD-1BCD-0D34-07E0-4160C33AF711}"/>
                </a:ext>
              </a:extLst>
            </p:cNvPr>
            <p:cNvSpPr txBox="1"/>
            <p:nvPr/>
          </p:nvSpPr>
          <p:spPr>
            <a:xfrm>
              <a:off x="2752725" y="2419350"/>
              <a:ext cx="78740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r>
                <a:rPr lang="en-US" sz="1100">
                  <a:effectLst/>
                  <a:ea typeface="Calibri" panose="020F0502020204030204" pitchFamily="34" charset="0"/>
                  <a:cs typeface="Times New Roman" panose="02020603050405020304" pitchFamily="18" charset="0"/>
                </a:rPr>
                <a:t>Header</a:t>
              </a:r>
            </a:p>
          </p:txBody>
        </p:sp>
        <p:sp>
          <p:nvSpPr>
            <p:cNvPr id="25" name="Text Box 710">
              <a:extLst>
                <a:ext uri="{FF2B5EF4-FFF2-40B4-BE49-F238E27FC236}">
                  <a16:creationId xmlns:a16="http://schemas.microsoft.com/office/drawing/2014/main" id="{B762F258-0BC3-D3A2-573F-F24E1251031D}"/>
                </a:ext>
              </a:extLst>
            </p:cNvPr>
            <p:cNvSpPr txBox="1"/>
            <p:nvPr/>
          </p:nvSpPr>
          <p:spPr>
            <a:xfrm>
              <a:off x="8173720" y="2992755"/>
              <a:ext cx="96139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r>
                <a:rPr lang="en-US" sz="1100">
                  <a:effectLst/>
                  <a:ea typeface="Calibri" panose="020F0502020204030204" pitchFamily="34" charset="0"/>
                  <a:cs typeface="Times New Roman" panose="02020603050405020304" pitchFamily="18" charset="0"/>
                </a:rPr>
                <a:t>4.1 to 4.3</a:t>
              </a:r>
            </a:p>
          </p:txBody>
        </p:sp>
        <p:sp>
          <p:nvSpPr>
            <p:cNvPr id="26" name="Rectangle 25">
              <a:extLst>
                <a:ext uri="{FF2B5EF4-FFF2-40B4-BE49-F238E27FC236}">
                  <a16:creationId xmlns:a16="http://schemas.microsoft.com/office/drawing/2014/main" id="{CDCB5D60-F895-712F-C4C6-DDDCF9D00227}"/>
                </a:ext>
              </a:extLst>
            </p:cNvPr>
            <p:cNvSpPr/>
            <p:nvPr/>
          </p:nvSpPr>
          <p:spPr>
            <a:xfrm>
              <a:off x="7876540" y="2090420"/>
              <a:ext cx="675005" cy="21717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cxnSp>
          <p:nvCxnSpPr>
            <p:cNvPr id="27" name="Straight Arrow Connector 26">
              <a:extLst>
                <a:ext uri="{FF2B5EF4-FFF2-40B4-BE49-F238E27FC236}">
                  <a16:creationId xmlns:a16="http://schemas.microsoft.com/office/drawing/2014/main" id="{34B2D17C-2A65-D108-AFB2-2C012912768A}"/>
                </a:ext>
              </a:extLst>
            </p:cNvPr>
            <p:cNvCxnSpPr/>
            <p:nvPr/>
          </p:nvCxnSpPr>
          <p:spPr>
            <a:xfrm>
              <a:off x="8528685" y="2099945"/>
              <a:ext cx="193040" cy="76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8" name="Text Box 704">
              <a:extLst>
                <a:ext uri="{FF2B5EF4-FFF2-40B4-BE49-F238E27FC236}">
                  <a16:creationId xmlns:a16="http://schemas.microsoft.com/office/drawing/2014/main" id="{80C1AB9C-F682-6FF6-A30C-9EE45781A879}"/>
                </a:ext>
              </a:extLst>
            </p:cNvPr>
            <p:cNvSpPr txBox="1"/>
            <p:nvPr/>
          </p:nvSpPr>
          <p:spPr>
            <a:xfrm>
              <a:off x="8731250" y="1983105"/>
              <a:ext cx="47498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r>
                <a:rPr lang="en-US" sz="1100">
                  <a:effectLst/>
                  <a:ea typeface="Calibri" panose="020F0502020204030204" pitchFamily="34" charset="0"/>
                  <a:cs typeface="Times New Roman" panose="02020603050405020304" pitchFamily="18" charset="0"/>
                </a:rPr>
                <a:t>4.4</a:t>
              </a:r>
            </a:p>
          </p:txBody>
        </p:sp>
        <p:sp>
          <p:nvSpPr>
            <p:cNvPr id="29" name="Rectangle 28">
              <a:extLst>
                <a:ext uri="{FF2B5EF4-FFF2-40B4-BE49-F238E27FC236}">
                  <a16:creationId xmlns:a16="http://schemas.microsoft.com/office/drawing/2014/main" id="{1AB82B0F-FBC2-7866-326E-ABB11C264D0C}"/>
                </a:ext>
              </a:extLst>
            </p:cNvPr>
            <p:cNvSpPr/>
            <p:nvPr/>
          </p:nvSpPr>
          <p:spPr>
            <a:xfrm>
              <a:off x="6409055" y="3374390"/>
              <a:ext cx="675005" cy="21717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cxnSp>
          <p:nvCxnSpPr>
            <p:cNvPr id="30" name="Straight Arrow Connector 29">
              <a:extLst>
                <a:ext uri="{FF2B5EF4-FFF2-40B4-BE49-F238E27FC236}">
                  <a16:creationId xmlns:a16="http://schemas.microsoft.com/office/drawing/2014/main" id="{C8DEB4F1-8413-F325-42F3-00A0E0DD4092}"/>
                </a:ext>
              </a:extLst>
            </p:cNvPr>
            <p:cNvCxnSpPr/>
            <p:nvPr/>
          </p:nvCxnSpPr>
          <p:spPr>
            <a:xfrm>
              <a:off x="7061200" y="3437890"/>
              <a:ext cx="193040" cy="76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1" name="Text Box 712">
              <a:extLst>
                <a:ext uri="{FF2B5EF4-FFF2-40B4-BE49-F238E27FC236}">
                  <a16:creationId xmlns:a16="http://schemas.microsoft.com/office/drawing/2014/main" id="{E4F57EF8-8AB1-B5DE-C74A-F6C94096F674}"/>
                </a:ext>
              </a:extLst>
            </p:cNvPr>
            <p:cNvSpPr txBox="1"/>
            <p:nvPr/>
          </p:nvSpPr>
          <p:spPr>
            <a:xfrm>
              <a:off x="7263765" y="3267075"/>
              <a:ext cx="47498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r>
                <a:rPr lang="en-US" sz="1100">
                  <a:effectLst/>
                  <a:ea typeface="Calibri" panose="020F0502020204030204" pitchFamily="34" charset="0"/>
                  <a:cs typeface="Times New Roman" panose="02020603050405020304" pitchFamily="18" charset="0"/>
                </a:rPr>
                <a:t>5.1</a:t>
              </a:r>
            </a:p>
          </p:txBody>
        </p:sp>
      </p:grpSp>
      <p:sp>
        <p:nvSpPr>
          <p:cNvPr id="33" name="Text Box 18">
            <a:extLst>
              <a:ext uri="{FF2B5EF4-FFF2-40B4-BE49-F238E27FC236}">
                <a16:creationId xmlns:a16="http://schemas.microsoft.com/office/drawing/2014/main" id="{E2EDBF23-A848-507E-DB3A-41520180B9FE}"/>
              </a:ext>
            </a:extLst>
          </p:cNvPr>
          <p:cNvSpPr txBox="1"/>
          <p:nvPr/>
        </p:nvSpPr>
        <p:spPr>
          <a:xfrm>
            <a:off x="383764" y="1688465"/>
            <a:ext cx="4179346" cy="3988435"/>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228600" marR="0">
              <a:lnSpc>
                <a:spcPct val="115000"/>
              </a:lnSpc>
              <a:spcBef>
                <a:spcPts val="0"/>
              </a:spcBef>
              <a:spcAft>
                <a:spcPts val="0"/>
              </a:spcAft>
            </a:pPr>
            <a:r>
              <a:rPr lang="en-US" sz="1200"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 </a:t>
            </a:r>
            <a:r>
              <a:rPr lang="en-PH" sz="1200" b="1"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4.1</a:t>
            </a:r>
            <a:r>
              <a:rPr lang="en-PH" sz="1200" dirty="0">
                <a:effectLst/>
                <a:latin typeface="Chivo Light" panose="020B0303030202020804" pitchFamily="34" charset="0"/>
                <a:ea typeface="Times New Roman" panose="02020603050405020304" pitchFamily="18" charset="0"/>
                <a:cs typeface="Times New Roman" panose="02020603050405020304" pitchFamily="18" charset="0"/>
              </a:rPr>
              <a:t>. After </a:t>
            </a:r>
            <a:r>
              <a:rPr lang="en-US" sz="1200" dirty="0">
                <a:effectLst/>
                <a:latin typeface="Chivo Light" panose="020B0303030202020804" pitchFamily="34" charset="0"/>
                <a:ea typeface="Times New Roman" panose="02020603050405020304" pitchFamily="18" charset="0"/>
                <a:cs typeface="Times New Roman" panose="02020603050405020304" pitchFamily="18" charset="0"/>
              </a:rPr>
              <a:t> you select the customer, some details such as address, terms are automatically plotted in their respective field. If you wish to change the term, click the lookup button and select its respective term.</a:t>
            </a:r>
          </a:p>
          <a:p>
            <a:pPr marL="228600" marR="0">
              <a:lnSpc>
                <a:spcPct val="115000"/>
              </a:lnSpc>
              <a:spcBef>
                <a:spcPts val="0"/>
              </a:spcBef>
              <a:spcAft>
                <a:spcPts val="0"/>
              </a:spcAft>
            </a:pPr>
            <a:endParaRPr lang="en-US"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L="228600" marR="0">
              <a:lnSpc>
                <a:spcPct val="115000"/>
              </a:lnSpc>
              <a:spcBef>
                <a:spcPts val="0"/>
              </a:spcBef>
              <a:spcAft>
                <a:spcPts val="0"/>
              </a:spcAft>
            </a:pPr>
            <a:r>
              <a:rPr lang="en-US" sz="1200" b="1"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4.2. </a:t>
            </a:r>
            <a:r>
              <a:rPr lang="en-US" sz="1200" dirty="0">
                <a:effectLst/>
                <a:latin typeface="Chivo Light" panose="020B0303030202020804" pitchFamily="34" charset="0"/>
                <a:ea typeface="Times New Roman" panose="02020603050405020304" pitchFamily="18" charset="0"/>
                <a:cs typeface="Times New Roman" panose="02020603050405020304" pitchFamily="18" charset="0"/>
              </a:rPr>
              <a:t>In header, current date and default warehouse is also plotted automatically but if you wish to change the date – click the date picker and select its respective return date. And if you want to change the warehouse, click the lookup button and select its respective warehouse.</a:t>
            </a:r>
          </a:p>
          <a:p>
            <a:pPr marL="228600" marR="0">
              <a:lnSpc>
                <a:spcPct val="115000"/>
              </a:lnSpc>
              <a:spcBef>
                <a:spcPts val="0"/>
              </a:spcBef>
              <a:spcAft>
                <a:spcPts val="0"/>
              </a:spcAft>
            </a:pPr>
            <a:endParaRPr lang="en-US"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L="228600" marR="0">
              <a:lnSpc>
                <a:spcPct val="115000"/>
              </a:lnSpc>
              <a:spcBef>
                <a:spcPts val="0"/>
              </a:spcBef>
              <a:spcAft>
                <a:spcPts val="0"/>
              </a:spcAft>
            </a:pPr>
            <a:r>
              <a:rPr lang="en-US" sz="1200" b="1"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4.3. </a:t>
            </a:r>
            <a:r>
              <a:rPr lang="en-US" sz="1200" dirty="0">
                <a:effectLst/>
                <a:latin typeface="Chivo Light" panose="020B0303030202020804" pitchFamily="34" charset="0"/>
                <a:ea typeface="Times New Roman" panose="02020603050405020304" pitchFamily="18" charset="0"/>
                <a:cs typeface="Times New Roman" panose="02020603050405020304" pitchFamily="18" charset="0"/>
              </a:rPr>
              <a:t>In header, add the necessary information if necessary. </a:t>
            </a:r>
          </a:p>
          <a:p>
            <a:pPr marL="228600" marR="0">
              <a:lnSpc>
                <a:spcPct val="115000"/>
              </a:lnSpc>
              <a:spcBef>
                <a:spcPts val="0"/>
              </a:spcBef>
              <a:spcAft>
                <a:spcPts val="0"/>
              </a:spcAft>
            </a:pPr>
            <a:endParaRPr lang="en-US"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L="228600" marR="0">
              <a:lnSpc>
                <a:spcPct val="115000"/>
              </a:lnSpc>
              <a:spcBef>
                <a:spcPts val="0"/>
              </a:spcBef>
              <a:spcAft>
                <a:spcPts val="0"/>
              </a:spcAft>
            </a:pPr>
            <a:r>
              <a:rPr lang="en-US" sz="1200" b="1"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4.4. </a:t>
            </a:r>
            <a:r>
              <a:rPr lang="en-US" sz="1200" dirty="0">
                <a:effectLst/>
                <a:latin typeface="Chivo Light" panose="020B0303030202020804" pitchFamily="34" charset="0"/>
                <a:ea typeface="Times New Roman" panose="02020603050405020304" pitchFamily="18" charset="0"/>
                <a:cs typeface="Times New Roman" panose="02020603050405020304" pitchFamily="18" charset="0"/>
              </a:rPr>
              <a:t>If done in header, click save button.</a:t>
            </a:r>
          </a:p>
          <a:p>
            <a:pPr marL="228600" marR="0">
              <a:lnSpc>
                <a:spcPct val="115000"/>
              </a:lnSpc>
              <a:spcBef>
                <a:spcPts val="0"/>
              </a:spcBef>
              <a:spcAft>
                <a:spcPts val="0"/>
              </a:spcAft>
            </a:pPr>
            <a:r>
              <a:rPr lang="en-PH" sz="1200" dirty="0">
                <a:effectLst/>
                <a:latin typeface="Chivo Light" panose="020B0303030202020804" pitchFamily="34" charset="0"/>
                <a:ea typeface="Times New Roman" panose="02020603050405020304" pitchFamily="18" charset="0"/>
                <a:cs typeface="Times New Roman" panose="02020603050405020304" pitchFamily="18" charset="0"/>
              </a:rPr>
              <a:t> </a:t>
            </a:r>
          </a:p>
          <a:p>
            <a:pPr marL="228600" marR="0">
              <a:lnSpc>
                <a:spcPct val="115000"/>
              </a:lnSpc>
              <a:spcBef>
                <a:spcPts val="0"/>
              </a:spcBef>
              <a:spcAft>
                <a:spcPts val="0"/>
              </a:spcAft>
            </a:pPr>
            <a:endParaRPr lang="en-US"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L="228600" marR="0">
              <a:lnSpc>
                <a:spcPct val="115000"/>
              </a:lnSpc>
              <a:spcBef>
                <a:spcPts val="0"/>
              </a:spcBef>
              <a:spcAft>
                <a:spcPts val="0"/>
              </a:spcAft>
            </a:pPr>
            <a:endParaRPr lang="en-US"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L="228600" marR="0">
              <a:lnSpc>
                <a:spcPct val="115000"/>
              </a:lnSpc>
              <a:spcBef>
                <a:spcPts val="0"/>
              </a:spcBef>
              <a:spcAft>
                <a:spcPts val="0"/>
              </a:spcAft>
            </a:pPr>
            <a:endParaRPr lang="en-US"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L="228600" marR="0">
              <a:lnSpc>
                <a:spcPct val="115000"/>
              </a:lnSpc>
              <a:spcBef>
                <a:spcPts val="0"/>
              </a:spcBef>
              <a:spcAft>
                <a:spcPts val="0"/>
              </a:spcAft>
            </a:pPr>
            <a:endParaRPr lang="en-US" sz="1200" dirty="0">
              <a:solidFill>
                <a:schemeClr val="tx1">
                  <a:lumMod val="85000"/>
                  <a:lumOff val="15000"/>
                </a:schemeClr>
              </a:solidFill>
              <a:latin typeface="Chivo Light" panose="020B03030302020208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PH" sz="1300" cap="all" dirty="0">
                <a:solidFill>
                  <a:srgbClr val="4472C4"/>
                </a:solidFill>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7" name="Slide Number Placeholder 6">
            <a:extLst>
              <a:ext uri="{FF2B5EF4-FFF2-40B4-BE49-F238E27FC236}">
                <a16:creationId xmlns:a16="http://schemas.microsoft.com/office/drawing/2014/main" id="{FCA4707E-F014-328E-3F1E-9AE560F10222}"/>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600" b="0" i="0" u="none" strike="noStrike" kern="1200" cap="none" spc="0" normalizeH="0" baseline="0" noProof="0">
              <a:ln>
                <a:noFill/>
              </a:ln>
              <a:solidFill>
                <a:srgbClr val="00863D"/>
              </a:solidFill>
              <a:effectLst/>
              <a:uLnTx/>
              <a:uFillTx/>
              <a:latin typeface="Animosa Extra Bold" panose="00000900000000000000" pitchFamily="50" charset="0"/>
              <a:ea typeface="+mn-ea"/>
              <a:cs typeface="+mn-cs"/>
            </a:endParaRPr>
          </a:p>
          <a:p>
            <a:endParaRPr lang="en-US" dirty="0"/>
          </a:p>
        </p:txBody>
      </p:sp>
    </p:spTree>
    <p:extLst>
      <p:ext uri="{BB962C8B-B14F-4D97-AF65-F5344CB8AC3E}">
        <p14:creationId xmlns:p14="http://schemas.microsoft.com/office/powerpoint/2010/main" val="34600919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extBox 22">
            <a:extLst>
              <a:ext uri="{FF2B5EF4-FFF2-40B4-BE49-F238E27FC236}">
                <a16:creationId xmlns:a16="http://schemas.microsoft.com/office/drawing/2014/main" id="{2384804B-EE2E-A346-8D83-E2034F24A0DC}"/>
              </a:ext>
            </a:extLst>
          </p:cNvPr>
          <p:cNvSpPr txBox="1"/>
          <p:nvPr/>
        </p:nvSpPr>
        <p:spPr>
          <a:xfrm>
            <a:off x="1522069" y="642052"/>
            <a:ext cx="3852819" cy="337392"/>
          </a:xfrm>
          <a:prstGeom prst="rect">
            <a:avLst/>
          </a:prstGeom>
          <a:solidFill>
            <a:srgbClr val="00B050"/>
          </a:solidFill>
          <a:effectLst/>
        </p:spPr>
        <p:txBody>
          <a:bodyPr wrap="square" rtlCol="0">
            <a:spAutoFit/>
          </a:bodyPr>
          <a:lstStyle/>
          <a:p>
            <a:pPr algn="ctr"/>
            <a:r>
              <a:rPr lang="en-US" sz="1600" dirty="0">
                <a:solidFill>
                  <a:schemeClr val="bg1"/>
                </a:solidFill>
                <a:latin typeface="+mj-lt"/>
              </a:rPr>
              <a:t>How To Create Sales Return Transaction?</a:t>
            </a:r>
            <a:endParaRPr lang="en-US" sz="2000" dirty="0">
              <a:solidFill>
                <a:srgbClr val="007434"/>
              </a:solidFill>
              <a:latin typeface="+mj-lt"/>
            </a:endParaRPr>
          </a:p>
        </p:txBody>
      </p:sp>
      <p:sp>
        <p:nvSpPr>
          <p:cNvPr id="3" name="Text Box 6">
            <a:extLst>
              <a:ext uri="{FF2B5EF4-FFF2-40B4-BE49-F238E27FC236}">
                <a16:creationId xmlns:a16="http://schemas.microsoft.com/office/drawing/2014/main" id="{388AC9D8-E4B5-58A0-4094-8A9CB20669C4}"/>
              </a:ext>
            </a:extLst>
          </p:cNvPr>
          <p:cNvSpPr txBox="1"/>
          <p:nvPr/>
        </p:nvSpPr>
        <p:spPr>
          <a:xfrm>
            <a:off x="0" y="-11307"/>
            <a:ext cx="5374888"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endParaRPr lang="en-US" sz="1400" dirty="0">
              <a:solidFill>
                <a:srgbClr val="007434"/>
              </a:solidFill>
              <a:effectLst/>
              <a:ea typeface="Open Sans" panose="020B0606030504020204" pitchFamily="34" charset="0"/>
              <a:cs typeface="Times New Roman" panose="02020603050405020304" pitchFamily="18" charset="0"/>
            </a:endParaRPr>
          </a:p>
        </p:txBody>
      </p:sp>
      <p:sp>
        <p:nvSpPr>
          <p:cNvPr id="2" name="TextBox 1">
            <a:extLst>
              <a:ext uri="{FF2B5EF4-FFF2-40B4-BE49-F238E27FC236}">
                <a16:creationId xmlns:a16="http://schemas.microsoft.com/office/drawing/2014/main" id="{09B8998E-F87B-8644-765B-F34F79480AA9}"/>
              </a:ext>
            </a:extLst>
          </p:cNvPr>
          <p:cNvSpPr txBox="1"/>
          <p:nvPr/>
        </p:nvSpPr>
        <p:spPr>
          <a:xfrm>
            <a:off x="585809" y="123167"/>
            <a:ext cx="4824617"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r>
              <a:rPr lang="en-US" sz="2000" dirty="0">
                <a:solidFill>
                  <a:schemeClr val="accent6">
                    <a:lumMod val="20000"/>
                    <a:lumOff val="80000"/>
                  </a:schemeClr>
                </a:solidFill>
                <a:latin typeface="+mj-lt"/>
              </a:rPr>
              <a:t>Sales/ Sales Return </a:t>
            </a:r>
            <a:r>
              <a:rPr lang="en-US" sz="1900" dirty="0">
                <a:solidFill>
                  <a:schemeClr val="accent6">
                    <a:lumMod val="20000"/>
                    <a:lumOff val="80000"/>
                  </a:schemeClr>
                </a:solidFill>
                <a:latin typeface="+mj-lt"/>
              </a:rPr>
              <a:t>- Module</a:t>
            </a:r>
          </a:p>
          <a:p>
            <a:endParaRPr lang="en-US" sz="2000" dirty="0">
              <a:solidFill>
                <a:srgbClr val="007434"/>
              </a:solidFill>
              <a:latin typeface="+mj-lt"/>
            </a:endParaRPr>
          </a:p>
        </p:txBody>
      </p:sp>
      <p:sp>
        <p:nvSpPr>
          <p:cNvPr id="33" name="Text Box 18">
            <a:extLst>
              <a:ext uri="{FF2B5EF4-FFF2-40B4-BE49-F238E27FC236}">
                <a16:creationId xmlns:a16="http://schemas.microsoft.com/office/drawing/2014/main" id="{E2EDBF23-A848-507E-DB3A-41520180B9FE}"/>
              </a:ext>
            </a:extLst>
          </p:cNvPr>
          <p:cNvSpPr txBox="1"/>
          <p:nvPr/>
        </p:nvSpPr>
        <p:spPr>
          <a:xfrm>
            <a:off x="383764" y="1688465"/>
            <a:ext cx="4179346" cy="3988435"/>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228600" marR="0">
              <a:lnSpc>
                <a:spcPct val="115000"/>
              </a:lnSpc>
              <a:spcBef>
                <a:spcPts val="0"/>
              </a:spcBef>
              <a:spcAft>
                <a:spcPts val="0"/>
              </a:spcAft>
            </a:pPr>
            <a:r>
              <a:rPr lang="en-US" sz="1200"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 </a:t>
            </a:r>
            <a:r>
              <a:rPr lang="en-US" sz="1200" b="1"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5</a:t>
            </a:r>
            <a:r>
              <a:rPr lang="en-PH" sz="1200" b="1"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.1</a:t>
            </a:r>
            <a:r>
              <a:rPr lang="en-PH" sz="1200" dirty="0">
                <a:effectLst/>
                <a:latin typeface="Chivo Light" panose="020B0303030202020804" pitchFamily="34" charset="0"/>
                <a:ea typeface="Times New Roman" panose="02020603050405020304" pitchFamily="18" charset="0"/>
                <a:cs typeface="Times New Roman" panose="02020603050405020304" pitchFamily="18" charset="0"/>
              </a:rPr>
              <a:t>.  </a:t>
            </a:r>
            <a:r>
              <a:rPr lang="en-US" sz="1200" dirty="0">
                <a:effectLst/>
                <a:latin typeface="Chivo Light" panose="020B0303030202020804" pitchFamily="34" charset="0"/>
                <a:ea typeface="Times New Roman" panose="02020603050405020304" pitchFamily="18" charset="0"/>
                <a:cs typeface="Times New Roman" panose="02020603050405020304" pitchFamily="18" charset="0"/>
              </a:rPr>
              <a:t>After saving the header, you may now select the returned items of customer from Sales Journal and select the items returned by clicking SJ button</a:t>
            </a:r>
          </a:p>
          <a:p>
            <a:pPr marL="228600" marR="0">
              <a:lnSpc>
                <a:spcPct val="115000"/>
              </a:lnSpc>
              <a:spcBef>
                <a:spcPts val="0"/>
              </a:spcBef>
              <a:spcAft>
                <a:spcPts val="0"/>
              </a:spcAft>
            </a:pPr>
            <a:endParaRPr lang="en-US"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L="228600" marR="0">
              <a:lnSpc>
                <a:spcPct val="115000"/>
              </a:lnSpc>
              <a:spcBef>
                <a:spcPts val="0"/>
              </a:spcBef>
              <a:spcAft>
                <a:spcPts val="0"/>
              </a:spcAft>
            </a:pPr>
            <a:r>
              <a:rPr lang="en-US" sz="1200" b="1"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5.2.1.  </a:t>
            </a:r>
            <a:r>
              <a:rPr lang="en-US" sz="1200" dirty="0">
                <a:effectLst/>
                <a:latin typeface="Chivo Light" panose="020B0303030202020804" pitchFamily="34" charset="0"/>
                <a:ea typeface="Times New Roman" panose="02020603050405020304" pitchFamily="18" charset="0"/>
                <a:cs typeface="Times New Roman" panose="02020603050405020304" pitchFamily="18" charset="0"/>
              </a:rPr>
              <a:t>After you click the SJ button, a dialog box of all sales journal transactions of the customer will be displayed. Search the document number and select the delivered items, returned by customer by ticking the check box. You may select multiple sales journal transactions in one sales return transaction.</a:t>
            </a:r>
          </a:p>
          <a:p>
            <a:pPr marL="228600" marR="0">
              <a:lnSpc>
                <a:spcPct val="115000"/>
              </a:lnSpc>
              <a:spcBef>
                <a:spcPts val="0"/>
              </a:spcBef>
              <a:spcAft>
                <a:spcPts val="0"/>
              </a:spcAft>
            </a:pPr>
            <a:endParaRPr lang="en-US"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L="228600" marR="0">
              <a:lnSpc>
                <a:spcPct val="115000"/>
              </a:lnSpc>
              <a:spcBef>
                <a:spcPts val="0"/>
              </a:spcBef>
              <a:spcAft>
                <a:spcPts val="0"/>
              </a:spcAft>
            </a:pPr>
            <a:r>
              <a:rPr lang="en-US" sz="1200" b="1"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5.2.2.   </a:t>
            </a:r>
            <a:r>
              <a:rPr lang="en-US" sz="1200" dirty="0">
                <a:effectLst/>
                <a:latin typeface="Chivo Light" panose="020B0303030202020804" pitchFamily="34" charset="0"/>
                <a:ea typeface="Times New Roman" panose="02020603050405020304" pitchFamily="18" charset="0"/>
                <a:cs typeface="Times New Roman" panose="02020603050405020304" pitchFamily="18" charset="0"/>
              </a:rPr>
              <a:t>Click show details button, to itemize the sales journal transaction. </a:t>
            </a:r>
          </a:p>
          <a:p>
            <a:pPr marL="228600" marR="0">
              <a:lnSpc>
                <a:spcPct val="115000"/>
              </a:lnSpc>
              <a:spcBef>
                <a:spcPts val="0"/>
              </a:spcBef>
              <a:spcAft>
                <a:spcPts val="0"/>
              </a:spcAft>
            </a:pPr>
            <a:endParaRPr lang="en-US"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L="228600" marR="0">
              <a:lnSpc>
                <a:spcPct val="115000"/>
              </a:lnSpc>
              <a:spcBef>
                <a:spcPts val="0"/>
              </a:spcBef>
              <a:spcAft>
                <a:spcPts val="0"/>
              </a:spcAft>
            </a:pPr>
            <a:endParaRPr lang="en-US"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L="228600" marR="0">
              <a:lnSpc>
                <a:spcPct val="115000"/>
              </a:lnSpc>
              <a:spcBef>
                <a:spcPts val="0"/>
              </a:spcBef>
              <a:spcAft>
                <a:spcPts val="0"/>
              </a:spcAft>
            </a:pPr>
            <a:r>
              <a:rPr lang="en-US" sz="1200" b="1"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5.2.2.</a:t>
            </a:r>
            <a:r>
              <a:rPr lang="en-US" sz="1200" dirty="0">
                <a:effectLst/>
                <a:latin typeface="Chivo Light" panose="020B0303030202020804" pitchFamily="34" charset="0"/>
                <a:ea typeface="Times New Roman" panose="02020603050405020304" pitchFamily="18" charset="0"/>
                <a:cs typeface="Times New Roman" panose="02020603050405020304" pitchFamily="18" charset="0"/>
              </a:rPr>
              <a:t> When you click the show detail button, SJ transactions will be detailed as shown below.</a:t>
            </a:r>
          </a:p>
          <a:p>
            <a:pPr marL="228600" marR="0">
              <a:lnSpc>
                <a:spcPct val="115000"/>
              </a:lnSpc>
              <a:spcBef>
                <a:spcPts val="0"/>
              </a:spcBef>
              <a:spcAft>
                <a:spcPts val="0"/>
              </a:spcAft>
            </a:pPr>
            <a:endParaRPr lang="en-US"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L="228600" marR="0">
              <a:lnSpc>
                <a:spcPct val="115000"/>
              </a:lnSpc>
              <a:spcBef>
                <a:spcPts val="0"/>
              </a:spcBef>
              <a:spcAft>
                <a:spcPts val="0"/>
              </a:spcAft>
            </a:pPr>
            <a:endParaRPr lang="en-US"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L="228600" marR="0">
              <a:lnSpc>
                <a:spcPct val="115000"/>
              </a:lnSpc>
              <a:spcBef>
                <a:spcPts val="0"/>
              </a:spcBef>
              <a:spcAft>
                <a:spcPts val="0"/>
              </a:spcAft>
            </a:pPr>
            <a:r>
              <a:rPr lang="en-PH" sz="1200" dirty="0">
                <a:effectLst/>
                <a:latin typeface="Chivo Light" panose="020B0303030202020804" pitchFamily="34" charset="0"/>
                <a:ea typeface="Times New Roman" panose="02020603050405020304" pitchFamily="18" charset="0"/>
                <a:cs typeface="Times New Roman" panose="02020603050405020304" pitchFamily="18" charset="0"/>
              </a:rPr>
              <a:t> </a:t>
            </a:r>
          </a:p>
          <a:p>
            <a:pPr marL="228600" marR="0">
              <a:lnSpc>
                <a:spcPct val="115000"/>
              </a:lnSpc>
              <a:spcBef>
                <a:spcPts val="0"/>
              </a:spcBef>
              <a:spcAft>
                <a:spcPts val="0"/>
              </a:spcAft>
            </a:pPr>
            <a:endParaRPr lang="en-US"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L="228600" marR="0">
              <a:lnSpc>
                <a:spcPct val="115000"/>
              </a:lnSpc>
              <a:spcBef>
                <a:spcPts val="0"/>
              </a:spcBef>
              <a:spcAft>
                <a:spcPts val="0"/>
              </a:spcAft>
            </a:pPr>
            <a:endParaRPr lang="en-US"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L="228600" marR="0">
              <a:lnSpc>
                <a:spcPct val="115000"/>
              </a:lnSpc>
              <a:spcBef>
                <a:spcPts val="0"/>
              </a:spcBef>
              <a:spcAft>
                <a:spcPts val="0"/>
              </a:spcAft>
            </a:pPr>
            <a:endParaRPr lang="en-US"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L="228600" marR="0">
              <a:lnSpc>
                <a:spcPct val="115000"/>
              </a:lnSpc>
              <a:spcBef>
                <a:spcPts val="0"/>
              </a:spcBef>
              <a:spcAft>
                <a:spcPts val="0"/>
              </a:spcAft>
            </a:pPr>
            <a:endParaRPr lang="en-US" sz="1200" dirty="0">
              <a:solidFill>
                <a:schemeClr val="tx1">
                  <a:lumMod val="85000"/>
                  <a:lumOff val="15000"/>
                </a:schemeClr>
              </a:solidFill>
              <a:latin typeface="Chivo Light" panose="020B03030302020208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PH" sz="1300" cap="all" dirty="0">
                <a:solidFill>
                  <a:srgbClr val="4472C4"/>
                </a:solidFill>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66" name="Picture 65">
            <a:extLst>
              <a:ext uri="{FF2B5EF4-FFF2-40B4-BE49-F238E27FC236}">
                <a16:creationId xmlns:a16="http://schemas.microsoft.com/office/drawing/2014/main" id="{7E72D395-522A-4CCE-EC7E-9616D150F011}"/>
              </a:ext>
            </a:extLst>
          </p:cNvPr>
          <p:cNvPicPr>
            <a:picLocks noChangeAspect="1"/>
          </p:cNvPicPr>
          <p:nvPr/>
        </p:nvPicPr>
        <p:blipFill rotWithShape="1">
          <a:blip r:embed="rId2"/>
          <a:srcRect t="74025"/>
          <a:stretch/>
        </p:blipFill>
        <p:spPr>
          <a:xfrm>
            <a:off x="5625836" y="2555071"/>
            <a:ext cx="6322100" cy="1075251"/>
          </a:xfrm>
          <a:prstGeom prst="rect">
            <a:avLst/>
          </a:prstGeom>
        </p:spPr>
      </p:pic>
      <p:grpSp>
        <p:nvGrpSpPr>
          <p:cNvPr id="73" name="Group 72">
            <a:extLst>
              <a:ext uri="{FF2B5EF4-FFF2-40B4-BE49-F238E27FC236}">
                <a16:creationId xmlns:a16="http://schemas.microsoft.com/office/drawing/2014/main" id="{4AFB35EF-33AD-0A4C-C43A-070824DCF6AC}"/>
              </a:ext>
            </a:extLst>
          </p:cNvPr>
          <p:cNvGrpSpPr/>
          <p:nvPr/>
        </p:nvGrpSpPr>
        <p:grpSpPr>
          <a:xfrm>
            <a:off x="5410426" y="4758054"/>
            <a:ext cx="995045" cy="876300"/>
            <a:chOff x="5598477" y="2990850"/>
            <a:chExt cx="995045" cy="876300"/>
          </a:xfrm>
        </p:grpSpPr>
        <p:sp>
          <p:nvSpPr>
            <p:cNvPr id="70" name="Rectangle 69">
              <a:extLst>
                <a:ext uri="{FF2B5EF4-FFF2-40B4-BE49-F238E27FC236}">
                  <a16:creationId xmlns:a16="http://schemas.microsoft.com/office/drawing/2014/main" id="{2425F947-5371-A984-E8E5-84FA499BCB20}"/>
                </a:ext>
              </a:extLst>
            </p:cNvPr>
            <p:cNvSpPr/>
            <p:nvPr/>
          </p:nvSpPr>
          <p:spPr>
            <a:xfrm>
              <a:off x="5598477" y="3000375"/>
              <a:ext cx="367030" cy="866775"/>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cxnSp>
          <p:nvCxnSpPr>
            <p:cNvPr id="71" name="Straight Arrow Connector 70">
              <a:extLst>
                <a:ext uri="{FF2B5EF4-FFF2-40B4-BE49-F238E27FC236}">
                  <a16:creationId xmlns:a16="http://schemas.microsoft.com/office/drawing/2014/main" id="{C3A70629-1C7B-42C5-AC3F-BF1DBE464950}"/>
                </a:ext>
              </a:extLst>
            </p:cNvPr>
            <p:cNvCxnSpPr/>
            <p:nvPr/>
          </p:nvCxnSpPr>
          <p:spPr>
            <a:xfrm>
              <a:off x="5922962" y="3344545"/>
              <a:ext cx="193040" cy="76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72" name="Text Box 771">
              <a:extLst>
                <a:ext uri="{FF2B5EF4-FFF2-40B4-BE49-F238E27FC236}">
                  <a16:creationId xmlns:a16="http://schemas.microsoft.com/office/drawing/2014/main" id="{B0E0C4E9-94B4-8F34-880E-373D91E6D48F}"/>
                </a:ext>
              </a:extLst>
            </p:cNvPr>
            <p:cNvSpPr txBox="1"/>
            <p:nvPr/>
          </p:nvSpPr>
          <p:spPr>
            <a:xfrm>
              <a:off x="6098222" y="2990850"/>
              <a:ext cx="495300" cy="428625"/>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r>
                <a:rPr lang="en-US" sz="1100" dirty="0">
                  <a:effectLst/>
                  <a:ea typeface="Calibri" panose="020F0502020204030204" pitchFamily="34" charset="0"/>
                  <a:cs typeface="Times New Roman" panose="02020603050405020304" pitchFamily="18" charset="0"/>
                </a:rPr>
                <a:t>5.2.1</a:t>
              </a:r>
            </a:p>
          </p:txBody>
        </p:sp>
      </p:grpSp>
      <p:sp>
        <p:nvSpPr>
          <p:cNvPr id="5" name="Slide Number Placeholder 4">
            <a:extLst>
              <a:ext uri="{FF2B5EF4-FFF2-40B4-BE49-F238E27FC236}">
                <a16:creationId xmlns:a16="http://schemas.microsoft.com/office/drawing/2014/main" id="{DED56F43-D408-8E75-3123-26D05C4BDBD2}"/>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600" b="0" i="0" u="none" strike="noStrike" kern="1200" cap="none" spc="0" normalizeH="0" baseline="0" noProof="0">
              <a:ln>
                <a:noFill/>
              </a:ln>
              <a:solidFill>
                <a:srgbClr val="00863D"/>
              </a:solidFill>
              <a:effectLst/>
              <a:uLnTx/>
              <a:uFillTx/>
              <a:latin typeface="Animosa Extra Bold" panose="00000900000000000000" pitchFamily="50" charset="0"/>
              <a:ea typeface="+mn-ea"/>
              <a:cs typeface="+mn-cs"/>
            </a:endParaRPr>
          </a:p>
          <a:p>
            <a:endParaRPr lang="en-US" dirty="0"/>
          </a:p>
        </p:txBody>
      </p:sp>
      <p:grpSp>
        <p:nvGrpSpPr>
          <p:cNvPr id="14" name="Group 13">
            <a:extLst>
              <a:ext uri="{FF2B5EF4-FFF2-40B4-BE49-F238E27FC236}">
                <a16:creationId xmlns:a16="http://schemas.microsoft.com/office/drawing/2014/main" id="{C5DA8592-CCAE-1107-5E93-215C39F00A04}"/>
              </a:ext>
            </a:extLst>
          </p:cNvPr>
          <p:cNvGrpSpPr/>
          <p:nvPr/>
        </p:nvGrpSpPr>
        <p:grpSpPr>
          <a:xfrm>
            <a:off x="5625836" y="259256"/>
            <a:ext cx="6452656" cy="2295815"/>
            <a:chOff x="5625836" y="259256"/>
            <a:chExt cx="6452656" cy="2295815"/>
          </a:xfrm>
        </p:grpSpPr>
        <p:pic>
          <p:nvPicPr>
            <p:cNvPr id="67" name="Picture 66">
              <a:extLst>
                <a:ext uri="{FF2B5EF4-FFF2-40B4-BE49-F238E27FC236}">
                  <a16:creationId xmlns:a16="http://schemas.microsoft.com/office/drawing/2014/main" id="{A5672511-1C99-63C1-A727-138F83024DF9}"/>
                </a:ext>
              </a:extLst>
            </p:cNvPr>
            <p:cNvPicPr>
              <a:picLocks noChangeAspect="1"/>
            </p:cNvPicPr>
            <p:nvPr/>
          </p:nvPicPr>
          <p:blipFill rotWithShape="1">
            <a:blip r:embed="rId2"/>
            <a:srcRect b="45662"/>
            <a:stretch/>
          </p:blipFill>
          <p:spPr>
            <a:xfrm>
              <a:off x="5625836" y="259256"/>
              <a:ext cx="6452656" cy="2295815"/>
            </a:xfrm>
            <a:prstGeom prst="rect">
              <a:avLst/>
            </a:prstGeom>
          </p:spPr>
        </p:pic>
        <p:pic>
          <p:nvPicPr>
            <p:cNvPr id="13" name="Picture 12">
              <a:extLst>
                <a:ext uri="{FF2B5EF4-FFF2-40B4-BE49-F238E27FC236}">
                  <a16:creationId xmlns:a16="http://schemas.microsoft.com/office/drawing/2014/main" id="{B8A22CF4-6F74-33C4-97A0-98AA0E63D25B}"/>
                </a:ext>
              </a:extLst>
            </p:cNvPr>
            <p:cNvPicPr>
              <a:picLocks noChangeAspect="1"/>
            </p:cNvPicPr>
            <p:nvPr/>
          </p:nvPicPr>
          <p:blipFill>
            <a:blip r:embed="rId3"/>
            <a:stretch>
              <a:fillRect/>
            </a:stretch>
          </p:blipFill>
          <p:spPr>
            <a:xfrm>
              <a:off x="5644596" y="292812"/>
              <a:ext cx="5928730" cy="278701"/>
            </a:xfrm>
            <a:prstGeom prst="rect">
              <a:avLst/>
            </a:prstGeom>
          </p:spPr>
        </p:pic>
      </p:grpSp>
      <p:grpSp>
        <p:nvGrpSpPr>
          <p:cNvPr id="18" name="Group 17">
            <a:extLst>
              <a:ext uri="{FF2B5EF4-FFF2-40B4-BE49-F238E27FC236}">
                <a16:creationId xmlns:a16="http://schemas.microsoft.com/office/drawing/2014/main" id="{63A55595-AB43-41DB-3393-2D066B2BA499}"/>
              </a:ext>
            </a:extLst>
          </p:cNvPr>
          <p:cNvGrpSpPr/>
          <p:nvPr/>
        </p:nvGrpSpPr>
        <p:grpSpPr>
          <a:xfrm>
            <a:off x="5325427" y="3733482"/>
            <a:ext cx="6189345" cy="2925445"/>
            <a:chOff x="5325427" y="3733482"/>
            <a:chExt cx="6189345" cy="2925445"/>
          </a:xfrm>
        </p:grpSpPr>
        <p:pic>
          <p:nvPicPr>
            <p:cNvPr id="69" name="Picture 68">
              <a:extLst>
                <a:ext uri="{FF2B5EF4-FFF2-40B4-BE49-F238E27FC236}">
                  <a16:creationId xmlns:a16="http://schemas.microsoft.com/office/drawing/2014/main" id="{1F91C441-D11D-0B53-4011-7A455CDD80BC}"/>
                </a:ext>
              </a:extLst>
            </p:cNvPr>
            <p:cNvPicPr>
              <a:picLocks noChangeAspect="1"/>
            </p:cNvPicPr>
            <p:nvPr/>
          </p:nvPicPr>
          <p:blipFill>
            <a:blip r:embed="rId4"/>
            <a:stretch>
              <a:fillRect/>
            </a:stretch>
          </p:blipFill>
          <p:spPr>
            <a:xfrm>
              <a:off x="5325427" y="3733482"/>
              <a:ext cx="6189345" cy="2925445"/>
            </a:xfrm>
            <a:prstGeom prst="rect">
              <a:avLst/>
            </a:prstGeom>
          </p:spPr>
        </p:pic>
        <p:pic>
          <p:nvPicPr>
            <p:cNvPr id="17" name="Picture 16">
              <a:extLst>
                <a:ext uri="{FF2B5EF4-FFF2-40B4-BE49-F238E27FC236}">
                  <a16:creationId xmlns:a16="http://schemas.microsoft.com/office/drawing/2014/main" id="{83308811-B127-16C0-99C0-32E7C73F97C1}"/>
                </a:ext>
              </a:extLst>
            </p:cNvPr>
            <p:cNvPicPr>
              <a:picLocks noChangeAspect="1"/>
            </p:cNvPicPr>
            <p:nvPr/>
          </p:nvPicPr>
          <p:blipFill>
            <a:blip r:embed="rId5"/>
            <a:stretch>
              <a:fillRect/>
            </a:stretch>
          </p:blipFill>
          <p:spPr>
            <a:xfrm>
              <a:off x="5345392" y="3745382"/>
              <a:ext cx="2724818" cy="225814"/>
            </a:xfrm>
            <a:prstGeom prst="rect">
              <a:avLst/>
            </a:prstGeom>
          </p:spPr>
        </p:pic>
      </p:grpSp>
    </p:spTree>
    <p:extLst>
      <p:ext uri="{BB962C8B-B14F-4D97-AF65-F5344CB8AC3E}">
        <p14:creationId xmlns:p14="http://schemas.microsoft.com/office/powerpoint/2010/main" val="2939757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extBox 22">
            <a:extLst>
              <a:ext uri="{FF2B5EF4-FFF2-40B4-BE49-F238E27FC236}">
                <a16:creationId xmlns:a16="http://schemas.microsoft.com/office/drawing/2014/main" id="{2384804B-EE2E-A346-8D83-E2034F24A0DC}"/>
              </a:ext>
            </a:extLst>
          </p:cNvPr>
          <p:cNvSpPr txBox="1"/>
          <p:nvPr/>
        </p:nvSpPr>
        <p:spPr>
          <a:xfrm>
            <a:off x="1522069" y="642052"/>
            <a:ext cx="3852819" cy="337392"/>
          </a:xfrm>
          <a:prstGeom prst="rect">
            <a:avLst/>
          </a:prstGeom>
          <a:solidFill>
            <a:srgbClr val="00B050"/>
          </a:solidFill>
          <a:effectLst/>
        </p:spPr>
        <p:txBody>
          <a:bodyPr wrap="square" rtlCol="0">
            <a:spAutoFit/>
          </a:bodyPr>
          <a:lstStyle/>
          <a:p>
            <a:pPr algn="ctr"/>
            <a:r>
              <a:rPr lang="en-US" sz="1600" dirty="0">
                <a:solidFill>
                  <a:schemeClr val="bg1"/>
                </a:solidFill>
                <a:latin typeface="+mj-lt"/>
              </a:rPr>
              <a:t>How To Create Sales Return Transaction?</a:t>
            </a:r>
            <a:endParaRPr lang="en-US" sz="2000" dirty="0">
              <a:solidFill>
                <a:srgbClr val="007434"/>
              </a:solidFill>
              <a:latin typeface="+mj-lt"/>
            </a:endParaRPr>
          </a:p>
        </p:txBody>
      </p:sp>
      <p:sp>
        <p:nvSpPr>
          <p:cNvPr id="3" name="Text Box 6">
            <a:extLst>
              <a:ext uri="{FF2B5EF4-FFF2-40B4-BE49-F238E27FC236}">
                <a16:creationId xmlns:a16="http://schemas.microsoft.com/office/drawing/2014/main" id="{388AC9D8-E4B5-58A0-4094-8A9CB20669C4}"/>
              </a:ext>
            </a:extLst>
          </p:cNvPr>
          <p:cNvSpPr txBox="1"/>
          <p:nvPr/>
        </p:nvSpPr>
        <p:spPr>
          <a:xfrm>
            <a:off x="0" y="-11307"/>
            <a:ext cx="5374888"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endParaRPr lang="en-US" sz="1400" dirty="0">
              <a:solidFill>
                <a:srgbClr val="007434"/>
              </a:solidFill>
              <a:effectLst/>
              <a:ea typeface="Open Sans" panose="020B0606030504020204" pitchFamily="34" charset="0"/>
              <a:cs typeface="Times New Roman" panose="02020603050405020304" pitchFamily="18" charset="0"/>
            </a:endParaRPr>
          </a:p>
        </p:txBody>
      </p:sp>
      <p:sp>
        <p:nvSpPr>
          <p:cNvPr id="2" name="TextBox 1">
            <a:extLst>
              <a:ext uri="{FF2B5EF4-FFF2-40B4-BE49-F238E27FC236}">
                <a16:creationId xmlns:a16="http://schemas.microsoft.com/office/drawing/2014/main" id="{09B8998E-F87B-8644-765B-F34F79480AA9}"/>
              </a:ext>
            </a:extLst>
          </p:cNvPr>
          <p:cNvSpPr txBox="1"/>
          <p:nvPr/>
        </p:nvSpPr>
        <p:spPr>
          <a:xfrm>
            <a:off x="585809" y="123167"/>
            <a:ext cx="4824617"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r>
              <a:rPr lang="en-US" sz="2000" dirty="0">
                <a:solidFill>
                  <a:schemeClr val="accent6">
                    <a:lumMod val="20000"/>
                    <a:lumOff val="80000"/>
                  </a:schemeClr>
                </a:solidFill>
                <a:latin typeface="+mj-lt"/>
              </a:rPr>
              <a:t>Sales/ Sales Return </a:t>
            </a:r>
            <a:r>
              <a:rPr lang="en-US" sz="1900" dirty="0">
                <a:solidFill>
                  <a:schemeClr val="accent6">
                    <a:lumMod val="20000"/>
                    <a:lumOff val="80000"/>
                  </a:schemeClr>
                </a:solidFill>
                <a:latin typeface="+mj-lt"/>
              </a:rPr>
              <a:t>- Module</a:t>
            </a:r>
          </a:p>
          <a:p>
            <a:endParaRPr lang="en-US" sz="2000" dirty="0">
              <a:solidFill>
                <a:srgbClr val="007434"/>
              </a:solidFill>
              <a:latin typeface="+mj-lt"/>
            </a:endParaRPr>
          </a:p>
        </p:txBody>
      </p:sp>
      <p:sp>
        <p:nvSpPr>
          <p:cNvPr id="33" name="Text Box 18">
            <a:extLst>
              <a:ext uri="{FF2B5EF4-FFF2-40B4-BE49-F238E27FC236}">
                <a16:creationId xmlns:a16="http://schemas.microsoft.com/office/drawing/2014/main" id="{E2EDBF23-A848-507E-DB3A-41520180B9FE}"/>
              </a:ext>
            </a:extLst>
          </p:cNvPr>
          <p:cNvSpPr txBox="1"/>
          <p:nvPr/>
        </p:nvSpPr>
        <p:spPr>
          <a:xfrm>
            <a:off x="383764" y="1688465"/>
            <a:ext cx="4179346" cy="3988435"/>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228600" marR="0">
              <a:lnSpc>
                <a:spcPct val="115000"/>
              </a:lnSpc>
              <a:spcBef>
                <a:spcPts val="0"/>
              </a:spcBef>
              <a:spcAft>
                <a:spcPts val="0"/>
              </a:spcAft>
            </a:pPr>
            <a:r>
              <a:rPr lang="en-US" sz="1200" b="1"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6.1.  </a:t>
            </a:r>
            <a:r>
              <a:rPr lang="en-US" sz="1200" dirty="0">
                <a:effectLst/>
                <a:latin typeface="Chivo Light" panose="020B0303030202020804" pitchFamily="34" charset="0"/>
                <a:ea typeface="Times New Roman" panose="02020603050405020304" pitchFamily="18" charset="0"/>
                <a:cs typeface="Times New Roman" panose="02020603050405020304" pitchFamily="18" charset="0"/>
              </a:rPr>
              <a:t>After you click the accept button, selected returned items will be displayed in sales return stock. You may edit the details of item by directly changing it. </a:t>
            </a:r>
          </a:p>
          <a:p>
            <a:pPr marL="228600" marR="0">
              <a:lnSpc>
                <a:spcPct val="115000"/>
              </a:lnSpc>
              <a:spcBef>
                <a:spcPts val="0"/>
              </a:spcBef>
              <a:spcAft>
                <a:spcPts val="0"/>
              </a:spcAft>
            </a:pPr>
            <a:endParaRPr lang="en-US"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L="228600" marR="0">
              <a:lnSpc>
                <a:spcPct val="115000"/>
              </a:lnSpc>
              <a:spcBef>
                <a:spcPts val="0"/>
              </a:spcBef>
              <a:spcAft>
                <a:spcPts val="0"/>
              </a:spcAft>
            </a:pPr>
            <a:r>
              <a:rPr lang="en-US" sz="1200" b="1"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6.2. </a:t>
            </a:r>
            <a:r>
              <a:rPr lang="en-US" sz="1200" dirty="0">
                <a:effectLst/>
                <a:latin typeface="Chivo Light" panose="020B0303030202020804" pitchFamily="34" charset="0"/>
                <a:ea typeface="Times New Roman" panose="02020603050405020304" pitchFamily="18" charset="0"/>
                <a:cs typeface="Times New Roman" panose="02020603050405020304" pitchFamily="18" charset="0"/>
              </a:rPr>
              <a:t>If you wish to add another item that is not from sales journal, click add item button. If you know the item code, click quick add button for faster adding of item.</a:t>
            </a:r>
          </a:p>
          <a:p>
            <a:pPr marL="228600" marR="0">
              <a:lnSpc>
                <a:spcPct val="115000"/>
              </a:lnSpc>
              <a:spcBef>
                <a:spcPts val="0"/>
              </a:spcBef>
              <a:spcAft>
                <a:spcPts val="0"/>
              </a:spcAft>
            </a:pPr>
            <a:endParaRPr lang="en-US"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L="228600" marR="0">
              <a:lnSpc>
                <a:spcPct val="115000"/>
              </a:lnSpc>
              <a:spcBef>
                <a:spcPts val="0"/>
              </a:spcBef>
              <a:spcAft>
                <a:spcPts val="0"/>
              </a:spcAft>
            </a:pPr>
            <a:r>
              <a:rPr lang="en-US" sz="1200" b="1"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6.3.</a:t>
            </a:r>
            <a:r>
              <a:rPr lang="en-US" sz="1200" dirty="0">
                <a:effectLst/>
                <a:latin typeface="Chivo Light" panose="020B0303030202020804" pitchFamily="34" charset="0"/>
                <a:ea typeface="Times New Roman" panose="02020603050405020304" pitchFamily="18" charset="0"/>
                <a:cs typeface="Times New Roman" panose="02020603050405020304" pitchFamily="18" charset="0"/>
              </a:rPr>
              <a:t> After you edit, click save item button. </a:t>
            </a:r>
          </a:p>
          <a:p>
            <a:pPr marL="228600" marR="0">
              <a:lnSpc>
                <a:spcPct val="115000"/>
              </a:lnSpc>
              <a:spcBef>
                <a:spcPts val="0"/>
              </a:spcBef>
              <a:spcAft>
                <a:spcPts val="0"/>
              </a:spcAft>
            </a:pPr>
            <a:endParaRPr lang="en-US"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L="228600" marR="0">
              <a:lnSpc>
                <a:spcPct val="115000"/>
              </a:lnSpc>
              <a:spcBef>
                <a:spcPts val="0"/>
              </a:spcBef>
              <a:spcAft>
                <a:spcPts val="0"/>
              </a:spcAft>
            </a:pPr>
            <a:endParaRPr lang="en-US"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L="228600" marR="0">
              <a:lnSpc>
                <a:spcPct val="115000"/>
              </a:lnSpc>
              <a:spcBef>
                <a:spcPts val="0"/>
              </a:spcBef>
              <a:spcAft>
                <a:spcPts val="0"/>
              </a:spcAft>
            </a:pPr>
            <a:endParaRPr lang="en-US"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L="228600" marR="0">
              <a:lnSpc>
                <a:spcPct val="115000"/>
              </a:lnSpc>
              <a:spcBef>
                <a:spcPts val="0"/>
              </a:spcBef>
              <a:spcAft>
                <a:spcPts val="0"/>
              </a:spcAft>
            </a:pPr>
            <a:endParaRPr lang="en-US"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L="228600" marR="0">
              <a:lnSpc>
                <a:spcPct val="115000"/>
              </a:lnSpc>
              <a:spcBef>
                <a:spcPts val="0"/>
              </a:spcBef>
              <a:spcAft>
                <a:spcPts val="0"/>
              </a:spcAft>
            </a:pPr>
            <a:endParaRPr lang="en-US"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L="228600" marR="0">
              <a:lnSpc>
                <a:spcPct val="115000"/>
              </a:lnSpc>
              <a:spcBef>
                <a:spcPts val="0"/>
              </a:spcBef>
              <a:spcAft>
                <a:spcPts val="0"/>
              </a:spcAft>
            </a:pPr>
            <a:r>
              <a:rPr lang="en-PH" sz="1200" dirty="0">
                <a:effectLst/>
                <a:latin typeface="Chivo Light" panose="020B0303030202020804" pitchFamily="34" charset="0"/>
                <a:ea typeface="Times New Roman" panose="02020603050405020304" pitchFamily="18" charset="0"/>
                <a:cs typeface="Times New Roman" panose="02020603050405020304" pitchFamily="18" charset="0"/>
              </a:rPr>
              <a:t> </a:t>
            </a:r>
          </a:p>
          <a:p>
            <a:pPr marL="228600" marR="0">
              <a:lnSpc>
                <a:spcPct val="115000"/>
              </a:lnSpc>
              <a:spcBef>
                <a:spcPts val="0"/>
              </a:spcBef>
              <a:spcAft>
                <a:spcPts val="0"/>
              </a:spcAft>
            </a:pPr>
            <a:endParaRPr lang="en-US"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L="228600" marR="0">
              <a:lnSpc>
                <a:spcPct val="115000"/>
              </a:lnSpc>
              <a:spcBef>
                <a:spcPts val="0"/>
              </a:spcBef>
              <a:spcAft>
                <a:spcPts val="0"/>
              </a:spcAft>
            </a:pPr>
            <a:endParaRPr lang="en-US"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L="228600" marR="0">
              <a:lnSpc>
                <a:spcPct val="115000"/>
              </a:lnSpc>
              <a:spcBef>
                <a:spcPts val="0"/>
              </a:spcBef>
              <a:spcAft>
                <a:spcPts val="0"/>
              </a:spcAft>
            </a:pPr>
            <a:endParaRPr lang="en-US"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L="228600" marR="0">
              <a:lnSpc>
                <a:spcPct val="115000"/>
              </a:lnSpc>
              <a:spcBef>
                <a:spcPts val="0"/>
              </a:spcBef>
              <a:spcAft>
                <a:spcPts val="0"/>
              </a:spcAft>
            </a:pPr>
            <a:endParaRPr lang="en-US" sz="1200" dirty="0">
              <a:solidFill>
                <a:schemeClr val="tx1">
                  <a:lumMod val="85000"/>
                  <a:lumOff val="15000"/>
                </a:schemeClr>
              </a:solidFill>
              <a:latin typeface="Chivo Light" panose="020B03030302020208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PH" sz="1300" cap="all" dirty="0">
                <a:solidFill>
                  <a:srgbClr val="4472C4"/>
                </a:solidFill>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p:txBody>
      </p:sp>
      <p:grpSp>
        <p:nvGrpSpPr>
          <p:cNvPr id="73" name="Group 72">
            <a:extLst>
              <a:ext uri="{FF2B5EF4-FFF2-40B4-BE49-F238E27FC236}">
                <a16:creationId xmlns:a16="http://schemas.microsoft.com/office/drawing/2014/main" id="{4AFB35EF-33AD-0A4C-C43A-070824DCF6AC}"/>
              </a:ext>
            </a:extLst>
          </p:cNvPr>
          <p:cNvGrpSpPr/>
          <p:nvPr/>
        </p:nvGrpSpPr>
        <p:grpSpPr>
          <a:xfrm>
            <a:off x="5410426" y="4758054"/>
            <a:ext cx="995045" cy="876300"/>
            <a:chOff x="5598477" y="2990850"/>
            <a:chExt cx="995045" cy="876300"/>
          </a:xfrm>
        </p:grpSpPr>
        <p:sp>
          <p:nvSpPr>
            <p:cNvPr id="70" name="Rectangle 69">
              <a:extLst>
                <a:ext uri="{FF2B5EF4-FFF2-40B4-BE49-F238E27FC236}">
                  <a16:creationId xmlns:a16="http://schemas.microsoft.com/office/drawing/2014/main" id="{2425F947-5371-A984-E8E5-84FA499BCB20}"/>
                </a:ext>
              </a:extLst>
            </p:cNvPr>
            <p:cNvSpPr/>
            <p:nvPr/>
          </p:nvSpPr>
          <p:spPr>
            <a:xfrm>
              <a:off x="5598477" y="3000375"/>
              <a:ext cx="367030" cy="866775"/>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cxnSp>
          <p:nvCxnSpPr>
            <p:cNvPr id="71" name="Straight Arrow Connector 70">
              <a:extLst>
                <a:ext uri="{FF2B5EF4-FFF2-40B4-BE49-F238E27FC236}">
                  <a16:creationId xmlns:a16="http://schemas.microsoft.com/office/drawing/2014/main" id="{C3A70629-1C7B-42C5-AC3F-BF1DBE464950}"/>
                </a:ext>
              </a:extLst>
            </p:cNvPr>
            <p:cNvCxnSpPr/>
            <p:nvPr/>
          </p:nvCxnSpPr>
          <p:spPr>
            <a:xfrm>
              <a:off x="5922962" y="3344545"/>
              <a:ext cx="193040" cy="76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72" name="Text Box 771">
              <a:extLst>
                <a:ext uri="{FF2B5EF4-FFF2-40B4-BE49-F238E27FC236}">
                  <a16:creationId xmlns:a16="http://schemas.microsoft.com/office/drawing/2014/main" id="{B0E0C4E9-94B4-8F34-880E-373D91E6D48F}"/>
                </a:ext>
              </a:extLst>
            </p:cNvPr>
            <p:cNvSpPr txBox="1"/>
            <p:nvPr/>
          </p:nvSpPr>
          <p:spPr>
            <a:xfrm>
              <a:off x="6098222" y="2990850"/>
              <a:ext cx="495300" cy="428625"/>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r>
                <a:rPr lang="en-US" sz="1100" dirty="0">
                  <a:effectLst/>
                  <a:ea typeface="Calibri" panose="020F0502020204030204" pitchFamily="34" charset="0"/>
                  <a:cs typeface="Times New Roman" panose="02020603050405020304" pitchFamily="18" charset="0"/>
                </a:rPr>
                <a:t>5.2.1</a:t>
              </a:r>
            </a:p>
          </p:txBody>
        </p:sp>
      </p:grpSp>
      <p:grpSp>
        <p:nvGrpSpPr>
          <p:cNvPr id="18" name="Group 17">
            <a:extLst>
              <a:ext uri="{FF2B5EF4-FFF2-40B4-BE49-F238E27FC236}">
                <a16:creationId xmlns:a16="http://schemas.microsoft.com/office/drawing/2014/main" id="{FB327AA2-A068-56C3-1F9E-B1EFD9855BCA}"/>
              </a:ext>
            </a:extLst>
          </p:cNvPr>
          <p:cNvGrpSpPr/>
          <p:nvPr/>
        </p:nvGrpSpPr>
        <p:grpSpPr>
          <a:xfrm>
            <a:off x="5325426" y="1316036"/>
            <a:ext cx="6189345" cy="1911985"/>
            <a:chOff x="5325426" y="1316036"/>
            <a:chExt cx="6189345" cy="1911985"/>
          </a:xfrm>
        </p:grpSpPr>
        <p:pic>
          <p:nvPicPr>
            <p:cNvPr id="4" name="Picture 3">
              <a:extLst>
                <a:ext uri="{FF2B5EF4-FFF2-40B4-BE49-F238E27FC236}">
                  <a16:creationId xmlns:a16="http://schemas.microsoft.com/office/drawing/2014/main" id="{BB8732BF-D54F-FC18-D914-BD2E57D5EDD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25426" y="1353913"/>
              <a:ext cx="6189345" cy="1748790"/>
            </a:xfrm>
            <a:prstGeom prst="rect">
              <a:avLst/>
            </a:prstGeom>
          </p:spPr>
        </p:pic>
        <p:grpSp>
          <p:nvGrpSpPr>
            <p:cNvPr id="17" name="Group 16">
              <a:extLst>
                <a:ext uri="{FF2B5EF4-FFF2-40B4-BE49-F238E27FC236}">
                  <a16:creationId xmlns:a16="http://schemas.microsoft.com/office/drawing/2014/main" id="{4BFC0FA5-9D8C-7344-848C-19AB31F6E9A7}"/>
                </a:ext>
              </a:extLst>
            </p:cNvPr>
            <p:cNvGrpSpPr/>
            <p:nvPr/>
          </p:nvGrpSpPr>
          <p:grpSpPr>
            <a:xfrm>
              <a:off x="5831431" y="1316036"/>
              <a:ext cx="5169535" cy="1911985"/>
              <a:chOff x="3511232" y="2473008"/>
              <a:chExt cx="5169535" cy="1911985"/>
            </a:xfrm>
          </p:grpSpPr>
          <p:sp>
            <p:nvSpPr>
              <p:cNvPr id="5" name="Rectangle 4">
                <a:extLst>
                  <a:ext uri="{FF2B5EF4-FFF2-40B4-BE49-F238E27FC236}">
                    <a16:creationId xmlns:a16="http://schemas.microsoft.com/office/drawing/2014/main" id="{FA5DD1DA-48D8-812F-42B1-61DDF80DDE16}"/>
                  </a:ext>
                </a:extLst>
              </p:cNvPr>
              <p:cNvSpPr/>
              <p:nvPr/>
            </p:nvSpPr>
            <p:spPr>
              <a:xfrm>
                <a:off x="3511232" y="3391218"/>
                <a:ext cx="2030095" cy="89027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cxnSp>
            <p:nvCxnSpPr>
              <p:cNvPr id="6" name="Straight Arrow Connector 5">
                <a:extLst>
                  <a:ext uri="{FF2B5EF4-FFF2-40B4-BE49-F238E27FC236}">
                    <a16:creationId xmlns:a16="http://schemas.microsoft.com/office/drawing/2014/main" id="{39D613BE-A3AE-F698-2134-68D48C398581}"/>
                  </a:ext>
                </a:extLst>
              </p:cNvPr>
              <p:cNvCxnSpPr/>
              <p:nvPr/>
            </p:nvCxnSpPr>
            <p:spPr>
              <a:xfrm>
                <a:off x="5577522" y="4186873"/>
                <a:ext cx="121285" cy="11430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7" name="Text Box 807">
                <a:extLst>
                  <a:ext uri="{FF2B5EF4-FFF2-40B4-BE49-F238E27FC236}">
                    <a16:creationId xmlns:a16="http://schemas.microsoft.com/office/drawing/2014/main" id="{A34A2563-AC2E-183B-CF4D-6F9ACBDA7874}"/>
                  </a:ext>
                </a:extLst>
              </p:cNvPr>
              <p:cNvSpPr txBox="1"/>
              <p:nvPr/>
            </p:nvSpPr>
            <p:spPr>
              <a:xfrm>
                <a:off x="5670232" y="4099243"/>
                <a:ext cx="47498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r>
                  <a:rPr lang="en-US" sz="1100">
                    <a:effectLst/>
                    <a:ea typeface="Calibri" panose="020F0502020204030204" pitchFamily="34" charset="0"/>
                    <a:cs typeface="Times New Roman" panose="02020603050405020304" pitchFamily="18" charset="0"/>
                  </a:rPr>
                  <a:t>6.1</a:t>
                </a:r>
              </a:p>
            </p:txBody>
          </p:sp>
          <p:cxnSp>
            <p:nvCxnSpPr>
              <p:cNvPr id="8" name="Straight Arrow Connector 7">
                <a:extLst>
                  <a:ext uri="{FF2B5EF4-FFF2-40B4-BE49-F238E27FC236}">
                    <a16:creationId xmlns:a16="http://schemas.microsoft.com/office/drawing/2014/main" id="{4846F139-125C-9298-44CB-182F6D31C66D}"/>
                  </a:ext>
                </a:extLst>
              </p:cNvPr>
              <p:cNvCxnSpPr/>
              <p:nvPr/>
            </p:nvCxnSpPr>
            <p:spPr>
              <a:xfrm>
                <a:off x="7117397" y="2634933"/>
                <a:ext cx="121285" cy="11430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9" name="Text Box 787">
                <a:extLst>
                  <a:ext uri="{FF2B5EF4-FFF2-40B4-BE49-F238E27FC236}">
                    <a16:creationId xmlns:a16="http://schemas.microsoft.com/office/drawing/2014/main" id="{771EFAEB-8707-8FCD-321F-8064A8427445}"/>
                  </a:ext>
                </a:extLst>
              </p:cNvPr>
              <p:cNvSpPr txBox="1"/>
              <p:nvPr/>
            </p:nvSpPr>
            <p:spPr>
              <a:xfrm>
                <a:off x="6978332" y="2753678"/>
                <a:ext cx="498475"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r>
                  <a:rPr lang="en-US" sz="1100">
                    <a:effectLst/>
                    <a:ea typeface="Calibri" panose="020F0502020204030204" pitchFamily="34" charset="0"/>
                    <a:cs typeface="Times New Roman" panose="02020603050405020304" pitchFamily="18" charset="0"/>
                  </a:rPr>
                  <a:t>6.2.</a:t>
                </a:r>
              </a:p>
            </p:txBody>
          </p:sp>
          <p:sp>
            <p:nvSpPr>
              <p:cNvPr id="10" name="Rectangle 9">
                <a:extLst>
                  <a:ext uri="{FF2B5EF4-FFF2-40B4-BE49-F238E27FC236}">
                    <a16:creationId xmlns:a16="http://schemas.microsoft.com/office/drawing/2014/main" id="{0C86C95C-EA71-E709-8E4D-8991ECE48768}"/>
                  </a:ext>
                </a:extLst>
              </p:cNvPr>
              <p:cNvSpPr/>
              <p:nvPr/>
            </p:nvSpPr>
            <p:spPr>
              <a:xfrm>
                <a:off x="6895782" y="2473008"/>
                <a:ext cx="367030" cy="201295"/>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cxnSp>
            <p:nvCxnSpPr>
              <p:cNvPr id="11" name="Straight Arrow Connector 10">
                <a:extLst>
                  <a:ext uri="{FF2B5EF4-FFF2-40B4-BE49-F238E27FC236}">
                    <a16:creationId xmlns:a16="http://schemas.microsoft.com/office/drawing/2014/main" id="{B7F3EE3F-0CAE-7B64-5E06-4B050E02082F}"/>
                  </a:ext>
                </a:extLst>
              </p:cNvPr>
              <p:cNvCxnSpPr/>
              <p:nvPr/>
            </p:nvCxnSpPr>
            <p:spPr>
              <a:xfrm>
                <a:off x="7810182" y="2684463"/>
                <a:ext cx="93980" cy="711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2" name="Text Box 793">
                <a:extLst>
                  <a:ext uri="{FF2B5EF4-FFF2-40B4-BE49-F238E27FC236}">
                    <a16:creationId xmlns:a16="http://schemas.microsoft.com/office/drawing/2014/main" id="{795EFF88-A906-CA41-2B92-2E25190E300E}"/>
                  </a:ext>
                </a:extLst>
              </p:cNvPr>
              <p:cNvSpPr txBox="1"/>
              <p:nvPr/>
            </p:nvSpPr>
            <p:spPr>
              <a:xfrm>
                <a:off x="7591107" y="2756853"/>
                <a:ext cx="47498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r>
                  <a:rPr lang="en-US" sz="1100">
                    <a:effectLst/>
                    <a:ea typeface="Calibri" panose="020F0502020204030204" pitchFamily="34" charset="0"/>
                    <a:cs typeface="Times New Roman" panose="02020603050405020304" pitchFamily="18" charset="0"/>
                  </a:rPr>
                  <a:t>6.2.</a:t>
                </a:r>
              </a:p>
            </p:txBody>
          </p:sp>
          <p:sp>
            <p:nvSpPr>
              <p:cNvPr id="13" name="Rectangle 12">
                <a:extLst>
                  <a:ext uri="{FF2B5EF4-FFF2-40B4-BE49-F238E27FC236}">
                    <a16:creationId xmlns:a16="http://schemas.microsoft.com/office/drawing/2014/main" id="{D1F969FD-372D-92B9-52CD-9B9CF814BD1D}"/>
                  </a:ext>
                </a:extLst>
              </p:cNvPr>
              <p:cNvSpPr/>
              <p:nvPr/>
            </p:nvSpPr>
            <p:spPr>
              <a:xfrm>
                <a:off x="7334567" y="2473008"/>
                <a:ext cx="568325" cy="201295"/>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cxnSp>
            <p:nvCxnSpPr>
              <p:cNvPr id="14" name="Straight Arrow Connector 13">
                <a:extLst>
                  <a:ext uri="{FF2B5EF4-FFF2-40B4-BE49-F238E27FC236}">
                    <a16:creationId xmlns:a16="http://schemas.microsoft.com/office/drawing/2014/main" id="{205B1CE8-BB9E-3E54-7FCB-17AF66F97176}"/>
                  </a:ext>
                </a:extLst>
              </p:cNvPr>
              <p:cNvCxnSpPr/>
              <p:nvPr/>
            </p:nvCxnSpPr>
            <p:spPr>
              <a:xfrm>
                <a:off x="8424862" y="2684463"/>
                <a:ext cx="93980" cy="711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5" name="Text Box 786">
                <a:extLst>
                  <a:ext uri="{FF2B5EF4-FFF2-40B4-BE49-F238E27FC236}">
                    <a16:creationId xmlns:a16="http://schemas.microsoft.com/office/drawing/2014/main" id="{C963C5AE-9E29-7DDA-1E9C-95B5CE5ED3E1}"/>
                  </a:ext>
                </a:extLst>
              </p:cNvPr>
              <p:cNvSpPr txBox="1"/>
              <p:nvPr/>
            </p:nvSpPr>
            <p:spPr>
              <a:xfrm>
                <a:off x="8205787" y="2756853"/>
                <a:ext cx="47498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r>
                  <a:rPr lang="en-US" sz="1100">
                    <a:effectLst/>
                    <a:ea typeface="Calibri" panose="020F0502020204030204" pitchFamily="34" charset="0"/>
                    <a:cs typeface="Times New Roman" panose="02020603050405020304" pitchFamily="18" charset="0"/>
                  </a:rPr>
                  <a:t>6.3.</a:t>
                </a:r>
              </a:p>
            </p:txBody>
          </p:sp>
          <p:sp>
            <p:nvSpPr>
              <p:cNvPr id="16" name="Rectangle 15">
                <a:extLst>
                  <a:ext uri="{FF2B5EF4-FFF2-40B4-BE49-F238E27FC236}">
                    <a16:creationId xmlns:a16="http://schemas.microsoft.com/office/drawing/2014/main" id="{835C4B82-B6AA-3585-E86C-C036EF3FF828}"/>
                  </a:ext>
                </a:extLst>
              </p:cNvPr>
              <p:cNvSpPr/>
              <p:nvPr/>
            </p:nvSpPr>
            <p:spPr>
              <a:xfrm>
                <a:off x="7949247" y="2473008"/>
                <a:ext cx="568325" cy="201295"/>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grpSp>
      <p:sp>
        <p:nvSpPr>
          <p:cNvPr id="20" name="Slide Number Placeholder 19">
            <a:extLst>
              <a:ext uri="{FF2B5EF4-FFF2-40B4-BE49-F238E27FC236}">
                <a16:creationId xmlns:a16="http://schemas.microsoft.com/office/drawing/2014/main" id="{983B9E1D-C6FF-0A55-28AC-B64D842F1288}"/>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600" b="0" i="0" u="none" strike="noStrike" kern="1200" cap="none" spc="0" normalizeH="0" baseline="0" noProof="0">
              <a:ln>
                <a:noFill/>
              </a:ln>
              <a:solidFill>
                <a:srgbClr val="00863D"/>
              </a:solidFill>
              <a:effectLst/>
              <a:uLnTx/>
              <a:uFillTx/>
              <a:latin typeface="Animosa Extra Bold" panose="00000900000000000000" pitchFamily="50" charset="0"/>
              <a:ea typeface="+mn-ea"/>
              <a:cs typeface="+mn-cs"/>
            </a:endParaRPr>
          </a:p>
          <a:p>
            <a:endParaRPr lang="en-US" dirty="0"/>
          </a:p>
        </p:txBody>
      </p:sp>
      <p:grpSp>
        <p:nvGrpSpPr>
          <p:cNvPr id="22" name="Group 21">
            <a:extLst>
              <a:ext uri="{FF2B5EF4-FFF2-40B4-BE49-F238E27FC236}">
                <a16:creationId xmlns:a16="http://schemas.microsoft.com/office/drawing/2014/main" id="{32B6F800-B594-C3CF-ED38-E63EA3F5C732}"/>
              </a:ext>
            </a:extLst>
          </p:cNvPr>
          <p:cNvGrpSpPr/>
          <p:nvPr/>
        </p:nvGrpSpPr>
        <p:grpSpPr>
          <a:xfrm>
            <a:off x="5325426" y="3733482"/>
            <a:ext cx="6189346" cy="2925445"/>
            <a:chOff x="5325426" y="3733482"/>
            <a:chExt cx="6189346" cy="2925445"/>
          </a:xfrm>
        </p:grpSpPr>
        <p:pic>
          <p:nvPicPr>
            <p:cNvPr id="69" name="Picture 68">
              <a:extLst>
                <a:ext uri="{FF2B5EF4-FFF2-40B4-BE49-F238E27FC236}">
                  <a16:creationId xmlns:a16="http://schemas.microsoft.com/office/drawing/2014/main" id="{1F91C441-D11D-0B53-4011-7A455CDD80BC}"/>
                </a:ext>
              </a:extLst>
            </p:cNvPr>
            <p:cNvPicPr>
              <a:picLocks noChangeAspect="1"/>
            </p:cNvPicPr>
            <p:nvPr/>
          </p:nvPicPr>
          <p:blipFill>
            <a:blip r:embed="rId3"/>
            <a:stretch>
              <a:fillRect/>
            </a:stretch>
          </p:blipFill>
          <p:spPr>
            <a:xfrm>
              <a:off x="5325427" y="3733482"/>
              <a:ext cx="6189345" cy="2925445"/>
            </a:xfrm>
            <a:prstGeom prst="rect">
              <a:avLst/>
            </a:prstGeom>
          </p:spPr>
        </p:pic>
        <p:pic>
          <p:nvPicPr>
            <p:cNvPr id="21" name="Picture 20">
              <a:extLst>
                <a:ext uri="{FF2B5EF4-FFF2-40B4-BE49-F238E27FC236}">
                  <a16:creationId xmlns:a16="http://schemas.microsoft.com/office/drawing/2014/main" id="{6F8FC228-14D9-8D02-F72D-F2BCFAD16775}"/>
                </a:ext>
              </a:extLst>
            </p:cNvPr>
            <p:cNvPicPr>
              <a:picLocks noChangeAspect="1"/>
            </p:cNvPicPr>
            <p:nvPr/>
          </p:nvPicPr>
          <p:blipFill>
            <a:blip r:embed="rId4"/>
            <a:stretch>
              <a:fillRect/>
            </a:stretch>
          </p:blipFill>
          <p:spPr>
            <a:xfrm>
              <a:off x="5325426" y="3755295"/>
              <a:ext cx="2339218" cy="193858"/>
            </a:xfrm>
            <a:prstGeom prst="rect">
              <a:avLst/>
            </a:prstGeom>
          </p:spPr>
        </p:pic>
      </p:grpSp>
    </p:spTree>
    <p:extLst>
      <p:ext uri="{BB962C8B-B14F-4D97-AF65-F5344CB8AC3E}">
        <p14:creationId xmlns:p14="http://schemas.microsoft.com/office/powerpoint/2010/main" val="13296015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extBox 22">
            <a:extLst>
              <a:ext uri="{FF2B5EF4-FFF2-40B4-BE49-F238E27FC236}">
                <a16:creationId xmlns:a16="http://schemas.microsoft.com/office/drawing/2014/main" id="{2384804B-EE2E-A346-8D83-E2034F24A0DC}"/>
              </a:ext>
            </a:extLst>
          </p:cNvPr>
          <p:cNvSpPr txBox="1"/>
          <p:nvPr/>
        </p:nvSpPr>
        <p:spPr>
          <a:xfrm>
            <a:off x="1522069" y="642052"/>
            <a:ext cx="3852819" cy="337392"/>
          </a:xfrm>
          <a:prstGeom prst="rect">
            <a:avLst/>
          </a:prstGeom>
          <a:solidFill>
            <a:srgbClr val="00B050"/>
          </a:solidFill>
          <a:effectLst/>
        </p:spPr>
        <p:txBody>
          <a:bodyPr wrap="square" rtlCol="0">
            <a:spAutoFit/>
          </a:bodyPr>
          <a:lstStyle/>
          <a:p>
            <a:pPr algn="ctr"/>
            <a:r>
              <a:rPr lang="en-US" sz="1600" dirty="0">
                <a:solidFill>
                  <a:schemeClr val="bg1"/>
                </a:solidFill>
                <a:latin typeface="+mj-lt"/>
              </a:rPr>
              <a:t>How To Create Sales Return Transaction?</a:t>
            </a:r>
            <a:endParaRPr lang="en-US" sz="2000" dirty="0">
              <a:solidFill>
                <a:srgbClr val="007434"/>
              </a:solidFill>
              <a:latin typeface="+mj-lt"/>
            </a:endParaRPr>
          </a:p>
        </p:txBody>
      </p:sp>
      <p:sp>
        <p:nvSpPr>
          <p:cNvPr id="3" name="Text Box 6">
            <a:extLst>
              <a:ext uri="{FF2B5EF4-FFF2-40B4-BE49-F238E27FC236}">
                <a16:creationId xmlns:a16="http://schemas.microsoft.com/office/drawing/2014/main" id="{388AC9D8-E4B5-58A0-4094-8A9CB20669C4}"/>
              </a:ext>
            </a:extLst>
          </p:cNvPr>
          <p:cNvSpPr txBox="1"/>
          <p:nvPr/>
        </p:nvSpPr>
        <p:spPr>
          <a:xfrm>
            <a:off x="0" y="-11307"/>
            <a:ext cx="5374888"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endParaRPr lang="en-US" sz="1400" dirty="0">
              <a:solidFill>
                <a:srgbClr val="007434"/>
              </a:solidFill>
              <a:effectLst/>
              <a:ea typeface="Open Sans" panose="020B0606030504020204" pitchFamily="34" charset="0"/>
              <a:cs typeface="Times New Roman" panose="02020603050405020304" pitchFamily="18" charset="0"/>
            </a:endParaRPr>
          </a:p>
        </p:txBody>
      </p:sp>
      <p:sp>
        <p:nvSpPr>
          <p:cNvPr id="2" name="TextBox 1">
            <a:extLst>
              <a:ext uri="{FF2B5EF4-FFF2-40B4-BE49-F238E27FC236}">
                <a16:creationId xmlns:a16="http://schemas.microsoft.com/office/drawing/2014/main" id="{09B8998E-F87B-8644-765B-F34F79480AA9}"/>
              </a:ext>
            </a:extLst>
          </p:cNvPr>
          <p:cNvSpPr txBox="1"/>
          <p:nvPr/>
        </p:nvSpPr>
        <p:spPr>
          <a:xfrm>
            <a:off x="585809" y="123167"/>
            <a:ext cx="4824617"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r>
              <a:rPr lang="en-US" sz="2000" dirty="0">
                <a:solidFill>
                  <a:schemeClr val="accent6">
                    <a:lumMod val="20000"/>
                    <a:lumOff val="80000"/>
                  </a:schemeClr>
                </a:solidFill>
                <a:latin typeface="+mj-lt"/>
              </a:rPr>
              <a:t>Sales/ Sales Return </a:t>
            </a:r>
            <a:r>
              <a:rPr lang="en-US" sz="1900" dirty="0">
                <a:solidFill>
                  <a:schemeClr val="accent6">
                    <a:lumMod val="20000"/>
                    <a:lumOff val="80000"/>
                  </a:schemeClr>
                </a:solidFill>
                <a:latin typeface="+mj-lt"/>
              </a:rPr>
              <a:t>- Module</a:t>
            </a:r>
          </a:p>
          <a:p>
            <a:endParaRPr lang="en-US" sz="2000" dirty="0">
              <a:solidFill>
                <a:srgbClr val="007434"/>
              </a:solidFill>
              <a:latin typeface="+mj-lt"/>
            </a:endParaRPr>
          </a:p>
        </p:txBody>
      </p:sp>
      <p:sp>
        <p:nvSpPr>
          <p:cNvPr id="33" name="Text Box 18">
            <a:extLst>
              <a:ext uri="{FF2B5EF4-FFF2-40B4-BE49-F238E27FC236}">
                <a16:creationId xmlns:a16="http://schemas.microsoft.com/office/drawing/2014/main" id="{E2EDBF23-A848-507E-DB3A-41520180B9FE}"/>
              </a:ext>
            </a:extLst>
          </p:cNvPr>
          <p:cNvSpPr txBox="1"/>
          <p:nvPr/>
        </p:nvSpPr>
        <p:spPr>
          <a:xfrm>
            <a:off x="301214" y="2412365"/>
            <a:ext cx="4179346" cy="1391285"/>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228600" marR="0">
              <a:lnSpc>
                <a:spcPct val="115000"/>
              </a:lnSpc>
              <a:spcBef>
                <a:spcPts val="0"/>
              </a:spcBef>
              <a:spcAft>
                <a:spcPts val="0"/>
              </a:spcAft>
            </a:pPr>
            <a:r>
              <a:rPr lang="en-US" sz="1200" b="1"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7.1. </a:t>
            </a:r>
            <a:r>
              <a:rPr lang="en-US" sz="1200" dirty="0">
                <a:effectLst/>
                <a:latin typeface="Chivo Light" panose="020B0303030202020804" pitchFamily="34" charset="0"/>
                <a:ea typeface="Times New Roman" panose="02020603050405020304" pitchFamily="18" charset="0"/>
                <a:cs typeface="Times New Roman" panose="02020603050405020304" pitchFamily="18" charset="0"/>
              </a:rPr>
              <a:t>Click the maximize arrow to enable the post button.</a:t>
            </a:r>
          </a:p>
          <a:p>
            <a:pPr marL="228600" marR="0">
              <a:lnSpc>
                <a:spcPct val="115000"/>
              </a:lnSpc>
              <a:spcBef>
                <a:spcPts val="0"/>
              </a:spcBef>
              <a:spcAft>
                <a:spcPts val="0"/>
              </a:spcAft>
            </a:pPr>
            <a:endParaRPr lang="en-US"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L="228600" marR="0">
              <a:lnSpc>
                <a:spcPct val="115000"/>
              </a:lnSpc>
              <a:spcBef>
                <a:spcPts val="0"/>
              </a:spcBef>
              <a:spcAft>
                <a:spcPts val="0"/>
              </a:spcAft>
            </a:pPr>
            <a:r>
              <a:rPr lang="en-US" sz="1200" b="1"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7.2. </a:t>
            </a:r>
            <a:r>
              <a:rPr lang="en-US" sz="1200" dirty="0">
                <a:effectLst/>
                <a:latin typeface="Chivo Light" panose="020B0303030202020804" pitchFamily="34" charset="0"/>
                <a:ea typeface="Times New Roman" panose="02020603050405020304" pitchFamily="18" charset="0"/>
                <a:cs typeface="Times New Roman" panose="02020603050405020304" pitchFamily="18" charset="0"/>
              </a:rPr>
              <a:t>To finalize, the transaction, click post button located in the header.</a:t>
            </a:r>
          </a:p>
          <a:p>
            <a:pPr marL="228600" marR="0">
              <a:lnSpc>
                <a:spcPct val="115000"/>
              </a:lnSpc>
              <a:spcBef>
                <a:spcPts val="0"/>
              </a:spcBef>
              <a:spcAft>
                <a:spcPts val="0"/>
              </a:spcAft>
            </a:pPr>
            <a:endParaRPr lang="en-US"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L="228600" marR="0">
              <a:lnSpc>
                <a:spcPct val="115000"/>
              </a:lnSpc>
              <a:spcBef>
                <a:spcPts val="0"/>
              </a:spcBef>
              <a:spcAft>
                <a:spcPts val="0"/>
              </a:spcAft>
            </a:pPr>
            <a:endParaRPr lang="en-US"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L="228600" marR="0">
              <a:lnSpc>
                <a:spcPct val="115000"/>
              </a:lnSpc>
              <a:spcBef>
                <a:spcPts val="0"/>
              </a:spcBef>
              <a:spcAft>
                <a:spcPts val="0"/>
              </a:spcAft>
            </a:pPr>
            <a:endParaRPr lang="en-US"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L="228600" marR="0">
              <a:lnSpc>
                <a:spcPct val="115000"/>
              </a:lnSpc>
              <a:spcBef>
                <a:spcPts val="0"/>
              </a:spcBef>
              <a:spcAft>
                <a:spcPts val="0"/>
              </a:spcAft>
            </a:pPr>
            <a:endParaRPr lang="en-US"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L="228600" marR="0">
              <a:lnSpc>
                <a:spcPct val="115000"/>
              </a:lnSpc>
              <a:spcBef>
                <a:spcPts val="0"/>
              </a:spcBef>
              <a:spcAft>
                <a:spcPts val="0"/>
              </a:spcAft>
            </a:pPr>
            <a:endParaRPr lang="en-US"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L="228600" marR="0">
              <a:lnSpc>
                <a:spcPct val="115000"/>
              </a:lnSpc>
              <a:spcBef>
                <a:spcPts val="0"/>
              </a:spcBef>
              <a:spcAft>
                <a:spcPts val="0"/>
              </a:spcAft>
            </a:pPr>
            <a:endParaRPr lang="en-US"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L="228600" marR="0">
              <a:lnSpc>
                <a:spcPct val="115000"/>
              </a:lnSpc>
              <a:spcBef>
                <a:spcPts val="0"/>
              </a:spcBef>
              <a:spcAft>
                <a:spcPts val="0"/>
              </a:spcAft>
            </a:pPr>
            <a:endParaRPr lang="en-US"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L="228600" marR="0">
              <a:lnSpc>
                <a:spcPct val="115000"/>
              </a:lnSpc>
              <a:spcBef>
                <a:spcPts val="0"/>
              </a:spcBef>
              <a:spcAft>
                <a:spcPts val="0"/>
              </a:spcAft>
            </a:pPr>
            <a:r>
              <a:rPr lang="en-PH" sz="1200" dirty="0">
                <a:effectLst/>
                <a:latin typeface="Chivo Light" panose="020B0303030202020804" pitchFamily="34" charset="0"/>
                <a:ea typeface="Times New Roman" panose="02020603050405020304" pitchFamily="18" charset="0"/>
                <a:cs typeface="Times New Roman" panose="02020603050405020304" pitchFamily="18" charset="0"/>
              </a:rPr>
              <a:t> </a:t>
            </a:r>
          </a:p>
          <a:p>
            <a:pPr marL="228600" marR="0">
              <a:lnSpc>
                <a:spcPct val="115000"/>
              </a:lnSpc>
              <a:spcBef>
                <a:spcPts val="0"/>
              </a:spcBef>
              <a:spcAft>
                <a:spcPts val="0"/>
              </a:spcAft>
            </a:pPr>
            <a:endParaRPr lang="en-US"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L="228600" marR="0">
              <a:lnSpc>
                <a:spcPct val="115000"/>
              </a:lnSpc>
              <a:spcBef>
                <a:spcPts val="0"/>
              </a:spcBef>
              <a:spcAft>
                <a:spcPts val="0"/>
              </a:spcAft>
            </a:pPr>
            <a:endParaRPr lang="en-US"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L="228600" marR="0">
              <a:lnSpc>
                <a:spcPct val="115000"/>
              </a:lnSpc>
              <a:spcBef>
                <a:spcPts val="0"/>
              </a:spcBef>
              <a:spcAft>
                <a:spcPts val="0"/>
              </a:spcAft>
            </a:pPr>
            <a:endParaRPr lang="en-US"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L="228600" marR="0">
              <a:lnSpc>
                <a:spcPct val="115000"/>
              </a:lnSpc>
              <a:spcBef>
                <a:spcPts val="0"/>
              </a:spcBef>
              <a:spcAft>
                <a:spcPts val="0"/>
              </a:spcAft>
            </a:pPr>
            <a:endParaRPr lang="en-US" sz="1200" dirty="0">
              <a:solidFill>
                <a:schemeClr val="tx1">
                  <a:lumMod val="85000"/>
                  <a:lumOff val="15000"/>
                </a:schemeClr>
              </a:solidFill>
              <a:latin typeface="Chivo Light" panose="020B03030302020208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PH" sz="1300" cap="all" dirty="0">
                <a:solidFill>
                  <a:srgbClr val="4472C4"/>
                </a:solidFill>
                <a:effectLst/>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5" name="Slide Number Placeholder 4">
            <a:extLst>
              <a:ext uri="{FF2B5EF4-FFF2-40B4-BE49-F238E27FC236}">
                <a16:creationId xmlns:a16="http://schemas.microsoft.com/office/drawing/2014/main" id="{20D37455-6306-C54B-4596-D6D1D667E2A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600" b="0" i="0" u="none" strike="noStrike" kern="1200" cap="none" spc="0" normalizeH="0" baseline="0" noProof="0">
              <a:ln>
                <a:noFill/>
              </a:ln>
              <a:solidFill>
                <a:srgbClr val="00863D"/>
              </a:solidFill>
              <a:effectLst/>
              <a:uLnTx/>
              <a:uFillTx/>
              <a:latin typeface="Animosa Extra Bold" panose="00000900000000000000" pitchFamily="50" charset="0"/>
              <a:ea typeface="+mn-ea"/>
              <a:cs typeface="+mn-cs"/>
            </a:endParaRPr>
          </a:p>
          <a:p>
            <a:endParaRPr lang="en-US" dirty="0"/>
          </a:p>
        </p:txBody>
      </p:sp>
      <p:grpSp>
        <p:nvGrpSpPr>
          <p:cNvPr id="7" name="Group 6">
            <a:extLst>
              <a:ext uri="{FF2B5EF4-FFF2-40B4-BE49-F238E27FC236}">
                <a16:creationId xmlns:a16="http://schemas.microsoft.com/office/drawing/2014/main" id="{B98FB071-FAED-099A-6A94-3E5E52F3E7DD}"/>
              </a:ext>
            </a:extLst>
          </p:cNvPr>
          <p:cNvGrpSpPr/>
          <p:nvPr/>
        </p:nvGrpSpPr>
        <p:grpSpPr>
          <a:xfrm>
            <a:off x="5173027" y="2092888"/>
            <a:ext cx="6248083" cy="2649292"/>
            <a:chOff x="5173027" y="2092888"/>
            <a:chExt cx="6248083" cy="2649292"/>
          </a:xfrm>
        </p:grpSpPr>
        <p:grpSp>
          <p:nvGrpSpPr>
            <p:cNvPr id="30" name="Group 29">
              <a:extLst>
                <a:ext uri="{FF2B5EF4-FFF2-40B4-BE49-F238E27FC236}">
                  <a16:creationId xmlns:a16="http://schemas.microsoft.com/office/drawing/2014/main" id="{13360F98-7F04-57D4-3FC4-BFDED91973B3}"/>
                </a:ext>
              </a:extLst>
            </p:cNvPr>
            <p:cNvGrpSpPr/>
            <p:nvPr/>
          </p:nvGrpSpPr>
          <p:grpSpPr>
            <a:xfrm>
              <a:off x="5173027" y="2092888"/>
              <a:ext cx="6248083" cy="2649292"/>
              <a:chOff x="5173027" y="1349938"/>
              <a:chExt cx="6248083" cy="2649292"/>
            </a:xfrm>
          </p:grpSpPr>
          <p:pic>
            <p:nvPicPr>
              <p:cNvPr id="19" name="Picture 18">
                <a:extLst>
                  <a:ext uri="{FF2B5EF4-FFF2-40B4-BE49-F238E27FC236}">
                    <a16:creationId xmlns:a16="http://schemas.microsoft.com/office/drawing/2014/main" id="{EE5BD7AE-5768-F03C-7983-B0F1BC5A4F59}"/>
                  </a:ext>
                </a:extLst>
              </p:cNvPr>
              <p:cNvPicPr>
                <a:picLocks noChangeAspect="1"/>
              </p:cNvPicPr>
              <p:nvPr/>
            </p:nvPicPr>
            <p:blipFill>
              <a:blip r:embed="rId2"/>
              <a:stretch>
                <a:fillRect/>
              </a:stretch>
            </p:blipFill>
            <p:spPr>
              <a:xfrm>
                <a:off x="5173027" y="1349938"/>
                <a:ext cx="6189345" cy="2518410"/>
              </a:xfrm>
              <a:prstGeom prst="rect">
                <a:avLst/>
              </a:prstGeom>
            </p:spPr>
          </p:pic>
          <p:grpSp>
            <p:nvGrpSpPr>
              <p:cNvPr id="29" name="Group 28">
                <a:extLst>
                  <a:ext uri="{FF2B5EF4-FFF2-40B4-BE49-F238E27FC236}">
                    <a16:creationId xmlns:a16="http://schemas.microsoft.com/office/drawing/2014/main" id="{C1ADD065-8D49-45CD-10B6-E3AA1580490E}"/>
                  </a:ext>
                </a:extLst>
              </p:cNvPr>
              <p:cNvGrpSpPr/>
              <p:nvPr/>
            </p:nvGrpSpPr>
            <p:grpSpPr>
              <a:xfrm>
                <a:off x="5317490" y="1868170"/>
                <a:ext cx="6103620" cy="2131060"/>
                <a:chOff x="3044190" y="2363470"/>
                <a:chExt cx="6103620" cy="2131060"/>
              </a:xfrm>
            </p:grpSpPr>
            <p:sp>
              <p:nvSpPr>
                <p:cNvPr id="20" name="Rectangle 19">
                  <a:extLst>
                    <a:ext uri="{FF2B5EF4-FFF2-40B4-BE49-F238E27FC236}">
                      <a16:creationId xmlns:a16="http://schemas.microsoft.com/office/drawing/2014/main" id="{C4C85989-BAD3-7CFD-3150-EA0EE4891946}"/>
                    </a:ext>
                  </a:extLst>
                </p:cNvPr>
                <p:cNvSpPr/>
                <p:nvPr/>
              </p:nvSpPr>
              <p:spPr>
                <a:xfrm>
                  <a:off x="8072120" y="2454910"/>
                  <a:ext cx="351790" cy="24892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cxnSp>
              <p:nvCxnSpPr>
                <p:cNvPr id="21" name="Straight Arrow Connector 20">
                  <a:extLst>
                    <a:ext uri="{FF2B5EF4-FFF2-40B4-BE49-F238E27FC236}">
                      <a16:creationId xmlns:a16="http://schemas.microsoft.com/office/drawing/2014/main" id="{29F44432-89D8-6F43-C05A-E1C50C60F2F8}"/>
                    </a:ext>
                  </a:extLst>
                </p:cNvPr>
                <p:cNvCxnSpPr/>
                <p:nvPr/>
              </p:nvCxnSpPr>
              <p:spPr>
                <a:xfrm flipV="1">
                  <a:off x="8418195" y="2638425"/>
                  <a:ext cx="142240" cy="711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2" name="Text Box 858">
                  <a:extLst>
                    <a:ext uri="{FF2B5EF4-FFF2-40B4-BE49-F238E27FC236}">
                      <a16:creationId xmlns:a16="http://schemas.microsoft.com/office/drawing/2014/main" id="{2FD2714F-5844-70F5-50A8-4EBFC4A88AC6}"/>
                    </a:ext>
                  </a:extLst>
                </p:cNvPr>
                <p:cNvSpPr txBox="1"/>
                <p:nvPr/>
              </p:nvSpPr>
              <p:spPr>
                <a:xfrm>
                  <a:off x="8591550" y="2363470"/>
                  <a:ext cx="47498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r>
                    <a:rPr lang="en-US" sz="1100">
                      <a:effectLst/>
                      <a:ea typeface="Calibri" panose="020F0502020204030204" pitchFamily="34" charset="0"/>
                      <a:cs typeface="Times New Roman" panose="02020603050405020304" pitchFamily="18" charset="0"/>
                    </a:rPr>
                    <a:t>7.1.</a:t>
                  </a:r>
                </a:p>
              </p:txBody>
            </p:sp>
            <p:pic>
              <p:nvPicPr>
                <p:cNvPr id="24" name="Picture 23">
                  <a:extLst>
                    <a:ext uri="{FF2B5EF4-FFF2-40B4-BE49-F238E27FC236}">
                      <a16:creationId xmlns:a16="http://schemas.microsoft.com/office/drawing/2014/main" id="{A4E7D88B-F7D8-036F-DEA6-3FF07B98844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44190" y="2760980"/>
                  <a:ext cx="6103620" cy="1733550"/>
                </a:xfrm>
                <a:prstGeom prst="rect">
                  <a:avLst/>
                </a:prstGeom>
                <a:ln>
                  <a:noFill/>
                </a:ln>
                <a:effectLst>
                  <a:outerShdw blurRad="292100" dist="139700" dir="2700000" algn="tl" rotWithShape="0">
                    <a:srgbClr val="333333">
                      <a:alpha val="65000"/>
                    </a:srgbClr>
                  </a:outerShdw>
                </a:effectLst>
              </p:spPr>
            </p:pic>
            <p:sp>
              <p:nvSpPr>
                <p:cNvPr id="25" name="Curved Right Arrow 855">
                  <a:extLst>
                    <a:ext uri="{FF2B5EF4-FFF2-40B4-BE49-F238E27FC236}">
                      <a16:creationId xmlns:a16="http://schemas.microsoft.com/office/drawing/2014/main" id="{238A04A9-D067-20F5-E2FF-3C4ABB516695}"/>
                    </a:ext>
                  </a:extLst>
                </p:cNvPr>
                <p:cNvSpPr/>
                <p:nvPr/>
              </p:nvSpPr>
              <p:spPr>
                <a:xfrm>
                  <a:off x="7597140" y="2501900"/>
                  <a:ext cx="438785" cy="450850"/>
                </a:xfrm>
                <a:prstGeom prst="curvedRightArrow">
                  <a:avLst/>
                </a:prstGeom>
              </p:spPr>
              <p:style>
                <a:lnRef idx="2">
                  <a:schemeClr val="dk1">
                    <a:shade val="50000"/>
                  </a:schemeClr>
                </a:lnRef>
                <a:fillRef idx="1">
                  <a:schemeClr val="dk1"/>
                </a:fillRef>
                <a:effectRef idx="0">
                  <a:schemeClr val="dk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6" name="Rectangle 25">
                  <a:extLst>
                    <a:ext uri="{FF2B5EF4-FFF2-40B4-BE49-F238E27FC236}">
                      <a16:creationId xmlns:a16="http://schemas.microsoft.com/office/drawing/2014/main" id="{E18D9C7D-66BE-B442-981A-4C971526617F}"/>
                    </a:ext>
                  </a:extLst>
                </p:cNvPr>
                <p:cNvSpPr/>
                <p:nvPr/>
              </p:nvSpPr>
              <p:spPr>
                <a:xfrm>
                  <a:off x="6504305" y="3159125"/>
                  <a:ext cx="446405" cy="24892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cxnSp>
              <p:nvCxnSpPr>
                <p:cNvPr id="27" name="Straight Arrow Connector 26">
                  <a:extLst>
                    <a:ext uri="{FF2B5EF4-FFF2-40B4-BE49-F238E27FC236}">
                      <a16:creationId xmlns:a16="http://schemas.microsoft.com/office/drawing/2014/main" id="{A9FA0CC3-F518-01E1-A546-7DB4EC12BDC1}"/>
                    </a:ext>
                  </a:extLst>
                </p:cNvPr>
                <p:cNvCxnSpPr/>
                <p:nvPr/>
              </p:nvCxnSpPr>
              <p:spPr>
                <a:xfrm flipV="1">
                  <a:off x="6976110" y="3119755"/>
                  <a:ext cx="142240" cy="711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8" name="Text Box 817">
                  <a:extLst>
                    <a:ext uri="{FF2B5EF4-FFF2-40B4-BE49-F238E27FC236}">
                      <a16:creationId xmlns:a16="http://schemas.microsoft.com/office/drawing/2014/main" id="{5FBEB286-18BE-A06E-54E8-716F001BA2B8}"/>
                    </a:ext>
                  </a:extLst>
                </p:cNvPr>
                <p:cNvSpPr txBox="1"/>
                <p:nvPr/>
              </p:nvSpPr>
              <p:spPr>
                <a:xfrm>
                  <a:off x="7139305" y="2925445"/>
                  <a:ext cx="47498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r>
                    <a:rPr lang="en-US" sz="1100">
                      <a:effectLst/>
                      <a:ea typeface="Calibri" panose="020F0502020204030204" pitchFamily="34" charset="0"/>
                      <a:cs typeface="Times New Roman" panose="02020603050405020304" pitchFamily="18" charset="0"/>
                    </a:rPr>
                    <a:t>7.2</a:t>
                  </a:r>
                </a:p>
              </p:txBody>
            </p:sp>
          </p:grpSp>
        </p:grpSp>
        <p:pic>
          <p:nvPicPr>
            <p:cNvPr id="6" name="Picture 5">
              <a:extLst>
                <a:ext uri="{FF2B5EF4-FFF2-40B4-BE49-F238E27FC236}">
                  <a16:creationId xmlns:a16="http://schemas.microsoft.com/office/drawing/2014/main" id="{1D43B50E-2B9D-F1BF-347A-9B59DC8E5DDF}"/>
                </a:ext>
              </a:extLst>
            </p:cNvPr>
            <p:cNvPicPr>
              <a:picLocks noChangeAspect="1"/>
            </p:cNvPicPr>
            <p:nvPr/>
          </p:nvPicPr>
          <p:blipFill>
            <a:blip r:embed="rId4"/>
            <a:stretch>
              <a:fillRect/>
            </a:stretch>
          </p:blipFill>
          <p:spPr>
            <a:xfrm>
              <a:off x="6204838" y="2132622"/>
              <a:ext cx="1068417" cy="167481"/>
            </a:xfrm>
            <a:prstGeom prst="rect">
              <a:avLst/>
            </a:prstGeom>
          </p:spPr>
        </p:pic>
      </p:grpSp>
    </p:spTree>
    <p:extLst>
      <p:ext uri="{BB962C8B-B14F-4D97-AF65-F5344CB8AC3E}">
        <p14:creationId xmlns:p14="http://schemas.microsoft.com/office/powerpoint/2010/main" val="9176013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extBox 22">
            <a:extLst>
              <a:ext uri="{FF2B5EF4-FFF2-40B4-BE49-F238E27FC236}">
                <a16:creationId xmlns:a16="http://schemas.microsoft.com/office/drawing/2014/main" id="{2384804B-EE2E-A346-8D83-E2034F24A0DC}"/>
              </a:ext>
            </a:extLst>
          </p:cNvPr>
          <p:cNvSpPr txBox="1"/>
          <p:nvPr/>
        </p:nvSpPr>
        <p:spPr>
          <a:xfrm>
            <a:off x="805110" y="965527"/>
            <a:ext cx="3852819" cy="337392"/>
          </a:xfrm>
          <a:prstGeom prst="rect">
            <a:avLst/>
          </a:prstGeom>
          <a:solidFill>
            <a:srgbClr val="00B050"/>
          </a:solidFill>
          <a:effectLst/>
        </p:spPr>
        <p:txBody>
          <a:bodyPr wrap="square" rtlCol="0">
            <a:spAutoFit/>
          </a:bodyPr>
          <a:lstStyle/>
          <a:p>
            <a:pPr algn="ctr"/>
            <a:r>
              <a:rPr lang="en-US" sz="1600" dirty="0">
                <a:solidFill>
                  <a:schemeClr val="bg1"/>
                </a:solidFill>
                <a:latin typeface="+mj-lt"/>
              </a:rPr>
              <a:t>How To Edit Sales Return Transaction?</a:t>
            </a:r>
            <a:endParaRPr lang="en-US" sz="2000" dirty="0">
              <a:solidFill>
                <a:srgbClr val="007434"/>
              </a:solidFill>
              <a:latin typeface="+mj-lt"/>
            </a:endParaRPr>
          </a:p>
        </p:txBody>
      </p:sp>
      <p:sp>
        <p:nvSpPr>
          <p:cNvPr id="12" name="Text Box 18">
            <a:extLst>
              <a:ext uri="{FF2B5EF4-FFF2-40B4-BE49-F238E27FC236}">
                <a16:creationId xmlns:a16="http://schemas.microsoft.com/office/drawing/2014/main" id="{9A8214E9-BA24-C1CD-FE2E-59471D8D7178}"/>
              </a:ext>
            </a:extLst>
          </p:cNvPr>
          <p:cNvSpPr txBox="1"/>
          <p:nvPr/>
        </p:nvSpPr>
        <p:spPr>
          <a:xfrm>
            <a:off x="540588" y="1491920"/>
            <a:ext cx="4179346" cy="4272507"/>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228600" marR="0">
              <a:lnSpc>
                <a:spcPct val="115000"/>
              </a:lnSpc>
              <a:spcBef>
                <a:spcPts val="0"/>
              </a:spcBef>
              <a:spcAft>
                <a:spcPts val="0"/>
              </a:spcAft>
            </a:pPr>
            <a:r>
              <a:rPr lang="en-US" sz="1200" b="1"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1.1.</a:t>
            </a:r>
            <a:r>
              <a:rPr lang="en-US" sz="1200" b="1" dirty="0">
                <a:solidFill>
                  <a:srgbClr val="00863D"/>
                </a:solidFill>
                <a:latin typeface="Chivo Light" panose="020B0303030202020804" pitchFamily="34" charset="0"/>
                <a:ea typeface="Times New Roman" panose="02020603050405020304" pitchFamily="18" charset="0"/>
                <a:cs typeface="Times New Roman" panose="02020603050405020304" pitchFamily="18" charset="0"/>
              </a:rPr>
              <a:t>  </a:t>
            </a:r>
            <a:r>
              <a:rPr lang="en-US" sz="1200" dirty="0">
                <a:effectLst/>
                <a:latin typeface="Chivo Light" panose="020B0303030202020804" pitchFamily="34" charset="0"/>
                <a:ea typeface="Times New Roman" panose="02020603050405020304" pitchFamily="18" charset="0"/>
                <a:cs typeface="Times New Roman" panose="02020603050405020304" pitchFamily="18" charset="0"/>
              </a:rPr>
              <a:t>In the sales return – main window, search the transaction you wish to edit its information in the search bar. Or,</a:t>
            </a:r>
          </a:p>
          <a:p>
            <a:pPr marL="228600" marR="0">
              <a:lnSpc>
                <a:spcPct val="115000"/>
              </a:lnSpc>
              <a:spcBef>
                <a:spcPts val="0"/>
              </a:spcBef>
              <a:spcAft>
                <a:spcPts val="0"/>
              </a:spcAft>
            </a:pPr>
            <a:endParaRPr lang="en-US"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L="228600" marR="0">
              <a:lnSpc>
                <a:spcPct val="115000"/>
              </a:lnSpc>
              <a:spcBef>
                <a:spcPts val="0"/>
              </a:spcBef>
              <a:spcAft>
                <a:spcPts val="0"/>
              </a:spcAft>
            </a:pPr>
            <a:r>
              <a:rPr lang="en-US" sz="1200" b="1"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1.2</a:t>
            </a:r>
            <a:r>
              <a:rPr lang="en-US" sz="1200" dirty="0">
                <a:effectLst/>
                <a:latin typeface="Chivo Light" panose="020B0303030202020804" pitchFamily="34" charset="0"/>
                <a:ea typeface="Times New Roman" panose="02020603050405020304" pitchFamily="18" charset="0"/>
                <a:cs typeface="Times New Roman" panose="02020603050405020304" pitchFamily="18" charset="0"/>
              </a:rPr>
              <a:t> In sales return – main form, click the lookup button and select the transaction you wish to edit its information by typing its transaction number in the search bar.</a:t>
            </a:r>
          </a:p>
          <a:p>
            <a:pPr marL="228600" marR="0">
              <a:lnSpc>
                <a:spcPct val="115000"/>
              </a:lnSpc>
              <a:spcBef>
                <a:spcPts val="0"/>
              </a:spcBef>
              <a:spcAft>
                <a:spcPts val="0"/>
              </a:spcAft>
            </a:pPr>
            <a:endParaRPr lang="en-US"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L="228600" marR="0">
              <a:lnSpc>
                <a:spcPct val="115000"/>
              </a:lnSpc>
              <a:spcBef>
                <a:spcPts val="0"/>
              </a:spcBef>
              <a:spcAft>
                <a:spcPts val="0"/>
              </a:spcAft>
            </a:pPr>
            <a:endParaRPr lang="en-US" sz="1200" dirty="0">
              <a:latin typeface="Chivo Light" panose="020B0303030202020804" pitchFamily="34" charset="0"/>
              <a:ea typeface="Times New Roman" panose="02020603050405020304" pitchFamily="18" charset="0"/>
              <a:cs typeface="Times New Roman" panose="02020603050405020304" pitchFamily="18" charset="0"/>
            </a:endParaRPr>
          </a:p>
          <a:p>
            <a:pPr marL="228600" marR="0">
              <a:lnSpc>
                <a:spcPct val="115000"/>
              </a:lnSpc>
              <a:spcBef>
                <a:spcPts val="0"/>
              </a:spcBef>
              <a:spcAft>
                <a:spcPts val="0"/>
              </a:spcAft>
            </a:pPr>
            <a:r>
              <a:rPr lang="en-US" sz="1200" b="1"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2.</a:t>
            </a:r>
            <a:r>
              <a:rPr lang="en-US" sz="1200" dirty="0">
                <a:effectLst/>
                <a:latin typeface="Chivo Light" panose="020B0303030202020804" pitchFamily="34" charset="0"/>
                <a:ea typeface="Times New Roman" panose="02020603050405020304" pitchFamily="18" charset="0"/>
                <a:cs typeface="Times New Roman" panose="02020603050405020304" pitchFamily="18" charset="0"/>
              </a:rPr>
              <a:t> After you select the sales return transaction, if you wish to edit the header of the transaction click edit button. </a:t>
            </a:r>
          </a:p>
          <a:p>
            <a:pPr marL="228600" marR="0">
              <a:lnSpc>
                <a:spcPct val="115000"/>
              </a:lnSpc>
              <a:spcBef>
                <a:spcPts val="0"/>
              </a:spcBef>
              <a:spcAft>
                <a:spcPts val="0"/>
              </a:spcAft>
            </a:pPr>
            <a:endParaRPr lang="en-US"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L="228600" marR="0">
              <a:lnSpc>
                <a:spcPct val="115000"/>
              </a:lnSpc>
              <a:spcBef>
                <a:spcPts val="0"/>
              </a:spcBef>
              <a:spcAft>
                <a:spcPts val="0"/>
              </a:spcAft>
            </a:pPr>
            <a:r>
              <a:rPr lang="en-US" sz="1200" b="1"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3.</a:t>
            </a:r>
            <a:r>
              <a:rPr lang="en-US" sz="1200"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 </a:t>
            </a:r>
            <a:r>
              <a:rPr lang="en-US" sz="1200" dirty="0">
                <a:effectLst/>
                <a:latin typeface="Chivo Light" panose="020B0303030202020804" pitchFamily="34" charset="0"/>
                <a:ea typeface="Times New Roman" panose="02020603050405020304" pitchFamily="18" charset="0"/>
                <a:cs typeface="Times New Roman" panose="02020603050405020304" pitchFamily="18" charset="0"/>
              </a:rPr>
              <a:t>If you are done editing the header, click save button in the upper side of the header.</a:t>
            </a:r>
          </a:p>
          <a:p>
            <a:pPr marL="228600" marR="0">
              <a:lnSpc>
                <a:spcPct val="115000"/>
              </a:lnSpc>
              <a:spcBef>
                <a:spcPts val="0"/>
              </a:spcBef>
              <a:spcAft>
                <a:spcPts val="0"/>
              </a:spcAft>
            </a:pPr>
            <a:endParaRPr lang="en-PH"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L="228600" marR="0">
              <a:lnSpc>
                <a:spcPct val="115000"/>
              </a:lnSpc>
              <a:spcBef>
                <a:spcPts val="0"/>
              </a:spcBef>
              <a:spcAft>
                <a:spcPts val="0"/>
              </a:spcAft>
            </a:pPr>
            <a:endParaRPr lang="en-PH"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L="228600" marR="0">
              <a:lnSpc>
                <a:spcPct val="115000"/>
              </a:lnSpc>
              <a:spcBef>
                <a:spcPts val="0"/>
              </a:spcBef>
              <a:spcAft>
                <a:spcPts val="0"/>
              </a:spcAft>
            </a:pPr>
            <a:endParaRPr lang="en-PH"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L="228600" marR="0">
              <a:lnSpc>
                <a:spcPct val="115000"/>
              </a:lnSpc>
              <a:spcBef>
                <a:spcPts val="0"/>
              </a:spcBef>
              <a:spcAft>
                <a:spcPts val="0"/>
              </a:spcAft>
            </a:pPr>
            <a:endParaRPr lang="en-US" sz="1200" dirty="0">
              <a:effectLst/>
              <a:latin typeface="Chivo Light" panose="020B0303030202020804" pitchFamily="34" charset="0"/>
              <a:ea typeface="Times New Roman" panose="02020603050405020304" pitchFamily="18" charset="0"/>
              <a:cs typeface="Times New Roman" panose="02020603050405020304" pitchFamily="18" charset="0"/>
            </a:endParaRPr>
          </a:p>
        </p:txBody>
      </p:sp>
      <p:sp>
        <p:nvSpPr>
          <p:cNvPr id="3" name="Text Box 6">
            <a:extLst>
              <a:ext uri="{FF2B5EF4-FFF2-40B4-BE49-F238E27FC236}">
                <a16:creationId xmlns:a16="http://schemas.microsoft.com/office/drawing/2014/main" id="{388AC9D8-E4B5-58A0-4094-8A9CB20669C4}"/>
              </a:ext>
            </a:extLst>
          </p:cNvPr>
          <p:cNvSpPr txBox="1"/>
          <p:nvPr/>
        </p:nvSpPr>
        <p:spPr>
          <a:xfrm>
            <a:off x="0" y="-11307"/>
            <a:ext cx="5374888"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endParaRPr lang="en-US" sz="1400" dirty="0">
              <a:solidFill>
                <a:srgbClr val="007434"/>
              </a:solidFill>
              <a:effectLst/>
              <a:ea typeface="Open Sans" panose="020B0606030504020204" pitchFamily="34" charset="0"/>
              <a:cs typeface="Times New Roman" panose="02020603050405020304" pitchFamily="18" charset="0"/>
            </a:endParaRPr>
          </a:p>
        </p:txBody>
      </p:sp>
      <p:sp>
        <p:nvSpPr>
          <p:cNvPr id="7" name="TextBox 6">
            <a:extLst>
              <a:ext uri="{FF2B5EF4-FFF2-40B4-BE49-F238E27FC236}">
                <a16:creationId xmlns:a16="http://schemas.microsoft.com/office/drawing/2014/main" id="{A3970DB8-934F-E30F-0602-D150FFB10E03}"/>
              </a:ext>
            </a:extLst>
          </p:cNvPr>
          <p:cNvSpPr txBox="1"/>
          <p:nvPr/>
        </p:nvSpPr>
        <p:spPr>
          <a:xfrm>
            <a:off x="7296700" y="2660171"/>
            <a:ext cx="2552700" cy="281231"/>
          </a:xfrm>
          <a:prstGeom prst="rect">
            <a:avLst/>
          </a:prstGeom>
          <a:noFill/>
        </p:spPr>
        <p:txBody>
          <a:bodyPr wrap="square">
            <a:spAutoFit/>
          </a:bodyPr>
          <a:lstStyle/>
          <a:p>
            <a:pPr marL="0" marR="0" algn="ctr">
              <a:lnSpc>
                <a:spcPct val="107000"/>
              </a:lnSpc>
              <a:spcBef>
                <a:spcPts val="0"/>
              </a:spcBef>
              <a:spcAft>
                <a:spcPts val="800"/>
              </a:spcAft>
            </a:pPr>
            <a:r>
              <a:rPr lang="en-PH" sz="1200" b="1" dirty="0">
                <a:effectLst/>
                <a:latin typeface="Calibri" panose="020F0502020204030204" pitchFamily="34" charset="0"/>
                <a:ea typeface="Calibri" panose="020F0502020204030204" pitchFamily="34" charset="0"/>
                <a:cs typeface="Calibri" panose="020F0502020204030204" pitchFamily="34" charset="0"/>
              </a:rPr>
              <a:t>Sales Return – Main </a:t>
            </a:r>
            <a:r>
              <a:rPr lang="en-PH" sz="1200" b="1" dirty="0">
                <a:latin typeface="Calibri" panose="020F0502020204030204" pitchFamily="34" charset="0"/>
                <a:ea typeface="Calibri" panose="020F0502020204030204" pitchFamily="34" charset="0"/>
                <a:cs typeface="Calibri" panose="020F0502020204030204" pitchFamily="34" charset="0"/>
              </a:rPr>
              <a:t>Window</a:t>
            </a:r>
            <a:endParaRPr lang="en-US" sz="1200" b="1" dirty="0">
              <a:effectLst/>
              <a:latin typeface="Calibri" panose="020F0502020204030204" pitchFamily="34" charset="0"/>
              <a:ea typeface="Calibri" panose="020F0502020204030204" pitchFamily="34" charset="0"/>
              <a:cs typeface="Calibri" panose="020F0502020204030204" pitchFamily="34" charset="0"/>
            </a:endParaRPr>
          </a:p>
        </p:txBody>
      </p:sp>
      <p:sp>
        <p:nvSpPr>
          <p:cNvPr id="22" name="TextBox 21">
            <a:extLst>
              <a:ext uri="{FF2B5EF4-FFF2-40B4-BE49-F238E27FC236}">
                <a16:creationId xmlns:a16="http://schemas.microsoft.com/office/drawing/2014/main" id="{B71D43FF-7764-D088-83B4-EE19BA2A9179}"/>
              </a:ext>
            </a:extLst>
          </p:cNvPr>
          <p:cNvSpPr txBox="1"/>
          <p:nvPr/>
        </p:nvSpPr>
        <p:spPr>
          <a:xfrm>
            <a:off x="7296700" y="5764427"/>
            <a:ext cx="2552700" cy="281231"/>
          </a:xfrm>
          <a:prstGeom prst="rect">
            <a:avLst/>
          </a:prstGeom>
          <a:noFill/>
        </p:spPr>
        <p:txBody>
          <a:bodyPr wrap="square">
            <a:spAutoFit/>
          </a:bodyPr>
          <a:lstStyle/>
          <a:p>
            <a:pPr marL="0" marR="0" algn="ctr">
              <a:lnSpc>
                <a:spcPct val="107000"/>
              </a:lnSpc>
              <a:spcBef>
                <a:spcPts val="0"/>
              </a:spcBef>
              <a:spcAft>
                <a:spcPts val="800"/>
              </a:spcAft>
            </a:pPr>
            <a:r>
              <a:rPr lang="en-PH" sz="1200" b="1" dirty="0">
                <a:effectLst/>
                <a:latin typeface="Calibri" panose="020F0502020204030204" pitchFamily="34" charset="0"/>
                <a:ea typeface="Calibri" panose="020F0502020204030204" pitchFamily="34" charset="0"/>
                <a:cs typeface="Calibri" panose="020F0502020204030204" pitchFamily="34" charset="0"/>
              </a:rPr>
              <a:t>Sales </a:t>
            </a:r>
            <a:r>
              <a:rPr lang="en-PH" sz="1200" b="1" dirty="0">
                <a:latin typeface="Calibri" panose="020F0502020204030204" pitchFamily="34" charset="0"/>
                <a:ea typeface="Calibri" panose="020F0502020204030204" pitchFamily="34" charset="0"/>
                <a:cs typeface="Calibri" panose="020F0502020204030204" pitchFamily="34" charset="0"/>
              </a:rPr>
              <a:t>Return</a:t>
            </a:r>
            <a:r>
              <a:rPr lang="en-PH" sz="1200" b="1" dirty="0">
                <a:effectLst/>
                <a:latin typeface="Calibri" panose="020F0502020204030204" pitchFamily="34" charset="0"/>
                <a:ea typeface="Calibri" panose="020F0502020204030204" pitchFamily="34" charset="0"/>
                <a:cs typeface="Calibri" panose="020F0502020204030204" pitchFamily="34" charset="0"/>
              </a:rPr>
              <a:t> – Main </a:t>
            </a:r>
            <a:r>
              <a:rPr lang="en-PH" sz="1200" b="1" dirty="0">
                <a:latin typeface="Calibri" panose="020F0502020204030204" pitchFamily="34" charset="0"/>
                <a:ea typeface="Calibri" panose="020F0502020204030204" pitchFamily="34" charset="0"/>
                <a:cs typeface="Calibri" panose="020F0502020204030204" pitchFamily="34" charset="0"/>
              </a:rPr>
              <a:t>Form</a:t>
            </a:r>
            <a:endParaRPr lang="en-US" sz="1200" b="1" dirty="0">
              <a:effectLst/>
              <a:latin typeface="Calibri" panose="020F0502020204030204" pitchFamily="34" charset="0"/>
              <a:ea typeface="Calibri" panose="020F0502020204030204" pitchFamily="34" charset="0"/>
              <a:cs typeface="Calibri" panose="020F0502020204030204" pitchFamily="34" charset="0"/>
            </a:endParaRPr>
          </a:p>
        </p:txBody>
      </p:sp>
      <p:pic>
        <p:nvPicPr>
          <p:cNvPr id="47" name="Picture 46">
            <a:extLst>
              <a:ext uri="{FF2B5EF4-FFF2-40B4-BE49-F238E27FC236}">
                <a16:creationId xmlns:a16="http://schemas.microsoft.com/office/drawing/2014/main" id="{EB9667B4-7753-B2D9-D672-63734C0C4A2E}"/>
              </a:ext>
            </a:extLst>
          </p:cNvPr>
          <p:cNvPicPr>
            <a:picLocks noChangeAspect="1"/>
          </p:cNvPicPr>
          <p:nvPr/>
        </p:nvPicPr>
        <p:blipFill>
          <a:blip r:embed="rId2"/>
          <a:stretch>
            <a:fillRect/>
          </a:stretch>
        </p:blipFill>
        <p:spPr>
          <a:xfrm>
            <a:off x="10780479" y="6391410"/>
            <a:ext cx="1047454" cy="267619"/>
          </a:xfrm>
          <a:prstGeom prst="rect">
            <a:avLst/>
          </a:prstGeom>
          <a:effectLst/>
        </p:spPr>
      </p:pic>
      <p:sp>
        <p:nvSpPr>
          <p:cNvPr id="2" name="TextBox 1">
            <a:extLst>
              <a:ext uri="{FF2B5EF4-FFF2-40B4-BE49-F238E27FC236}">
                <a16:creationId xmlns:a16="http://schemas.microsoft.com/office/drawing/2014/main" id="{A310AECA-FBD8-D866-0D5A-A2A55DD40DF5}"/>
              </a:ext>
            </a:extLst>
          </p:cNvPr>
          <p:cNvSpPr txBox="1"/>
          <p:nvPr/>
        </p:nvSpPr>
        <p:spPr>
          <a:xfrm>
            <a:off x="585809" y="123167"/>
            <a:ext cx="4824617"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r>
              <a:rPr lang="en-US" sz="2000" dirty="0">
                <a:solidFill>
                  <a:schemeClr val="accent6">
                    <a:lumMod val="20000"/>
                    <a:lumOff val="80000"/>
                  </a:schemeClr>
                </a:solidFill>
                <a:latin typeface="+mj-lt"/>
              </a:rPr>
              <a:t>Sales/ Sales Return </a:t>
            </a:r>
            <a:r>
              <a:rPr lang="en-US" sz="1900" dirty="0">
                <a:solidFill>
                  <a:schemeClr val="accent6">
                    <a:lumMod val="20000"/>
                    <a:lumOff val="80000"/>
                  </a:schemeClr>
                </a:solidFill>
                <a:latin typeface="+mj-lt"/>
              </a:rPr>
              <a:t>- Module</a:t>
            </a:r>
          </a:p>
          <a:p>
            <a:endParaRPr lang="en-US" sz="2000" dirty="0">
              <a:solidFill>
                <a:srgbClr val="007434"/>
              </a:solidFill>
              <a:latin typeface="+mj-lt"/>
            </a:endParaRPr>
          </a:p>
        </p:txBody>
      </p:sp>
      <p:pic>
        <p:nvPicPr>
          <p:cNvPr id="4" name="Picture 3">
            <a:extLst>
              <a:ext uri="{FF2B5EF4-FFF2-40B4-BE49-F238E27FC236}">
                <a16:creationId xmlns:a16="http://schemas.microsoft.com/office/drawing/2014/main" id="{CF925A02-261B-A465-8FD9-EE8E2BD658E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33621" y="965527"/>
            <a:ext cx="6078855" cy="1637665"/>
          </a:xfrm>
          <a:prstGeom prst="rect">
            <a:avLst/>
          </a:prstGeom>
        </p:spPr>
      </p:pic>
      <p:grpSp>
        <p:nvGrpSpPr>
          <p:cNvPr id="8" name="Group 7">
            <a:extLst>
              <a:ext uri="{FF2B5EF4-FFF2-40B4-BE49-F238E27FC236}">
                <a16:creationId xmlns:a16="http://schemas.microsoft.com/office/drawing/2014/main" id="{75480722-146B-DCDA-3673-782BA10FB73F}"/>
              </a:ext>
            </a:extLst>
          </p:cNvPr>
          <p:cNvGrpSpPr/>
          <p:nvPr/>
        </p:nvGrpSpPr>
        <p:grpSpPr>
          <a:xfrm>
            <a:off x="5749078" y="1784359"/>
            <a:ext cx="1475739" cy="275590"/>
            <a:chOff x="0" y="1"/>
            <a:chExt cx="1476374" cy="276224"/>
          </a:xfrm>
        </p:grpSpPr>
        <p:sp>
          <p:nvSpPr>
            <p:cNvPr id="9" name="Rectangle 8">
              <a:extLst>
                <a:ext uri="{FF2B5EF4-FFF2-40B4-BE49-F238E27FC236}">
                  <a16:creationId xmlns:a16="http://schemas.microsoft.com/office/drawing/2014/main" id="{C8B76F8C-962E-F9AE-B5E3-9CA261B23804}"/>
                </a:ext>
              </a:extLst>
            </p:cNvPr>
            <p:cNvSpPr/>
            <p:nvPr/>
          </p:nvSpPr>
          <p:spPr>
            <a:xfrm>
              <a:off x="0" y="1"/>
              <a:ext cx="800100" cy="26670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cxnSp>
          <p:nvCxnSpPr>
            <p:cNvPr id="10" name="Straight Arrow Connector 9">
              <a:extLst>
                <a:ext uri="{FF2B5EF4-FFF2-40B4-BE49-F238E27FC236}">
                  <a16:creationId xmlns:a16="http://schemas.microsoft.com/office/drawing/2014/main" id="{DEC1EC6A-1E11-5DA3-54AA-67351A00D710}"/>
                </a:ext>
              </a:extLst>
            </p:cNvPr>
            <p:cNvCxnSpPr/>
            <p:nvPr/>
          </p:nvCxnSpPr>
          <p:spPr>
            <a:xfrm>
              <a:off x="800100" y="133350"/>
              <a:ext cx="200025" cy="952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1" name="Text Box 864">
              <a:extLst>
                <a:ext uri="{FF2B5EF4-FFF2-40B4-BE49-F238E27FC236}">
                  <a16:creationId xmlns:a16="http://schemas.microsoft.com/office/drawing/2014/main" id="{BFD05D10-8D4B-1871-2241-EF7B8A113F41}"/>
                </a:ext>
              </a:extLst>
            </p:cNvPr>
            <p:cNvSpPr txBox="1"/>
            <p:nvPr/>
          </p:nvSpPr>
          <p:spPr>
            <a:xfrm>
              <a:off x="1009649" y="28575"/>
              <a:ext cx="466725" cy="2476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r>
                <a:rPr lang="en-US" sz="1100">
                  <a:effectLst/>
                  <a:ea typeface="Calibri" panose="020F0502020204030204" pitchFamily="34" charset="0"/>
                  <a:cs typeface="Times New Roman" panose="02020603050405020304" pitchFamily="18" charset="0"/>
                </a:rPr>
                <a:t>1.1.</a:t>
              </a:r>
            </a:p>
          </p:txBody>
        </p:sp>
      </p:grpSp>
      <p:grpSp>
        <p:nvGrpSpPr>
          <p:cNvPr id="72" name="Group 71">
            <a:extLst>
              <a:ext uri="{FF2B5EF4-FFF2-40B4-BE49-F238E27FC236}">
                <a16:creationId xmlns:a16="http://schemas.microsoft.com/office/drawing/2014/main" id="{63E2F765-9806-8D76-FE9C-42C564A2290D}"/>
              </a:ext>
            </a:extLst>
          </p:cNvPr>
          <p:cNvGrpSpPr/>
          <p:nvPr/>
        </p:nvGrpSpPr>
        <p:grpSpPr>
          <a:xfrm>
            <a:off x="4918392" y="3697568"/>
            <a:ext cx="6749330" cy="1908644"/>
            <a:chOff x="4918392" y="3440914"/>
            <a:chExt cx="6749330" cy="1908644"/>
          </a:xfrm>
        </p:grpSpPr>
        <p:pic>
          <p:nvPicPr>
            <p:cNvPr id="13" name="Picture 12">
              <a:extLst>
                <a:ext uri="{FF2B5EF4-FFF2-40B4-BE49-F238E27FC236}">
                  <a16:creationId xmlns:a16="http://schemas.microsoft.com/office/drawing/2014/main" id="{784B7096-BFB3-9303-9A8D-12DC8E64E73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478377" y="3440914"/>
              <a:ext cx="6189345" cy="1792605"/>
            </a:xfrm>
            <a:prstGeom prst="rect">
              <a:avLst/>
            </a:prstGeom>
          </p:spPr>
        </p:pic>
        <p:grpSp>
          <p:nvGrpSpPr>
            <p:cNvPr id="70" name="Group 69">
              <a:extLst>
                <a:ext uri="{FF2B5EF4-FFF2-40B4-BE49-F238E27FC236}">
                  <a16:creationId xmlns:a16="http://schemas.microsoft.com/office/drawing/2014/main" id="{F52F3258-90DB-56B1-7A32-3B7E7D7E4EEE}"/>
                </a:ext>
              </a:extLst>
            </p:cNvPr>
            <p:cNvGrpSpPr/>
            <p:nvPr/>
          </p:nvGrpSpPr>
          <p:grpSpPr>
            <a:xfrm>
              <a:off x="4918392" y="3857943"/>
              <a:ext cx="6317616" cy="1491615"/>
              <a:chOff x="2937192" y="2683193"/>
              <a:chExt cx="6317616" cy="1491615"/>
            </a:xfrm>
          </p:grpSpPr>
          <p:grpSp>
            <p:nvGrpSpPr>
              <p:cNvPr id="60" name="Group 59">
                <a:extLst>
                  <a:ext uri="{FF2B5EF4-FFF2-40B4-BE49-F238E27FC236}">
                    <a16:creationId xmlns:a16="http://schemas.microsoft.com/office/drawing/2014/main" id="{E9E53C27-F79A-EAFA-BBCF-D5BFA0BE23E8}"/>
                  </a:ext>
                </a:extLst>
              </p:cNvPr>
              <p:cNvGrpSpPr/>
              <p:nvPr/>
            </p:nvGrpSpPr>
            <p:grpSpPr>
              <a:xfrm>
                <a:off x="4727257" y="2942908"/>
                <a:ext cx="952500" cy="304800"/>
                <a:chOff x="523874" y="28575"/>
                <a:chExt cx="952500" cy="304800"/>
              </a:xfrm>
            </p:grpSpPr>
            <p:sp>
              <p:nvSpPr>
                <p:cNvPr id="67" name="Rectangle 66">
                  <a:extLst>
                    <a:ext uri="{FF2B5EF4-FFF2-40B4-BE49-F238E27FC236}">
                      <a16:creationId xmlns:a16="http://schemas.microsoft.com/office/drawing/2014/main" id="{6137756C-3C0E-F435-9E1F-3924B03D8A28}"/>
                    </a:ext>
                  </a:extLst>
                </p:cNvPr>
                <p:cNvSpPr/>
                <p:nvPr/>
              </p:nvSpPr>
              <p:spPr>
                <a:xfrm>
                  <a:off x="523874" y="28575"/>
                  <a:ext cx="275881" cy="30480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cxnSp>
              <p:nvCxnSpPr>
                <p:cNvPr id="68" name="Straight Arrow Connector 67">
                  <a:extLst>
                    <a:ext uri="{FF2B5EF4-FFF2-40B4-BE49-F238E27FC236}">
                      <a16:creationId xmlns:a16="http://schemas.microsoft.com/office/drawing/2014/main" id="{41F8AC79-A4A1-13B4-312D-40AF3C612B3E}"/>
                    </a:ext>
                  </a:extLst>
                </p:cNvPr>
                <p:cNvCxnSpPr/>
                <p:nvPr/>
              </p:nvCxnSpPr>
              <p:spPr>
                <a:xfrm>
                  <a:off x="800100" y="133350"/>
                  <a:ext cx="200025" cy="952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69" name="Text Box 873">
                  <a:extLst>
                    <a:ext uri="{FF2B5EF4-FFF2-40B4-BE49-F238E27FC236}">
                      <a16:creationId xmlns:a16="http://schemas.microsoft.com/office/drawing/2014/main" id="{55B84B41-1B41-1AB2-C97B-D2FF920F23CC}"/>
                    </a:ext>
                  </a:extLst>
                </p:cNvPr>
                <p:cNvSpPr txBox="1"/>
                <p:nvPr/>
              </p:nvSpPr>
              <p:spPr>
                <a:xfrm>
                  <a:off x="1009649" y="28575"/>
                  <a:ext cx="466725" cy="2476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r>
                    <a:rPr lang="en-US" sz="1100">
                      <a:effectLst/>
                      <a:ea typeface="Calibri" panose="020F0502020204030204" pitchFamily="34" charset="0"/>
                      <a:cs typeface="Times New Roman" panose="02020603050405020304" pitchFamily="18" charset="0"/>
                    </a:rPr>
                    <a:t>1.2.</a:t>
                  </a:r>
                </a:p>
              </p:txBody>
            </p:sp>
          </p:grpSp>
          <p:grpSp>
            <p:nvGrpSpPr>
              <p:cNvPr id="61" name="Group 60">
                <a:extLst>
                  <a:ext uri="{FF2B5EF4-FFF2-40B4-BE49-F238E27FC236}">
                    <a16:creationId xmlns:a16="http://schemas.microsoft.com/office/drawing/2014/main" id="{C13D73A3-3E04-B5E9-89F2-1F527C8BBD8D}"/>
                  </a:ext>
                </a:extLst>
              </p:cNvPr>
              <p:cNvGrpSpPr/>
              <p:nvPr/>
            </p:nvGrpSpPr>
            <p:grpSpPr>
              <a:xfrm>
                <a:off x="8273732" y="2683193"/>
                <a:ext cx="981076" cy="304800"/>
                <a:chOff x="333374" y="28575"/>
                <a:chExt cx="981076" cy="304800"/>
              </a:xfrm>
            </p:grpSpPr>
            <p:sp>
              <p:nvSpPr>
                <p:cNvPr id="64" name="Rectangle 63">
                  <a:extLst>
                    <a:ext uri="{FF2B5EF4-FFF2-40B4-BE49-F238E27FC236}">
                      <a16:creationId xmlns:a16="http://schemas.microsoft.com/office/drawing/2014/main" id="{7B92B730-4209-7783-0A37-2565E7AA2D48}"/>
                    </a:ext>
                  </a:extLst>
                </p:cNvPr>
                <p:cNvSpPr/>
                <p:nvPr/>
              </p:nvSpPr>
              <p:spPr>
                <a:xfrm>
                  <a:off x="333374" y="28575"/>
                  <a:ext cx="466381" cy="30480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cxnSp>
              <p:nvCxnSpPr>
                <p:cNvPr id="65" name="Straight Arrow Connector 64">
                  <a:extLst>
                    <a:ext uri="{FF2B5EF4-FFF2-40B4-BE49-F238E27FC236}">
                      <a16:creationId xmlns:a16="http://schemas.microsoft.com/office/drawing/2014/main" id="{F2E5EF60-5DD0-1A5C-EFC7-AC65AD9F9712}"/>
                    </a:ext>
                  </a:extLst>
                </p:cNvPr>
                <p:cNvCxnSpPr/>
                <p:nvPr/>
              </p:nvCxnSpPr>
              <p:spPr>
                <a:xfrm>
                  <a:off x="800100" y="133350"/>
                  <a:ext cx="200025" cy="952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66" name="Text Box 868">
                  <a:extLst>
                    <a:ext uri="{FF2B5EF4-FFF2-40B4-BE49-F238E27FC236}">
                      <a16:creationId xmlns:a16="http://schemas.microsoft.com/office/drawing/2014/main" id="{28991118-A32C-B72C-B439-C65DF3561FF0}"/>
                    </a:ext>
                  </a:extLst>
                </p:cNvPr>
                <p:cNvSpPr txBox="1"/>
                <p:nvPr/>
              </p:nvSpPr>
              <p:spPr>
                <a:xfrm>
                  <a:off x="1009650" y="28575"/>
                  <a:ext cx="304800" cy="2476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r>
                    <a:rPr lang="en-US" sz="1100">
                      <a:effectLst/>
                      <a:ea typeface="Calibri" panose="020F0502020204030204" pitchFamily="34" charset="0"/>
                      <a:cs typeface="Times New Roman" panose="02020603050405020304" pitchFamily="18" charset="0"/>
                    </a:rPr>
                    <a:t>2.</a:t>
                  </a:r>
                </a:p>
              </p:txBody>
            </p:sp>
          </p:grpSp>
          <p:sp>
            <p:nvSpPr>
              <p:cNvPr id="62" name="Text Box 241">
                <a:extLst>
                  <a:ext uri="{FF2B5EF4-FFF2-40B4-BE49-F238E27FC236}">
                    <a16:creationId xmlns:a16="http://schemas.microsoft.com/office/drawing/2014/main" id="{9303A98F-2D72-A07D-D201-78670F7111C1}"/>
                  </a:ext>
                </a:extLst>
              </p:cNvPr>
              <p:cNvSpPr txBox="1">
                <a:spLocks noChangeArrowheads="1"/>
              </p:cNvSpPr>
              <p:nvPr/>
            </p:nvSpPr>
            <p:spPr bwMode="auto">
              <a:xfrm>
                <a:off x="4587557" y="3295333"/>
                <a:ext cx="2301875" cy="879475"/>
              </a:xfrm>
              <a:prstGeom prst="rect">
                <a:avLst/>
              </a:prstGeom>
              <a:solidFill>
                <a:schemeClr val="accent4">
                  <a:lumMod val="20000"/>
                  <a:lumOff val="80000"/>
                </a:schemeClr>
              </a:solidFill>
              <a:ln w="9525">
                <a:solidFill>
                  <a:srgbClr val="000000"/>
                </a:solidFill>
                <a:miter lim="800000"/>
                <a:headEnd/>
                <a:tailEnd/>
              </a:ln>
            </p:spPr>
            <p:txBody>
              <a:bodyPr rot="0" vert="horz" wrap="square" lIns="0" tIns="0" rIns="0" bIns="0" anchor="t" anchorCtr="0" upright="1">
                <a:noAutofit/>
              </a:bodyPr>
              <a:lstStyle/>
              <a:p>
                <a:pPr marL="101600" marR="0">
                  <a:lnSpc>
                    <a:spcPct val="107000"/>
                  </a:lnSpc>
                  <a:spcBef>
                    <a:spcPts val="440"/>
                  </a:spcBef>
                  <a:spcAft>
                    <a:spcPts val="800"/>
                  </a:spcAft>
                </a:pPr>
                <a:r>
                  <a:rPr lang="en-PH" sz="1000" i="1" dirty="0">
                    <a:solidFill>
                      <a:srgbClr val="4F6128"/>
                    </a:solidFill>
                    <a:effectLst/>
                    <a:latin typeface="Calibri" panose="020F0502020204030204" pitchFamily="34" charset="0"/>
                    <a:ea typeface="Calibri" panose="020F0502020204030204" pitchFamily="34" charset="0"/>
                    <a:cs typeface="Times New Roman" panose="02020603050405020304" pitchFamily="18" charset="0"/>
                  </a:rPr>
                  <a:t>How to search SR transaction?</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15000"/>
                  </a:lnSpc>
                  <a:spcBef>
                    <a:spcPts val="0"/>
                  </a:spcBef>
                  <a:spcAft>
                    <a:spcPts val="0"/>
                  </a:spcAft>
                  <a:buSzPts val="800"/>
                  <a:buFont typeface="+mj-lt"/>
                  <a:buAutoNum type="arabicPeriod"/>
                  <a:tabLst>
                    <a:tab pos="227330" algn="l"/>
                  </a:tabLst>
                </a:pPr>
                <a:r>
                  <a:rPr lang="en-US" sz="800" dirty="0">
                    <a:effectLst/>
                    <a:latin typeface="Calibri" panose="020F0502020204030204" pitchFamily="34" charset="0"/>
                    <a:ea typeface="Calibri" panose="020F0502020204030204" pitchFamily="34" charset="0"/>
                    <a:cs typeface="Times New Roman" panose="02020603050405020304" pitchFamily="18" charset="0"/>
                  </a:rPr>
                  <a:t>Type the transaction number in the search bar.</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ts val="975"/>
                  </a:lnSpc>
                  <a:spcBef>
                    <a:spcPts val="5"/>
                  </a:spcBef>
                  <a:spcAft>
                    <a:spcPts val="0"/>
                  </a:spcAft>
                  <a:buSzPts val="800"/>
                  <a:buFont typeface="+mj-lt"/>
                  <a:buAutoNum type="arabicPeriod"/>
                  <a:tabLst>
                    <a:tab pos="203200" algn="l"/>
                  </a:tabLst>
                </a:pPr>
                <a:r>
                  <a:rPr lang="en-US" sz="800" dirty="0">
                    <a:effectLst/>
                    <a:latin typeface="Calibri" panose="020F0502020204030204" pitchFamily="34" charset="0"/>
                    <a:ea typeface="Calibri" panose="020F0502020204030204" pitchFamily="34" charset="0"/>
                    <a:cs typeface="Times New Roman" panose="02020603050405020304" pitchFamily="18" charset="0"/>
                  </a:rPr>
                  <a:t>Click ‘enter’ in the keyboard to</a:t>
                </a:r>
                <a:r>
                  <a:rPr lang="en-US" sz="800" spc="-40" dirty="0">
                    <a:effectLst/>
                    <a:latin typeface="Calibri" panose="020F0502020204030204" pitchFamily="34" charset="0"/>
                    <a:ea typeface="Calibri" panose="020F0502020204030204" pitchFamily="34" charset="0"/>
                    <a:cs typeface="Times New Roman" panose="02020603050405020304" pitchFamily="18" charset="0"/>
                  </a:rPr>
                  <a:t> </a:t>
                </a:r>
                <a:r>
                  <a:rPr lang="en-US" sz="800" dirty="0">
                    <a:effectLst/>
                    <a:latin typeface="Calibri" panose="020F0502020204030204" pitchFamily="34" charset="0"/>
                    <a:ea typeface="Calibri" panose="020F0502020204030204" pitchFamily="34" charset="0"/>
                    <a:cs typeface="Times New Roman" panose="02020603050405020304" pitchFamily="18" charset="0"/>
                  </a:rPr>
                  <a:t>search.</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ts val="975"/>
                  </a:lnSpc>
                  <a:spcBef>
                    <a:spcPts val="0"/>
                  </a:spcBef>
                  <a:spcAft>
                    <a:spcPts val="0"/>
                  </a:spcAft>
                  <a:buSzPts val="800"/>
                  <a:buFont typeface="+mj-lt"/>
                  <a:buAutoNum type="arabicPeriod"/>
                  <a:tabLst>
                    <a:tab pos="203200" algn="l"/>
                  </a:tabLst>
                </a:pPr>
                <a:r>
                  <a:rPr lang="en-PH" sz="800" dirty="0">
                    <a:effectLst/>
                    <a:latin typeface="Calibri" panose="020F0502020204030204" pitchFamily="34" charset="0"/>
                    <a:ea typeface="Calibri" panose="020F0502020204030204" pitchFamily="34" charset="0"/>
                    <a:cs typeface="Times New Roman" panose="02020603050405020304" pitchFamily="18" charset="0"/>
                  </a:rPr>
                  <a:t>Click to select the transaction you want to edit</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63" name="Text Box 874">
                <a:extLst>
                  <a:ext uri="{FF2B5EF4-FFF2-40B4-BE49-F238E27FC236}">
                    <a16:creationId xmlns:a16="http://schemas.microsoft.com/office/drawing/2014/main" id="{2C7AA631-D3CD-F5E3-FAD4-F8E935B3F8FC}"/>
                  </a:ext>
                </a:extLst>
              </p:cNvPr>
              <p:cNvSpPr txBox="1"/>
              <p:nvPr/>
            </p:nvSpPr>
            <p:spPr>
              <a:xfrm>
                <a:off x="2937192" y="2727643"/>
                <a:ext cx="1306195" cy="2730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r>
                  <a:rPr lang="en-US" sz="1100">
                    <a:effectLst/>
                    <a:ea typeface="Calibri" panose="020F0502020204030204" pitchFamily="34" charset="0"/>
                    <a:cs typeface="Times New Roman" panose="02020603050405020304" pitchFamily="18" charset="0"/>
                  </a:rPr>
                  <a:t>HEADER</a:t>
                </a:r>
              </a:p>
            </p:txBody>
          </p:sp>
        </p:grpSp>
      </p:grpSp>
      <p:sp>
        <p:nvSpPr>
          <p:cNvPr id="6" name="Slide Number Placeholder 5">
            <a:extLst>
              <a:ext uri="{FF2B5EF4-FFF2-40B4-BE49-F238E27FC236}">
                <a16:creationId xmlns:a16="http://schemas.microsoft.com/office/drawing/2014/main" id="{3A5C6E5F-AC21-18AB-F11F-142C0E93AE62}"/>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600" b="0" i="0" u="none" strike="noStrike" kern="1200" cap="none" spc="0" normalizeH="0" baseline="0" noProof="0">
              <a:ln>
                <a:noFill/>
              </a:ln>
              <a:solidFill>
                <a:srgbClr val="00863D"/>
              </a:solidFill>
              <a:effectLst/>
              <a:uLnTx/>
              <a:uFillTx/>
              <a:latin typeface="Animosa Extra Bold" panose="00000900000000000000" pitchFamily="50" charset="0"/>
              <a:ea typeface="+mn-ea"/>
              <a:cs typeface="+mn-cs"/>
            </a:endParaRPr>
          </a:p>
          <a:p>
            <a:endParaRPr lang="en-US" dirty="0"/>
          </a:p>
        </p:txBody>
      </p:sp>
    </p:spTree>
    <p:extLst>
      <p:ext uri="{BB962C8B-B14F-4D97-AF65-F5344CB8AC3E}">
        <p14:creationId xmlns:p14="http://schemas.microsoft.com/office/powerpoint/2010/main" val="3932677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extBox 22">
            <a:extLst>
              <a:ext uri="{FF2B5EF4-FFF2-40B4-BE49-F238E27FC236}">
                <a16:creationId xmlns:a16="http://schemas.microsoft.com/office/drawing/2014/main" id="{2384804B-EE2E-A346-8D83-E2034F24A0DC}"/>
              </a:ext>
            </a:extLst>
          </p:cNvPr>
          <p:cNvSpPr txBox="1"/>
          <p:nvPr/>
        </p:nvSpPr>
        <p:spPr>
          <a:xfrm>
            <a:off x="1522069" y="642052"/>
            <a:ext cx="3852819" cy="337392"/>
          </a:xfrm>
          <a:prstGeom prst="rect">
            <a:avLst/>
          </a:prstGeom>
          <a:solidFill>
            <a:srgbClr val="00B050"/>
          </a:solidFill>
          <a:effectLst/>
        </p:spPr>
        <p:txBody>
          <a:bodyPr wrap="square" rtlCol="0">
            <a:spAutoFit/>
          </a:bodyPr>
          <a:lstStyle/>
          <a:p>
            <a:pPr algn="ctr"/>
            <a:r>
              <a:rPr lang="en-US" sz="1600" dirty="0">
                <a:solidFill>
                  <a:schemeClr val="bg1"/>
                </a:solidFill>
                <a:latin typeface="+mj-lt"/>
              </a:rPr>
              <a:t>How To Edit Sales Return Transaction?</a:t>
            </a:r>
            <a:endParaRPr lang="en-US" sz="2000" dirty="0">
              <a:solidFill>
                <a:srgbClr val="007434"/>
              </a:solidFill>
              <a:latin typeface="+mj-lt"/>
            </a:endParaRPr>
          </a:p>
        </p:txBody>
      </p:sp>
      <p:sp>
        <p:nvSpPr>
          <p:cNvPr id="12" name="Text Box 18">
            <a:extLst>
              <a:ext uri="{FF2B5EF4-FFF2-40B4-BE49-F238E27FC236}">
                <a16:creationId xmlns:a16="http://schemas.microsoft.com/office/drawing/2014/main" id="{9A8214E9-BA24-C1CD-FE2E-59471D8D7178}"/>
              </a:ext>
            </a:extLst>
          </p:cNvPr>
          <p:cNvSpPr txBox="1"/>
          <p:nvPr/>
        </p:nvSpPr>
        <p:spPr>
          <a:xfrm>
            <a:off x="480508" y="1619996"/>
            <a:ext cx="4179346" cy="4272507"/>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228600" marR="0">
              <a:lnSpc>
                <a:spcPct val="115000"/>
              </a:lnSpc>
              <a:spcBef>
                <a:spcPts val="0"/>
              </a:spcBef>
              <a:spcAft>
                <a:spcPts val="0"/>
              </a:spcAft>
            </a:pPr>
            <a:r>
              <a:rPr lang="en-US" sz="1200" b="1"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4. </a:t>
            </a:r>
            <a:r>
              <a:rPr lang="en-US" sz="1200" dirty="0">
                <a:effectLst/>
                <a:latin typeface="Chivo Light" panose="020B0303030202020804" pitchFamily="34" charset="0"/>
                <a:ea typeface="Times New Roman" panose="02020603050405020304" pitchFamily="18" charset="0"/>
                <a:cs typeface="Times New Roman" panose="02020603050405020304" pitchFamily="18" charset="0"/>
              </a:rPr>
              <a:t>If you want to edit the items in sales return stock, edit right away the details you want to change and you will notice that after you change the details, the item you edited will be highlighted into blue. </a:t>
            </a:r>
          </a:p>
          <a:p>
            <a:pPr marL="228600" marR="0">
              <a:lnSpc>
                <a:spcPct val="115000"/>
              </a:lnSpc>
              <a:spcBef>
                <a:spcPts val="0"/>
              </a:spcBef>
              <a:spcAft>
                <a:spcPts val="0"/>
              </a:spcAft>
            </a:pPr>
            <a:endParaRPr lang="en-US"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L="228600" marR="0">
              <a:lnSpc>
                <a:spcPct val="115000"/>
              </a:lnSpc>
              <a:spcBef>
                <a:spcPts val="0"/>
              </a:spcBef>
              <a:spcAft>
                <a:spcPts val="0"/>
              </a:spcAft>
            </a:pPr>
            <a:r>
              <a:rPr lang="en-US" sz="1200" b="1"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5. </a:t>
            </a:r>
            <a:r>
              <a:rPr lang="en-US" sz="1200" dirty="0">
                <a:effectLst/>
                <a:latin typeface="Chivo Light" panose="020B0303030202020804" pitchFamily="34" charset="0"/>
                <a:ea typeface="Times New Roman" panose="02020603050405020304" pitchFamily="18" charset="0"/>
                <a:cs typeface="Times New Roman" panose="02020603050405020304" pitchFamily="18" charset="0"/>
              </a:rPr>
              <a:t>If you’re done editing, click save item button to save the changes you made in the items.</a:t>
            </a:r>
          </a:p>
          <a:p>
            <a:pPr marL="228600" marR="0">
              <a:lnSpc>
                <a:spcPct val="115000"/>
              </a:lnSpc>
              <a:spcBef>
                <a:spcPts val="0"/>
              </a:spcBef>
              <a:spcAft>
                <a:spcPts val="0"/>
              </a:spcAft>
            </a:pPr>
            <a:endParaRPr lang="en-US" sz="1200" dirty="0">
              <a:latin typeface="Chivo Light" panose="020B0303030202020804" pitchFamily="34" charset="0"/>
              <a:ea typeface="Times New Roman" panose="02020603050405020304" pitchFamily="18" charset="0"/>
              <a:cs typeface="Times New Roman" panose="02020603050405020304" pitchFamily="18" charset="0"/>
            </a:endParaRPr>
          </a:p>
          <a:p>
            <a:pPr marL="228600" marR="0">
              <a:lnSpc>
                <a:spcPct val="115000"/>
              </a:lnSpc>
              <a:spcBef>
                <a:spcPts val="0"/>
              </a:spcBef>
              <a:spcAft>
                <a:spcPts val="0"/>
              </a:spcAft>
            </a:pPr>
            <a:r>
              <a:rPr lang="en-US" sz="1200" b="1" dirty="0">
                <a:solidFill>
                  <a:srgbClr val="00863D"/>
                </a:solidFill>
                <a:latin typeface="Chivo Light" panose="020B0303030202020804" pitchFamily="34" charset="0"/>
                <a:ea typeface="Times New Roman" panose="02020603050405020304" pitchFamily="18" charset="0"/>
                <a:cs typeface="Times New Roman" panose="02020603050405020304" pitchFamily="18" charset="0"/>
              </a:rPr>
              <a:t>6</a:t>
            </a:r>
            <a:r>
              <a:rPr lang="en-US" sz="1200" b="1"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 </a:t>
            </a:r>
            <a:r>
              <a:rPr lang="en-US" sz="1200" dirty="0">
                <a:effectLst/>
                <a:latin typeface="Chivo Light" panose="020B0303030202020804" pitchFamily="34" charset="0"/>
                <a:ea typeface="Times New Roman" panose="02020603050405020304" pitchFamily="18" charset="0"/>
                <a:cs typeface="Times New Roman" panose="02020603050405020304" pitchFamily="18" charset="0"/>
              </a:rPr>
              <a:t>To delete all items in the stock, click delete item button.</a:t>
            </a:r>
          </a:p>
          <a:p>
            <a:pPr marL="228600" marR="0">
              <a:lnSpc>
                <a:spcPct val="115000"/>
              </a:lnSpc>
              <a:spcBef>
                <a:spcPts val="0"/>
              </a:spcBef>
              <a:spcAft>
                <a:spcPts val="0"/>
              </a:spcAft>
            </a:pPr>
            <a:endParaRPr lang="en-US"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L="228600" marR="0">
              <a:lnSpc>
                <a:spcPct val="115000"/>
              </a:lnSpc>
              <a:spcBef>
                <a:spcPts val="0"/>
              </a:spcBef>
              <a:spcAft>
                <a:spcPts val="0"/>
              </a:spcAft>
            </a:pPr>
            <a:r>
              <a:rPr lang="en-US" sz="1200" b="1" dirty="0">
                <a:solidFill>
                  <a:srgbClr val="00863D"/>
                </a:solidFill>
                <a:latin typeface="Chivo Light" panose="020B0303030202020804" pitchFamily="34" charset="0"/>
                <a:ea typeface="Times New Roman" panose="02020603050405020304" pitchFamily="18" charset="0"/>
                <a:cs typeface="Times New Roman" panose="02020603050405020304" pitchFamily="18" charset="0"/>
              </a:rPr>
              <a:t>7</a:t>
            </a:r>
            <a:r>
              <a:rPr lang="en-US" sz="1200" b="1"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 </a:t>
            </a:r>
            <a:r>
              <a:rPr lang="en-US" sz="1200" dirty="0">
                <a:effectLst/>
                <a:latin typeface="Chivo Light" panose="020B0303030202020804" pitchFamily="34" charset="0"/>
                <a:ea typeface="Times New Roman" panose="02020603050405020304" pitchFamily="18" charset="0"/>
                <a:cs typeface="Times New Roman" panose="02020603050405020304" pitchFamily="18" charset="0"/>
              </a:rPr>
              <a:t>To delete a specific item on the table, click the delete icon next to the item to delete it.</a:t>
            </a:r>
          </a:p>
          <a:p>
            <a:pPr marL="228600" marR="0">
              <a:lnSpc>
                <a:spcPct val="115000"/>
              </a:lnSpc>
              <a:spcBef>
                <a:spcPts val="0"/>
              </a:spcBef>
              <a:spcAft>
                <a:spcPts val="0"/>
              </a:spcAft>
            </a:pPr>
            <a:endParaRPr lang="en-US"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L="228600" marR="0">
              <a:lnSpc>
                <a:spcPct val="115000"/>
              </a:lnSpc>
              <a:spcBef>
                <a:spcPts val="0"/>
              </a:spcBef>
              <a:spcAft>
                <a:spcPts val="0"/>
              </a:spcAft>
            </a:pPr>
            <a:endParaRPr lang="en-PH"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L="228600" marR="0">
              <a:lnSpc>
                <a:spcPct val="115000"/>
              </a:lnSpc>
              <a:spcBef>
                <a:spcPts val="0"/>
              </a:spcBef>
              <a:spcAft>
                <a:spcPts val="0"/>
              </a:spcAft>
            </a:pPr>
            <a:endParaRPr lang="en-PH"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L="228600" marR="0">
              <a:lnSpc>
                <a:spcPct val="115000"/>
              </a:lnSpc>
              <a:spcBef>
                <a:spcPts val="0"/>
              </a:spcBef>
              <a:spcAft>
                <a:spcPts val="0"/>
              </a:spcAft>
            </a:pPr>
            <a:endParaRPr lang="en-PH"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L="228600" marR="0">
              <a:lnSpc>
                <a:spcPct val="115000"/>
              </a:lnSpc>
              <a:spcBef>
                <a:spcPts val="0"/>
              </a:spcBef>
              <a:spcAft>
                <a:spcPts val="0"/>
              </a:spcAft>
            </a:pPr>
            <a:endParaRPr lang="en-US" sz="1200" dirty="0">
              <a:effectLst/>
              <a:latin typeface="Chivo Light" panose="020B0303030202020804" pitchFamily="34" charset="0"/>
              <a:ea typeface="Times New Roman" panose="02020603050405020304" pitchFamily="18" charset="0"/>
              <a:cs typeface="Times New Roman" panose="02020603050405020304" pitchFamily="18" charset="0"/>
            </a:endParaRPr>
          </a:p>
        </p:txBody>
      </p:sp>
      <p:sp>
        <p:nvSpPr>
          <p:cNvPr id="3" name="Text Box 6">
            <a:extLst>
              <a:ext uri="{FF2B5EF4-FFF2-40B4-BE49-F238E27FC236}">
                <a16:creationId xmlns:a16="http://schemas.microsoft.com/office/drawing/2014/main" id="{388AC9D8-E4B5-58A0-4094-8A9CB20669C4}"/>
              </a:ext>
            </a:extLst>
          </p:cNvPr>
          <p:cNvSpPr txBox="1"/>
          <p:nvPr/>
        </p:nvSpPr>
        <p:spPr>
          <a:xfrm>
            <a:off x="0" y="-11307"/>
            <a:ext cx="5374888"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endParaRPr lang="en-US" sz="1400" dirty="0">
              <a:solidFill>
                <a:srgbClr val="007434"/>
              </a:solidFill>
              <a:effectLst/>
              <a:ea typeface="Open Sans" panose="020B0606030504020204" pitchFamily="34" charset="0"/>
              <a:cs typeface="Times New Roman" panose="02020603050405020304" pitchFamily="18" charset="0"/>
            </a:endParaRPr>
          </a:p>
        </p:txBody>
      </p:sp>
      <p:sp>
        <p:nvSpPr>
          <p:cNvPr id="7" name="TextBox 6">
            <a:extLst>
              <a:ext uri="{FF2B5EF4-FFF2-40B4-BE49-F238E27FC236}">
                <a16:creationId xmlns:a16="http://schemas.microsoft.com/office/drawing/2014/main" id="{A3970DB8-934F-E30F-0602-D150FFB10E03}"/>
              </a:ext>
            </a:extLst>
          </p:cNvPr>
          <p:cNvSpPr txBox="1"/>
          <p:nvPr/>
        </p:nvSpPr>
        <p:spPr>
          <a:xfrm>
            <a:off x="7150650" y="4593653"/>
            <a:ext cx="2552700" cy="272319"/>
          </a:xfrm>
          <a:prstGeom prst="rect">
            <a:avLst/>
          </a:prstGeom>
          <a:noFill/>
        </p:spPr>
        <p:txBody>
          <a:bodyPr wrap="square">
            <a:spAutoFit/>
          </a:bodyPr>
          <a:lstStyle/>
          <a:p>
            <a:pPr marL="0" marR="0" algn="ctr">
              <a:lnSpc>
                <a:spcPct val="107000"/>
              </a:lnSpc>
              <a:spcBef>
                <a:spcPts val="0"/>
              </a:spcBef>
              <a:spcAft>
                <a:spcPts val="800"/>
              </a:spcAft>
            </a:pPr>
            <a:r>
              <a:rPr lang="en-PH" sz="1200" dirty="0">
                <a:effectLst/>
                <a:latin typeface="Bahnschrift Condensed" panose="020B0502040204020203" pitchFamily="34" charset="0"/>
                <a:ea typeface="Calibri" panose="020F0502020204030204" pitchFamily="34" charset="0"/>
                <a:cs typeface="Times New Roman" panose="02020603050405020304" pitchFamily="18" charset="0"/>
              </a:rPr>
              <a:t>Sales Return – Main </a:t>
            </a:r>
            <a:r>
              <a:rPr lang="en-PH" sz="1200" dirty="0">
                <a:latin typeface="Bahnschrift Condensed" panose="020B0502040204020203" pitchFamily="34" charset="0"/>
                <a:ea typeface="Calibri" panose="020F0502020204030204" pitchFamily="34" charset="0"/>
                <a:cs typeface="Times New Roman" panose="02020603050405020304" pitchFamily="18" charset="0"/>
              </a:rPr>
              <a:t>Window</a:t>
            </a:r>
            <a:endParaRPr lang="en-US" sz="1200" dirty="0">
              <a:effectLst/>
              <a:latin typeface="Bahnschrift Condensed" panose="020B0502040204020203" pitchFamily="34" charset="0"/>
              <a:ea typeface="Calibri" panose="020F0502020204030204" pitchFamily="34" charset="0"/>
              <a:cs typeface="Times New Roman" panose="02020603050405020304" pitchFamily="18" charset="0"/>
            </a:endParaRPr>
          </a:p>
        </p:txBody>
      </p:sp>
      <p:pic>
        <p:nvPicPr>
          <p:cNvPr id="47" name="Picture 46">
            <a:extLst>
              <a:ext uri="{FF2B5EF4-FFF2-40B4-BE49-F238E27FC236}">
                <a16:creationId xmlns:a16="http://schemas.microsoft.com/office/drawing/2014/main" id="{EB9667B4-7753-B2D9-D672-63734C0C4A2E}"/>
              </a:ext>
            </a:extLst>
          </p:cNvPr>
          <p:cNvPicPr>
            <a:picLocks noChangeAspect="1"/>
          </p:cNvPicPr>
          <p:nvPr/>
        </p:nvPicPr>
        <p:blipFill>
          <a:blip r:embed="rId2"/>
          <a:stretch>
            <a:fillRect/>
          </a:stretch>
        </p:blipFill>
        <p:spPr>
          <a:xfrm>
            <a:off x="10780479" y="6391410"/>
            <a:ext cx="1047454" cy="267619"/>
          </a:xfrm>
          <a:prstGeom prst="rect">
            <a:avLst/>
          </a:prstGeom>
          <a:effectLst/>
        </p:spPr>
      </p:pic>
      <p:sp>
        <p:nvSpPr>
          <p:cNvPr id="2" name="TextBox 1">
            <a:extLst>
              <a:ext uri="{FF2B5EF4-FFF2-40B4-BE49-F238E27FC236}">
                <a16:creationId xmlns:a16="http://schemas.microsoft.com/office/drawing/2014/main" id="{A310AECA-FBD8-D866-0D5A-A2A55DD40DF5}"/>
              </a:ext>
            </a:extLst>
          </p:cNvPr>
          <p:cNvSpPr txBox="1"/>
          <p:nvPr/>
        </p:nvSpPr>
        <p:spPr>
          <a:xfrm>
            <a:off x="585809" y="123167"/>
            <a:ext cx="4824617"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r>
              <a:rPr lang="en-US" sz="2000" dirty="0">
                <a:solidFill>
                  <a:schemeClr val="accent6">
                    <a:lumMod val="20000"/>
                    <a:lumOff val="80000"/>
                  </a:schemeClr>
                </a:solidFill>
                <a:latin typeface="+mj-lt"/>
              </a:rPr>
              <a:t>Sales/ Sales Return </a:t>
            </a:r>
            <a:r>
              <a:rPr lang="en-US" sz="1900" dirty="0">
                <a:solidFill>
                  <a:schemeClr val="accent6">
                    <a:lumMod val="20000"/>
                    <a:lumOff val="80000"/>
                  </a:schemeClr>
                </a:solidFill>
                <a:latin typeface="+mj-lt"/>
              </a:rPr>
              <a:t>- Module</a:t>
            </a:r>
          </a:p>
          <a:p>
            <a:endParaRPr lang="en-US" sz="2000" dirty="0">
              <a:solidFill>
                <a:srgbClr val="007434"/>
              </a:solidFill>
              <a:latin typeface="+mj-lt"/>
            </a:endParaRPr>
          </a:p>
        </p:txBody>
      </p:sp>
      <p:grpSp>
        <p:nvGrpSpPr>
          <p:cNvPr id="83" name="Group 82">
            <a:extLst>
              <a:ext uri="{FF2B5EF4-FFF2-40B4-BE49-F238E27FC236}">
                <a16:creationId xmlns:a16="http://schemas.microsoft.com/office/drawing/2014/main" id="{F3511578-BDA2-FFA4-A225-77A01CD3B51B}"/>
              </a:ext>
            </a:extLst>
          </p:cNvPr>
          <p:cNvGrpSpPr/>
          <p:nvPr/>
        </p:nvGrpSpPr>
        <p:grpSpPr>
          <a:xfrm>
            <a:off x="4940370" y="1918601"/>
            <a:ext cx="6446520" cy="2530375"/>
            <a:chOff x="4940370" y="747438"/>
            <a:chExt cx="6446520" cy="2530375"/>
          </a:xfrm>
        </p:grpSpPr>
        <p:pic>
          <p:nvPicPr>
            <p:cNvPr id="78" name="Picture 77">
              <a:extLst>
                <a:ext uri="{FF2B5EF4-FFF2-40B4-BE49-F238E27FC236}">
                  <a16:creationId xmlns:a16="http://schemas.microsoft.com/office/drawing/2014/main" id="{75BC93F8-AA40-06E0-D0CA-A9E874ABD67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40395" y="2659323"/>
              <a:ext cx="2893060" cy="618490"/>
            </a:xfrm>
            <a:prstGeom prst="rect">
              <a:avLst/>
            </a:prstGeom>
            <a:ln>
              <a:noFill/>
            </a:ln>
            <a:effectLst>
              <a:outerShdw blurRad="292100" dist="139700" dir="2700000" algn="tl" rotWithShape="0">
                <a:srgbClr val="333333">
                  <a:alpha val="65000"/>
                </a:srgbClr>
              </a:outerShdw>
            </a:effectLst>
          </p:spPr>
        </p:pic>
        <p:grpSp>
          <p:nvGrpSpPr>
            <p:cNvPr id="82" name="Group 81">
              <a:extLst>
                <a:ext uri="{FF2B5EF4-FFF2-40B4-BE49-F238E27FC236}">
                  <a16:creationId xmlns:a16="http://schemas.microsoft.com/office/drawing/2014/main" id="{560B2BB6-5CA3-08A8-3A16-1C00BB7537F4}"/>
                </a:ext>
              </a:extLst>
            </p:cNvPr>
            <p:cNvGrpSpPr/>
            <p:nvPr/>
          </p:nvGrpSpPr>
          <p:grpSpPr>
            <a:xfrm>
              <a:off x="4940370" y="747438"/>
              <a:ext cx="3151187" cy="2209595"/>
              <a:chOff x="4940370" y="747438"/>
              <a:chExt cx="3151187" cy="2209595"/>
            </a:xfrm>
          </p:grpSpPr>
          <p:sp>
            <p:nvSpPr>
              <p:cNvPr id="80" name="Text Box 885">
                <a:extLst>
                  <a:ext uri="{FF2B5EF4-FFF2-40B4-BE49-F238E27FC236}">
                    <a16:creationId xmlns:a16="http://schemas.microsoft.com/office/drawing/2014/main" id="{3F6BB59D-5C44-C5FC-A071-D4CE2316A86B}"/>
                  </a:ext>
                </a:extLst>
              </p:cNvPr>
              <p:cNvSpPr txBox="1"/>
              <p:nvPr/>
            </p:nvSpPr>
            <p:spPr>
              <a:xfrm>
                <a:off x="4940370" y="2563740"/>
                <a:ext cx="200025" cy="247015"/>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r>
                  <a:rPr lang="en-US" sz="1100" dirty="0">
                    <a:effectLst/>
                    <a:ea typeface="Calibri" panose="020F0502020204030204" pitchFamily="34" charset="0"/>
                    <a:cs typeface="Times New Roman" panose="02020603050405020304" pitchFamily="18" charset="0"/>
                  </a:rPr>
                  <a:t>4</a:t>
                </a:r>
              </a:p>
            </p:txBody>
          </p:sp>
          <p:sp>
            <p:nvSpPr>
              <p:cNvPr id="81" name="Curved Left Arrow 886">
                <a:extLst>
                  <a:ext uri="{FF2B5EF4-FFF2-40B4-BE49-F238E27FC236}">
                    <a16:creationId xmlns:a16="http://schemas.microsoft.com/office/drawing/2014/main" id="{31A82298-7F79-F690-65EB-0ACB31E5EC42}"/>
                  </a:ext>
                </a:extLst>
              </p:cNvPr>
              <p:cNvSpPr/>
              <p:nvPr/>
            </p:nvSpPr>
            <p:spPr>
              <a:xfrm>
                <a:off x="7747387" y="2363308"/>
                <a:ext cx="344170" cy="593725"/>
              </a:xfrm>
              <a:prstGeom prst="curvedLeftArrow">
                <a:avLst/>
              </a:prstGeom>
            </p:spPr>
            <p:style>
              <a:lnRef idx="2">
                <a:schemeClr val="dk1">
                  <a:shade val="50000"/>
                </a:schemeClr>
              </a:lnRef>
              <a:fillRef idx="1">
                <a:schemeClr val="dk1"/>
              </a:fillRef>
              <a:effectRef idx="0">
                <a:schemeClr val="dk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79" name="Text Box 884">
                <a:extLst>
                  <a:ext uri="{FF2B5EF4-FFF2-40B4-BE49-F238E27FC236}">
                    <a16:creationId xmlns:a16="http://schemas.microsoft.com/office/drawing/2014/main" id="{90AB0A86-D267-8345-812B-CF28C57E6B8F}"/>
                  </a:ext>
                </a:extLst>
              </p:cNvPr>
              <p:cNvSpPr txBox="1"/>
              <p:nvPr/>
            </p:nvSpPr>
            <p:spPr>
              <a:xfrm>
                <a:off x="5161897" y="747438"/>
                <a:ext cx="914400" cy="28448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r>
                  <a:rPr lang="en-US" sz="1100" dirty="0">
                    <a:effectLst/>
                    <a:ea typeface="Calibri" panose="020F0502020204030204" pitchFamily="34" charset="0"/>
                    <a:cs typeface="Times New Roman" panose="02020603050405020304" pitchFamily="18" charset="0"/>
                  </a:rPr>
                  <a:t>STOCK</a:t>
                </a:r>
              </a:p>
            </p:txBody>
          </p:sp>
        </p:grpSp>
        <p:grpSp>
          <p:nvGrpSpPr>
            <p:cNvPr id="51" name="Group 50">
              <a:extLst>
                <a:ext uri="{FF2B5EF4-FFF2-40B4-BE49-F238E27FC236}">
                  <a16:creationId xmlns:a16="http://schemas.microsoft.com/office/drawing/2014/main" id="{0D236FD1-1AEA-345E-FD14-CB68B3E776DA}"/>
                </a:ext>
              </a:extLst>
            </p:cNvPr>
            <p:cNvGrpSpPr/>
            <p:nvPr/>
          </p:nvGrpSpPr>
          <p:grpSpPr>
            <a:xfrm>
              <a:off x="5140395" y="948955"/>
              <a:ext cx="6246495" cy="1636132"/>
              <a:chOff x="0" y="22492"/>
              <a:chExt cx="6246495" cy="1636395"/>
            </a:xfrm>
          </p:grpSpPr>
          <p:grpSp>
            <p:nvGrpSpPr>
              <p:cNvPr id="52" name="Group 51">
                <a:extLst>
                  <a:ext uri="{FF2B5EF4-FFF2-40B4-BE49-F238E27FC236}">
                    <a16:creationId xmlns:a16="http://schemas.microsoft.com/office/drawing/2014/main" id="{835583E2-3D47-33EA-A63E-4F8E6CC248C2}"/>
                  </a:ext>
                </a:extLst>
              </p:cNvPr>
              <p:cNvGrpSpPr/>
              <p:nvPr/>
            </p:nvGrpSpPr>
            <p:grpSpPr>
              <a:xfrm>
                <a:off x="0" y="22492"/>
                <a:ext cx="6246495" cy="1636395"/>
                <a:chOff x="31914" y="226272"/>
                <a:chExt cx="6246768" cy="1636749"/>
              </a:xfrm>
            </p:grpSpPr>
            <p:pic>
              <p:nvPicPr>
                <p:cNvPr id="56" name="Picture 55">
                  <a:extLst>
                    <a:ext uri="{FF2B5EF4-FFF2-40B4-BE49-F238E27FC236}">
                      <a16:creationId xmlns:a16="http://schemas.microsoft.com/office/drawing/2014/main" id="{259C1349-5971-5E99-667C-36389053AE7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1914" y="226272"/>
                  <a:ext cx="6246768" cy="1636749"/>
                </a:xfrm>
                <a:prstGeom prst="rect">
                  <a:avLst/>
                </a:prstGeom>
              </p:spPr>
            </p:pic>
            <p:sp>
              <p:nvSpPr>
                <p:cNvPr id="57" name="Rectangle 56">
                  <a:extLst>
                    <a:ext uri="{FF2B5EF4-FFF2-40B4-BE49-F238E27FC236}">
                      <a16:creationId xmlns:a16="http://schemas.microsoft.com/office/drawing/2014/main" id="{DB0BBA97-33DB-B903-CC3D-F7F08FB22450}"/>
                    </a:ext>
                  </a:extLst>
                </p:cNvPr>
                <p:cNvSpPr/>
                <p:nvPr/>
              </p:nvSpPr>
              <p:spPr>
                <a:xfrm>
                  <a:off x="510637" y="1116963"/>
                  <a:ext cx="2157714" cy="724703"/>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p:nvGrpSpPr>
                <p:cNvPr id="58" name="Group 57">
                  <a:extLst>
                    <a:ext uri="{FF2B5EF4-FFF2-40B4-BE49-F238E27FC236}">
                      <a16:creationId xmlns:a16="http://schemas.microsoft.com/office/drawing/2014/main" id="{EFA1F6EF-38F9-3324-AF9C-BAA4400AED63}"/>
                    </a:ext>
                  </a:extLst>
                </p:cNvPr>
                <p:cNvGrpSpPr/>
                <p:nvPr/>
              </p:nvGrpSpPr>
              <p:grpSpPr>
                <a:xfrm>
                  <a:off x="4956553" y="228954"/>
                  <a:ext cx="617558" cy="625251"/>
                  <a:chOff x="336928" y="-266346"/>
                  <a:chExt cx="617558" cy="625251"/>
                </a:xfrm>
              </p:grpSpPr>
              <p:sp>
                <p:nvSpPr>
                  <p:cNvPr id="59" name="Rectangle 58">
                    <a:extLst>
                      <a:ext uri="{FF2B5EF4-FFF2-40B4-BE49-F238E27FC236}">
                        <a16:creationId xmlns:a16="http://schemas.microsoft.com/office/drawing/2014/main" id="{76DFDCBF-F136-28B9-BA6E-991813AAF3F0}"/>
                      </a:ext>
                    </a:extLst>
                  </p:cNvPr>
                  <p:cNvSpPr/>
                  <p:nvPr/>
                </p:nvSpPr>
                <p:spPr>
                  <a:xfrm>
                    <a:off x="336928" y="-266346"/>
                    <a:ext cx="617558" cy="197931"/>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cxnSp>
                <p:nvCxnSpPr>
                  <p:cNvPr id="71" name="Straight Arrow Connector 70">
                    <a:extLst>
                      <a:ext uri="{FF2B5EF4-FFF2-40B4-BE49-F238E27FC236}">
                        <a16:creationId xmlns:a16="http://schemas.microsoft.com/office/drawing/2014/main" id="{2ED66457-E011-A7C7-5267-3D14111A78F7}"/>
                      </a:ext>
                    </a:extLst>
                  </p:cNvPr>
                  <p:cNvCxnSpPr>
                    <a:cxnSpLocks/>
                  </p:cNvCxnSpPr>
                  <p:nvPr/>
                </p:nvCxnSpPr>
                <p:spPr>
                  <a:xfrm>
                    <a:off x="545694" y="-58537"/>
                    <a:ext cx="0" cy="17140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73" name="Text Box 883">
                    <a:extLst>
                      <a:ext uri="{FF2B5EF4-FFF2-40B4-BE49-F238E27FC236}">
                        <a16:creationId xmlns:a16="http://schemas.microsoft.com/office/drawing/2014/main" id="{64639BDB-C95A-5548-EA07-9B2819571F0C}"/>
                      </a:ext>
                    </a:extLst>
                  </p:cNvPr>
                  <p:cNvSpPr txBox="1"/>
                  <p:nvPr/>
                </p:nvSpPr>
                <p:spPr>
                  <a:xfrm>
                    <a:off x="445682" y="111255"/>
                    <a:ext cx="200025" cy="2476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r>
                      <a:rPr lang="en-US" sz="1100">
                        <a:effectLst/>
                        <a:ea typeface="Calibri" panose="020F0502020204030204" pitchFamily="34" charset="0"/>
                        <a:cs typeface="Times New Roman" panose="02020603050405020304" pitchFamily="18" charset="0"/>
                      </a:rPr>
                      <a:t>5</a:t>
                    </a:r>
                  </a:p>
                </p:txBody>
              </p:sp>
            </p:grpSp>
          </p:grpSp>
          <p:pic>
            <p:nvPicPr>
              <p:cNvPr id="53" name="Picture 52">
                <a:extLst>
                  <a:ext uri="{FF2B5EF4-FFF2-40B4-BE49-F238E27FC236}">
                    <a16:creationId xmlns:a16="http://schemas.microsoft.com/office/drawing/2014/main" id="{C709B4CD-8738-DC06-A9C8-D12B91CDE61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381500" y="981075"/>
                <a:ext cx="533400" cy="106680"/>
              </a:xfrm>
              <a:prstGeom prst="rect">
                <a:avLst/>
              </a:prstGeom>
            </p:spPr>
          </p:pic>
          <p:pic>
            <p:nvPicPr>
              <p:cNvPr id="54" name="Picture 53">
                <a:extLst>
                  <a:ext uri="{FF2B5EF4-FFF2-40B4-BE49-F238E27FC236}">
                    <a16:creationId xmlns:a16="http://schemas.microsoft.com/office/drawing/2014/main" id="{0B966174-F960-8942-56C2-F05CE3113BC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391025" y="1428750"/>
                <a:ext cx="533400" cy="106680"/>
              </a:xfrm>
              <a:prstGeom prst="rect">
                <a:avLst/>
              </a:prstGeom>
            </p:spPr>
          </p:pic>
          <p:pic>
            <p:nvPicPr>
              <p:cNvPr id="55" name="Picture 54">
                <a:extLst>
                  <a:ext uri="{FF2B5EF4-FFF2-40B4-BE49-F238E27FC236}">
                    <a16:creationId xmlns:a16="http://schemas.microsoft.com/office/drawing/2014/main" id="{E3A3E70C-2E1C-8A43-DB6D-40669F627B5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352800" y="44221"/>
                <a:ext cx="352425" cy="153670"/>
              </a:xfrm>
              <a:prstGeom prst="rect">
                <a:avLst/>
              </a:prstGeom>
            </p:spPr>
          </p:pic>
        </p:grpSp>
      </p:grpSp>
      <p:sp>
        <p:nvSpPr>
          <p:cNvPr id="5" name="Slide Number Placeholder 4">
            <a:extLst>
              <a:ext uri="{FF2B5EF4-FFF2-40B4-BE49-F238E27FC236}">
                <a16:creationId xmlns:a16="http://schemas.microsoft.com/office/drawing/2014/main" id="{CE830B82-353A-FC8E-39B8-7B1B0CB5F10F}"/>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600" b="0" i="0" u="none" strike="noStrike" kern="1200" cap="none" spc="0" normalizeH="0" baseline="0" noProof="0">
              <a:ln>
                <a:noFill/>
              </a:ln>
              <a:solidFill>
                <a:srgbClr val="00863D"/>
              </a:solidFill>
              <a:effectLst/>
              <a:uLnTx/>
              <a:uFillTx/>
              <a:latin typeface="Animosa Extra Bold" panose="00000900000000000000" pitchFamily="50" charset="0"/>
              <a:ea typeface="+mn-ea"/>
              <a:cs typeface="+mn-cs"/>
            </a:endParaRPr>
          </a:p>
          <a:p>
            <a:endParaRPr lang="en-US" dirty="0"/>
          </a:p>
        </p:txBody>
      </p:sp>
      <p:sp>
        <p:nvSpPr>
          <p:cNvPr id="6" name="Rectangle 5">
            <a:extLst>
              <a:ext uri="{FF2B5EF4-FFF2-40B4-BE49-F238E27FC236}">
                <a16:creationId xmlns:a16="http://schemas.microsoft.com/office/drawing/2014/main" id="{EEADC427-CABD-D37E-079E-441CCFAC7D1F}"/>
              </a:ext>
            </a:extLst>
          </p:cNvPr>
          <p:cNvSpPr/>
          <p:nvPr/>
        </p:nvSpPr>
        <p:spPr>
          <a:xfrm>
            <a:off x="10707517" y="2122799"/>
            <a:ext cx="617531" cy="197856"/>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cxnSp>
        <p:nvCxnSpPr>
          <p:cNvPr id="8" name="Straight Arrow Connector 7">
            <a:extLst>
              <a:ext uri="{FF2B5EF4-FFF2-40B4-BE49-F238E27FC236}">
                <a16:creationId xmlns:a16="http://schemas.microsoft.com/office/drawing/2014/main" id="{882FB20D-0A02-6DDC-BF3F-C8A1D488F21F}"/>
              </a:ext>
            </a:extLst>
          </p:cNvPr>
          <p:cNvCxnSpPr>
            <a:cxnSpLocks/>
          </p:cNvCxnSpPr>
          <p:nvPr/>
        </p:nvCxnSpPr>
        <p:spPr>
          <a:xfrm>
            <a:off x="10916274" y="2330530"/>
            <a:ext cx="0" cy="17133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9" name="Text Box 883">
            <a:extLst>
              <a:ext uri="{FF2B5EF4-FFF2-40B4-BE49-F238E27FC236}">
                <a16:creationId xmlns:a16="http://schemas.microsoft.com/office/drawing/2014/main" id="{AC7E6A5A-C477-4238-7547-5C57028F3914}"/>
              </a:ext>
            </a:extLst>
          </p:cNvPr>
          <p:cNvSpPr txBox="1"/>
          <p:nvPr/>
        </p:nvSpPr>
        <p:spPr>
          <a:xfrm>
            <a:off x="10816266" y="2500257"/>
            <a:ext cx="200016" cy="247557"/>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r>
              <a:rPr lang="en-US" sz="1100" dirty="0">
                <a:effectLst/>
                <a:ea typeface="Calibri" panose="020F0502020204030204" pitchFamily="34" charset="0"/>
                <a:cs typeface="Times New Roman" panose="02020603050405020304" pitchFamily="18" charset="0"/>
              </a:rPr>
              <a:t>6</a:t>
            </a:r>
          </a:p>
        </p:txBody>
      </p:sp>
      <p:sp>
        <p:nvSpPr>
          <p:cNvPr id="10" name="Rectangle 9">
            <a:extLst>
              <a:ext uri="{FF2B5EF4-FFF2-40B4-BE49-F238E27FC236}">
                <a16:creationId xmlns:a16="http://schemas.microsoft.com/office/drawing/2014/main" id="{0F6FF674-B15F-F9E0-9C62-2C1876CE0545}"/>
              </a:ext>
            </a:extLst>
          </p:cNvPr>
          <p:cNvSpPr/>
          <p:nvPr/>
        </p:nvSpPr>
        <p:spPr>
          <a:xfrm>
            <a:off x="5362542" y="3421733"/>
            <a:ext cx="165804" cy="21108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cxnSp>
        <p:nvCxnSpPr>
          <p:cNvPr id="11" name="Straight Arrow Connector 10">
            <a:extLst>
              <a:ext uri="{FF2B5EF4-FFF2-40B4-BE49-F238E27FC236}">
                <a16:creationId xmlns:a16="http://schemas.microsoft.com/office/drawing/2014/main" id="{9B15046E-385E-92C8-E47D-BD32ABA7C895}"/>
              </a:ext>
            </a:extLst>
          </p:cNvPr>
          <p:cNvCxnSpPr>
            <a:cxnSpLocks/>
          </p:cNvCxnSpPr>
          <p:nvPr/>
        </p:nvCxnSpPr>
        <p:spPr>
          <a:xfrm>
            <a:off x="5442877" y="3565176"/>
            <a:ext cx="0" cy="17133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3" name="Text Box 883">
            <a:extLst>
              <a:ext uri="{FF2B5EF4-FFF2-40B4-BE49-F238E27FC236}">
                <a16:creationId xmlns:a16="http://schemas.microsoft.com/office/drawing/2014/main" id="{1BAEF010-69C0-4AF0-08A7-926EF103A341}"/>
              </a:ext>
            </a:extLst>
          </p:cNvPr>
          <p:cNvSpPr txBox="1"/>
          <p:nvPr/>
        </p:nvSpPr>
        <p:spPr>
          <a:xfrm>
            <a:off x="5342869" y="3734903"/>
            <a:ext cx="200016" cy="247557"/>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r>
              <a:rPr lang="en-US" sz="1100" dirty="0">
                <a:effectLst/>
                <a:ea typeface="Calibri" panose="020F0502020204030204" pitchFamily="34" charset="0"/>
                <a:cs typeface="Times New Roman" panose="02020603050405020304" pitchFamily="18" charset="0"/>
              </a:rPr>
              <a:t>7</a:t>
            </a:r>
          </a:p>
        </p:txBody>
      </p:sp>
    </p:spTree>
    <p:extLst>
      <p:ext uri="{BB962C8B-B14F-4D97-AF65-F5344CB8AC3E}">
        <p14:creationId xmlns:p14="http://schemas.microsoft.com/office/powerpoint/2010/main" val="1040522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 Box 18">
            <a:extLst>
              <a:ext uri="{FF2B5EF4-FFF2-40B4-BE49-F238E27FC236}">
                <a16:creationId xmlns:a16="http://schemas.microsoft.com/office/drawing/2014/main" id="{9A8214E9-BA24-C1CD-FE2E-59471D8D7178}"/>
              </a:ext>
            </a:extLst>
          </p:cNvPr>
          <p:cNvSpPr txBox="1"/>
          <p:nvPr/>
        </p:nvSpPr>
        <p:spPr>
          <a:xfrm>
            <a:off x="540588" y="2513341"/>
            <a:ext cx="4179346" cy="2863837"/>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228600" marR="0">
              <a:lnSpc>
                <a:spcPct val="115000"/>
              </a:lnSpc>
              <a:spcBef>
                <a:spcPts val="0"/>
              </a:spcBef>
              <a:spcAft>
                <a:spcPts val="0"/>
              </a:spcAft>
            </a:pPr>
            <a:r>
              <a:rPr lang="en-US" sz="1200" b="1"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1.1 </a:t>
            </a:r>
            <a:r>
              <a:rPr lang="en-PH" sz="1200" b="1" dirty="0">
                <a:solidFill>
                  <a:srgbClr val="00863D"/>
                </a:solidFill>
                <a:latin typeface="Chivo Light" panose="020B0303030202020804" pitchFamily="34" charset="0"/>
                <a:ea typeface="Times New Roman" panose="02020603050405020304" pitchFamily="18" charset="0"/>
                <a:cs typeface="Times New Roman" panose="02020603050405020304" pitchFamily="18" charset="0"/>
              </a:rPr>
              <a:t> </a:t>
            </a:r>
            <a:r>
              <a:rPr lang="en-US" sz="1200" dirty="0">
                <a:effectLst/>
                <a:latin typeface="Chivo Light" panose="020B0303030202020804" pitchFamily="34" charset="0"/>
                <a:ea typeface="Times New Roman" panose="02020603050405020304" pitchFamily="18" charset="0"/>
                <a:cs typeface="Times New Roman" panose="02020603050405020304" pitchFamily="18" charset="0"/>
              </a:rPr>
              <a:t>In the sales return – main window, search the transaction you want to delete.</a:t>
            </a:r>
          </a:p>
          <a:p>
            <a:pPr marL="228600" marR="0">
              <a:lnSpc>
                <a:spcPct val="115000"/>
              </a:lnSpc>
              <a:spcBef>
                <a:spcPts val="0"/>
              </a:spcBef>
              <a:spcAft>
                <a:spcPts val="0"/>
              </a:spcAft>
            </a:pPr>
            <a:endParaRPr lang="en-US" sz="1200" dirty="0">
              <a:effectLst/>
              <a:latin typeface="Chivo Light" panose="020B0303030202020804" pitchFamily="34" charset="0"/>
              <a:ea typeface="Times New Roman" panose="02020603050405020304" pitchFamily="18" charset="0"/>
              <a:cs typeface="Times New Roman" panose="02020603050405020304" pitchFamily="18" charset="0"/>
            </a:endParaRPr>
          </a:p>
          <a:p>
            <a:pPr marL="228600" marR="0">
              <a:lnSpc>
                <a:spcPct val="115000"/>
              </a:lnSpc>
              <a:spcBef>
                <a:spcPts val="0"/>
              </a:spcBef>
              <a:spcAft>
                <a:spcPts val="0"/>
              </a:spcAft>
            </a:pPr>
            <a:r>
              <a:rPr lang="en-US" sz="1200" b="1"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1.2.</a:t>
            </a:r>
            <a:r>
              <a:rPr lang="en-US" sz="1200" dirty="0">
                <a:effectLst/>
                <a:latin typeface="Chivo Light" panose="020B0303030202020804" pitchFamily="34" charset="0"/>
                <a:ea typeface="Times New Roman" panose="02020603050405020304" pitchFamily="18" charset="0"/>
                <a:cs typeface="Times New Roman" panose="02020603050405020304" pitchFamily="18" charset="0"/>
              </a:rPr>
              <a:t> In sales return – main form, click the lookup button and select the transaction you want to delete.</a:t>
            </a:r>
          </a:p>
          <a:p>
            <a:pPr marL="228600" marR="0">
              <a:lnSpc>
                <a:spcPct val="115000"/>
              </a:lnSpc>
              <a:spcBef>
                <a:spcPts val="0"/>
              </a:spcBef>
              <a:spcAft>
                <a:spcPts val="0"/>
              </a:spcAft>
            </a:pPr>
            <a:endParaRPr lang="en-US" sz="1200" dirty="0">
              <a:latin typeface="Chivo Light" panose="020B0303030202020804" pitchFamily="34" charset="0"/>
              <a:ea typeface="Times New Roman" panose="02020603050405020304" pitchFamily="18" charset="0"/>
              <a:cs typeface="Times New Roman" panose="02020603050405020304" pitchFamily="18" charset="0"/>
            </a:endParaRPr>
          </a:p>
          <a:p>
            <a:pPr marL="228600" marR="0">
              <a:lnSpc>
                <a:spcPct val="115000"/>
              </a:lnSpc>
              <a:spcBef>
                <a:spcPts val="0"/>
              </a:spcBef>
              <a:spcAft>
                <a:spcPts val="0"/>
              </a:spcAft>
            </a:pPr>
            <a:r>
              <a:rPr lang="en-US" sz="1200" b="1" dirty="0">
                <a:solidFill>
                  <a:srgbClr val="00863D"/>
                </a:solidFill>
                <a:effectLst/>
                <a:latin typeface="Chivo Light" panose="020B0303030202020804" pitchFamily="34" charset="0"/>
                <a:ea typeface="Times New Roman" panose="02020603050405020304" pitchFamily="18" charset="0"/>
                <a:cs typeface="Times New Roman" panose="02020603050405020304" pitchFamily="18" charset="0"/>
              </a:rPr>
              <a:t>2.  </a:t>
            </a:r>
            <a:r>
              <a:rPr lang="en-US" sz="1200" dirty="0">
                <a:effectLst/>
                <a:latin typeface="Chivo Light" panose="020B0303030202020804" pitchFamily="34" charset="0"/>
                <a:ea typeface="Times New Roman" panose="02020603050405020304" pitchFamily="18" charset="0"/>
                <a:cs typeface="Times New Roman" panose="02020603050405020304" pitchFamily="18" charset="0"/>
              </a:rPr>
              <a:t>If done, click delete button.</a:t>
            </a:r>
          </a:p>
        </p:txBody>
      </p:sp>
      <p:sp>
        <p:nvSpPr>
          <p:cNvPr id="3" name="Text Box 6">
            <a:extLst>
              <a:ext uri="{FF2B5EF4-FFF2-40B4-BE49-F238E27FC236}">
                <a16:creationId xmlns:a16="http://schemas.microsoft.com/office/drawing/2014/main" id="{388AC9D8-E4B5-58A0-4094-8A9CB20669C4}"/>
              </a:ext>
            </a:extLst>
          </p:cNvPr>
          <p:cNvSpPr txBox="1"/>
          <p:nvPr/>
        </p:nvSpPr>
        <p:spPr>
          <a:xfrm>
            <a:off x="0" y="-11307"/>
            <a:ext cx="5374888"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endParaRPr lang="en-US" sz="1400" dirty="0">
              <a:solidFill>
                <a:srgbClr val="007434"/>
              </a:solidFill>
              <a:effectLst/>
              <a:ea typeface="Open Sans" panose="020B0606030504020204" pitchFamily="34" charset="0"/>
              <a:cs typeface="Times New Roman" panose="02020603050405020304" pitchFamily="18" charset="0"/>
            </a:endParaRPr>
          </a:p>
        </p:txBody>
      </p:sp>
      <p:sp>
        <p:nvSpPr>
          <p:cNvPr id="30" name="TextBox 29">
            <a:extLst>
              <a:ext uri="{FF2B5EF4-FFF2-40B4-BE49-F238E27FC236}">
                <a16:creationId xmlns:a16="http://schemas.microsoft.com/office/drawing/2014/main" id="{206411CD-D453-3C70-B863-B05DFE4DD718}"/>
              </a:ext>
            </a:extLst>
          </p:cNvPr>
          <p:cNvSpPr txBox="1"/>
          <p:nvPr/>
        </p:nvSpPr>
        <p:spPr>
          <a:xfrm>
            <a:off x="805110" y="1311838"/>
            <a:ext cx="3852819" cy="337392"/>
          </a:xfrm>
          <a:prstGeom prst="rect">
            <a:avLst/>
          </a:prstGeom>
          <a:solidFill>
            <a:srgbClr val="00B050"/>
          </a:solidFill>
          <a:effectLst/>
        </p:spPr>
        <p:txBody>
          <a:bodyPr wrap="square" rtlCol="0">
            <a:spAutoFit/>
          </a:bodyPr>
          <a:lstStyle/>
          <a:p>
            <a:pPr algn="ctr"/>
            <a:r>
              <a:rPr lang="en-US" sz="1600" dirty="0">
                <a:solidFill>
                  <a:schemeClr val="bg1"/>
                </a:solidFill>
                <a:latin typeface="+mj-lt"/>
              </a:rPr>
              <a:t>How To Delete Sales Return Transaction?</a:t>
            </a:r>
            <a:endParaRPr lang="en-US" sz="2000" dirty="0">
              <a:solidFill>
                <a:srgbClr val="007434"/>
              </a:solidFill>
              <a:latin typeface="+mj-lt"/>
            </a:endParaRPr>
          </a:p>
        </p:txBody>
      </p:sp>
      <p:sp>
        <p:nvSpPr>
          <p:cNvPr id="41" name="TextBox 40">
            <a:extLst>
              <a:ext uri="{FF2B5EF4-FFF2-40B4-BE49-F238E27FC236}">
                <a16:creationId xmlns:a16="http://schemas.microsoft.com/office/drawing/2014/main" id="{5F215506-CA7E-755F-74BA-DBA6C0290AC7}"/>
              </a:ext>
            </a:extLst>
          </p:cNvPr>
          <p:cNvSpPr txBox="1"/>
          <p:nvPr/>
        </p:nvSpPr>
        <p:spPr>
          <a:xfrm>
            <a:off x="7104360" y="2963810"/>
            <a:ext cx="2552700" cy="281231"/>
          </a:xfrm>
          <a:prstGeom prst="rect">
            <a:avLst/>
          </a:prstGeom>
          <a:noFill/>
        </p:spPr>
        <p:txBody>
          <a:bodyPr wrap="square">
            <a:spAutoFit/>
          </a:bodyPr>
          <a:lstStyle/>
          <a:p>
            <a:pPr marL="0" marR="0" algn="ctr">
              <a:lnSpc>
                <a:spcPct val="107000"/>
              </a:lnSpc>
              <a:spcBef>
                <a:spcPts val="0"/>
              </a:spcBef>
              <a:spcAft>
                <a:spcPts val="800"/>
              </a:spcAft>
            </a:pPr>
            <a:r>
              <a:rPr lang="en-PH" sz="1200" b="1" dirty="0">
                <a:effectLst/>
                <a:latin typeface="Calibri" panose="020F0502020204030204" pitchFamily="34" charset="0"/>
                <a:ea typeface="Calibri" panose="020F0502020204030204" pitchFamily="34" charset="0"/>
                <a:cs typeface="Calibri" panose="020F0502020204030204" pitchFamily="34" charset="0"/>
              </a:rPr>
              <a:t>Sales </a:t>
            </a:r>
            <a:r>
              <a:rPr lang="en-PH" sz="1200" b="1" dirty="0">
                <a:latin typeface="Calibri" panose="020F0502020204030204" pitchFamily="34" charset="0"/>
                <a:ea typeface="Calibri" panose="020F0502020204030204" pitchFamily="34" charset="0"/>
                <a:cs typeface="Calibri" panose="020F0502020204030204" pitchFamily="34" charset="0"/>
              </a:rPr>
              <a:t>Return</a:t>
            </a:r>
            <a:r>
              <a:rPr lang="en-PH" sz="1200" b="1" dirty="0">
                <a:effectLst/>
                <a:latin typeface="Calibri" panose="020F0502020204030204" pitchFamily="34" charset="0"/>
                <a:ea typeface="Calibri" panose="020F0502020204030204" pitchFamily="34" charset="0"/>
                <a:cs typeface="Calibri" panose="020F0502020204030204" pitchFamily="34" charset="0"/>
              </a:rPr>
              <a:t> – Main Window</a:t>
            </a:r>
            <a:endParaRPr lang="en-US" sz="1200" b="1" dirty="0">
              <a:effectLst/>
              <a:latin typeface="Calibri" panose="020F0502020204030204" pitchFamily="34" charset="0"/>
              <a:ea typeface="Calibri" panose="020F0502020204030204" pitchFamily="34" charset="0"/>
              <a:cs typeface="Calibri" panose="020F0502020204030204" pitchFamily="34" charset="0"/>
            </a:endParaRPr>
          </a:p>
        </p:txBody>
      </p:sp>
      <p:sp>
        <p:nvSpPr>
          <p:cNvPr id="58" name="TextBox 57">
            <a:extLst>
              <a:ext uri="{FF2B5EF4-FFF2-40B4-BE49-F238E27FC236}">
                <a16:creationId xmlns:a16="http://schemas.microsoft.com/office/drawing/2014/main" id="{75E90F7D-99C6-4EAE-0C31-58FAE035D67B}"/>
              </a:ext>
            </a:extLst>
          </p:cNvPr>
          <p:cNvSpPr txBox="1"/>
          <p:nvPr/>
        </p:nvSpPr>
        <p:spPr>
          <a:xfrm>
            <a:off x="7180581" y="5799450"/>
            <a:ext cx="2552700" cy="281231"/>
          </a:xfrm>
          <a:prstGeom prst="rect">
            <a:avLst/>
          </a:prstGeom>
          <a:noFill/>
        </p:spPr>
        <p:txBody>
          <a:bodyPr wrap="square">
            <a:spAutoFit/>
          </a:bodyPr>
          <a:lstStyle/>
          <a:p>
            <a:pPr marL="0" marR="0" algn="ctr">
              <a:lnSpc>
                <a:spcPct val="107000"/>
              </a:lnSpc>
              <a:spcBef>
                <a:spcPts val="0"/>
              </a:spcBef>
              <a:spcAft>
                <a:spcPts val="800"/>
              </a:spcAft>
            </a:pPr>
            <a:r>
              <a:rPr lang="en-PH" sz="1200" b="1" dirty="0">
                <a:effectLst/>
                <a:latin typeface="Calibri" panose="020F0502020204030204" pitchFamily="34" charset="0"/>
                <a:ea typeface="Calibri" panose="020F0502020204030204" pitchFamily="34" charset="0"/>
                <a:cs typeface="Calibri" panose="020F0502020204030204" pitchFamily="34" charset="0"/>
              </a:rPr>
              <a:t>Sales Return – Main </a:t>
            </a:r>
            <a:r>
              <a:rPr lang="en-PH" sz="1200" b="1" dirty="0">
                <a:latin typeface="Calibri" panose="020F0502020204030204" pitchFamily="34" charset="0"/>
                <a:ea typeface="Calibri" panose="020F0502020204030204" pitchFamily="34" charset="0"/>
                <a:cs typeface="Calibri" panose="020F0502020204030204" pitchFamily="34" charset="0"/>
              </a:rPr>
              <a:t>Form</a:t>
            </a:r>
            <a:endParaRPr lang="en-US" sz="1200" b="1" dirty="0">
              <a:effectLst/>
              <a:latin typeface="Calibri" panose="020F0502020204030204" pitchFamily="34" charset="0"/>
              <a:ea typeface="Calibri" panose="020F0502020204030204" pitchFamily="34" charset="0"/>
              <a:cs typeface="Calibri" panose="020F0502020204030204" pitchFamily="34" charset="0"/>
            </a:endParaRPr>
          </a:p>
        </p:txBody>
      </p:sp>
      <p:sp>
        <p:nvSpPr>
          <p:cNvPr id="2" name="TextBox 1">
            <a:extLst>
              <a:ext uri="{FF2B5EF4-FFF2-40B4-BE49-F238E27FC236}">
                <a16:creationId xmlns:a16="http://schemas.microsoft.com/office/drawing/2014/main" id="{835C8433-3855-1AEC-6E17-8337C5342F81}"/>
              </a:ext>
            </a:extLst>
          </p:cNvPr>
          <p:cNvSpPr txBox="1"/>
          <p:nvPr/>
        </p:nvSpPr>
        <p:spPr>
          <a:xfrm>
            <a:off x="585809" y="123167"/>
            <a:ext cx="4824617"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r>
              <a:rPr lang="en-US" sz="2000" dirty="0">
                <a:solidFill>
                  <a:schemeClr val="accent6">
                    <a:lumMod val="20000"/>
                    <a:lumOff val="80000"/>
                  </a:schemeClr>
                </a:solidFill>
                <a:latin typeface="+mj-lt"/>
              </a:rPr>
              <a:t>Sales/ Sales Return </a:t>
            </a:r>
            <a:r>
              <a:rPr lang="en-US" sz="1900" dirty="0">
                <a:solidFill>
                  <a:schemeClr val="accent6">
                    <a:lumMod val="20000"/>
                    <a:lumOff val="80000"/>
                  </a:schemeClr>
                </a:solidFill>
                <a:latin typeface="+mj-lt"/>
              </a:rPr>
              <a:t>- Module</a:t>
            </a:r>
          </a:p>
          <a:p>
            <a:endParaRPr lang="en-US" sz="2000" dirty="0">
              <a:solidFill>
                <a:srgbClr val="007434"/>
              </a:solidFill>
              <a:latin typeface="+mj-lt"/>
            </a:endParaRPr>
          </a:p>
        </p:txBody>
      </p:sp>
      <p:pic>
        <p:nvPicPr>
          <p:cNvPr id="4" name="Picture 3">
            <a:extLst>
              <a:ext uri="{FF2B5EF4-FFF2-40B4-BE49-F238E27FC236}">
                <a16:creationId xmlns:a16="http://schemas.microsoft.com/office/drawing/2014/main" id="{678C0B94-E0EE-1E9F-5A2E-5DC4E3EEC88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74888" y="1311838"/>
            <a:ext cx="6078855" cy="1637665"/>
          </a:xfrm>
          <a:prstGeom prst="rect">
            <a:avLst/>
          </a:prstGeom>
        </p:spPr>
      </p:pic>
      <p:grpSp>
        <p:nvGrpSpPr>
          <p:cNvPr id="18" name="Group 17">
            <a:extLst>
              <a:ext uri="{FF2B5EF4-FFF2-40B4-BE49-F238E27FC236}">
                <a16:creationId xmlns:a16="http://schemas.microsoft.com/office/drawing/2014/main" id="{E118B5AB-E9A4-B11C-3D65-09C03F924FC1}"/>
              </a:ext>
            </a:extLst>
          </p:cNvPr>
          <p:cNvGrpSpPr/>
          <p:nvPr/>
        </p:nvGrpSpPr>
        <p:grpSpPr>
          <a:xfrm>
            <a:off x="4818380" y="3795075"/>
            <a:ext cx="6671581" cy="1962470"/>
            <a:chOff x="4818380" y="3795075"/>
            <a:chExt cx="6671581" cy="1962470"/>
          </a:xfrm>
        </p:grpSpPr>
        <p:pic>
          <p:nvPicPr>
            <p:cNvPr id="5" name="Picture 4">
              <a:extLst>
                <a:ext uri="{FF2B5EF4-FFF2-40B4-BE49-F238E27FC236}">
                  <a16:creationId xmlns:a16="http://schemas.microsoft.com/office/drawing/2014/main" id="{3ECC8433-BB7B-AB3F-A395-9CE0094C5FA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00616" y="3795075"/>
              <a:ext cx="6189345" cy="1792605"/>
            </a:xfrm>
            <a:prstGeom prst="rect">
              <a:avLst/>
            </a:prstGeom>
          </p:spPr>
        </p:pic>
        <p:grpSp>
          <p:nvGrpSpPr>
            <p:cNvPr id="17" name="Group 16">
              <a:extLst>
                <a:ext uri="{FF2B5EF4-FFF2-40B4-BE49-F238E27FC236}">
                  <a16:creationId xmlns:a16="http://schemas.microsoft.com/office/drawing/2014/main" id="{82DF85C3-A22A-66B1-BBBA-C48C3FF263AB}"/>
                </a:ext>
              </a:extLst>
            </p:cNvPr>
            <p:cNvGrpSpPr/>
            <p:nvPr/>
          </p:nvGrpSpPr>
          <p:grpSpPr>
            <a:xfrm>
              <a:off x="4818380" y="4237355"/>
              <a:ext cx="3952240" cy="1520190"/>
              <a:chOff x="4119880" y="2668905"/>
              <a:chExt cx="3952240" cy="1520190"/>
            </a:xfrm>
          </p:grpSpPr>
          <p:grpSp>
            <p:nvGrpSpPr>
              <p:cNvPr id="6" name="Group 5">
                <a:extLst>
                  <a:ext uri="{FF2B5EF4-FFF2-40B4-BE49-F238E27FC236}">
                    <a16:creationId xmlns:a16="http://schemas.microsoft.com/office/drawing/2014/main" id="{17ABE533-922C-A8D2-C3D7-03C5A0180B4A}"/>
                  </a:ext>
                </a:extLst>
              </p:cNvPr>
              <p:cNvGrpSpPr/>
              <p:nvPr/>
            </p:nvGrpSpPr>
            <p:grpSpPr>
              <a:xfrm>
                <a:off x="5909945" y="2957195"/>
                <a:ext cx="952500" cy="304800"/>
                <a:chOff x="523874" y="28575"/>
                <a:chExt cx="952500" cy="304800"/>
              </a:xfrm>
            </p:grpSpPr>
            <p:sp>
              <p:nvSpPr>
                <p:cNvPr id="14" name="Rectangle 13">
                  <a:extLst>
                    <a:ext uri="{FF2B5EF4-FFF2-40B4-BE49-F238E27FC236}">
                      <a16:creationId xmlns:a16="http://schemas.microsoft.com/office/drawing/2014/main" id="{1EEF8DE6-36FF-3CB9-A5B5-101353FC5C88}"/>
                    </a:ext>
                  </a:extLst>
                </p:cNvPr>
                <p:cNvSpPr/>
                <p:nvPr/>
              </p:nvSpPr>
              <p:spPr>
                <a:xfrm>
                  <a:off x="523874" y="28575"/>
                  <a:ext cx="275881" cy="30480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cxnSp>
              <p:nvCxnSpPr>
                <p:cNvPr id="15" name="Straight Arrow Connector 14">
                  <a:extLst>
                    <a:ext uri="{FF2B5EF4-FFF2-40B4-BE49-F238E27FC236}">
                      <a16:creationId xmlns:a16="http://schemas.microsoft.com/office/drawing/2014/main" id="{6E9006EA-D470-F975-5D55-F8FEA73FC741}"/>
                    </a:ext>
                  </a:extLst>
                </p:cNvPr>
                <p:cNvCxnSpPr/>
                <p:nvPr/>
              </p:nvCxnSpPr>
              <p:spPr>
                <a:xfrm>
                  <a:off x="800100" y="133350"/>
                  <a:ext cx="200025" cy="952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6" name="Text Box 948">
                  <a:extLst>
                    <a:ext uri="{FF2B5EF4-FFF2-40B4-BE49-F238E27FC236}">
                      <a16:creationId xmlns:a16="http://schemas.microsoft.com/office/drawing/2014/main" id="{BA1B750F-4A8D-2250-1DC6-4D64094CBE34}"/>
                    </a:ext>
                  </a:extLst>
                </p:cNvPr>
                <p:cNvSpPr txBox="1"/>
                <p:nvPr/>
              </p:nvSpPr>
              <p:spPr>
                <a:xfrm>
                  <a:off x="1009649" y="28575"/>
                  <a:ext cx="466725" cy="2476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r>
                    <a:rPr lang="en-US" sz="1100">
                      <a:effectLst/>
                      <a:ea typeface="Calibri" panose="020F0502020204030204" pitchFamily="34" charset="0"/>
                      <a:cs typeface="Times New Roman" panose="02020603050405020304" pitchFamily="18" charset="0"/>
                    </a:rPr>
                    <a:t>1.2.</a:t>
                  </a:r>
                </a:p>
              </p:txBody>
            </p:sp>
          </p:grpSp>
          <p:grpSp>
            <p:nvGrpSpPr>
              <p:cNvPr id="7" name="Group 6">
                <a:extLst>
                  <a:ext uri="{FF2B5EF4-FFF2-40B4-BE49-F238E27FC236}">
                    <a16:creationId xmlns:a16="http://schemas.microsoft.com/office/drawing/2014/main" id="{46B99AD7-0C7A-5C4F-2394-8A407F52F604}"/>
                  </a:ext>
                </a:extLst>
              </p:cNvPr>
              <p:cNvGrpSpPr/>
              <p:nvPr/>
            </p:nvGrpSpPr>
            <p:grpSpPr>
              <a:xfrm>
                <a:off x="7082155" y="2668905"/>
                <a:ext cx="981076" cy="304800"/>
                <a:chOff x="333374" y="28575"/>
                <a:chExt cx="981076" cy="304800"/>
              </a:xfrm>
            </p:grpSpPr>
            <p:sp>
              <p:nvSpPr>
                <p:cNvPr id="10" name="Rectangle 9">
                  <a:extLst>
                    <a:ext uri="{FF2B5EF4-FFF2-40B4-BE49-F238E27FC236}">
                      <a16:creationId xmlns:a16="http://schemas.microsoft.com/office/drawing/2014/main" id="{6BF4BEE6-96B1-E18D-330B-1F453C997F76}"/>
                    </a:ext>
                  </a:extLst>
                </p:cNvPr>
                <p:cNvSpPr/>
                <p:nvPr/>
              </p:nvSpPr>
              <p:spPr>
                <a:xfrm>
                  <a:off x="333374" y="28575"/>
                  <a:ext cx="466381" cy="30480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cxnSp>
              <p:nvCxnSpPr>
                <p:cNvPr id="11" name="Straight Arrow Connector 10">
                  <a:extLst>
                    <a:ext uri="{FF2B5EF4-FFF2-40B4-BE49-F238E27FC236}">
                      <a16:creationId xmlns:a16="http://schemas.microsoft.com/office/drawing/2014/main" id="{F9F6207A-EFF9-1117-D62C-D376C859DBE3}"/>
                    </a:ext>
                  </a:extLst>
                </p:cNvPr>
                <p:cNvCxnSpPr/>
                <p:nvPr/>
              </p:nvCxnSpPr>
              <p:spPr>
                <a:xfrm>
                  <a:off x="800100" y="133350"/>
                  <a:ext cx="200025" cy="952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3" name="Text Box 952">
                  <a:extLst>
                    <a:ext uri="{FF2B5EF4-FFF2-40B4-BE49-F238E27FC236}">
                      <a16:creationId xmlns:a16="http://schemas.microsoft.com/office/drawing/2014/main" id="{F368AFCA-84E4-E2F1-AE5F-DB84829C116F}"/>
                    </a:ext>
                  </a:extLst>
                </p:cNvPr>
                <p:cNvSpPr txBox="1"/>
                <p:nvPr/>
              </p:nvSpPr>
              <p:spPr>
                <a:xfrm>
                  <a:off x="1009650" y="28575"/>
                  <a:ext cx="304800" cy="2476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r>
                    <a:rPr lang="en-US" sz="1100">
                      <a:effectLst/>
                      <a:ea typeface="Calibri" panose="020F0502020204030204" pitchFamily="34" charset="0"/>
                      <a:cs typeface="Times New Roman" panose="02020603050405020304" pitchFamily="18" charset="0"/>
                    </a:rPr>
                    <a:t>2.</a:t>
                  </a:r>
                </a:p>
              </p:txBody>
            </p:sp>
          </p:grpSp>
          <p:sp>
            <p:nvSpPr>
              <p:cNvPr id="8" name="Text Box 241">
                <a:extLst>
                  <a:ext uri="{FF2B5EF4-FFF2-40B4-BE49-F238E27FC236}">
                    <a16:creationId xmlns:a16="http://schemas.microsoft.com/office/drawing/2014/main" id="{5D46C9F6-7CB6-1A6F-078B-533E4538B110}"/>
                  </a:ext>
                </a:extLst>
              </p:cNvPr>
              <p:cNvSpPr txBox="1">
                <a:spLocks noChangeArrowheads="1"/>
              </p:cNvSpPr>
              <p:nvPr/>
            </p:nvSpPr>
            <p:spPr bwMode="auto">
              <a:xfrm>
                <a:off x="5770245" y="3309620"/>
                <a:ext cx="2301875" cy="879475"/>
              </a:xfrm>
              <a:prstGeom prst="rect">
                <a:avLst/>
              </a:prstGeom>
              <a:solidFill>
                <a:schemeClr val="accent4">
                  <a:lumMod val="20000"/>
                  <a:lumOff val="80000"/>
                </a:schemeClr>
              </a:solidFill>
              <a:ln w="9525">
                <a:solidFill>
                  <a:srgbClr val="000000"/>
                </a:solidFill>
                <a:miter lim="800000"/>
                <a:headEnd/>
                <a:tailEnd/>
              </a:ln>
            </p:spPr>
            <p:txBody>
              <a:bodyPr rot="0" vert="horz" wrap="square" lIns="0" tIns="0" rIns="0" bIns="0" anchor="t" anchorCtr="0" upright="1">
                <a:noAutofit/>
              </a:bodyPr>
              <a:lstStyle/>
              <a:p>
                <a:pPr marL="101600" marR="0">
                  <a:lnSpc>
                    <a:spcPct val="107000"/>
                  </a:lnSpc>
                  <a:spcBef>
                    <a:spcPts val="440"/>
                  </a:spcBef>
                  <a:spcAft>
                    <a:spcPts val="800"/>
                  </a:spcAft>
                </a:pPr>
                <a:r>
                  <a:rPr lang="en-PH" sz="1000" i="1" dirty="0">
                    <a:solidFill>
                      <a:srgbClr val="4F6128"/>
                    </a:solidFill>
                    <a:effectLst/>
                    <a:latin typeface="Calibri" panose="020F0502020204030204" pitchFamily="34" charset="0"/>
                    <a:ea typeface="Calibri" panose="020F0502020204030204" pitchFamily="34" charset="0"/>
                    <a:cs typeface="Times New Roman" panose="02020603050405020304" pitchFamily="18" charset="0"/>
                  </a:rPr>
                  <a:t>How to search SR transaction?</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15000"/>
                  </a:lnSpc>
                  <a:spcBef>
                    <a:spcPts val="0"/>
                  </a:spcBef>
                  <a:spcAft>
                    <a:spcPts val="0"/>
                  </a:spcAft>
                  <a:buSzPts val="800"/>
                  <a:buFont typeface="+mj-lt"/>
                  <a:buAutoNum type="arabicPeriod"/>
                  <a:tabLst>
                    <a:tab pos="227330" algn="l"/>
                  </a:tabLst>
                </a:pPr>
                <a:r>
                  <a:rPr lang="en-US" sz="800" dirty="0">
                    <a:effectLst/>
                    <a:latin typeface="Calibri" panose="020F0502020204030204" pitchFamily="34" charset="0"/>
                    <a:ea typeface="Calibri" panose="020F0502020204030204" pitchFamily="34" charset="0"/>
                    <a:cs typeface="Times New Roman" panose="02020603050405020304" pitchFamily="18" charset="0"/>
                  </a:rPr>
                  <a:t>Type the transaction number in the search bar.</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ts val="975"/>
                  </a:lnSpc>
                  <a:spcBef>
                    <a:spcPts val="5"/>
                  </a:spcBef>
                  <a:spcAft>
                    <a:spcPts val="0"/>
                  </a:spcAft>
                  <a:buSzPts val="800"/>
                  <a:buFont typeface="+mj-lt"/>
                  <a:buAutoNum type="arabicPeriod"/>
                  <a:tabLst>
                    <a:tab pos="203200" algn="l"/>
                  </a:tabLst>
                </a:pPr>
                <a:r>
                  <a:rPr lang="en-US" sz="800" dirty="0">
                    <a:effectLst/>
                    <a:latin typeface="Calibri" panose="020F0502020204030204" pitchFamily="34" charset="0"/>
                    <a:ea typeface="Calibri" panose="020F0502020204030204" pitchFamily="34" charset="0"/>
                    <a:cs typeface="Times New Roman" panose="02020603050405020304" pitchFamily="18" charset="0"/>
                  </a:rPr>
                  <a:t>Click ‘enter’ in the keyboard to</a:t>
                </a:r>
                <a:r>
                  <a:rPr lang="en-US" sz="800" spc="-40" dirty="0">
                    <a:effectLst/>
                    <a:latin typeface="Calibri" panose="020F0502020204030204" pitchFamily="34" charset="0"/>
                    <a:ea typeface="Calibri" panose="020F0502020204030204" pitchFamily="34" charset="0"/>
                    <a:cs typeface="Times New Roman" panose="02020603050405020304" pitchFamily="18" charset="0"/>
                  </a:rPr>
                  <a:t> </a:t>
                </a:r>
                <a:r>
                  <a:rPr lang="en-US" sz="800" dirty="0">
                    <a:effectLst/>
                    <a:latin typeface="Calibri" panose="020F0502020204030204" pitchFamily="34" charset="0"/>
                    <a:ea typeface="Calibri" panose="020F0502020204030204" pitchFamily="34" charset="0"/>
                    <a:cs typeface="Times New Roman" panose="02020603050405020304" pitchFamily="18" charset="0"/>
                  </a:rPr>
                  <a:t>search.</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ts val="975"/>
                  </a:lnSpc>
                  <a:spcBef>
                    <a:spcPts val="0"/>
                  </a:spcBef>
                  <a:spcAft>
                    <a:spcPts val="0"/>
                  </a:spcAft>
                  <a:buSzPts val="800"/>
                  <a:buFont typeface="+mj-lt"/>
                  <a:buAutoNum type="arabicPeriod"/>
                  <a:tabLst>
                    <a:tab pos="203200" algn="l"/>
                  </a:tabLst>
                </a:pPr>
                <a:r>
                  <a:rPr lang="en-PH" sz="800" dirty="0">
                    <a:effectLst/>
                    <a:latin typeface="Calibri" panose="020F0502020204030204" pitchFamily="34" charset="0"/>
                    <a:ea typeface="Calibri" panose="020F0502020204030204" pitchFamily="34" charset="0"/>
                    <a:cs typeface="Times New Roman" panose="02020603050405020304" pitchFamily="18" charset="0"/>
                  </a:rPr>
                  <a:t>Click to select the transaction you want to edit</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9" name="Text Box 954">
                <a:extLst>
                  <a:ext uri="{FF2B5EF4-FFF2-40B4-BE49-F238E27FC236}">
                    <a16:creationId xmlns:a16="http://schemas.microsoft.com/office/drawing/2014/main" id="{F59FAD3F-8E1B-25B5-2F1C-F0E0A17ED0ED}"/>
                  </a:ext>
                </a:extLst>
              </p:cNvPr>
              <p:cNvSpPr txBox="1"/>
              <p:nvPr/>
            </p:nvSpPr>
            <p:spPr>
              <a:xfrm>
                <a:off x="4119880" y="2741930"/>
                <a:ext cx="1306195" cy="2730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r>
                  <a:rPr lang="en-US" sz="1100">
                    <a:effectLst/>
                    <a:ea typeface="Calibri" panose="020F0502020204030204" pitchFamily="34" charset="0"/>
                    <a:cs typeface="Times New Roman" panose="02020603050405020304" pitchFamily="18" charset="0"/>
                  </a:rPr>
                  <a:t>HEADER</a:t>
                </a:r>
              </a:p>
            </p:txBody>
          </p:sp>
        </p:grpSp>
      </p:grpSp>
      <p:sp>
        <p:nvSpPr>
          <p:cNvPr id="20" name="Slide Number Placeholder 19">
            <a:extLst>
              <a:ext uri="{FF2B5EF4-FFF2-40B4-BE49-F238E27FC236}">
                <a16:creationId xmlns:a16="http://schemas.microsoft.com/office/drawing/2014/main" id="{965F91F1-ABF3-4922-BFB1-42E1925B2D7E}"/>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600" b="0" i="0" u="none" strike="noStrike" kern="1200" cap="none" spc="0" normalizeH="0" baseline="0" noProof="0">
              <a:ln>
                <a:noFill/>
              </a:ln>
              <a:solidFill>
                <a:srgbClr val="00863D"/>
              </a:solidFill>
              <a:effectLst/>
              <a:uLnTx/>
              <a:uFillTx/>
              <a:latin typeface="Animosa Extra Bold" panose="00000900000000000000" pitchFamily="50" charset="0"/>
              <a:ea typeface="+mn-ea"/>
              <a:cs typeface="+mn-cs"/>
            </a:endParaRPr>
          </a:p>
          <a:p>
            <a:endParaRPr lang="en-US" dirty="0"/>
          </a:p>
        </p:txBody>
      </p:sp>
    </p:spTree>
    <p:extLst>
      <p:ext uri="{BB962C8B-B14F-4D97-AF65-F5344CB8AC3E}">
        <p14:creationId xmlns:p14="http://schemas.microsoft.com/office/powerpoint/2010/main" val="28892111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ext Box 6">
            <a:extLst>
              <a:ext uri="{FF2B5EF4-FFF2-40B4-BE49-F238E27FC236}">
                <a16:creationId xmlns:a16="http://schemas.microsoft.com/office/drawing/2014/main" id="{54861942-378E-F979-6642-00E02D67C1A4}"/>
              </a:ext>
            </a:extLst>
          </p:cNvPr>
          <p:cNvSpPr txBox="1"/>
          <p:nvPr/>
        </p:nvSpPr>
        <p:spPr>
          <a:xfrm>
            <a:off x="0" y="-11307"/>
            <a:ext cx="5106907"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endParaRPr lang="en-US" sz="1400" dirty="0">
              <a:solidFill>
                <a:srgbClr val="007434"/>
              </a:solidFill>
              <a:effectLst/>
              <a:ea typeface="Open Sans" panose="020B0606030504020204" pitchFamily="34" charset="0"/>
              <a:cs typeface="Times New Roman" panose="02020603050405020304" pitchFamily="18" charset="0"/>
            </a:endParaRPr>
          </a:p>
        </p:txBody>
      </p:sp>
      <p:pic>
        <p:nvPicPr>
          <p:cNvPr id="28" name="Picture 27">
            <a:extLst>
              <a:ext uri="{FF2B5EF4-FFF2-40B4-BE49-F238E27FC236}">
                <a16:creationId xmlns:a16="http://schemas.microsoft.com/office/drawing/2014/main" id="{CB5C160F-C04C-EA95-C39F-2B967C6BCB56}"/>
              </a:ext>
            </a:extLst>
          </p:cNvPr>
          <p:cNvPicPr>
            <a:picLocks noChangeAspect="1"/>
          </p:cNvPicPr>
          <p:nvPr/>
        </p:nvPicPr>
        <p:blipFill>
          <a:blip r:embed="rId2"/>
          <a:stretch>
            <a:fillRect/>
          </a:stretch>
        </p:blipFill>
        <p:spPr>
          <a:xfrm>
            <a:off x="10780479" y="6391410"/>
            <a:ext cx="1047454" cy="267619"/>
          </a:xfrm>
          <a:prstGeom prst="rect">
            <a:avLst/>
          </a:prstGeom>
          <a:effectLst/>
        </p:spPr>
      </p:pic>
      <p:sp>
        <p:nvSpPr>
          <p:cNvPr id="5" name="TextBox 4">
            <a:extLst>
              <a:ext uri="{FF2B5EF4-FFF2-40B4-BE49-F238E27FC236}">
                <a16:creationId xmlns:a16="http://schemas.microsoft.com/office/drawing/2014/main" id="{CBE13CC3-0EBB-4997-FCE7-B09A824D1CEB}"/>
              </a:ext>
            </a:extLst>
          </p:cNvPr>
          <p:cNvSpPr txBox="1"/>
          <p:nvPr/>
        </p:nvSpPr>
        <p:spPr>
          <a:xfrm>
            <a:off x="805110" y="1053547"/>
            <a:ext cx="3852819" cy="337392"/>
          </a:xfrm>
          <a:prstGeom prst="rect">
            <a:avLst/>
          </a:prstGeom>
          <a:solidFill>
            <a:srgbClr val="00B050"/>
          </a:solidFill>
          <a:effectLst/>
        </p:spPr>
        <p:txBody>
          <a:bodyPr wrap="square" rtlCol="0">
            <a:spAutoFit/>
          </a:bodyPr>
          <a:lstStyle/>
          <a:p>
            <a:pPr algn="ctr"/>
            <a:r>
              <a:rPr lang="en-US" sz="1600" dirty="0">
                <a:solidFill>
                  <a:schemeClr val="bg1"/>
                </a:solidFill>
                <a:latin typeface="+mj-lt"/>
              </a:rPr>
              <a:t>Other Information</a:t>
            </a:r>
            <a:endParaRPr lang="en-US" sz="2000" dirty="0">
              <a:solidFill>
                <a:srgbClr val="007434"/>
              </a:solidFill>
              <a:latin typeface="+mj-lt"/>
            </a:endParaRPr>
          </a:p>
        </p:txBody>
      </p:sp>
      <p:sp>
        <p:nvSpPr>
          <p:cNvPr id="65" name="TextBox 64">
            <a:extLst>
              <a:ext uri="{FF2B5EF4-FFF2-40B4-BE49-F238E27FC236}">
                <a16:creationId xmlns:a16="http://schemas.microsoft.com/office/drawing/2014/main" id="{E7777D04-D73F-74AB-C30B-7D3C9397264F}"/>
              </a:ext>
            </a:extLst>
          </p:cNvPr>
          <p:cNvSpPr txBox="1"/>
          <p:nvPr/>
        </p:nvSpPr>
        <p:spPr>
          <a:xfrm>
            <a:off x="805109" y="4516141"/>
            <a:ext cx="3852819" cy="337392"/>
          </a:xfrm>
          <a:prstGeom prst="rect">
            <a:avLst/>
          </a:prstGeom>
          <a:solidFill>
            <a:srgbClr val="00B050"/>
          </a:solidFill>
          <a:effectLst/>
        </p:spPr>
        <p:txBody>
          <a:bodyPr wrap="square" rtlCol="0">
            <a:spAutoFit/>
          </a:bodyPr>
          <a:lstStyle/>
          <a:p>
            <a:pPr algn="ctr"/>
            <a:r>
              <a:rPr lang="en-US" sz="1600" dirty="0">
                <a:solidFill>
                  <a:schemeClr val="bg1"/>
                </a:solidFill>
                <a:latin typeface="+mj-lt"/>
              </a:rPr>
              <a:t>Other Buttons</a:t>
            </a:r>
            <a:endParaRPr lang="en-US" sz="2000" dirty="0">
              <a:solidFill>
                <a:srgbClr val="007434"/>
              </a:solidFill>
              <a:latin typeface="+mj-lt"/>
            </a:endParaRPr>
          </a:p>
        </p:txBody>
      </p:sp>
      <p:sp>
        <p:nvSpPr>
          <p:cNvPr id="8" name="Text Box 102">
            <a:extLst>
              <a:ext uri="{FF2B5EF4-FFF2-40B4-BE49-F238E27FC236}">
                <a16:creationId xmlns:a16="http://schemas.microsoft.com/office/drawing/2014/main" id="{9C27B11D-33B2-DB7D-A894-E01425B3F550}"/>
              </a:ext>
            </a:extLst>
          </p:cNvPr>
          <p:cNvSpPr txBox="1"/>
          <p:nvPr/>
        </p:nvSpPr>
        <p:spPr>
          <a:xfrm>
            <a:off x="805109" y="1589414"/>
            <a:ext cx="3852820" cy="2121974"/>
          </a:xfrm>
          <a:prstGeom prst="rect">
            <a:avLst/>
          </a:prstGeom>
          <a:noFill/>
          <a:ln w="6350">
            <a:solidFill>
              <a:srgbClr val="E7E6E6">
                <a:lumMod val="90000"/>
              </a:srgbClr>
            </a:solid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227330">
              <a:lnSpc>
                <a:spcPct val="107000"/>
              </a:lnSpc>
              <a:spcBef>
                <a:spcPts val="190"/>
              </a:spcBef>
              <a:spcAft>
                <a:spcPts val="800"/>
              </a:spcAft>
            </a:pPr>
            <a:r>
              <a:rPr lang="en-US" sz="1200" dirty="0">
                <a:effectLst/>
                <a:latin typeface="Calibri" panose="020F0502020204030204" pitchFamily="34" charset="0"/>
                <a:ea typeface="Calibri" panose="020F0502020204030204" pitchFamily="34" charset="0"/>
                <a:cs typeface="Times New Roman" panose="02020603050405020304" pitchFamily="18" charset="0"/>
              </a:rPr>
              <a:t>When you click the arrow parallel in the main form on the upper right, the sales return – main form will be minimize and the other information will be displayed as shown in the photo below.</a:t>
            </a:r>
          </a:p>
          <a:p>
            <a:pPr marL="0" marR="227330">
              <a:lnSpc>
                <a:spcPct val="107000"/>
              </a:lnSpc>
              <a:spcBef>
                <a:spcPts val="190"/>
              </a:spcBef>
              <a:spcAft>
                <a:spcPts val="800"/>
              </a:spcAft>
            </a:pPr>
            <a:r>
              <a:rPr lang="en-US" sz="1200" dirty="0">
                <a:effectLst/>
                <a:latin typeface="Calibri" panose="020F0502020204030204" pitchFamily="34" charset="0"/>
                <a:ea typeface="Calibri" panose="020F0502020204030204" pitchFamily="34" charset="0"/>
                <a:cs typeface="Times New Roman" panose="02020603050405020304" pitchFamily="18" charset="0"/>
              </a:rPr>
              <a:t>Click the arrow parallel to what information you want to open and provide the necessary filter to generate the data you want to display.</a:t>
            </a:r>
          </a:p>
          <a:p>
            <a:pPr marL="0" marR="227330">
              <a:lnSpc>
                <a:spcPct val="107000"/>
              </a:lnSpc>
              <a:spcBef>
                <a:spcPts val="190"/>
              </a:spcBef>
              <a:spcAft>
                <a:spcPts val="800"/>
              </a:spcAft>
            </a:pPr>
            <a:endParaRPr lang="en-PH" sz="1200" dirty="0">
              <a:effectLst/>
              <a:latin typeface="Calibri" panose="020F0502020204030204" pitchFamily="34" charset="0"/>
              <a:ea typeface="Calibri" panose="020F0502020204030204" pitchFamily="34" charset="0"/>
              <a:cs typeface="Times New Roman" panose="02020603050405020304" pitchFamily="18" charset="0"/>
            </a:endParaRPr>
          </a:p>
          <a:p>
            <a:pPr marL="0" marR="227330">
              <a:lnSpc>
                <a:spcPct val="107000"/>
              </a:lnSpc>
              <a:spcBef>
                <a:spcPts val="190"/>
              </a:spcBef>
              <a:spcAft>
                <a:spcPts val="800"/>
              </a:spcAft>
            </a:pPr>
            <a:endParaRPr lang="en-PH" sz="1200" dirty="0">
              <a:effectLst/>
              <a:latin typeface="Calibri" panose="020F0502020204030204" pitchFamily="34" charset="0"/>
              <a:ea typeface="Calibri" panose="020F0502020204030204" pitchFamily="34" charset="0"/>
              <a:cs typeface="Times New Roman" panose="02020603050405020304" pitchFamily="18" charset="0"/>
            </a:endParaRPr>
          </a:p>
          <a:p>
            <a:pPr marL="0" marR="227330">
              <a:lnSpc>
                <a:spcPct val="107000"/>
              </a:lnSpc>
              <a:spcBef>
                <a:spcPts val="190"/>
              </a:spcBef>
              <a:spcAft>
                <a:spcPts val="800"/>
              </a:spcAft>
            </a:pP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p>
            <a:pPr marL="0" marR="227330">
              <a:lnSpc>
                <a:spcPct val="107000"/>
              </a:lnSpc>
              <a:spcBef>
                <a:spcPts val="190"/>
              </a:spcBef>
              <a:spcAft>
                <a:spcPts val="800"/>
              </a:spcAft>
            </a:pP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marR="227330">
              <a:lnSpc>
                <a:spcPct val="107000"/>
              </a:lnSpc>
              <a:spcBef>
                <a:spcPts val="190"/>
              </a:spcBef>
              <a:spcAft>
                <a:spcPts val="800"/>
              </a:spcAft>
            </a:pP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12" name="Picture 11">
            <a:extLst>
              <a:ext uri="{FF2B5EF4-FFF2-40B4-BE49-F238E27FC236}">
                <a16:creationId xmlns:a16="http://schemas.microsoft.com/office/drawing/2014/main" id="{96E78E19-4025-2CF4-0152-5EE4A8E0C0E1}"/>
              </a:ext>
            </a:extLst>
          </p:cNvPr>
          <p:cNvPicPr>
            <a:picLocks noChangeAspect="1"/>
          </p:cNvPicPr>
          <p:nvPr/>
        </p:nvPicPr>
        <p:blipFill>
          <a:blip r:embed="rId3"/>
          <a:stretch>
            <a:fillRect/>
          </a:stretch>
        </p:blipFill>
        <p:spPr>
          <a:xfrm>
            <a:off x="5294021" y="2447174"/>
            <a:ext cx="6108721" cy="280440"/>
          </a:xfrm>
          <a:prstGeom prst="rect">
            <a:avLst/>
          </a:prstGeom>
        </p:spPr>
      </p:pic>
      <p:sp>
        <p:nvSpPr>
          <p:cNvPr id="2" name="TextBox 1">
            <a:extLst>
              <a:ext uri="{FF2B5EF4-FFF2-40B4-BE49-F238E27FC236}">
                <a16:creationId xmlns:a16="http://schemas.microsoft.com/office/drawing/2014/main" id="{65A20984-4DB1-777A-E55E-63F232BE6E7C}"/>
              </a:ext>
            </a:extLst>
          </p:cNvPr>
          <p:cNvSpPr txBox="1"/>
          <p:nvPr/>
        </p:nvSpPr>
        <p:spPr>
          <a:xfrm>
            <a:off x="585809" y="123167"/>
            <a:ext cx="4824617"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r>
              <a:rPr lang="en-US" sz="2000" dirty="0">
                <a:solidFill>
                  <a:schemeClr val="accent6">
                    <a:lumMod val="20000"/>
                    <a:lumOff val="80000"/>
                  </a:schemeClr>
                </a:solidFill>
                <a:latin typeface="+mj-lt"/>
              </a:rPr>
              <a:t>Sales/ Sales Return </a:t>
            </a:r>
            <a:r>
              <a:rPr lang="en-US" sz="1900" dirty="0">
                <a:solidFill>
                  <a:schemeClr val="accent6">
                    <a:lumMod val="20000"/>
                    <a:lumOff val="80000"/>
                  </a:schemeClr>
                </a:solidFill>
                <a:latin typeface="+mj-lt"/>
              </a:rPr>
              <a:t>- Module</a:t>
            </a:r>
          </a:p>
          <a:p>
            <a:endParaRPr lang="en-US" sz="2000" dirty="0">
              <a:solidFill>
                <a:srgbClr val="007434"/>
              </a:solidFill>
              <a:latin typeface="+mj-lt"/>
            </a:endParaRPr>
          </a:p>
        </p:txBody>
      </p:sp>
      <p:pic>
        <p:nvPicPr>
          <p:cNvPr id="4" name="Picture 3">
            <a:extLst>
              <a:ext uri="{FF2B5EF4-FFF2-40B4-BE49-F238E27FC236}">
                <a16:creationId xmlns:a16="http://schemas.microsoft.com/office/drawing/2014/main" id="{BA8AC732-C2D8-1D01-DB37-26B3DAA565C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213397" y="1588861"/>
            <a:ext cx="6189345" cy="665480"/>
          </a:xfrm>
          <a:prstGeom prst="rect">
            <a:avLst/>
          </a:prstGeom>
        </p:spPr>
      </p:pic>
      <p:pic>
        <p:nvPicPr>
          <p:cNvPr id="10" name="Picture 9">
            <a:extLst>
              <a:ext uri="{FF2B5EF4-FFF2-40B4-BE49-F238E27FC236}">
                <a16:creationId xmlns:a16="http://schemas.microsoft.com/office/drawing/2014/main" id="{0178AE2B-FAFA-644E-E8AE-5E3E422033F2}"/>
              </a:ext>
            </a:extLst>
          </p:cNvPr>
          <p:cNvPicPr>
            <a:picLocks noChangeAspect="1"/>
          </p:cNvPicPr>
          <p:nvPr/>
        </p:nvPicPr>
        <p:blipFill>
          <a:blip r:embed="rId5"/>
          <a:stretch>
            <a:fillRect/>
          </a:stretch>
        </p:blipFill>
        <p:spPr>
          <a:xfrm>
            <a:off x="5213397" y="3073400"/>
            <a:ext cx="6271306" cy="3132463"/>
          </a:xfrm>
          <a:prstGeom prst="rect">
            <a:avLst/>
          </a:prstGeom>
        </p:spPr>
      </p:pic>
      <p:sp>
        <p:nvSpPr>
          <p:cNvPr id="6" name="Slide Number Placeholder 5">
            <a:extLst>
              <a:ext uri="{FF2B5EF4-FFF2-40B4-BE49-F238E27FC236}">
                <a16:creationId xmlns:a16="http://schemas.microsoft.com/office/drawing/2014/main" id="{4C51CC16-0912-B5FE-360F-C6F20FD1FB4D}"/>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600" b="0" i="0" u="none" strike="noStrike" kern="1200" cap="none" spc="0" normalizeH="0" baseline="0" noProof="0">
              <a:ln>
                <a:noFill/>
              </a:ln>
              <a:solidFill>
                <a:srgbClr val="00863D"/>
              </a:solidFill>
              <a:effectLst/>
              <a:uLnTx/>
              <a:uFillTx/>
              <a:latin typeface="Animosa Extra Bold" panose="00000900000000000000" pitchFamily="50" charset="0"/>
              <a:ea typeface="+mn-ea"/>
              <a:cs typeface="+mn-cs"/>
            </a:endParaRPr>
          </a:p>
          <a:p>
            <a:endParaRPr lang="en-US" dirty="0"/>
          </a:p>
        </p:txBody>
      </p:sp>
    </p:spTree>
    <p:extLst>
      <p:ext uri="{BB962C8B-B14F-4D97-AF65-F5344CB8AC3E}">
        <p14:creationId xmlns:p14="http://schemas.microsoft.com/office/powerpoint/2010/main" val="9086054"/>
      </p:ext>
    </p:extLst>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1093</Words>
  <Application>Microsoft Office PowerPoint</Application>
  <PresentationFormat>Widescreen</PresentationFormat>
  <Paragraphs>177</Paragraphs>
  <Slides>11</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11</vt:i4>
      </vt:variant>
    </vt:vector>
  </HeadingPairs>
  <TitlesOfParts>
    <vt:vector size="19" baseType="lpstr">
      <vt:lpstr>Animosa Extra Bold</vt:lpstr>
      <vt:lpstr>Arial</vt:lpstr>
      <vt:lpstr>Bahnschrift Condensed</vt:lpstr>
      <vt:lpstr>Bodoni MT Condensed</vt:lpstr>
      <vt:lpstr>Calibri</vt:lpstr>
      <vt:lpstr>Calibri Light</vt:lpstr>
      <vt:lpstr>Chivo Light</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Janine Calawod</dc:creator>
  <cp:lastModifiedBy>Janine Calawod</cp:lastModifiedBy>
  <cp:revision>5</cp:revision>
  <dcterms:created xsi:type="dcterms:W3CDTF">2023-01-10T05:44:13Z</dcterms:created>
  <dcterms:modified xsi:type="dcterms:W3CDTF">2023-01-10T05:46:18Z</dcterms:modified>
</cp:coreProperties>
</file>